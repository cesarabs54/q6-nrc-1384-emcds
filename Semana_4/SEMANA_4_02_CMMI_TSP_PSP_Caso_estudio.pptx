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0245" y="1997786"/>
            <a:ext cx="5223509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B2A49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B2A49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6858000" cy="457200"/>
          </a:xfrm>
          <a:custGeom>
            <a:avLst/>
            <a:gdLst/>
            <a:ahLst/>
            <a:cxnLst/>
            <a:rect l="l" t="t" r="r" b="b"/>
            <a:pathLst>
              <a:path w="6858000" h="457200">
                <a:moveTo>
                  <a:pt x="68580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0" y="457200"/>
                </a:lnTo>
                <a:lnTo>
                  <a:pt x="6858000" y="0"/>
                </a:lnTo>
                <a:close/>
              </a:path>
            </a:pathLst>
          </a:custGeom>
          <a:solidFill>
            <a:srgbClr val="1C2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B2A49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B2A49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667257"/>
            <a:ext cx="663765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B2A49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1959" y="1121409"/>
            <a:ext cx="8260080" cy="295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340" y="2693289"/>
            <a:ext cx="629158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</a:rPr>
              <a:t>Introducción</a:t>
            </a:r>
            <a:r>
              <a:rPr dirty="0" sz="3200" spc="-15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al</a:t>
            </a:r>
            <a:r>
              <a:rPr dirty="0" sz="3200" spc="-5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caso</a:t>
            </a:r>
            <a:r>
              <a:rPr dirty="0" sz="3200" spc="-10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de</a:t>
            </a:r>
            <a:r>
              <a:rPr dirty="0" sz="3200" spc="-15">
                <a:solidFill>
                  <a:srgbClr val="FFFFFF"/>
                </a:solidFill>
              </a:rPr>
              <a:t> </a:t>
            </a:r>
            <a:r>
              <a:rPr dirty="0" sz="3200" spc="-10">
                <a:solidFill>
                  <a:srgbClr val="FFFFFF"/>
                </a:solidFill>
              </a:rPr>
              <a:t>estudio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07340" y="3322396"/>
            <a:ext cx="17532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Semana</a:t>
            </a:r>
            <a:r>
              <a:rPr dirty="0" sz="2800" spc="-70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spc="-50" b="1">
                <a:solidFill>
                  <a:srgbClr val="7AEDFC"/>
                </a:solidFill>
                <a:latin typeface="Century Gothic"/>
                <a:cs typeface="Century Gothic"/>
              </a:rPr>
              <a:t>4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457200"/>
          </a:xfrm>
          <a:custGeom>
            <a:avLst/>
            <a:gdLst/>
            <a:ahLst/>
            <a:cxnLst/>
            <a:rect l="l" t="t" r="r" b="b"/>
            <a:pathLst>
              <a:path w="6858000" h="457200">
                <a:moveTo>
                  <a:pt x="68580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0" y="457200"/>
                </a:lnTo>
                <a:lnTo>
                  <a:pt x="6858000" y="0"/>
                </a:lnTo>
                <a:close/>
              </a:path>
            </a:pathLst>
          </a:custGeom>
          <a:solidFill>
            <a:srgbClr val="1C2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0" y="0"/>
            <a:ext cx="6858000" cy="457200"/>
          </a:xfrm>
          <a:prstGeom prst="rect">
            <a:avLst/>
          </a:prstGeom>
          <a:ln w="12700">
            <a:solidFill>
              <a:srgbClr val="1C2C4E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80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/>
              <a:t>Contenido</a:t>
            </a:r>
            <a:endParaRPr sz="2000"/>
          </a:p>
        </p:txBody>
      </p:sp>
      <p:sp>
        <p:nvSpPr>
          <p:cNvPr id="5" name="object 5"/>
          <p:cNvSpPr txBox="1"/>
          <p:nvPr/>
        </p:nvSpPr>
        <p:spPr>
          <a:xfrm>
            <a:off x="535940" y="1212849"/>
            <a:ext cx="4502785" cy="2007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Contexto</a:t>
            </a:r>
            <a:r>
              <a:rPr dirty="0" sz="1300" spc="-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300" spc="-5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fundamentos</a:t>
            </a:r>
            <a:r>
              <a:rPr dirty="0" sz="1300" spc="-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3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3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calidad</a:t>
            </a:r>
            <a:r>
              <a:rPr dirty="0" sz="1300" spc="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3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software.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Rol</a:t>
            </a:r>
            <a:r>
              <a:rPr dirty="0" sz="13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300" spc="-2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CMMI</a:t>
            </a:r>
            <a:r>
              <a:rPr dirty="0" sz="1300" spc="-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300" spc="-1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300" spc="-2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modelo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integrado.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300" spc="-2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3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300" spc="-1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como</a:t>
            </a:r>
            <a:r>
              <a:rPr dirty="0" sz="1300" spc="-1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palancas</a:t>
            </a:r>
            <a:r>
              <a:rPr dirty="0" sz="1300" spc="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sobre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las</a:t>
            </a:r>
            <a:r>
              <a:rPr dirty="0" sz="1300" spc="-1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personas.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Modelo integrado </a:t>
            </a:r>
            <a:r>
              <a:rPr dirty="0" sz="1300" spc="-20" b="1">
                <a:solidFill>
                  <a:srgbClr val="212121"/>
                </a:solidFill>
                <a:latin typeface="Century Gothic"/>
                <a:cs typeface="Century Gothic"/>
              </a:rPr>
              <a:t>CMMI–TSP–PSP.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Diseño</a:t>
            </a:r>
            <a:r>
              <a:rPr dirty="0" sz="13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metodológico</a:t>
            </a:r>
            <a:r>
              <a:rPr dirty="0" sz="1300" spc="2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3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caso</a:t>
            </a:r>
            <a:r>
              <a:rPr dirty="0" sz="1300" spc="-1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3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estudio.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Métricas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e</a:t>
            </a:r>
            <a:r>
              <a:rPr dirty="0" sz="1300" spc="-4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indicadores</a:t>
            </a:r>
            <a:r>
              <a:rPr dirty="0" sz="1300" spc="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3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calidad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utilizados.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Resultados</a:t>
            </a:r>
            <a:r>
              <a:rPr dirty="0" sz="1300" spc="-5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cuantitativos.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Discusión</a:t>
            </a:r>
            <a:r>
              <a:rPr dirty="0" sz="1300" spc="-4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e</a:t>
            </a:r>
            <a:r>
              <a:rPr dirty="0" sz="1300" spc="-4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implicaciones</a:t>
            </a:r>
            <a:r>
              <a:rPr dirty="0" sz="1300" spc="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3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300" spc="-4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industria.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Cierre</a:t>
            </a:r>
            <a:r>
              <a:rPr dirty="0" sz="13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3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lecciones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 clave.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Font typeface="Century Gothic"/>
              <a:buChar char="•"/>
              <a:tabLst>
                <a:tab pos="354965" algn="l"/>
              </a:tabLst>
            </a:pPr>
            <a:r>
              <a:rPr dirty="0" sz="1300" b="1">
                <a:solidFill>
                  <a:srgbClr val="212121"/>
                </a:solidFill>
                <a:latin typeface="Century Gothic"/>
                <a:cs typeface="Century Gothic"/>
              </a:rPr>
              <a:t>Ejercicios</a:t>
            </a:r>
            <a:r>
              <a:rPr dirty="0" sz="1300" spc="-4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>
                <a:solidFill>
                  <a:srgbClr val="212121"/>
                </a:solidFill>
                <a:latin typeface="Century Gothic"/>
                <a:cs typeface="Century Gothic"/>
              </a:rPr>
              <a:t>prácticos.</a:t>
            </a:r>
            <a:endParaRPr sz="13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6870700" cy="469900"/>
            <a:chOff x="-6350" y="-6350"/>
            <a:chExt cx="6870700" cy="4699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858000" cy="457200"/>
            </a:xfrm>
            <a:custGeom>
              <a:avLst/>
              <a:gdLst/>
              <a:ahLst/>
              <a:cxnLst/>
              <a:rect l="l" t="t" r="r" b="b"/>
              <a:pathLst>
                <a:path w="6858000" h="457200">
                  <a:moveTo>
                    <a:pt x="6858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6858000" y="45720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1C2C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858000" cy="457200"/>
            </a:xfrm>
            <a:custGeom>
              <a:avLst/>
              <a:gdLst/>
              <a:ahLst/>
              <a:cxnLst/>
              <a:rect l="l" t="t" r="r" b="b"/>
              <a:pathLst>
                <a:path w="6858000" h="457200">
                  <a:moveTo>
                    <a:pt x="0" y="457200"/>
                  </a:moveTo>
                  <a:lnTo>
                    <a:pt x="6858000" y="457200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1C2C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24460" y="124459"/>
            <a:ext cx="42354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Fundamentos</a:t>
            </a:r>
            <a:r>
              <a:rPr dirty="0" spc="-25"/>
              <a:t> </a:t>
            </a:r>
            <a:r>
              <a:rPr dirty="0"/>
              <a:t>del</a:t>
            </a:r>
            <a:r>
              <a:rPr dirty="0" spc="-55"/>
              <a:t> </a:t>
            </a:r>
            <a:r>
              <a:rPr dirty="0"/>
              <a:t>aseguramiento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la</a:t>
            </a:r>
            <a:r>
              <a:rPr dirty="0" spc="-75"/>
              <a:t> </a:t>
            </a:r>
            <a:r>
              <a:rPr dirty="0"/>
              <a:t>calidad</a:t>
            </a:r>
            <a:r>
              <a:rPr dirty="0" spc="-75"/>
              <a:t> </a:t>
            </a:r>
            <a:r>
              <a:rPr dirty="0"/>
              <a:t>en</a:t>
            </a:r>
            <a:r>
              <a:rPr dirty="0" spc="-50"/>
              <a:t> </a:t>
            </a:r>
            <a:r>
              <a:rPr dirty="0" spc="-10"/>
              <a:t>software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59409" y="1228089"/>
            <a:ext cx="4036060" cy="1384300"/>
            <a:chOff x="359409" y="1228089"/>
            <a:chExt cx="4036060" cy="1384300"/>
          </a:xfrm>
        </p:grpSpPr>
        <p:sp>
          <p:nvSpPr>
            <p:cNvPr id="8" name="object 8"/>
            <p:cNvSpPr/>
            <p:nvPr/>
          </p:nvSpPr>
          <p:spPr>
            <a:xfrm>
              <a:off x="429767" y="1234439"/>
              <a:ext cx="3959860" cy="1371600"/>
            </a:xfrm>
            <a:custGeom>
              <a:avLst/>
              <a:gdLst/>
              <a:ahLst/>
              <a:cxnLst/>
              <a:rect l="l" t="t" r="r" b="b"/>
              <a:pathLst>
                <a:path w="3959860" h="1371600">
                  <a:moveTo>
                    <a:pt x="0" y="1371600"/>
                  </a:moveTo>
                  <a:lnTo>
                    <a:pt x="3959352" y="1371600"/>
                  </a:lnTo>
                  <a:lnTo>
                    <a:pt x="3959352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5759" y="1234439"/>
              <a:ext cx="4023360" cy="1371600"/>
            </a:xfrm>
            <a:custGeom>
              <a:avLst/>
              <a:gdLst/>
              <a:ahLst/>
              <a:cxnLst/>
              <a:rect l="l" t="t" r="r" b="b"/>
              <a:pathLst>
                <a:path w="4023360" h="1371600">
                  <a:moveTo>
                    <a:pt x="0" y="1371600"/>
                  </a:moveTo>
                  <a:lnTo>
                    <a:pt x="4023360" y="137160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65759" y="1234439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4" h="1371600">
                  <a:moveTo>
                    <a:pt x="64008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64008" y="13716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5759" y="1234439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4" h="1371600">
                  <a:moveTo>
                    <a:pt x="0" y="1371600"/>
                  </a:moveTo>
                  <a:lnTo>
                    <a:pt x="64008" y="13716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36118" y="1374089"/>
            <a:ext cx="3947160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Calidad</a:t>
            </a:r>
            <a:r>
              <a:rPr dirty="0" sz="1200" spc="-4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200" spc="-2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producto</a:t>
            </a:r>
            <a:endParaRPr sz="1200">
              <a:latin typeface="Century Gothic"/>
              <a:cs typeface="Century Gothic"/>
            </a:endParaRPr>
          </a:p>
          <a:p>
            <a:pPr marL="158115" marR="134620">
              <a:lnSpc>
                <a:spcPts val="1280"/>
              </a:lnSpc>
              <a:spcBef>
                <a:spcPts val="1019"/>
              </a:spcBef>
            </a:pP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Asociada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 a</a:t>
            </a:r>
            <a:r>
              <a:rPr dirty="0" sz="1100" spc="1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características</a:t>
            </a:r>
            <a:r>
              <a:rPr dirty="0" sz="1100" spc="-2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del</a:t>
            </a:r>
            <a:r>
              <a:rPr dirty="0" sz="1100" spc="-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software y</a:t>
            </a:r>
            <a:r>
              <a:rPr dirty="0" sz="1100" spc="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satisfacción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3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necesidades</a:t>
            </a:r>
            <a:r>
              <a:rPr dirty="0" sz="1100" spc="-5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del</a:t>
            </a:r>
            <a:r>
              <a:rPr dirty="0" sz="1100" spc="-3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usuario.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57090" y="1228089"/>
            <a:ext cx="4036060" cy="1384300"/>
            <a:chOff x="4657090" y="1228089"/>
            <a:chExt cx="4036060" cy="1384300"/>
          </a:xfrm>
        </p:grpSpPr>
        <p:sp>
          <p:nvSpPr>
            <p:cNvPr id="14" name="object 14"/>
            <p:cNvSpPr/>
            <p:nvPr/>
          </p:nvSpPr>
          <p:spPr>
            <a:xfrm>
              <a:off x="4727448" y="1234439"/>
              <a:ext cx="3959860" cy="1371600"/>
            </a:xfrm>
            <a:custGeom>
              <a:avLst/>
              <a:gdLst/>
              <a:ahLst/>
              <a:cxnLst/>
              <a:rect l="l" t="t" r="r" b="b"/>
              <a:pathLst>
                <a:path w="3959859" h="1371600">
                  <a:moveTo>
                    <a:pt x="0" y="1371600"/>
                  </a:moveTo>
                  <a:lnTo>
                    <a:pt x="3959352" y="1371600"/>
                  </a:lnTo>
                  <a:lnTo>
                    <a:pt x="3959352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63440" y="1234439"/>
              <a:ext cx="4023360" cy="1371600"/>
            </a:xfrm>
            <a:custGeom>
              <a:avLst/>
              <a:gdLst/>
              <a:ahLst/>
              <a:cxnLst/>
              <a:rect l="l" t="t" r="r" b="b"/>
              <a:pathLst>
                <a:path w="4023359" h="1371600">
                  <a:moveTo>
                    <a:pt x="0" y="1371600"/>
                  </a:moveTo>
                  <a:lnTo>
                    <a:pt x="4023360" y="137160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63440" y="1234439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5" h="1371600">
                  <a:moveTo>
                    <a:pt x="64008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64008" y="13716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63440" y="1234439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5" h="1371600">
                  <a:moveTo>
                    <a:pt x="0" y="1371600"/>
                  </a:moveTo>
                  <a:lnTo>
                    <a:pt x="64008" y="13716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699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733797" y="1374089"/>
            <a:ext cx="3947160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Calidad</a:t>
            </a:r>
            <a:r>
              <a:rPr dirty="0" sz="12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200" spc="-2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proceso</a:t>
            </a:r>
            <a:endParaRPr sz="1200">
              <a:latin typeface="Century Gothic"/>
              <a:cs typeface="Century Gothic"/>
            </a:endParaRPr>
          </a:p>
          <a:p>
            <a:pPr marL="158750" marR="824230">
              <a:lnSpc>
                <a:spcPts val="1280"/>
              </a:lnSpc>
              <a:spcBef>
                <a:spcPts val="1019"/>
              </a:spcBef>
            </a:pP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Necesidad</a:t>
            </a:r>
            <a:r>
              <a:rPr dirty="0" sz="1100" spc="-7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3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controlar</a:t>
            </a:r>
            <a:r>
              <a:rPr dirty="0" sz="1100" spc="-3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normas,</a:t>
            </a:r>
            <a:r>
              <a:rPr dirty="0" sz="1100" spc="-4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procesos</a:t>
            </a:r>
            <a:r>
              <a:rPr dirty="0" sz="1100" spc="-5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Century Gothic"/>
                <a:cs typeface="Century Gothic"/>
              </a:rPr>
              <a:t>y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4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para</a:t>
            </a:r>
            <a:r>
              <a:rPr dirty="0" sz="1100" spc="-4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reducir</a:t>
            </a:r>
            <a:r>
              <a:rPr dirty="0" sz="1100" spc="-4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errores.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9409" y="2736850"/>
            <a:ext cx="4036060" cy="1384300"/>
            <a:chOff x="359409" y="2736850"/>
            <a:chExt cx="4036060" cy="1384300"/>
          </a:xfrm>
        </p:grpSpPr>
        <p:sp>
          <p:nvSpPr>
            <p:cNvPr id="20" name="object 20"/>
            <p:cNvSpPr/>
            <p:nvPr/>
          </p:nvSpPr>
          <p:spPr>
            <a:xfrm>
              <a:off x="429767" y="2743200"/>
              <a:ext cx="3959860" cy="1371600"/>
            </a:xfrm>
            <a:custGeom>
              <a:avLst/>
              <a:gdLst/>
              <a:ahLst/>
              <a:cxnLst/>
              <a:rect l="l" t="t" r="r" b="b"/>
              <a:pathLst>
                <a:path w="3959860" h="1371600">
                  <a:moveTo>
                    <a:pt x="0" y="1371600"/>
                  </a:moveTo>
                  <a:lnTo>
                    <a:pt x="3959352" y="1371600"/>
                  </a:lnTo>
                  <a:lnTo>
                    <a:pt x="3959352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5759" y="2743200"/>
              <a:ext cx="4023360" cy="1371600"/>
            </a:xfrm>
            <a:custGeom>
              <a:avLst/>
              <a:gdLst/>
              <a:ahLst/>
              <a:cxnLst/>
              <a:rect l="l" t="t" r="r" b="b"/>
              <a:pathLst>
                <a:path w="4023360" h="1371600">
                  <a:moveTo>
                    <a:pt x="0" y="1371600"/>
                  </a:moveTo>
                  <a:lnTo>
                    <a:pt x="4023360" y="137160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5759" y="2743200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4" h="1371600">
                  <a:moveTo>
                    <a:pt x="64008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64008" y="13716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5759" y="2743200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4" h="1371600">
                  <a:moveTo>
                    <a:pt x="0" y="1371600"/>
                  </a:moveTo>
                  <a:lnTo>
                    <a:pt x="64008" y="13716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36118" y="2883789"/>
            <a:ext cx="3947160" cy="65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Relación</a:t>
            </a:r>
            <a:r>
              <a:rPr dirty="0" sz="1200" spc="-5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estándares–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calidad</a:t>
            </a:r>
            <a:endParaRPr sz="1200">
              <a:latin typeface="Century Gothic"/>
              <a:cs typeface="Century Gothic"/>
            </a:endParaRPr>
          </a:p>
          <a:p>
            <a:pPr marL="158115" marR="303530">
              <a:lnSpc>
                <a:spcPts val="1280"/>
              </a:lnSpc>
              <a:spcBef>
                <a:spcPts val="1015"/>
              </a:spcBef>
            </a:pP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Correlación</a:t>
            </a:r>
            <a:r>
              <a:rPr dirty="0" sz="1100" spc="-5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entre</a:t>
            </a:r>
            <a:r>
              <a:rPr dirty="0" sz="1100" spc="-4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implementación</a:t>
            </a:r>
            <a:r>
              <a:rPr dirty="0" sz="1100" spc="-4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2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Century Gothic"/>
                <a:cs typeface="Century Gothic"/>
              </a:rPr>
              <a:t>y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calidad</a:t>
            </a:r>
            <a:r>
              <a:rPr dirty="0" sz="1100" spc="-5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del</a:t>
            </a:r>
            <a:r>
              <a:rPr dirty="0" sz="1100" spc="-3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producto.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57090" y="2736850"/>
            <a:ext cx="4036060" cy="1384300"/>
            <a:chOff x="4657090" y="2736850"/>
            <a:chExt cx="4036060" cy="1384300"/>
          </a:xfrm>
        </p:grpSpPr>
        <p:sp>
          <p:nvSpPr>
            <p:cNvPr id="26" name="object 26"/>
            <p:cNvSpPr/>
            <p:nvPr/>
          </p:nvSpPr>
          <p:spPr>
            <a:xfrm>
              <a:off x="4727448" y="2743200"/>
              <a:ext cx="3959860" cy="1371600"/>
            </a:xfrm>
            <a:custGeom>
              <a:avLst/>
              <a:gdLst/>
              <a:ahLst/>
              <a:cxnLst/>
              <a:rect l="l" t="t" r="r" b="b"/>
              <a:pathLst>
                <a:path w="3959859" h="1371600">
                  <a:moveTo>
                    <a:pt x="0" y="1371600"/>
                  </a:moveTo>
                  <a:lnTo>
                    <a:pt x="3959352" y="1371600"/>
                  </a:lnTo>
                  <a:lnTo>
                    <a:pt x="3959352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663440" y="2743200"/>
              <a:ext cx="4023360" cy="1371600"/>
            </a:xfrm>
            <a:custGeom>
              <a:avLst/>
              <a:gdLst/>
              <a:ahLst/>
              <a:cxnLst/>
              <a:rect l="l" t="t" r="r" b="b"/>
              <a:pathLst>
                <a:path w="4023359" h="1371600">
                  <a:moveTo>
                    <a:pt x="0" y="1371600"/>
                  </a:moveTo>
                  <a:lnTo>
                    <a:pt x="4023360" y="137160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663440" y="2743200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5" h="1371600">
                  <a:moveTo>
                    <a:pt x="64008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64008" y="13716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663440" y="2743200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5" h="1371600">
                  <a:moveTo>
                    <a:pt x="0" y="1371600"/>
                  </a:moveTo>
                  <a:lnTo>
                    <a:pt x="64008" y="13716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699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4733797" y="2883789"/>
            <a:ext cx="3947160" cy="65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Métrica</a:t>
            </a:r>
            <a:r>
              <a:rPr dirty="0" sz="1200" spc="-4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clave</a:t>
            </a:r>
            <a:endParaRPr sz="1200">
              <a:latin typeface="Century Gothic"/>
              <a:cs typeface="Century Gothic"/>
            </a:endParaRPr>
          </a:p>
          <a:p>
            <a:pPr marL="158750" marR="337820">
              <a:lnSpc>
                <a:spcPts val="1280"/>
              </a:lnSpc>
              <a:spcBef>
                <a:spcPts val="1015"/>
              </a:spcBef>
            </a:pP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Densidad</a:t>
            </a:r>
            <a:r>
              <a:rPr dirty="0" sz="1100" spc="-5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3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defectos</a:t>
            </a:r>
            <a:r>
              <a:rPr dirty="0" sz="1100" spc="-4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como</a:t>
            </a:r>
            <a:r>
              <a:rPr dirty="0" sz="1100" spc="-2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indicador</a:t>
            </a:r>
            <a:r>
              <a:rPr dirty="0" sz="1100" spc="-4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4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calidad </a:t>
            </a:r>
            <a:r>
              <a:rPr dirty="0" sz="1100">
                <a:solidFill>
                  <a:srgbClr val="333333"/>
                </a:solidFill>
                <a:latin typeface="Century Gothic"/>
                <a:cs typeface="Century Gothic"/>
              </a:rPr>
              <a:t>del</a:t>
            </a:r>
            <a:r>
              <a:rPr dirty="0" sz="1100" spc="-3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Century Gothic"/>
                <a:cs typeface="Century Gothic"/>
              </a:rPr>
              <a:t>software.</a:t>
            </a:r>
            <a:endParaRPr sz="1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457200"/>
          </a:xfrm>
          <a:custGeom>
            <a:avLst/>
            <a:gdLst/>
            <a:ahLst/>
            <a:cxnLst/>
            <a:rect l="l" t="t" r="r" b="b"/>
            <a:pathLst>
              <a:path w="6858000" h="457200">
                <a:moveTo>
                  <a:pt x="68580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0" y="457200"/>
                </a:lnTo>
                <a:lnTo>
                  <a:pt x="6858000" y="0"/>
                </a:lnTo>
                <a:close/>
              </a:path>
            </a:pathLst>
          </a:custGeom>
          <a:solidFill>
            <a:srgbClr val="1C2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0" y="0"/>
            <a:ext cx="6858000" cy="457200"/>
          </a:xfrm>
          <a:prstGeom prst="rect">
            <a:avLst/>
          </a:prstGeom>
          <a:ln w="12700">
            <a:solidFill>
              <a:srgbClr val="1C2C4E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80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CMMI</a:t>
            </a:r>
            <a:r>
              <a:rPr dirty="0" spc="-45"/>
              <a:t> </a:t>
            </a:r>
            <a:r>
              <a:rPr dirty="0"/>
              <a:t>en</a:t>
            </a:r>
            <a:r>
              <a:rPr dirty="0" spc="-10"/>
              <a:t> </a:t>
            </a:r>
            <a:r>
              <a:rPr dirty="0"/>
              <a:t>el</a:t>
            </a:r>
            <a:r>
              <a:rPr dirty="0" spc="-15"/>
              <a:t> </a:t>
            </a:r>
            <a:r>
              <a:rPr dirty="0"/>
              <a:t>modelo</a:t>
            </a:r>
            <a:r>
              <a:rPr dirty="0" spc="-35"/>
              <a:t> </a:t>
            </a:r>
            <a:r>
              <a:rPr dirty="0" spc="-10"/>
              <a:t>integrado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1262837"/>
            <a:ext cx="7954645" cy="1514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ts val="166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CMMI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como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marco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procesos: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mejores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prácticas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desarrollo,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mantenimiento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endParaRPr sz="1400">
              <a:latin typeface="Century Gothic"/>
              <a:cs typeface="Century Gothic"/>
            </a:endParaRPr>
          </a:p>
          <a:p>
            <a:pPr marL="355600">
              <a:lnSpc>
                <a:spcPts val="1655"/>
              </a:lnSpc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operación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 productos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servicios.</a:t>
            </a:r>
            <a:endParaRPr sz="14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Objetivo: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obtener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resultados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medibles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repetibles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mediante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niveles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madurez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(1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5).</a:t>
            </a:r>
            <a:endParaRPr sz="1400">
              <a:latin typeface="Century Gothic"/>
              <a:cs typeface="Century Gothic"/>
            </a:endParaRPr>
          </a:p>
          <a:p>
            <a:pPr marL="355600" marR="68580" indent="-342900">
              <a:lnSpc>
                <a:spcPts val="1630"/>
              </a:lnSpc>
              <a:spcBef>
                <a:spcPts val="145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Áreas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proceso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relevantes: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PP,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PMC,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RD,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RM,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TS, VER,</a:t>
            </a:r>
            <a:r>
              <a:rPr dirty="0" sz="14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VAL,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MA,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CM,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PPQA (niveles 2 y 3; CMMI-DEV v1.3).</a:t>
            </a:r>
            <a:endParaRPr sz="1400">
              <a:latin typeface="Century Gothic"/>
              <a:cs typeface="Century Gothic"/>
            </a:endParaRPr>
          </a:p>
          <a:p>
            <a:pPr marL="354965" indent="-342265">
              <a:lnSpc>
                <a:spcPts val="1655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Uso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industria: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más de 5.000 empresas (SEI, 2015),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foco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niveles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2 y 3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endParaRPr sz="1400">
              <a:latin typeface="Century Gothic"/>
              <a:cs typeface="Century Gothic"/>
            </a:endParaRPr>
          </a:p>
          <a:p>
            <a:pPr marL="355600">
              <a:lnSpc>
                <a:spcPts val="1655"/>
              </a:lnSpc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contexto latinoamericano (Espejo Chavarría et al., 2016).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3478238"/>
            <a:ext cx="146304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800" spc="-5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dirty="0" sz="800" spc="-10">
                <a:solidFill>
                  <a:srgbClr val="FFFFFF"/>
                </a:solidFill>
                <a:latin typeface="Century Gothic"/>
                <a:cs typeface="Century Gothic"/>
              </a:rPr>
              <a:t>Inicial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8839" y="3393821"/>
            <a:ext cx="1463040" cy="594360"/>
          </a:xfrm>
          <a:prstGeom prst="rect">
            <a:avLst/>
          </a:prstGeom>
          <a:solidFill>
            <a:srgbClr val="5B9BD4"/>
          </a:solidFill>
          <a:ln w="12700">
            <a:solidFill>
              <a:srgbClr val="5B9BD4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800" spc="-5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800">
              <a:latin typeface="Century Gothic"/>
              <a:cs typeface="Century Gothic"/>
            </a:endParaRPr>
          </a:p>
          <a:p>
            <a:pPr algn="ctr" marL="635">
              <a:lnSpc>
                <a:spcPct val="100000"/>
              </a:lnSpc>
            </a:pPr>
            <a:r>
              <a:rPr dirty="0" sz="800" spc="-10">
                <a:solidFill>
                  <a:srgbClr val="FFFFFF"/>
                </a:solidFill>
                <a:latin typeface="Century Gothic"/>
                <a:cs typeface="Century Gothic"/>
              </a:rPr>
              <a:t>Gestionado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0479" y="3302380"/>
            <a:ext cx="1463040" cy="685800"/>
          </a:xfrm>
          <a:prstGeom prst="rect">
            <a:avLst/>
          </a:prstGeom>
          <a:solidFill>
            <a:srgbClr val="4471C4"/>
          </a:solidFill>
          <a:ln w="12700">
            <a:solidFill>
              <a:srgbClr val="4471C4"/>
            </a:solidFill>
          </a:ln>
        </p:spPr>
        <p:txBody>
          <a:bodyPr wrap="square" lIns="0" tIns="920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800" spc="-5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dirty="0" sz="800" spc="-10">
                <a:solidFill>
                  <a:srgbClr val="FFFFFF"/>
                </a:solidFill>
                <a:latin typeface="Century Gothic"/>
                <a:cs typeface="Century Gothic"/>
              </a:rPr>
              <a:t>Definido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32120" y="3210941"/>
            <a:ext cx="1463040" cy="777240"/>
          </a:xfrm>
          <a:prstGeom prst="rect">
            <a:avLst/>
          </a:prstGeom>
          <a:solidFill>
            <a:srgbClr val="2D5F9E"/>
          </a:solidFill>
          <a:ln w="12700">
            <a:solidFill>
              <a:srgbClr val="2D5F9E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80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  <a:spcBef>
                <a:spcPts val="5"/>
              </a:spcBef>
            </a:pPr>
            <a:r>
              <a:rPr dirty="0" sz="800" spc="-50" b="1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800">
              <a:latin typeface="Century Gothic"/>
              <a:cs typeface="Century Gothic"/>
            </a:endParaRPr>
          </a:p>
          <a:p>
            <a:pPr algn="ctr" marL="635">
              <a:lnSpc>
                <a:spcPct val="100000"/>
              </a:lnSpc>
            </a:pPr>
            <a:r>
              <a:rPr dirty="0" sz="800" spc="-10" b="1">
                <a:solidFill>
                  <a:srgbClr val="FFFFFF"/>
                </a:solidFill>
                <a:latin typeface="Century Gothic"/>
                <a:cs typeface="Century Gothic"/>
              </a:rPr>
              <a:t>Cuantitativo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23759" y="3112477"/>
            <a:ext cx="1463040" cy="86868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  <a:spcBef>
                <a:spcPts val="5"/>
              </a:spcBef>
            </a:pPr>
            <a:r>
              <a:rPr dirty="0" sz="800" spc="-50" b="1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800">
              <a:latin typeface="Century Gothic"/>
              <a:cs typeface="Century Gothic"/>
            </a:endParaRPr>
          </a:p>
          <a:p>
            <a:pPr algn="ctr" marL="1270">
              <a:lnSpc>
                <a:spcPct val="100000"/>
              </a:lnSpc>
            </a:pPr>
            <a:r>
              <a:rPr dirty="0" sz="800" spc="-10" b="1">
                <a:solidFill>
                  <a:srgbClr val="FFFFFF"/>
                </a:solidFill>
                <a:latin typeface="Century Gothic"/>
                <a:cs typeface="Century Gothic"/>
              </a:rPr>
              <a:t>Optimizando</a:t>
            </a:r>
            <a:endParaRPr sz="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6858000" cy="457200"/>
          </a:xfrm>
          <a:prstGeom prst="rect">
            <a:avLst/>
          </a:prstGeom>
          <a:ln w="12700">
            <a:solidFill>
              <a:srgbClr val="1C2C4E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80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TSP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5"/>
              <a:t> </a:t>
            </a:r>
            <a:r>
              <a:rPr dirty="0"/>
              <a:t>PSP</a:t>
            </a:r>
            <a:r>
              <a:rPr dirty="0" spc="-45"/>
              <a:t> </a:t>
            </a:r>
            <a:r>
              <a:rPr dirty="0"/>
              <a:t>como</a:t>
            </a:r>
            <a:r>
              <a:rPr dirty="0" spc="-35"/>
              <a:t> </a:t>
            </a:r>
            <a:r>
              <a:rPr dirty="0"/>
              <a:t>palancas</a:t>
            </a:r>
            <a:r>
              <a:rPr dirty="0" spc="-30"/>
              <a:t> </a:t>
            </a:r>
            <a:r>
              <a:rPr dirty="0"/>
              <a:t>sobre</a:t>
            </a:r>
            <a:r>
              <a:rPr dirty="0" spc="-15"/>
              <a:t> </a:t>
            </a:r>
            <a:r>
              <a:rPr dirty="0"/>
              <a:t>las</a:t>
            </a:r>
            <a:r>
              <a:rPr dirty="0" spc="-35"/>
              <a:t> </a:t>
            </a:r>
            <a:r>
              <a:rPr dirty="0" spc="-10"/>
              <a:t>personas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4320" y="1188719"/>
            <a:ext cx="4114800" cy="411480"/>
          </a:xfrm>
          <a:prstGeom prst="rect">
            <a:avLst/>
          </a:prstGeom>
          <a:solidFill>
            <a:srgbClr val="4471C4"/>
          </a:solidFill>
          <a:ln w="12700">
            <a:solidFill>
              <a:srgbClr val="4471C4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905"/>
              </a:spcBef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PSP</a:t>
            </a:r>
            <a:r>
              <a:rPr dirty="0" sz="1100" spc="-3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—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Personal</a:t>
            </a:r>
            <a:r>
              <a:rPr dirty="0" sz="1100" spc="-35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r>
              <a:rPr dirty="0" sz="1100" spc="-45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Process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059" y="1716151"/>
            <a:ext cx="376047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Proceso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auto-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mejoramiento</a:t>
            </a:r>
            <a:r>
              <a:rPr dirty="0" sz="1200" spc="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individual.</a:t>
            </a:r>
            <a:endParaRPr sz="1200">
              <a:latin typeface="Century Gothic"/>
              <a:cs typeface="Century Gothic"/>
            </a:endParaRPr>
          </a:p>
          <a:p>
            <a:pPr marL="354965" marR="213360" indent="-342900">
              <a:lnSpc>
                <a:spcPts val="1390"/>
              </a:lnSpc>
              <a:spcBef>
                <a:spcPts val="135"/>
              </a:spcBef>
              <a:buChar char="•"/>
              <a:tabLst>
                <a:tab pos="354965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Controla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tiempo,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defectos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productividad personal.</a:t>
            </a:r>
            <a:endParaRPr sz="1200">
              <a:latin typeface="Century Gothic"/>
              <a:cs typeface="Century Gothic"/>
            </a:endParaRPr>
          </a:p>
          <a:p>
            <a:pPr marL="354965" indent="-342265">
              <a:lnSpc>
                <a:spcPts val="1405"/>
              </a:lnSpc>
              <a:buChar char="•"/>
              <a:tabLst>
                <a:tab pos="354965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Métricas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básicas: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tamaño,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tiempo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defectos.</a:t>
            </a:r>
            <a:endParaRPr sz="1200">
              <a:latin typeface="Century Gothic"/>
              <a:cs typeface="Century Gothic"/>
            </a:endParaRPr>
          </a:p>
          <a:p>
            <a:pPr marL="354965" indent="-342265">
              <a:lnSpc>
                <a:spcPts val="1415"/>
              </a:lnSpc>
              <a:spcBef>
                <a:spcPts val="45"/>
              </a:spcBef>
              <a:buChar char="•"/>
              <a:tabLst>
                <a:tab pos="354965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Permite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estimar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planificar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trabajo</a:t>
            </a:r>
            <a:r>
              <a:rPr dirty="0" sz="1200" spc="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propio</a:t>
            </a:r>
            <a:endParaRPr sz="1200">
              <a:latin typeface="Century Gothic"/>
              <a:cs typeface="Century Gothic"/>
            </a:endParaRPr>
          </a:p>
          <a:p>
            <a:pPr marL="354965">
              <a:lnSpc>
                <a:spcPts val="1415"/>
              </a:lnSpc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precisión.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879" y="1188719"/>
            <a:ext cx="4114800" cy="41148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905"/>
              </a:spcBef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TSP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—</a:t>
            </a:r>
            <a:r>
              <a:rPr dirty="0" sz="1100" spc="-15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Team</a:t>
            </a:r>
            <a:r>
              <a:rPr dirty="0" sz="1100" spc="-2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r>
              <a:rPr dirty="0" sz="1100" spc="-45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Process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254" y="1722246"/>
            <a:ext cx="3923029" cy="14827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355600" marR="843915" indent="-343535">
              <a:lnSpc>
                <a:spcPts val="1390"/>
              </a:lnSpc>
              <a:spcBef>
                <a:spcPts val="185"/>
              </a:spcBef>
              <a:buChar char="•"/>
              <a:tabLst>
                <a:tab pos="35560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Proceso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orientado</a:t>
            </a:r>
            <a:r>
              <a:rPr dirty="0" sz="1200" spc="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equipos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alto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rendimiento.</a:t>
            </a:r>
            <a:endParaRPr sz="1200">
              <a:latin typeface="Century Gothic"/>
              <a:cs typeface="Century Gothic"/>
            </a:endParaRPr>
          </a:p>
          <a:p>
            <a:pPr marL="355600" marR="855344" indent="-343535">
              <a:lnSpc>
                <a:spcPts val="139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Ciclos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lanzamiento y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postmortem estructurado.</a:t>
            </a:r>
            <a:endParaRPr sz="1200">
              <a:latin typeface="Century Gothic"/>
              <a:cs typeface="Century Gothic"/>
            </a:endParaRPr>
          </a:p>
          <a:p>
            <a:pPr marL="355600" indent="-342900">
              <a:lnSpc>
                <a:spcPts val="1415"/>
              </a:lnSpc>
              <a:spcBef>
                <a:spcPts val="15"/>
              </a:spcBef>
              <a:buChar char="•"/>
              <a:tabLst>
                <a:tab pos="35560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Principio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clave: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calidad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como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foco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todas</a:t>
            </a:r>
            <a:r>
              <a:rPr dirty="0" sz="1200" spc="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las</a:t>
            </a:r>
            <a:endParaRPr sz="1200">
              <a:latin typeface="Century Gothic"/>
              <a:cs typeface="Century Gothic"/>
            </a:endParaRPr>
          </a:p>
          <a:p>
            <a:pPr marL="355600">
              <a:lnSpc>
                <a:spcPts val="1415"/>
              </a:lnSpc>
            </a:pP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fases.</a:t>
            </a:r>
            <a:endParaRPr sz="1200">
              <a:latin typeface="Century Gothic"/>
              <a:cs typeface="Century Gothic"/>
            </a:endParaRPr>
          </a:p>
          <a:p>
            <a:pPr marL="355600" marR="165735" indent="-343535">
              <a:lnSpc>
                <a:spcPts val="1390"/>
              </a:lnSpc>
              <a:spcBef>
                <a:spcPts val="135"/>
              </a:spcBef>
              <a:buChar char="•"/>
              <a:tabLst>
                <a:tab pos="35560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Maximiza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productividad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entrega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tiempo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dentro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presupuesto.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457200"/>
          </a:xfrm>
          <a:custGeom>
            <a:avLst/>
            <a:gdLst/>
            <a:ahLst/>
            <a:cxnLst/>
            <a:rect l="l" t="t" r="r" b="b"/>
            <a:pathLst>
              <a:path w="6858000" h="457200">
                <a:moveTo>
                  <a:pt x="68580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0" y="457200"/>
                </a:lnTo>
                <a:lnTo>
                  <a:pt x="6858000" y="0"/>
                </a:lnTo>
                <a:close/>
              </a:path>
            </a:pathLst>
          </a:custGeom>
          <a:solidFill>
            <a:srgbClr val="1C2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0" y="0"/>
            <a:ext cx="6858000" cy="457200"/>
          </a:xfrm>
          <a:prstGeom prst="rect">
            <a:avLst/>
          </a:prstGeom>
          <a:ln w="12700">
            <a:solidFill>
              <a:srgbClr val="1C2C4E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80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dirty="0" spc="-75"/>
              <a:t> </a:t>
            </a:r>
            <a:r>
              <a:rPr dirty="0"/>
              <a:t>integrado</a:t>
            </a:r>
            <a:r>
              <a:rPr dirty="0" spc="-40"/>
              <a:t> </a:t>
            </a:r>
            <a:r>
              <a:rPr dirty="0"/>
              <a:t>CMMI–</a:t>
            </a:r>
            <a:r>
              <a:rPr dirty="0" spc="-10"/>
              <a:t>TSP–</a:t>
            </a:r>
            <a:r>
              <a:rPr dirty="0" spc="-25"/>
              <a:t>PSP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200" y="1188719"/>
            <a:ext cx="8229600" cy="82296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75"/>
              </a:spcBef>
            </a:pPr>
            <a:endParaRPr sz="120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</a:pPr>
            <a:r>
              <a:rPr dirty="0" sz="1600" b="1">
                <a:solidFill>
                  <a:srgbClr val="FFFFFF"/>
                </a:solidFill>
                <a:latin typeface="Century Gothic"/>
                <a:cs typeface="Century Gothic"/>
              </a:rPr>
              <a:t>CMMI</a:t>
            </a:r>
            <a:r>
              <a:rPr dirty="0" sz="1600" spc="385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Administración —</a:t>
            </a:r>
            <a:r>
              <a:rPr dirty="0" sz="1200" spc="-2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marco</a:t>
            </a:r>
            <a:r>
              <a:rPr dirty="0" sz="1200" spc="-2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de</a:t>
            </a:r>
            <a:r>
              <a:rPr dirty="0" sz="1200" spc="-2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procesos</a:t>
            </a:r>
            <a:r>
              <a:rPr dirty="0" sz="1200" spc="-3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DDDDDD"/>
                </a:solidFill>
                <a:latin typeface="Century Gothic"/>
                <a:cs typeface="Century Gothic"/>
              </a:rPr>
              <a:t>organizacionales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2240279"/>
            <a:ext cx="8229600" cy="822960"/>
          </a:xfrm>
          <a:prstGeom prst="rect">
            <a:avLst/>
          </a:prstGeom>
          <a:solidFill>
            <a:srgbClr val="4471C4"/>
          </a:solidFill>
          <a:ln w="12700">
            <a:solidFill>
              <a:srgbClr val="4471C4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75"/>
              </a:spcBef>
            </a:pPr>
            <a:endParaRPr sz="120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solidFill>
                  <a:srgbClr val="FFFFFF"/>
                </a:solidFill>
                <a:latin typeface="Century Gothic"/>
                <a:cs typeface="Century Gothic"/>
              </a:rPr>
              <a:t>TSP</a:t>
            </a:r>
            <a:r>
              <a:rPr dirty="0" sz="1600" spc="45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Equipo</a:t>
            </a:r>
            <a:r>
              <a:rPr dirty="0" sz="1200" spc="-30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de</a:t>
            </a:r>
            <a:r>
              <a:rPr dirty="0" sz="1200" spc="-1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ingenieros</a:t>
            </a:r>
            <a:r>
              <a:rPr dirty="0" sz="1200" spc="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—</a:t>
            </a:r>
            <a:r>
              <a:rPr dirty="0" sz="1200" spc="-10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procesos</a:t>
            </a:r>
            <a:r>
              <a:rPr dirty="0" sz="1200" spc="-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de</a:t>
            </a:r>
            <a:r>
              <a:rPr dirty="0" sz="1200" spc="-20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equipo</a:t>
            </a:r>
            <a:r>
              <a:rPr dirty="0" sz="1200" spc="-2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y</a:t>
            </a:r>
            <a:r>
              <a:rPr dirty="0" sz="1200" spc="-10">
                <a:solidFill>
                  <a:srgbClr val="DDDDDD"/>
                </a:solidFill>
                <a:latin typeface="Century Gothic"/>
                <a:cs typeface="Century Gothic"/>
              </a:rPr>
              <a:t> lanzamientos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5B9BD4"/>
          </a:solidFill>
          <a:ln w="12700">
            <a:solidFill>
              <a:srgbClr val="5B9BD4"/>
            </a:solidFill>
          </a:ln>
        </p:spPr>
        <p:txBody>
          <a:bodyPr wrap="square" lIns="0" tIns="1117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</a:pPr>
            <a:r>
              <a:rPr dirty="0" sz="1600" b="1">
                <a:solidFill>
                  <a:srgbClr val="FFFFFF"/>
                </a:solidFill>
                <a:latin typeface="Century Gothic"/>
                <a:cs typeface="Century Gothic"/>
              </a:rPr>
              <a:t>PSP</a:t>
            </a:r>
            <a:r>
              <a:rPr dirty="0" sz="1600" spc="395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Ingeniero</a:t>
            </a:r>
            <a:r>
              <a:rPr dirty="0" sz="1200" spc="-5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individual</a:t>
            </a:r>
            <a:r>
              <a:rPr dirty="0" sz="1200" spc="-2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—</a:t>
            </a:r>
            <a:r>
              <a:rPr dirty="0" sz="1200" spc="-3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autogestión,</a:t>
            </a:r>
            <a:r>
              <a:rPr dirty="0" sz="1200" spc="30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registro</a:t>
            </a:r>
            <a:r>
              <a:rPr dirty="0" sz="1200" spc="-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y</a:t>
            </a:r>
            <a:r>
              <a:rPr dirty="0" sz="1200" spc="-4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DDDDDD"/>
                </a:solidFill>
                <a:latin typeface="Century Gothic"/>
                <a:cs typeface="Century Gothic"/>
              </a:rPr>
              <a:t>mejora</a:t>
            </a:r>
            <a:r>
              <a:rPr dirty="0" sz="1200" spc="-25">
                <a:solidFill>
                  <a:srgbClr val="DDDDDD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DDDDDD"/>
                </a:solidFill>
                <a:latin typeface="Century Gothic"/>
                <a:cs typeface="Century Gothic"/>
              </a:rPr>
              <a:t>continua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89120" y="2029967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80">
                <a:moveTo>
                  <a:pt x="0" y="0"/>
                </a:moveTo>
                <a:lnTo>
                  <a:pt x="0" y="182880"/>
                </a:lnTo>
              </a:path>
            </a:pathLst>
          </a:custGeom>
          <a:ln w="25400">
            <a:solidFill>
              <a:srgbClr val="BA952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89120" y="3081527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80"/>
                </a:lnTo>
              </a:path>
            </a:pathLst>
          </a:custGeom>
          <a:ln w="25400">
            <a:solidFill>
              <a:srgbClr val="BA952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8918" y="4150499"/>
            <a:ext cx="70434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Enfoque</a:t>
            </a:r>
            <a:r>
              <a:rPr dirty="0" sz="1100" spc="-3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en</a:t>
            </a:r>
            <a:r>
              <a:rPr dirty="0" sz="1100" spc="-3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talento</a:t>
            </a:r>
            <a:r>
              <a:rPr dirty="0" sz="1100" spc="-2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humano: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compromiso</a:t>
            </a:r>
            <a:r>
              <a:rPr dirty="0" sz="1100" spc="-3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de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las</a:t>
            </a:r>
            <a:r>
              <a:rPr dirty="0" sz="1100" spc="-3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personas</a:t>
            </a:r>
            <a:r>
              <a:rPr dirty="0" sz="1100" spc="-5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con</a:t>
            </a:r>
            <a:r>
              <a:rPr dirty="0" sz="1100" spc="-2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el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trabajo</a:t>
            </a:r>
            <a:r>
              <a:rPr dirty="0" sz="1100" spc="-5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y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la</a:t>
            </a:r>
            <a:r>
              <a:rPr dirty="0" sz="1100" spc="-1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calidad</a:t>
            </a:r>
            <a:r>
              <a:rPr dirty="0" sz="1100" spc="-6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como</a:t>
            </a:r>
            <a:r>
              <a:rPr dirty="0" sz="1100" spc="-1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eje</a:t>
            </a:r>
            <a:r>
              <a:rPr dirty="0" sz="1100" spc="-4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Century Gothic"/>
                <a:cs typeface="Century Gothic"/>
              </a:rPr>
              <a:t>central.</a:t>
            </a:r>
            <a:endParaRPr sz="1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457200"/>
          </a:xfrm>
          <a:custGeom>
            <a:avLst/>
            <a:gdLst/>
            <a:ahLst/>
            <a:cxnLst/>
            <a:rect l="l" t="t" r="r" b="b"/>
            <a:pathLst>
              <a:path w="6858000" h="457200">
                <a:moveTo>
                  <a:pt x="68580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0" y="457200"/>
                </a:lnTo>
                <a:lnTo>
                  <a:pt x="6858000" y="0"/>
                </a:lnTo>
                <a:close/>
              </a:path>
            </a:pathLst>
          </a:custGeom>
          <a:solidFill>
            <a:srgbClr val="1C2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0" y="0"/>
            <a:ext cx="6858000" cy="457200"/>
          </a:xfrm>
          <a:prstGeom prst="rect">
            <a:avLst/>
          </a:prstGeom>
          <a:ln w="12700">
            <a:solidFill>
              <a:srgbClr val="1C2C4E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80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Diseño</a:t>
            </a:r>
            <a:r>
              <a:rPr dirty="0" spc="-45"/>
              <a:t> </a:t>
            </a:r>
            <a:r>
              <a:rPr dirty="0"/>
              <a:t>metodológico</a:t>
            </a:r>
            <a:r>
              <a:rPr dirty="0" spc="-50"/>
              <a:t> </a:t>
            </a:r>
            <a:r>
              <a:rPr dirty="0"/>
              <a:t>del</a:t>
            </a:r>
            <a:r>
              <a:rPr dirty="0" spc="-40"/>
              <a:t> </a:t>
            </a:r>
            <a:r>
              <a:rPr dirty="0"/>
              <a:t>caso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 spc="-10"/>
              <a:t>estudio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1217117"/>
            <a:ext cx="7769225" cy="1514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ts val="166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Tipo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estudio: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cuantitativo,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diseño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pre-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experimental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medición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pre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post</a:t>
            </a:r>
            <a:endParaRPr sz="1400">
              <a:latin typeface="Century Gothic"/>
              <a:cs typeface="Century Gothic"/>
            </a:endParaRPr>
          </a:p>
          <a:p>
            <a:pPr marL="355600">
              <a:lnSpc>
                <a:spcPts val="1655"/>
              </a:lnSpc>
            </a:pP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tratamiento.</a:t>
            </a:r>
            <a:endParaRPr sz="14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Muestra: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22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proyectos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software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una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consultora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global;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11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pre-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test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11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post-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test.</a:t>
            </a:r>
            <a:endParaRPr sz="1400">
              <a:latin typeface="Century Gothic"/>
              <a:cs typeface="Century Gothic"/>
            </a:endParaRPr>
          </a:p>
          <a:p>
            <a:pPr marL="355600" marR="48895" indent="-342900">
              <a:lnSpc>
                <a:spcPts val="1630"/>
              </a:lnSpc>
              <a:spcBef>
                <a:spcPts val="145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Criterios</a:t>
            </a:r>
            <a:r>
              <a:rPr dirty="0" sz="14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selección: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misma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unidad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negocio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(seguros),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misma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plataforma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(.NET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Oracle),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duración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similar.</a:t>
            </a:r>
            <a:endParaRPr sz="1400">
              <a:latin typeface="Century Gothic"/>
              <a:cs typeface="Century Gothic"/>
            </a:endParaRPr>
          </a:p>
          <a:p>
            <a:pPr marL="354965" indent="-342265">
              <a:lnSpc>
                <a:spcPts val="1655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Hipótesis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general: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integración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modelo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aseguramiento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 calidad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permite</a:t>
            </a:r>
            <a:endParaRPr sz="1400">
              <a:latin typeface="Century Gothic"/>
              <a:cs typeface="Century Gothic"/>
            </a:endParaRPr>
          </a:p>
          <a:p>
            <a:pPr marL="355600">
              <a:lnSpc>
                <a:spcPts val="1655"/>
              </a:lnSpc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asegurar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calidad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proceso.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1519" y="2890913"/>
            <a:ext cx="2286000" cy="1371600"/>
          </a:xfrm>
          <a:prstGeom prst="rect">
            <a:avLst/>
          </a:prstGeom>
          <a:solidFill>
            <a:srgbClr val="5B9BD4"/>
          </a:solidFill>
          <a:ln w="12700">
            <a:solidFill>
              <a:srgbClr val="5B9BD4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Times New Roman"/>
              <a:cs typeface="Times New Roman"/>
            </a:endParaRPr>
          </a:p>
          <a:p>
            <a:pPr algn="ctr" marL="862965" marR="857885">
              <a:lnSpc>
                <a:spcPct val="100000"/>
              </a:lnSpc>
            </a:pP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PRE-</a:t>
            </a:r>
            <a:r>
              <a:rPr dirty="0" sz="1100" spc="-20" b="1">
                <a:solidFill>
                  <a:srgbClr val="FFFFFF"/>
                </a:solidFill>
                <a:latin typeface="Century Gothic"/>
                <a:cs typeface="Century Gothic"/>
              </a:rPr>
              <a:t>TEST (O1)</a:t>
            </a:r>
            <a:endParaRPr sz="1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dirty="0" sz="1100" spc="-2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proyectos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3279" y="2890913"/>
            <a:ext cx="2286000" cy="137160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100">
              <a:latin typeface="Times New Roman"/>
              <a:cs typeface="Times New Roman"/>
            </a:endParaRPr>
          </a:p>
          <a:p>
            <a:pPr marL="651510" marR="641985" indent="194945">
              <a:lnSpc>
                <a:spcPct val="100000"/>
              </a:lnSpc>
            </a:pP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MODELO </a:t>
            </a: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CMMI–TSP–</a:t>
            </a:r>
            <a:r>
              <a:rPr dirty="0" sz="1100" spc="-25" b="1">
                <a:solidFill>
                  <a:srgbClr val="FFFFFF"/>
                </a:solidFill>
                <a:latin typeface="Century Gothic"/>
                <a:cs typeface="Century Gothic"/>
              </a:rPr>
              <a:t>PSP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5040" y="2890913"/>
            <a:ext cx="2286000" cy="1371600"/>
          </a:xfrm>
          <a:prstGeom prst="rect">
            <a:avLst/>
          </a:prstGeom>
          <a:solidFill>
            <a:srgbClr val="4471C4"/>
          </a:solidFill>
          <a:ln w="12700">
            <a:solidFill>
              <a:srgbClr val="4471C4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Times New Roman"/>
              <a:cs typeface="Times New Roman"/>
            </a:endParaRPr>
          </a:p>
          <a:p>
            <a:pPr algn="ctr" marL="816610" marR="808355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POST-</a:t>
            </a:r>
            <a:r>
              <a:rPr dirty="0" sz="1100" spc="-20" b="1">
                <a:solidFill>
                  <a:srgbClr val="FFFFFF"/>
                </a:solidFill>
                <a:latin typeface="Century Gothic"/>
                <a:cs typeface="Century Gothic"/>
              </a:rPr>
              <a:t>TEST (O2)</a:t>
            </a:r>
            <a:endParaRPr sz="1100">
              <a:latin typeface="Century Gothic"/>
              <a:cs typeface="Century Gothic"/>
            </a:endParaRPr>
          </a:p>
          <a:p>
            <a:pPr algn="ctr" marL="1905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 proyectos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35807" y="3576701"/>
            <a:ext cx="329565" cy="0"/>
          </a:xfrm>
          <a:custGeom>
            <a:avLst/>
            <a:gdLst/>
            <a:ahLst/>
            <a:cxnLst/>
            <a:rect l="l" t="t" r="r" b="b"/>
            <a:pathLst>
              <a:path w="329564" h="0">
                <a:moveTo>
                  <a:pt x="0" y="0"/>
                </a:moveTo>
                <a:lnTo>
                  <a:pt x="329183" y="0"/>
                </a:lnTo>
              </a:path>
            </a:pathLst>
          </a:custGeom>
          <a:ln w="31750">
            <a:solidFill>
              <a:srgbClr val="BA952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87567" y="3576701"/>
            <a:ext cx="329565" cy="0"/>
          </a:xfrm>
          <a:custGeom>
            <a:avLst/>
            <a:gdLst/>
            <a:ahLst/>
            <a:cxnLst/>
            <a:rect l="l" t="t" r="r" b="b"/>
            <a:pathLst>
              <a:path w="329564" h="0">
                <a:moveTo>
                  <a:pt x="0" y="0"/>
                </a:moveTo>
                <a:lnTo>
                  <a:pt x="329184" y="0"/>
                </a:lnTo>
              </a:path>
            </a:pathLst>
          </a:custGeom>
          <a:ln w="31750">
            <a:solidFill>
              <a:srgbClr val="BA952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6870700" cy="469900"/>
            <a:chOff x="-6350" y="-6350"/>
            <a:chExt cx="6870700" cy="4699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858000" cy="457200"/>
            </a:xfrm>
            <a:custGeom>
              <a:avLst/>
              <a:gdLst/>
              <a:ahLst/>
              <a:cxnLst/>
              <a:rect l="l" t="t" r="r" b="b"/>
              <a:pathLst>
                <a:path w="6858000" h="457200">
                  <a:moveTo>
                    <a:pt x="6858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6858000" y="45720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1C2C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858000" cy="457200"/>
            </a:xfrm>
            <a:custGeom>
              <a:avLst/>
              <a:gdLst/>
              <a:ahLst/>
              <a:cxnLst/>
              <a:rect l="l" t="t" r="r" b="b"/>
              <a:pathLst>
                <a:path w="6858000" h="457200">
                  <a:moveTo>
                    <a:pt x="0" y="457200"/>
                  </a:moveTo>
                  <a:lnTo>
                    <a:pt x="6858000" y="457200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1C2C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24460" y="124459"/>
            <a:ext cx="42354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Métricas</a:t>
            </a:r>
            <a:r>
              <a:rPr dirty="0" spc="-65"/>
              <a:t> </a:t>
            </a:r>
            <a:r>
              <a:rPr dirty="0"/>
              <a:t>e</a:t>
            </a:r>
            <a:r>
              <a:rPr dirty="0" spc="-35"/>
              <a:t> </a:t>
            </a:r>
            <a:r>
              <a:rPr dirty="0"/>
              <a:t>indicadores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calidad</a:t>
            </a:r>
            <a:r>
              <a:rPr dirty="0" spc="-70"/>
              <a:t> </a:t>
            </a:r>
            <a:r>
              <a:rPr dirty="0" spc="-10"/>
              <a:t>utilizados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7970" y="1182369"/>
            <a:ext cx="744220" cy="69850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300">
              <a:latin typeface="Times New Roman"/>
              <a:cs typeface="Times New Roman"/>
            </a:endParaRPr>
          </a:p>
          <a:p>
            <a:pPr marL="196850">
              <a:lnSpc>
                <a:spcPct val="100000"/>
              </a:lnSpc>
              <a:spcBef>
                <a:spcPts val="5"/>
              </a:spcBef>
            </a:pPr>
            <a:r>
              <a:rPr dirty="0" sz="1300" spc="-25" b="1">
                <a:solidFill>
                  <a:srgbClr val="BA952C"/>
                </a:solidFill>
                <a:latin typeface="Century Gothic"/>
                <a:cs typeface="Century Gothic"/>
              </a:rPr>
              <a:t>PCC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044" y="1225041"/>
            <a:ext cx="4690110" cy="476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Costo</a:t>
            </a:r>
            <a:r>
              <a:rPr dirty="0" sz="1200" spc="-2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calidad</a:t>
            </a:r>
            <a:r>
              <a:rPr dirty="0" sz="1200" spc="-3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—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CC</a:t>
            </a:r>
            <a:r>
              <a:rPr dirty="0" sz="1100" spc="-1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/</a:t>
            </a:r>
            <a:r>
              <a:rPr dirty="0" sz="1100" spc="-3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CR</a:t>
            </a:r>
            <a:r>
              <a:rPr dirty="0" sz="1100" spc="-1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×</a:t>
            </a:r>
            <a:r>
              <a:rPr dirty="0" sz="1100" spc="-2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100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Porcentaje</a:t>
            </a:r>
            <a:r>
              <a:rPr dirty="0" sz="1100" spc="-4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del</a:t>
            </a:r>
            <a:r>
              <a:rPr dirty="0" sz="1100" spc="-3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costo</a:t>
            </a:r>
            <a:r>
              <a:rPr dirty="0" sz="1100" spc="-2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</a:t>
            </a:r>
            <a:r>
              <a:rPr dirty="0" sz="1100" spc="-3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calidad</a:t>
            </a:r>
            <a:r>
              <a:rPr dirty="0" sz="1100" spc="-5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respecto</a:t>
            </a:r>
            <a:r>
              <a:rPr dirty="0" sz="1100" spc="-5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al</a:t>
            </a:r>
            <a:r>
              <a:rPr dirty="0" sz="1100" spc="-2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costo</a:t>
            </a:r>
            <a:r>
              <a:rPr dirty="0" sz="1100" spc="-2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real</a:t>
            </a:r>
            <a:r>
              <a:rPr dirty="0" sz="1100" spc="-4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del</a:t>
            </a:r>
            <a:r>
              <a:rPr dirty="0" sz="1100" spc="-2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545454"/>
                </a:solidFill>
                <a:latin typeface="Century Gothic"/>
                <a:cs typeface="Century Gothic"/>
              </a:rPr>
              <a:t>proyecto.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970" y="1981770"/>
            <a:ext cx="744220" cy="69850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3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dirty="0" sz="1300" spc="-25" b="1">
                <a:solidFill>
                  <a:srgbClr val="BA952C"/>
                </a:solidFill>
                <a:latin typeface="Century Gothic"/>
                <a:cs typeface="Century Gothic"/>
              </a:rPr>
              <a:t>CDP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044" y="1917713"/>
            <a:ext cx="3721735" cy="58293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Defectos</a:t>
            </a:r>
            <a:r>
              <a:rPr dirty="0" sz="1200" spc="-3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en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el</a:t>
            </a:r>
            <a:r>
              <a:rPr dirty="0" sz="1200" spc="-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proyecto</a:t>
            </a:r>
            <a:r>
              <a:rPr dirty="0" sz="1200" spc="-2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—</a:t>
            </a:r>
            <a:r>
              <a:rPr dirty="0" sz="1200" spc="-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spc="-20" i="1">
                <a:solidFill>
                  <a:srgbClr val="444444"/>
                </a:solidFill>
                <a:latin typeface="Century Gothic"/>
                <a:cs typeface="Century Gothic"/>
              </a:rPr>
              <a:t>Σ(DE)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Suma</a:t>
            </a:r>
            <a:r>
              <a:rPr dirty="0" sz="1100" spc="-3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</a:t>
            </a:r>
            <a:r>
              <a:rPr dirty="0" sz="1100" spc="-3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defectos</a:t>
            </a:r>
            <a:r>
              <a:rPr dirty="0" sz="1100" spc="-4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todas</a:t>
            </a:r>
            <a:r>
              <a:rPr dirty="0" sz="1100" spc="-3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las</a:t>
            </a:r>
            <a:r>
              <a:rPr dirty="0" sz="1100" spc="-2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fases</a:t>
            </a:r>
            <a:r>
              <a:rPr dirty="0" sz="1100" spc="-4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del</a:t>
            </a:r>
            <a:r>
              <a:rPr dirty="0" sz="1100" spc="-2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ciclo</a:t>
            </a:r>
            <a:r>
              <a:rPr dirty="0" sz="1100" spc="-4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</a:t>
            </a:r>
            <a:r>
              <a:rPr dirty="0" sz="1100" spc="-3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545454"/>
                </a:solidFill>
                <a:latin typeface="Century Gothic"/>
                <a:cs typeface="Century Gothic"/>
              </a:rPr>
              <a:t>vida.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970" y="2781170"/>
            <a:ext cx="744220" cy="69850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3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dirty="0" sz="1300" spc="-25" b="1">
                <a:solidFill>
                  <a:srgbClr val="BA952C"/>
                </a:solidFill>
                <a:latin typeface="Century Gothic"/>
                <a:cs typeface="Century Gothic"/>
              </a:rPr>
              <a:t>PVC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2044" y="2716802"/>
            <a:ext cx="6500000" cy="58356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Variación</a:t>
            </a:r>
            <a:r>
              <a:rPr dirty="0" sz="1200" spc="-2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200" spc="-2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costo</a:t>
            </a:r>
            <a:r>
              <a:rPr dirty="0" sz="1200" spc="-2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—</a:t>
            </a:r>
            <a:r>
              <a:rPr dirty="0" sz="1200" spc="-1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(1 − CR/CP) × 100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Porcentaje</a:t>
            </a:r>
            <a:r>
              <a:rPr dirty="0" sz="1100" spc="-4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</a:t>
            </a:r>
            <a:r>
              <a:rPr dirty="0" sz="1100" spc="-4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desviación</a:t>
            </a:r>
            <a:r>
              <a:rPr dirty="0" sz="1100" spc="-4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del</a:t>
            </a:r>
            <a:r>
              <a:rPr dirty="0" sz="1100" spc="-4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costo</a:t>
            </a:r>
            <a:r>
              <a:rPr dirty="0" sz="1100" spc="-2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real</a:t>
            </a:r>
            <a:r>
              <a:rPr dirty="0" sz="1100" spc="-4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respecto al planificado (positivo = ahorro; negativo = sobrecosto).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970" y="3580570"/>
            <a:ext cx="744220" cy="69850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30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</a:pPr>
            <a:r>
              <a:rPr dirty="0" sz="1300" spc="-25" b="1">
                <a:solidFill>
                  <a:srgbClr val="BA952C"/>
                </a:solidFill>
                <a:latin typeface="Century Gothic"/>
                <a:cs typeface="Century Gothic"/>
              </a:rPr>
              <a:t>PCS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2044" y="3516533"/>
            <a:ext cx="4443730" cy="58356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Satisfacción</a:t>
            </a:r>
            <a:r>
              <a:rPr dirty="0" sz="1200" spc="-4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del</a:t>
            </a:r>
            <a:r>
              <a:rPr dirty="0" sz="1200" spc="-1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cliente</a:t>
            </a:r>
            <a:r>
              <a:rPr dirty="0" sz="12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entury Gothic"/>
                <a:cs typeface="Century Gothic"/>
              </a:rPr>
              <a:t>—</a:t>
            </a:r>
            <a:r>
              <a:rPr dirty="0" sz="1200" spc="-2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%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clientes</a:t>
            </a:r>
            <a:r>
              <a:rPr dirty="0" sz="1100" spc="-5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Century Gothic"/>
                <a:cs typeface="Century Gothic"/>
              </a:rPr>
              <a:t>satisfechos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Porcentaje</a:t>
            </a:r>
            <a:r>
              <a:rPr dirty="0" sz="1100" spc="-1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de</a:t>
            </a:r>
            <a:r>
              <a:rPr dirty="0" sz="1100" spc="-1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clientes</a:t>
            </a:r>
            <a:r>
              <a:rPr dirty="0" sz="1100" spc="-10">
                <a:solidFill>
                  <a:srgbClr val="545454"/>
                </a:solidFill>
                <a:latin typeface="Century Gothic"/>
                <a:cs typeface="Century Gothic"/>
              </a:rPr>
              <a:t> satisfechos</a:t>
            </a:r>
            <a:r>
              <a:rPr dirty="0" sz="1100" spc="-2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545454"/>
                </a:solidFill>
                <a:latin typeface="Century Gothic"/>
                <a:cs typeface="Century Gothic"/>
              </a:rPr>
              <a:t>según</a:t>
            </a:r>
            <a:r>
              <a:rPr dirty="0" sz="1100" spc="-10">
                <a:solidFill>
                  <a:srgbClr val="545454"/>
                </a:solidFill>
                <a:latin typeface="Century Gothic"/>
                <a:cs typeface="Century Gothic"/>
              </a:rPr>
              <a:t> cuestionarios</a:t>
            </a:r>
            <a:r>
              <a:rPr dirty="0" sz="1100" spc="-25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545454"/>
                </a:solidFill>
                <a:latin typeface="Century Gothic"/>
                <a:cs typeface="Century Gothic"/>
              </a:rPr>
              <a:t>aplicados.</a:t>
            </a:r>
            <a:endParaRPr sz="1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6870700" cy="469900"/>
            <a:chOff x="-6350" y="-6350"/>
            <a:chExt cx="6870700" cy="4699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858000" cy="457200"/>
            </a:xfrm>
            <a:custGeom>
              <a:avLst/>
              <a:gdLst/>
              <a:ahLst/>
              <a:cxnLst/>
              <a:rect l="l" t="t" r="r" b="b"/>
              <a:pathLst>
                <a:path w="6858000" h="457200">
                  <a:moveTo>
                    <a:pt x="6858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6858000" y="45720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1C2C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858000" cy="457200"/>
            </a:xfrm>
            <a:custGeom>
              <a:avLst/>
              <a:gdLst/>
              <a:ahLst/>
              <a:cxnLst/>
              <a:rect l="l" t="t" r="r" b="b"/>
              <a:pathLst>
                <a:path w="6858000" h="457200">
                  <a:moveTo>
                    <a:pt x="0" y="457200"/>
                  </a:moveTo>
                  <a:lnTo>
                    <a:pt x="6858000" y="457200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1C2C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24460" y="124459"/>
            <a:ext cx="42354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Resultados</a:t>
            </a:r>
            <a:r>
              <a:rPr dirty="0" spc="-50"/>
              <a:t> </a:t>
            </a:r>
            <a:r>
              <a:rPr dirty="0"/>
              <a:t>cuantitativos</a:t>
            </a:r>
            <a:r>
              <a:rPr dirty="0" spc="-85"/>
              <a:t> </a:t>
            </a:r>
            <a:r>
              <a:rPr dirty="0"/>
              <a:t>del</a:t>
            </a:r>
            <a:r>
              <a:rPr dirty="0" spc="-65"/>
              <a:t> </a:t>
            </a:r>
            <a:r>
              <a:rPr dirty="0"/>
              <a:t>modelo</a:t>
            </a:r>
            <a:r>
              <a:rPr dirty="0" spc="-80"/>
              <a:t> </a:t>
            </a:r>
            <a:r>
              <a:rPr dirty="0" spc="-10"/>
              <a:t>integrado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9409" y="1176019"/>
          <a:ext cx="4020820" cy="1724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/>
                <a:gridCol w="91439"/>
                <a:gridCol w="1920239"/>
              </a:tblGrid>
              <a:tr h="35369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Costo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de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calidad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(PCC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máximo)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B="0" marT="7620">
                    <a:lnL w="12700">
                      <a:solidFill>
                        <a:srgbClr val="1B2A49"/>
                      </a:solidFill>
                      <a:prstDash val="solid"/>
                    </a:lnL>
                    <a:lnR w="12700">
                      <a:solidFill>
                        <a:srgbClr val="1B2A49"/>
                      </a:solidFill>
                      <a:prstDash val="solid"/>
                    </a:lnR>
                    <a:lnB w="12700">
                      <a:solidFill>
                        <a:srgbClr val="C7E6C8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7096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900" spc="-10">
                          <a:solidFill>
                            <a:srgbClr val="878787"/>
                          </a:solidFill>
                          <a:latin typeface="Century Gothic"/>
                          <a:cs typeface="Century Gothic"/>
                        </a:rPr>
                        <a:t>Antes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200" spc="-10" b="1">
                          <a:solidFill>
                            <a:srgbClr val="CC3333"/>
                          </a:solidFill>
                          <a:latin typeface="Century Gothic"/>
                          <a:cs typeface="Century Gothic"/>
                        </a:rPr>
                        <a:t>19.85%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D0D7E8"/>
                      </a:solidFill>
                      <a:prstDash val="solid"/>
                    </a:lnL>
                    <a:lnR w="12700">
                      <a:solidFill>
                        <a:srgbClr val="D0D7E8"/>
                      </a:solidFill>
                      <a:prstDash val="solid"/>
                    </a:lnR>
                    <a:lnT w="12700">
                      <a:solidFill>
                        <a:srgbClr val="D0D7E8"/>
                      </a:solidFill>
                      <a:prstDash val="solid"/>
                    </a:lnT>
                    <a:lnB w="12700">
                      <a:solidFill>
                        <a:srgbClr val="D0D7E8"/>
                      </a:solidFill>
                      <a:prstDash val="solid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0D7E8"/>
                      </a:solidFill>
                      <a:prstDash val="solid"/>
                    </a:lnL>
                    <a:lnR w="12700">
                      <a:solidFill>
                        <a:srgbClr val="C7E6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900" spc="-10">
                          <a:solidFill>
                            <a:srgbClr val="878787"/>
                          </a:solidFill>
                          <a:latin typeface="Century Gothic"/>
                          <a:cs typeface="Century Gothic"/>
                        </a:rPr>
                        <a:t>Después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200" spc="-10" b="1">
                          <a:solidFill>
                            <a:srgbClr val="2D7C31"/>
                          </a:solidFill>
                          <a:latin typeface="Century Gothic"/>
                          <a:cs typeface="Century Gothic"/>
                        </a:rPr>
                        <a:t>7.41%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C7E6C8"/>
                      </a:solidFill>
                      <a:prstDash val="solid"/>
                    </a:lnL>
                    <a:lnR w="12700">
                      <a:solidFill>
                        <a:srgbClr val="C7E6C8"/>
                      </a:solidFill>
                      <a:prstDash val="solid"/>
                    </a:lnR>
                    <a:lnT w="12700">
                      <a:solidFill>
                        <a:srgbClr val="C7E6C8"/>
                      </a:solidFill>
                      <a:prstDash val="solid"/>
                    </a:lnT>
                    <a:lnB w="12700">
                      <a:solidFill>
                        <a:srgbClr val="C7E6C8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839970" y="1176019"/>
          <a:ext cx="4020820" cy="1724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/>
                <a:gridCol w="91439"/>
                <a:gridCol w="1920239"/>
              </a:tblGrid>
              <a:tr h="353695">
                <a:tc gridSpan="3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Defectos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por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proyecto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(CDP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máx.)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B="0" marT="7620">
                    <a:lnL w="12700">
                      <a:solidFill>
                        <a:srgbClr val="1B2A49"/>
                      </a:solidFill>
                      <a:prstDash val="solid"/>
                    </a:lnL>
                    <a:lnR w="12700">
                      <a:solidFill>
                        <a:srgbClr val="1B2A49"/>
                      </a:solidFill>
                      <a:prstDash val="solid"/>
                    </a:lnR>
                    <a:lnB w="12700">
                      <a:solidFill>
                        <a:srgbClr val="C7E6C8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7096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900" spc="-10">
                          <a:solidFill>
                            <a:srgbClr val="878787"/>
                          </a:solidFill>
                          <a:latin typeface="Century Gothic"/>
                          <a:cs typeface="Century Gothic"/>
                        </a:rPr>
                        <a:t>Antes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200" spc="-25" b="1">
                          <a:solidFill>
                            <a:srgbClr val="CC3333"/>
                          </a:solidFill>
                          <a:latin typeface="Century Gothic"/>
                          <a:cs typeface="Century Gothic"/>
                        </a:rPr>
                        <a:t>249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D0D7E8"/>
                      </a:solidFill>
                      <a:prstDash val="solid"/>
                    </a:lnL>
                    <a:lnR w="12700">
                      <a:solidFill>
                        <a:srgbClr val="D0D7E8"/>
                      </a:solidFill>
                      <a:prstDash val="solid"/>
                    </a:lnR>
                    <a:lnT w="12700">
                      <a:solidFill>
                        <a:srgbClr val="D0D7E8"/>
                      </a:solidFill>
                      <a:prstDash val="solid"/>
                    </a:lnT>
                    <a:lnB w="12700">
                      <a:solidFill>
                        <a:srgbClr val="D0D7E8"/>
                      </a:solidFill>
                      <a:prstDash val="solid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0D7E8"/>
                      </a:solidFill>
                      <a:prstDash val="solid"/>
                    </a:lnL>
                    <a:lnR w="12700">
                      <a:solidFill>
                        <a:srgbClr val="C7E6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900" spc="-10">
                          <a:solidFill>
                            <a:srgbClr val="878787"/>
                          </a:solidFill>
                          <a:latin typeface="Century Gothic"/>
                          <a:cs typeface="Century Gothic"/>
                        </a:rPr>
                        <a:t>Después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200" spc="-25" b="1">
                          <a:solidFill>
                            <a:srgbClr val="2D7C31"/>
                          </a:solidFill>
                          <a:latin typeface="Century Gothic"/>
                          <a:cs typeface="Century Gothic"/>
                        </a:rPr>
                        <a:t>95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C7E6C8"/>
                      </a:solidFill>
                      <a:prstDash val="solid"/>
                    </a:lnL>
                    <a:lnR w="12700">
                      <a:solidFill>
                        <a:srgbClr val="C7E6C8"/>
                      </a:solidFill>
                      <a:prstDash val="solid"/>
                    </a:lnR>
                    <a:lnT w="12700">
                      <a:solidFill>
                        <a:srgbClr val="C7E6C8"/>
                      </a:solidFill>
                      <a:prstDash val="solid"/>
                    </a:lnT>
                    <a:lnB w="12700">
                      <a:solidFill>
                        <a:srgbClr val="C7E6C8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44500" y="3139820"/>
            <a:ext cx="8055609" cy="6134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355600" marR="5080" indent="-342900">
              <a:lnSpc>
                <a:spcPts val="1510"/>
              </a:lnSpc>
              <a:spcBef>
                <a:spcPts val="185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Mejor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control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costos: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menor</a:t>
            </a:r>
            <a:r>
              <a:rPr dirty="0" sz="13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porcentaje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desviación</a:t>
            </a:r>
            <a:r>
              <a:rPr dirty="0" sz="13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respecto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línea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base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proyectos post-test.</a:t>
            </a:r>
            <a:endParaRPr sz="1300">
              <a:latin typeface="Century Gothic"/>
              <a:cs typeface="Century Gothic"/>
            </a:endParaRPr>
          </a:p>
          <a:p>
            <a:pPr marL="354965" indent="-342265">
              <a:lnSpc>
                <a:spcPts val="1520"/>
              </a:lnSpc>
              <a:buChar char="•"/>
              <a:tabLst>
                <a:tab pos="354965" algn="l"/>
              </a:tabLst>
            </a:pP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Impacto</a:t>
            </a:r>
            <a:r>
              <a:rPr dirty="0" sz="13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global: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incremento</a:t>
            </a:r>
            <a:r>
              <a:rPr dirty="0" sz="13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rentabilidad</a:t>
            </a:r>
            <a:r>
              <a:rPr dirty="0" sz="13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proyecto y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satisfacción</a:t>
            </a:r>
            <a:r>
              <a:rPr dirty="0" sz="13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cliente.</a:t>
            </a:r>
            <a:endParaRPr sz="13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457200"/>
          </a:xfrm>
          <a:custGeom>
            <a:avLst/>
            <a:gdLst/>
            <a:ahLst/>
            <a:cxnLst/>
            <a:rect l="l" t="t" r="r" b="b"/>
            <a:pathLst>
              <a:path w="6858000" h="457200">
                <a:moveTo>
                  <a:pt x="68580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0" y="457200"/>
                </a:lnTo>
                <a:lnTo>
                  <a:pt x="6858000" y="0"/>
                </a:lnTo>
                <a:close/>
              </a:path>
            </a:pathLst>
          </a:custGeom>
          <a:solidFill>
            <a:srgbClr val="1C2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0" y="0"/>
            <a:ext cx="6858000" cy="457200"/>
          </a:xfrm>
          <a:prstGeom prst="rect">
            <a:avLst/>
          </a:prstGeom>
          <a:ln w="12700">
            <a:solidFill>
              <a:srgbClr val="1C2C4E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80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Discusión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-20"/>
              <a:t> </a:t>
            </a:r>
            <a:r>
              <a:rPr dirty="0"/>
              <a:t>implicaciones</a:t>
            </a:r>
            <a:r>
              <a:rPr dirty="0" spc="-40"/>
              <a:t> </a:t>
            </a:r>
            <a:r>
              <a:rPr dirty="0"/>
              <a:t>para</a:t>
            </a:r>
            <a:r>
              <a:rPr dirty="0" spc="-40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 spc="-10"/>
              <a:t>industria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1217117"/>
            <a:ext cx="7956550" cy="1727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ts val="166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Integración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vs.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enfoques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aislados: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combinar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CMMI,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aborda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proceso,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equipo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y</a:t>
            </a:r>
            <a:endParaRPr sz="1400">
              <a:latin typeface="Century Gothic"/>
              <a:cs typeface="Century Gothic"/>
            </a:endParaRPr>
          </a:p>
          <a:p>
            <a:pPr marL="355600">
              <a:lnSpc>
                <a:spcPts val="1660"/>
              </a:lnSpc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persona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forma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coherente.</a:t>
            </a:r>
            <a:endParaRPr sz="1400">
              <a:latin typeface="Century Gothic"/>
              <a:cs typeface="Century Gothic"/>
            </a:endParaRPr>
          </a:p>
          <a:p>
            <a:pPr marL="355600" marR="64769" indent="-342900">
              <a:lnSpc>
                <a:spcPts val="1630"/>
              </a:lnSpc>
              <a:spcBef>
                <a:spcPts val="145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Cultura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calidad: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formación</a:t>
            </a:r>
            <a:r>
              <a:rPr dirty="0" sz="14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4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seguimiento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sistemático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métricas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favorecen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212121"/>
                </a:solidFill>
                <a:latin typeface="Century Gothic"/>
                <a:cs typeface="Century Gothic"/>
              </a:rPr>
              <a:t>la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mejora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continua.</a:t>
            </a:r>
            <a:endParaRPr sz="1400">
              <a:latin typeface="Century Gothic"/>
              <a:cs typeface="Century Gothic"/>
            </a:endParaRPr>
          </a:p>
          <a:p>
            <a:pPr marL="354965" indent="-342265">
              <a:lnSpc>
                <a:spcPts val="1655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Transferibilidad: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modelo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es</a:t>
            </a:r>
            <a:r>
              <a:rPr dirty="0" sz="14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especialmente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relevante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organizaciones</a:t>
            </a:r>
            <a:r>
              <a:rPr dirty="0" sz="14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servicios</a:t>
            </a:r>
            <a:endParaRPr sz="1400">
              <a:latin typeface="Century Gothic"/>
              <a:cs typeface="Century Gothic"/>
            </a:endParaRPr>
          </a:p>
          <a:p>
            <a:pPr marL="355600">
              <a:lnSpc>
                <a:spcPts val="1655"/>
              </a:lnSpc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 TI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consultoría.</a:t>
            </a:r>
            <a:endParaRPr sz="1400">
              <a:latin typeface="Century Gothic"/>
              <a:cs typeface="Century Gothic"/>
            </a:endParaRPr>
          </a:p>
          <a:p>
            <a:pPr marL="355600" marR="125730" indent="-342900">
              <a:lnSpc>
                <a:spcPts val="1630"/>
              </a:lnSpc>
              <a:spcBef>
                <a:spcPts val="145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Desafíos:</a:t>
            </a:r>
            <a:r>
              <a:rPr dirty="0" sz="14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requiere</a:t>
            </a:r>
            <a:r>
              <a:rPr dirty="0" sz="14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inversión</a:t>
            </a:r>
            <a:r>
              <a:rPr dirty="0" sz="14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capacitación,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disciplina</a:t>
            </a:r>
            <a:r>
              <a:rPr dirty="0" sz="14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registro</a:t>
            </a:r>
            <a:r>
              <a:rPr dirty="0" sz="14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datos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apoyo </a:t>
            </a:r>
            <a:r>
              <a:rPr dirty="0" sz="1400">
                <a:solidFill>
                  <a:srgbClr val="212121"/>
                </a:solidFill>
                <a:latin typeface="Century Gothic"/>
                <a:cs typeface="Century Gothic"/>
              </a:rPr>
              <a:t>gerencial</a:t>
            </a:r>
            <a:r>
              <a:rPr dirty="0" sz="14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entury Gothic"/>
                <a:cs typeface="Century Gothic"/>
              </a:rPr>
              <a:t>sostenido.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457200"/>
          </a:xfrm>
          <a:custGeom>
            <a:avLst/>
            <a:gdLst/>
            <a:ahLst/>
            <a:cxnLst/>
            <a:rect l="l" t="t" r="r" b="b"/>
            <a:pathLst>
              <a:path w="6858000" h="457200">
                <a:moveTo>
                  <a:pt x="68580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0" y="457200"/>
                </a:lnTo>
                <a:lnTo>
                  <a:pt x="6858000" y="0"/>
                </a:lnTo>
                <a:close/>
              </a:path>
            </a:pathLst>
          </a:custGeom>
          <a:solidFill>
            <a:srgbClr val="1C2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0" y="0"/>
            <a:ext cx="6858000" cy="457200"/>
          </a:xfrm>
          <a:prstGeom prst="rect">
            <a:avLst/>
          </a:prstGeom>
          <a:ln w="12700">
            <a:solidFill>
              <a:srgbClr val="1C2C4E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80"/>
              </a:spcBef>
            </a:pP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1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1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1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1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1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1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747257"/>
            <a:ext cx="6637655" cy="3308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Cierre</a:t>
            </a:r>
            <a:r>
              <a:rPr dirty="0" spc="-40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/>
              <a:t>lecciones</a:t>
            </a:r>
            <a:r>
              <a:rPr dirty="0" spc="-25"/>
              <a:t> </a:t>
            </a:r>
            <a:r>
              <a:rPr dirty="0"/>
              <a:t>clave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10"/>
              <a:t> </a:t>
            </a:r>
            <a:r>
              <a:rPr dirty="0"/>
              <a:t>caso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 spc="-10"/>
              <a:t>estudio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59409" y="1182369"/>
            <a:ext cx="515620" cy="515620"/>
            <a:chOff x="359409" y="1182369"/>
            <a:chExt cx="515620" cy="515620"/>
          </a:xfrm>
        </p:grpSpPr>
        <p:sp>
          <p:nvSpPr>
            <p:cNvPr id="6" name="object 6"/>
            <p:cNvSpPr/>
            <p:nvPr/>
          </p:nvSpPr>
          <p:spPr>
            <a:xfrm>
              <a:off x="365759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59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59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65759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59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20" y="251459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9597" y="1278077"/>
            <a:ext cx="1536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BA952C"/>
                </a:solidFill>
                <a:latin typeface="Century Gothic"/>
                <a:cs typeface="Century Gothic"/>
              </a:rPr>
              <a:t>1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884" y="1434211"/>
            <a:ext cx="73812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3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calidad</a:t>
            </a:r>
            <a:r>
              <a:rPr dirty="0" sz="13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proceso</a:t>
            </a:r>
            <a:r>
              <a:rPr dirty="0" sz="13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impacta</a:t>
            </a:r>
            <a:r>
              <a:rPr dirty="0" sz="13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directamente</a:t>
            </a:r>
            <a:r>
              <a:rPr dirty="0" sz="13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3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costo,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defectos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satisfacción</a:t>
            </a:r>
            <a:r>
              <a:rPr dirty="0" sz="1300" spc="-7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cliente.</a:t>
            </a:r>
            <a:endParaRPr sz="130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9409" y="2051050"/>
            <a:ext cx="515620" cy="515620"/>
            <a:chOff x="359409" y="2051050"/>
            <a:chExt cx="515620" cy="515620"/>
          </a:xfrm>
        </p:grpSpPr>
        <p:sp>
          <p:nvSpPr>
            <p:cNvPr id="11" name="object 11"/>
            <p:cNvSpPr/>
            <p:nvPr/>
          </p:nvSpPr>
          <p:spPr>
            <a:xfrm>
              <a:off x="365759" y="2057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5759" y="2057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60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20" y="251460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60"/>
                  </a:lnTo>
                  <a:close/>
                </a:path>
              </a:pathLst>
            </a:custGeom>
            <a:ln w="12699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39597" y="2147442"/>
            <a:ext cx="153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BA952C"/>
                </a:solidFill>
                <a:latin typeface="Century Gothic"/>
                <a:cs typeface="Century Gothic"/>
              </a:rPr>
              <a:t>2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884" y="2209926"/>
            <a:ext cx="7175500" cy="415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35"/>
              </a:lnSpc>
              <a:spcBef>
                <a:spcPts val="95"/>
              </a:spcBef>
            </a:pP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Medir</a:t>
            </a:r>
            <a:r>
              <a:rPr dirty="0" sz="13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sistemáticamente</a:t>
            </a:r>
            <a:r>
              <a:rPr dirty="0" sz="13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(tiempo,</a:t>
            </a:r>
            <a:r>
              <a:rPr dirty="0" sz="13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tamaño,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defectos,</a:t>
            </a:r>
            <a:r>
              <a:rPr dirty="0" sz="13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costos)</a:t>
            </a:r>
            <a:r>
              <a:rPr dirty="0" sz="13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es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condición</a:t>
            </a:r>
            <a:r>
              <a:rPr dirty="0" sz="13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necesaria</a:t>
            </a:r>
            <a:r>
              <a:rPr dirty="0" sz="13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ts val="1535"/>
              </a:lnSpc>
            </a:pP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mejorar.</a:t>
            </a:r>
            <a:endParaRPr sz="1300">
              <a:latin typeface="Century Gothic"/>
              <a:cs typeface="Century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9409" y="2919729"/>
            <a:ext cx="515620" cy="515620"/>
            <a:chOff x="359409" y="2919729"/>
            <a:chExt cx="515620" cy="515620"/>
          </a:xfrm>
        </p:grpSpPr>
        <p:sp>
          <p:nvSpPr>
            <p:cNvPr id="16" name="object 16"/>
            <p:cNvSpPr/>
            <p:nvPr/>
          </p:nvSpPr>
          <p:spPr>
            <a:xfrm>
              <a:off x="365759" y="29260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59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59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5759" y="29260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459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20" y="251459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59"/>
                  </a:lnTo>
                  <a:close/>
                </a:path>
              </a:pathLst>
            </a:custGeom>
            <a:ln w="12699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39597" y="3016376"/>
            <a:ext cx="153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BA952C"/>
                </a:solidFill>
                <a:latin typeface="Century Gothic"/>
                <a:cs typeface="Century Gothic"/>
              </a:rPr>
              <a:t>3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4884" y="3171825"/>
            <a:ext cx="684085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talento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humano</a:t>
            </a:r>
            <a:r>
              <a:rPr dirty="0" sz="13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es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eje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modelo;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las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herramientas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solo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potencian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su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disciplina.</a:t>
            </a:r>
            <a:endParaRPr sz="1300">
              <a:latin typeface="Century Gothic"/>
              <a:cs typeface="Century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9409" y="3788409"/>
            <a:ext cx="515620" cy="515620"/>
            <a:chOff x="359409" y="3788409"/>
            <a:chExt cx="515620" cy="515620"/>
          </a:xfrm>
        </p:grpSpPr>
        <p:sp>
          <p:nvSpPr>
            <p:cNvPr id="21" name="object 21"/>
            <p:cNvSpPr/>
            <p:nvPr/>
          </p:nvSpPr>
          <p:spPr>
            <a:xfrm>
              <a:off x="365759" y="37947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60" y="0"/>
                  </a:moveTo>
                  <a:lnTo>
                    <a:pt x="206260" y="4051"/>
                  </a:lnTo>
                  <a:lnTo>
                    <a:pt x="163718" y="15732"/>
                  </a:lnTo>
                  <a:lnTo>
                    <a:pt x="124544" y="34332"/>
                  </a:lnTo>
                  <a:lnTo>
                    <a:pt x="89448" y="59141"/>
                  </a:lnTo>
                  <a:lnTo>
                    <a:pt x="59141" y="89448"/>
                  </a:lnTo>
                  <a:lnTo>
                    <a:pt x="34332" y="124544"/>
                  </a:lnTo>
                  <a:lnTo>
                    <a:pt x="15732" y="163718"/>
                  </a:lnTo>
                  <a:lnTo>
                    <a:pt x="4051" y="206260"/>
                  </a:lnTo>
                  <a:lnTo>
                    <a:pt x="0" y="251459"/>
                  </a:lnTo>
                  <a:lnTo>
                    <a:pt x="4051" y="296659"/>
                  </a:lnTo>
                  <a:lnTo>
                    <a:pt x="15732" y="339201"/>
                  </a:lnTo>
                  <a:lnTo>
                    <a:pt x="34332" y="378375"/>
                  </a:lnTo>
                  <a:lnTo>
                    <a:pt x="59141" y="413471"/>
                  </a:lnTo>
                  <a:lnTo>
                    <a:pt x="89448" y="443778"/>
                  </a:lnTo>
                  <a:lnTo>
                    <a:pt x="124544" y="468587"/>
                  </a:lnTo>
                  <a:lnTo>
                    <a:pt x="163718" y="487187"/>
                  </a:lnTo>
                  <a:lnTo>
                    <a:pt x="206260" y="498868"/>
                  </a:lnTo>
                  <a:lnTo>
                    <a:pt x="251460" y="502919"/>
                  </a:lnTo>
                  <a:lnTo>
                    <a:pt x="296659" y="498868"/>
                  </a:lnTo>
                  <a:lnTo>
                    <a:pt x="339201" y="487187"/>
                  </a:lnTo>
                  <a:lnTo>
                    <a:pt x="378375" y="468587"/>
                  </a:lnTo>
                  <a:lnTo>
                    <a:pt x="413471" y="443778"/>
                  </a:lnTo>
                  <a:lnTo>
                    <a:pt x="443778" y="413471"/>
                  </a:lnTo>
                  <a:lnTo>
                    <a:pt x="468587" y="378375"/>
                  </a:lnTo>
                  <a:lnTo>
                    <a:pt x="487187" y="339201"/>
                  </a:lnTo>
                  <a:lnTo>
                    <a:pt x="498868" y="296659"/>
                  </a:lnTo>
                  <a:lnTo>
                    <a:pt x="502920" y="251459"/>
                  </a:lnTo>
                  <a:lnTo>
                    <a:pt x="498868" y="206260"/>
                  </a:lnTo>
                  <a:lnTo>
                    <a:pt x="487187" y="163718"/>
                  </a:lnTo>
                  <a:lnTo>
                    <a:pt x="468587" y="124544"/>
                  </a:lnTo>
                  <a:lnTo>
                    <a:pt x="443778" y="89448"/>
                  </a:lnTo>
                  <a:lnTo>
                    <a:pt x="413471" y="59141"/>
                  </a:lnTo>
                  <a:lnTo>
                    <a:pt x="378375" y="34332"/>
                  </a:lnTo>
                  <a:lnTo>
                    <a:pt x="339201" y="15732"/>
                  </a:lnTo>
                  <a:lnTo>
                    <a:pt x="296659" y="4051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5759" y="37947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459"/>
                  </a:moveTo>
                  <a:lnTo>
                    <a:pt x="4051" y="206260"/>
                  </a:lnTo>
                  <a:lnTo>
                    <a:pt x="15732" y="163718"/>
                  </a:lnTo>
                  <a:lnTo>
                    <a:pt x="34332" y="124544"/>
                  </a:lnTo>
                  <a:lnTo>
                    <a:pt x="59141" y="89448"/>
                  </a:lnTo>
                  <a:lnTo>
                    <a:pt x="89448" y="59141"/>
                  </a:lnTo>
                  <a:lnTo>
                    <a:pt x="124544" y="34332"/>
                  </a:lnTo>
                  <a:lnTo>
                    <a:pt x="163718" y="15732"/>
                  </a:lnTo>
                  <a:lnTo>
                    <a:pt x="206260" y="4051"/>
                  </a:lnTo>
                  <a:lnTo>
                    <a:pt x="251460" y="0"/>
                  </a:lnTo>
                  <a:lnTo>
                    <a:pt x="296659" y="4051"/>
                  </a:lnTo>
                  <a:lnTo>
                    <a:pt x="339201" y="15732"/>
                  </a:lnTo>
                  <a:lnTo>
                    <a:pt x="378375" y="34332"/>
                  </a:lnTo>
                  <a:lnTo>
                    <a:pt x="413471" y="59141"/>
                  </a:lnTo>
                  <a:lnTo>
                    <a:pt x="443778" y="89448"/>
                  </a:lnTo>
                  <a:lnTo>
                    <a:pt x="468587" y="124544"/>
                  </a:lnTo>
                  <a:lnTo>
                    <a:pt x="487187" y="163718"/>
                  </a:lnTo>
                  <a:lnTo>
                    <a:pt x="498868" y="206260"/>
                  </a:lnTo>
                  <a:lnTo>
                    <a:pt x="502920" y="251459"/>
                  </a:lnTo>
                  <a:lnTo>
                    <a:pt x="498868" y="296659"/>
                  </a:lnTo>
                  <a:lnTo>
                    <a:pt x="487187" y="339201"/>
                  </a:lnTo>
                  <a:lnTo>
                    <a:pt x="468587" y="378375"/>
                  </a:lnTo>
                  <a:lnTo>
                    <a:pt x="443778" y="413471"/>
                  </a:lnTo>
                  <a:lnTo>
                    <a:pt x="413471" y="443778"/>
                  </a:lnTo>
                  <a:lnTo>
                    <a:pt x="378375" y="468587"/>
                  </a:lnTo>
                  <a:lnTo>
                    <a:pt x="339201" y="487187"/>
                  </a:lnTo>
                  <a:lnTo>
                    <a:pt x="296659" y="498868"/>
                  </a:lnTo>
                  <a:lnTo>
                    <a:pt x="251460" y="502919"/>
                  </a:lnTo>
                  <a:lnTo>
                    <a:pt x="206260" y="498868"/>
                  </a:lnTo>
                  <a:lnTo>
                    <a:pt x="163718" y="487187"/>
                  </a:lnTo>
                  <a:lnTo>
                    <a:pt x="124544" y="468587"/>
                  </a:lnTo>
                  <a:lnTo>
                    <a:pt x="89448" y="443778"/>
                  </a:lnTo>
                  <a:lnTo>
                    <a:pt x="59141" y="413471"/>
                  </a:lnTo>
                  <a:lnTo>
                    <a:pt x="34332" y="378375"/>
                  </a:lnTo>
                  <a:lnTo>
                    <a:pt x="15732" y="339201"/>
                  </a:lnTo>
                  <a:lnTo>
                    <a:pt x="4051" y="296659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39597" y="3885387"/>
            <a:ext cx="153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BA952C"/>
                </a:solidFill>
                <a:latin typeface="Century Gothic"/>
                <a:cs typeface="Century Gothic"/>
              </a:rPr>
              <a:t>4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4884" y="4040835"/>
            <a:ext cx="72447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enfoque</a:t>
            </a:r>
            <a:r>
              <a:rPr dirty="0" sz="13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puede</a:t>
            </a:r>
            <a:r>
              <a:rPr dirty="0" sz="13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complementarse</a:t>
            </a:r>
            <a:r>
              <a:rPr dirty="0" sz="13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prácticas</a:t>
            </a:r>
            <a:r>
              <a:rPr dirty="0" sz="13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ágiles</a:t>
            </a:r>
            <a:r>
              <a:rPr dirty="0" sz="13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3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DevOps</a:t>
            </a:r>
            <a:r>
              <a:rPr dirty="0" sz="13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3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212121"/>
                </a:solidFill>
                <a:latin typeface="Century Gothic"/>
                <a:cs typeface="Century Gothic"/>
              </a:rPr>
              <a:t>contextos</a:t>
            </a:r>
            <a:r>
              <a:rPr dirty="0" sz="13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Century Gothic"/>
                <a:cs typeface="Century Gothic"/>
              </a:rPr>
              <a:t>actuales.</a:t>
            </a:r>
            <a:endParaRPr sz="13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BA952C"/>
                </a:solidFill>
                <a:latin typeface="Century Gothic"/>
                <a:cs typeface="Century Gothic"/>
              </a:rPr>
              <a:t>EJERCICIOS</a:t>
            </a:r>
            <a:r>
              <a:rPr dirty="0" sz="3600" spc="-229" b="1">
                <a:solidFill>
                  <a:srgbClr val="BA952C"/>
                </a:solidFill>
                <a:latin typeface="Century Gothic"/>
                <a:cs typeface="Century Gothic"/>
              </a:rPr>
              <a:t> </a:t>
            </a:r>
            <a:r>
              <a:rPr dirty="0" sz="3600" spc="-10" b="1">
                <a:solidFill>
                  <a:srgbClr val="BA952C"/>
                </a:solidFill>
                <a:latin typeface="Century Gothic"/>
                <a:cs typeface="Century Gothic"/>
              </a:rPr>
              <a:t>PRÁCTICOS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5425" y="2804540"/>
            <a:ext cx="61499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Estándares</a:t>
            </a:r>
            <a:r>
              <a:rPr dirty="0" sz="1600" spc="-2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dirty="0" sz="1600" spc="-5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Métricas</a:t>
            </a:r>
            <a:r>
              <a:rPr dirty="0" sz="16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60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Calidad</a:t>
            </a:r>
            <a:r>
              <a:rPr dirty="0" sz="1600" spc="-5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en</a:t>
            </a:r>
            <a:r>
              <a:rPr dirty="0" sz="16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el</a:t>
            </a:r>
            <a:r>
              <a:rPr dirty="0" sz="1600" spc="-5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Desarrollo</a:t>
            </a:r>
            <a:r>
              <a:rPr dirty="0" sz="1600" spc="-5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de</a:t>
            </a:r>
            <a:r>
              <a:rPr dirty="0" sz="1600" spc="-6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Software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580"/>
              </a:spcBef>
            </a:pPr>
            <a:r>
              <a:rPr dirty="0" sz="1300" b="1">
                <a:solidFill>
                  <a:srgbClr val="FFFFFF"/>
                </a:solidFill>
                <a:latin typeface="Century Gothic"/>
                <a:cs typeface="Century Gothic"/>
              </a:rPr>
              <a:t>EJ.</a:t>
            </a:r>
            <a:r>
              <a:rPr dirty="0" sz="1300" spc="-2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96313" y="281127"/>
            <a:ext cx="5849620" cy="24002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entury Gothic"/>
                <a:cs typeface="Century Gothic"/>
              </a:rPr>
              <a:t>Diseño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un</a:t>
            </a:r>
            <a:r>
              <a:rPr dirty="0" sz="1400" spc="-2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tablero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métricas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basado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en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el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caso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spc="-10" b="1">
                <a:latin typeface="Century Gothic"/>
                <a:cs typeface="Century Gothic"/>
              </a:rPr>
              <a:t>CMMI–TSP–</a:t>
            </a:r>
            <a:r>
              <a:rPr dirty="0" sz="1400" spc="-25" b="1">
                <a:latin typeface="Century Gothic"/>
                <a:cs typeface="Century Gothic"/>
              </a:rPr>
              <a:t>PSP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20" y="713231"/>
            <a:ext cx="8595360" cy="320040"/>
          </a:xfrm>
          <a:prstGeom prst="rect">
            <a:avLst/>
          </a:prstGeom>
          <a:solidFill>
            <a:srgbClr val="E8EBF5"/>
          </a:solidFill>
          <a:ln w="12700">
            <a:solidFill>
              <a:srgbClr val="D0D7E8"/>
            </a:solidFill>
          </a:ln>
        </p:spPr>
        <p:txBody>
          <a:bodyPr wrap="square" lIns="0" tIns="6921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545"/>
              </a:spcBef>
            </a:pPr>
            <a:r>
              <a:rPr dirty="0" sz="1100" spc="-10" b="1">
                <a:solidFill>
                  <a:srgbClr val="1B2A49"/>
                </a:solidFill>
                <a:latin typeface="Century Gothic"/>
                <a:cs typeface="Century Gothic"/>
              </a:rPr>
              <a:t>ESCENARIO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Objetivo</a:t>
            </a:r>
            <a:r>
              <a:rPr dirty="0" spc="1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de</a:t>
            </a:r>
            <a:r>
              <a:rPr dirty="0" spc="12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aprendizaje</a:t>
            </a:r>
            <a:r>
              <a:rPr dirty="0"/>
              <a:t>:</a:t>
            </a:r>
            <a:r>
              <a:rPr dirty="0" spc="120"/>
              <a:t> </a:t>
            </a:r>
            <a:r>
              <a:rPr dirty="0"/>
              <a:t>Comprender</a:t>
            </a:r>
            <a:r>
              <a:rPr dirty="0" spc="125"/>
              <a:t> </a:t>
            </a:r>
            <a:r>
              <a:rPr dirty="0"/>
              <a:t>cómo</a:t>
            </a:r>
            <a:r>
              <a:rPr dirty="0" spc="125"/>
              <a:t> </a:t>
            </a:r>
            <a:r>
              <a:rPr dirty="0"/>
              <a:t>operacionalizar</a:t>
            </a:r>
            <a:r>
              <a:rPr dirty="0" spc="130"/>
              <a:t> </a:t>
            </a:r>
            <a:r>
              <a:rPr dirty="0"/>
              <a:t>las</a:t>
            </a:r>
            <a:r>
              <a:rPr dirty="0" spc="120"/>
              <a:t> </a:t>
            </a:r>
            <a:r>
              <a:rPr dirty="0"/>
              <a:t>métricas</a:t>
            </a:r>
            <a:r>
              <a:rPr dirty="0" spc="125"/>
              <a:t> </a:t>
            </a:r>
            <a:r>
              <a:rPr dirty="0"/>
              <a:t>del</a:t>
            </a:r>
            <a:r>
              <a:rPr dirty="0" spc="125"/>
              <a:t> </a:t>
            </a:r>
            <a:r>
              <a:rPr dirty="0"/>
              <a:t>caso</a:t>
            </a:r>
            <a:r>
              <a:rPr dirty="0" spc="120"/>
              <a:t> </a:t>
            </a:r>
            <a:r>
              <a:rPr dirty="0"/>
              <a:t>de</a:t>
            </a:r>
            <a:r>
              <a:rPr dirty="0" spc="125"/>
              <a:t> </a:t>
            </a:r>
            <a:r>
              <a:rPr dirty="0"/>
              <a:t>estudio</a:t>
            </a:r>
            <a:r>
              <a:rPr dirty="0" spc="125"/>
              <a:t> </a:t>
            </a:r>
            <a:r>
              <a:rPr dirty="0"/>
              <a:t>en</a:t>
            </a:r>
            <a:r>
              <a:rPr dirty="0" spc="114"/>
              <a:t> </a:t>
            </a:r>
            <a:r>
              <a:rPr dirty="0"/>
              <a:t>un</a:t>
            </a:r>
            <a:r>
              <a:rPr dirty="0" spc="114"/>
              <a:t> </a:t>
            </a:r>
            <a:r>
              <a:rPr dirty="0"/>
              <a:t>tablero</a:t>
            </a:r>
            <a:r>
              <a:rPr dirty="0" spc="120"/>
              <a:t> </a:t>
            </a:r>
            <a:r>
              <a:rPr dirty="0"/>
              <a:t>de</a:t>
            </a:r>
            <a:r>
              <a:rPr dirty="0" spc="120"/>
              <a:t> </a:t>
            </a:r>
            <a:r>
              <a:rPr dirty="0"/>
              <a:t>seguimiento</a:t>
            </a:r>
            <a:r>
              <a:rPr dirty="0" spc="114"/>
              <a:t> </a:t>
            </a:r>
            <a:r>
              <a:rPr dirty="0" spc="-20"/>
              <a:t>para</a:t>
            </a:r>
          </a:p>
          <a:p>
            <a:pPr marL="15240">
              <a:lnSpc>
                <a:spcPct val="100000"/>
              </a:lnSpc>
            </a:pPr>
            <a:r>
              <a:rPr dirty="0" spc="-10"/>
              <a:t>proyectos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software</a:t>
            </a:r>
            <a:r>
              <a:rPr dirty="0"/>
              <a:t> </a:t>
            </a:r>
            <a:r>
              <a:rPr dirty="0" spc="-10"/>
              <a:t>reales.</a:t>
            </a:r>
          </a:p>
          <a:p>
            <a:pPr marL="15240">
              <a:lnSpc>
                <a:spcPct val="100000"/>
              </a:lnSpc>
              <a:spcBef>
                <a:spcPts val="1440"/>
              </a:spcBef>
            </a:pPr>
            <a:r>
              <a:rPr dirty="0" b="1">
                <a:latin typeface="Calibri"/>
                <a:cs typeface="Calibri"/>
              </a:rPr>
              <a:t>Instrucciones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paso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paso:</a:t>
            </a:r>
          </a:p>
          <a:p>
            <a:pPr marL="243840" indent="-228600">
              <a:lnSpc>
                <a:spcPct val="100000"/>
              </a:lnSpc>
              <a:buAutoNum type="arabicPeriod"/>
              <a:tabLst>
                <a:tab pos="243840" algn="l"/>
              </a:tabLst>
            </a:pPr>
            <a:r>
              <a:rPr dirty="0" b="1">
                <a:latin typeface="Calibri"/>
                <a:cs typeface="Calibri"/>
              </a:rPr>
              <a:t>Seleccione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un</a:t>
            </a:r>
            <a:r>
              <a:rPr dirty="0" spc="1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proyecto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real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 </a:t>
            </a:r>
            <a:r>
              <a:rPr dirty="0" spc="-10" b="1">
                <a:latin typeface="Calibri"/>
                <a:cs typeface="Calibri"/>
              </a:rPr>
              <a:t>hipotético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/>
              <a:t>(por</a:t>
            </a:r>
            <a:r>
              <a:rPr dirty="0" spc="-10"/>
              <a:t> ejemplo,</a:t>
            </a:r>
            <a:r>
              <a:rPr dirty="0" spc="5"/>
              <a:t> </a:t>
            </a:r>
            <a:r>
              <a:rPr dirty="0"/>
              <a:t>una</a:t>
            </a:r>
            <a:r>
              <a:rPr dirty="0" spc="-30"/>
              <a:t> </a:t>
            </a:r>
            <a:r>
              <a:rPr dirty="0"/>
              <a:t>API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pagos</a:t>
            </a:r>
            <a:r>
              <a:rPr dirty="0" spc="-5"/>
              <a:t> </a:t>
            </a:r>
            <a:r>
              <a:rPr dirty="0"/>
              <a:t>o una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móvil</a:t>
            </a:r>
            <a:r>
              <a:rPr dirty="0" spc="-15"/>
              <a:t> </a:t>
            </a:r>
            <a:r>
              <a:rPr dirty="0" spc="-10"/>
              <a:t>bancaria).</a:t>
            </a:r>
          </a:p>
          <a:p>
            <a:pPr marL="243840" indent="-228600">
              <a:lnSpc>
                <a:spcPct val="100000"/>
              </a:lnSpc>
              <a:buAutoNum type="arabicPeriod"/>
              <a:tabLst>
                <a:tab pos="243840" algn="l"/>
              </a:tabLst>
            </a:pPr>
            <a:r>
              <a:rPr dirty="0" b="1">
                <a:latin typeface="Calibri"/>
                <a:cs typeface="Calibri"/>
              </a:rPr>
              <a:t>Identifique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al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menos</a:t>
            </a:r>
            <a:r>
              <a:rPr dirty="0" spc="-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cuatro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métricas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spc="-10"/>
              <a:t>inspiradas</a:t>
            </a:r>
            <a:r>
              <a:rPr dirty="0" spc="-45"/>
              <a:t> </a:t>
            </a:r>
            <a:r>
              <a:rPr dirty="0"/>
              <a:t>en</a:t>
            </a:r>
            <a:r>
              <a:rPr dirty="0" spc="-15"/>
              <a:t> </a:t>
            </a:r>
            <a:r>
              <a:rPr dirty="0"/>
              <a:t>el</a:t>
            </a:r>
            <a:r>
              <a:rPr dirty="0" spc="-10"/>
              <a:t> </a:t>
            </a:r>
            <a:r>
              <a:rPr dirty="0"/>
              <a:t>caso: PCC,</a:t>
            </a:r>
            <a:r>
              <a:rPr dirty="0" spc="-10"/>
              <a:t> </a:t>
            </a:r>
            <a:r>
              <a:rPr dirty="0" spc="-40"/>
              <a:t>CDP,</a:t>
            </a:r>
            <a:r>
              <a:rPr dirty="0" spc="-20"/>
              <a:t> </a:t>
            </a:r>
            <a:r>
              <a:rPr dirty="0"/>
              <a:t>PVC</a:t>
            </a:r>
            <a:r>
              <a:rPr dirty="0" spc="-30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PCS,</a:t>
            </a:r>
            <a:r>
              <a:rPr dirty="0" spc="-10"/>
              <a:t> adaptadas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su</a:t>
            </a:r>
            <a:r>
              <a:rPr dirty="0" spc="-5"/>
              <a:t> </a:t>
            </a:r>
            <a:r>
              <a:rPr dirty="0" spc="-10"/>
              <a:t>contexto.</a:t>
            </a:r>
          </a:p>
          <a:p>
            <a:pPr marL="243840" indent="-228600">
              <a:lnSpc>
                <a:spcPct val="100000"/>
              </a:lnSpc>
              <a:buAutoNum type="arabicPeriod"/>
              <a:tabLst>
                <a:tab pos="243840" algn="l"/>
              </a:tabLst>
            </a:pPr>
            <a:r>
              <a:rPr dirty="0" b="1">
                <a:latin typeface="Calibri"/>
                <a:cs typeface="Calibri"/>
              </a:rPr>
              <a:t>Defina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para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cada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métrica: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/>
              <a:t>fórmula,</a:t>
            </a:r>
            <a:r>
              <a:rPr dirty="0" spc="-55"/>
              <a:t> </a:t>
            </a:r>
            <a:r>
              <a:rPr dirty="0"/>
              <a:t>fuente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datos,</a:t>
            </a:r>
            <a:r>
              <a:rPr dirty="0" spc="-35"/>
              <a:t> </a:t>
            </a:r>
            <a:r>
              <a:rPr dirty="0"/>
              <a:t>frecuencia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medición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40"/>
              <a:t> </a:t>
            </a:r>
            <a:r>
              <a:rPr dirty="0" spc="-10"/>
              <a:t>responsable.</a:t>
            </a:r>
          </a:p>
          <a:p>
            <a:pPr marL="244475" indent="-229235">
              <a:lnSpc>
                <a:spcPct val="100000"/>
              </a:lnSpc>
              <a:buAutoNum type="arabicPeriod"/>
              <a:tabLst>
                <a:tab pos="244475" algn="l"/>
              </a:tabLst>
            </a:pPr>
            <a:r>
              <a:rPr dirty="0" b="1">
                <a:latin typeface="Calibri"/>
                <a:cs typeface="Calibri"/>
              </a:rPr>
              <a:t>Diseñe</a:t>
            </a:r>
            <a:r>
              <a:rPr dirty="0" spc="5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un</a:t>
            </a:r>
            <a:r>
              <a:rPr dirty="0" spc="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esquema</a:t>
            </a:r>
            <a:r>
              <a:rPr dirty="0" spc="6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de</a:t>
            </a:r>
            <a:r>
              <a:rPr dirty="0" spc="7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tablero</a:t>
            </a:r>
            <a:r>
              <a:rPr dirty="0" spc="60" b="1">
                <a:latin typeface="Calibri"/>
                <a:cs typeface="Calibri"/>
              </a:rPr>
              <a:t> </a:t>
            </a:r>
            <a:r>
              <a:rPr dirty="0"/>
              <a:t>(puede</a:t>
            </a:r>
            <a:r>
              <a:rPr dirty="0" spc="65"/>
              <a:t> </a:t>
            </a:r>
            <a:r>
              <a:rPr dirty="0"/>
              <a:t>ser</a:t>
            </a:r>
            <a:r>
              <a:rPr dirty="0" spc="55"/>
              <a:t> </a:t>
            </a:r>
            <a:r>
              <a:rPr dirty="0"/>
              <a:t>en</a:t>
            </a:r>
            <a:r>
              <a:rPr dirty="0" spc="65"/>
              <a:t> </a:t>
            </a:r>
            <a:r>
              <a:rPr dirty="0"/>
              <a:t>papel,</a:t>
            </a:r>
            <a:r>
              <a:rPr dirty="0" spc="60"/>
              <a:t> </a:t>
            </a:r>
            <a:r>
              <a:rPr dirty="0"/>
              <a:t>Excel</a:t>
            </a:r>
            <a:r>
              <a:rPr dirty="0" spc="60"/>
              <a:t> </a:t>
            </a:r>
            <a:r>
              <a:rPr dirty="0"/>
              <a:t>o</a:t>
            </a:r>
            <a:r>
              <a:rPr dirty="0" spc="65"/>
              <a:t> </a:t>
            </a:r>
            <a:r>
              <a:rPr dirty="0"/>
              <a:t>una</a:t>
            </a:r>
            <a:r>
              <a:rPr dirty="0" spc="55"/>
              <a:t> </a:t>
            </a:r>
            <a:r>
              <a:rPr dirty="0"/>
              <a:t>herramienta</a:t>
            </a:r>
            <a:r>
              <a:rPr dirty="0" spc="65"/>
              <a:t> </a:t>
            </a:r>
            <a:r>
              <a:rPr dirty="0"/>
              <a:t>BI)</a:t>
            </a:r>
            <a:r>
              <a:rPr dirty="0" spc="50"/>
              <a:t> </a:t>
            </a:r>
            <a:r>
              <a:rPr dirty="0"/>
              <a:t>que</a:t>
            </a:r>
            <a:r>
              <a:rPr dirty="0" spc="60"/>
              <a:t> </a:t>
            </a:r>
            <a:r>
              <a:rPr dirty="0"/>
              <a:t>muestre</a:t>
            </a:r>
            <a:r>
              <a:rPr dirty="0" spc="50"/>
              <a:t> </a:t>
            </a:r>
            <a:r>
              <a:rPr dirty="0"/>
              <a:t>la</a:t>
            </a:r>
            <a:r>
              <a:rPr dirty="0" spc="60"/>
              <a:t> </a:t>
            </a:r>
            <a:r>
              <a:rPr dirty="0"/>
              <a:t>evolución</a:t>
            </a:r>
            <a:r>
              <a:rPr dirty="0" spc="65"/>
              <a:t> </a:t>
            </a:r>
            <a:r>
              <a:rPr dirty="0"/>
              <a:t>de</a:t>
            </a:r>
            <a:r>
              <a:rPr dirty="0" spc="55"/>
              <a:t> </a:t>
            </a:r>
            <a:r>
              <a:rPr dirty="0"/>
              <a:t>las</a:t>
            </a:r>
            <a:r>
              <a:rPr dirty="0" spc="60"/>
              <a:t> </a:t>
            </a:r>
            <a:r>
              <a:rPr dirty="0"/>
              <a:t>métricas</a:t>
            </a:r>
            <a:r>
              <a:rPr dirty="0" spc="70"/>
              <a:t> </a:t>
            </a:r>
            <a:r>
              <a:rPr dirty="0" spc="-25"/>
              <a:t>por</a:t>
            </a:r>
          </a:p>
          <a:p>
            <a:pPr marL="24384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iteración </a:t>
            </a:r>
            <a:r>
              <a:rPr dirty="0"/>
              <a:t>o</a:t>
            </a:r>
            <a:r>
              <a:rPr dirty="0" spc="10"/>
              <a:t> </a:t>
            </a:r>
            <a:r>
              <a:rPr dirty="0" spc="-10" i="1">
                <a:latin typeface="Calibri"/>
                <a:cs typeface="Calibri"/>
              </a:rPr>
              <a:t>release</a:t>
            </a:r>
            <a:r>
              <a:rPr dirty="0" spc="-10"/>
              <a:t>.</a:t>
            </a:r>
          </a:p>
          <a:p>
            <a:pPr marL="243840" indent="-228600">
              <a:lnSpc>
                <a:spcPct val="100000"/>
              </a:lnSpc>
              <a:buAutoNum type="arabicPeriod" startAt="5"/>
              <a:tabLst>
                <a:tab pos="243840" algn="l"/>
              </a:tabLst>
            </a:pPr>
            <a:r>
              <a:rPr dirty="0" b="1">
                <a:latin typeface="Calibri"/>
                <a:cs typeface="Calibri"/>
              </a:rPr>
              <a:t>Redacte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un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breve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análisis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/>
              <a:t>(1</a:t>
            </a:r>
            <a:r>
              <a:rPr dirty="0" spc="-20"/>
              <a:t> </a:t>
            </a:r>
            <a:r>
              <a:rPr dirty="0"/>
              <a:t>página)</a:t>
            </a:r>
            <a:r>
              <a:rPr dirty="0" spc="-50"/>
              <a:t> </a:t>
            </a:r>
            <a:r>
              <a:rPr dirty="0"/>
              <a:t>explicando</a:t>
            </a:r>
            <a:r>
              <a:rPr dirty="0" spc="-50"/>
              <a:t> </a:t>
            </a:r>
            <a:r>
              <a:rPr dirty="0"/>
              <a:t>cómo</a:t>
            </a:r>
            <a:r>
              <a:rPr dirty="0" spc="-10"/>
              <a:t> </a:t>
            </a:r>
            <a:r>
              <a:rPr dirty="0"/>
              <a:t>el</a:t>
            </a:r>
            <a:r>
              <a:rPr dirty="0" spc="-25"/>
              <a:t> </a:t>
            </a:r>
            <a:r>
              <a:rPr dirty="0"/>
              <a:t>tablero</a:t>
            </a:r>
            <a:r>
              <a:rPr dirty="0" spc="-40"/>
              <a:t> </a:t>
            </a:r>
            <a:r>
              <a:rPr dirty="0"/>
              <a:t>ayudaría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la</a:t>
            </a:r>
            <a:r>
              <a:rPr dirty="0" spc="-25"/>
              <a:t> </a:t>
            </a:r>
            <a:r>
              <a:rPr dirty="0"/>
              <a:t>gerencia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tomar</a:t>
            </a:r>
            <a:r>
              <a:rPr dirty="0" spc="-30"/>
              <a:t> </a:t>
            </a:r>
            <a:r>
              <a:rPr dirty="0"/>
              <a:t>decisiones</a:t>
            </a:r>
            <a:r>
              <a:rPr dirty="0" spc="-15"/>
              <a:t> </a:t>
            </a:r>
            <a:r>
              <a:rPr dirty="0"/>
              <a:t>sobre</a:t>
            </a:r>
            <a:r>
              <a:rPr dirty="0" spc="-35"/>
              <a:t> </a:t>
            </a:r>
            <a:r>
              <a:rPr dirty="0"/>
              <a:t>calidad</a:t>
            </a:r>
            <a:r>
              <a:rPr dirty="0" spc="-35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 spc="-10"/>
              <a:t>costos.</a:t>
            </a:r>
          </a:p>
          <a:p>
            <a:pPr marL="15240">
              <a:lnSpc>
                <a:spcPct val="100000"/>
              </a:lnSpc>
              <a:spcBef>
                <a:spcPts val="1440"/>
              </a:spcBef>
            </a:pPr>
            <a:r>
              <a:rPr dirty="0" spc="-10" b="1">
                <a:latin typeface="Calibri"/>
                <a:cs typeface="Calibri"/>
              </a:rPr>
              <a:t>Criterios</a:t>
            </a:r>
            <a:r>
              <a:rPr dirty="0" spc="-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de</a:t>
            </a:r>
            <a:r>
              <a:rPr dirty="0" spc="1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evaluación:</a:t>
            </a:r>
          </a:p>
          <a:p>
            <a:pPr lvl="1" marL="188595" indent="-173355">
              <a:lnSpc>
                <a:spcPct val="100000"/>
              </a:lnSpc>
              <a:buFont typeface="Arial"/>
              <a:buChar char="•"/>
              <a:tabLst>
                <a:tab pos="188595" algn="l"/>
              </a:tabLst>
            </a:pPr>
            <a:r>
              <a:rPr dirty="0" sz="1200" b="1">
                <a:latin typeface="Calibri"/>
                <a:cs typeface="Calibri"/>
              </a:rPr>
              <a:t>Claridad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corrección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las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fórmulas: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adaptación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adecuada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PCC,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CDP,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PVC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PCS.</a:t>
            </a:r>
            <a:endParaRPr sz="1200">
              <a:latin typeface="Calibri"/>
              <a:cs typeface="Calibri"/>
            </a:endParaRPr>
          </a:p>
          <a:p>
            <a:pPr lvl="1" marL="187960" indent="-172720">
              <a:lnSpc>
                <a:spcPct val="100000"/>
              </a:lnSpc>
              <a:buFont typeface="Arial"/>
              <a:buChar char="•"/>
              <a:tabLst>
                <a:tab pos="187960" algn="l"/>
              </a:tabLst>
            </a:pPr>
            <a:r>
              <a:rPr dirty="0" sz="1200" spc="-10" b="1">
                <a:latin typeface="Calibri"/>
                <a:cs typeface="Calibri"/>
              </a:rPr>
              <a:t>Coherencia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entre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métricas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contexto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del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proyecto: </a:t>
            </a:r>
            <a:r>
              <a:rPr dirty="0" sz="1200">
                <a:latin typeface="Calibri"/>
                <a:cs typeface="Calibri"/>
              </a:rPr>
              <a:t>pertinencia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10">
                <a:latin typeface="Calibri"/>
                <a:cs typeface="Calibri"/>
              </a:rPr>
              <a:t> mide.</a:t>
            </a:r>
            <a:endParaRPr sz="1200">
              <a:latin typeface="Calibri"/>
              <a:cs typeface="Calibri"/>
            </a:endParaRPr>
          </a:p>
          <a:p>
            <a:pPr lvl="1" marL="188595" indent="-173355">
              <a:lnSpc>
                <a:spcPct val="100000"/>
              </a:lnSpc>
              <a:buFont typeface="Arial"/>
              <a:buChar char="•"/>
              <a:tabLst>
                <a:tab pos="188595" algn="l"/>
              </a:tabLst>
            </a:pPr>
            <a:r>
              <a:rPr dirty="0" sz="1200" b="1">
                <a:latin typeface="Calibri"/>
                <a:cs typeface="Calibri"/>
              </a:rPr>
              <a:t>Calidad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diseño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tablero: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legibilidad,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decisiones,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datos.</a:t>
            </a:r>
            <a:endParaRPr sz="1200">
              <a:latin typeface="Calibri"/>
              <a:cs typeface="Calibri"/>
            </a:endParaRPr>
          </a:p>
          <a:p>
            <a:pPr lvl="1" marL="188595" indent="-173355">
              <a:lnSpc>
                <a:spcPct val="100000"/>
              </a:lnSpc>
              <a:buFont typeface="Arial"/>
              <a:buChar char="•"/>
              <a:tabLst>
                <a:tab pos="188595" algn="l"/>
              </a:tabLst>
            </a:pPr>
            <a:r>
              <a:rPr dirty="0" sz="1200" spc="-10" b="1">
                <a:latin typeface="Calibri"/>
                <a:cs typeface="Calibri"/>
              </a:rPr>
              <a:t>Profundidad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del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análisis: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capacidad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vincular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métricas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acciones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mejora.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580"/>
              </a:spcBef>
            </a:pPr>
            <a:r>
              <a:rPr dirty="0" sz="1300" b="1">
                <a:solidFill>
                  <a:srgbClr val="FFFFFF"/>
                </a:solidFill>
                <a:latin typeface="Century Gothic"/>
                <a:cs typeface="Century Gothic"/>
              </a:rPr>
              <a:t>EJ.</a:t>
            </a:r>
            <a:r>
              <a:rPr dirty="0" sz="1300" spc="-2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96313" y="281127"/>
            <a:ext cx="5849620" cy="24002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entury Gothic"/>
                <a:cs typeface="Century Gothic"/>
              </a:rPr>
              <a:t>Diseño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un</a:t>
            </a:r>
            <a:r>
              <a:rPr dirty="0" sz="1400" spc="-2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tablero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métricas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basado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en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el</a:t>
            </a:r>
            <a:r>
              <a:rPr dirty="0" sz="1400" spc="-1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caso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spc="-10" b="1">
                <a:latin typeface="Century Gothic"/>
                <a:cs typeface="Century Gothic"/>
              </a:rPr>
              <a:t>CMMI–TSP–</a:t>
            </a:r>
            <a:r>
              <a:rPr dirty="0" sz="1400" spc="-25" b="1">
                <a:latin typeface="Century Gothic"/>
                <a:cs typeface="Century Gothic"/>
              </a:rPr>
              <a:t>PSP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20" y="713231"/>
            <a:ext cx="8595360" cy="320040"/>
          </a:xfrm>
          <a:prstGeom prst="rect">
            <a:avLst/>
          </a:prstGeom>
          <a:solidFill>
            <a:srgbClr val="E8EBF5"/>
          </a:solidFill>
          <a:ln w="12700">
            <a:solidFill>
              <a:srgbClr val="D0D7E8"/>
            </a:solidFill>
          </a:ln>
        </p:spPr>
        <p:txBody>
          <a:bodyPr wrap="square" lIns="0" tIns="6921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545"/>
              </a:spcBef>
            </a:pP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RESPUESTA</a:t>
            </a:r>
            <a:r>
              <a:rPr dirty="0" sz="1100" spc="-5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MODELO</a:t>
            </a:r>
            <a:r>
              <a:rPr dirty="0" sz="1100" spc="-1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entury Gothic"/>
                <a:cs typeface="Century Gothic"/>
              </a:rPr>
              <a:t>DETALLADA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920" y="1599564"/>
            <a:ext cx="8376158" cy="2163572"/>
          </a:xfrm>
          <a:prstGeom prst="rect">
            <a:avLst/>
          </a:prstGeom>
          <a:solidFill>
            <a:srgbClr val="F7F4F2"/>
          </a:solidFill>
        </p:spPr>
        <p:txBody>
          <a:bodyPr wrap="square" lIns="100000" rIns="100000" tIns="8000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D"/>
                </a:solidFill>
                <a:latin typeface="Calibri"/>
              </a:rPr>
              <a:t>Un estudiante podría elegir una plataforma de e-commerce. Define: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1A1A2D"/>
                </a:solidFill>
                <a:latin typeface="Calibri"/>
              </a:rPr>
              <a:t>PCC-ecom: </a:t>
            </a:r>
            <a:r>
              <a:rPr sz="1500">
                <a:solidFill>
                  <a:srgbClr val="1A1A2D"/>
                </a:solidFill>
                <a:latin typeface="Calibri"/>
              </a:rPr>
              <a:t>PCC = (Costo de corrección de bugs post-lanzamiento / Costo total del sprint) × 100.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1A1A2D"/>
                </a:solidFill>
                <a:latin typeface="Calibri"/>
              </a:rPr>
              <a:t>CDP-ecom: </a:t>
            </a:r>
            <a:r>
              <a:rPr sz="1500">
                <a:solidFill>
                  <a:srgbClr val="1A1A2D"/>
                </a:solidFill>
                <a:latin typeface="Calibri"/>
              </a:rPr>
              <a:t>número total de defectos encontrados en QA + producción por sprint.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1A1A2D"/>
                </a:solidFill>
                <a:latin typeface="Calibri"/>
              </a:rPr>
              <a:t>PVC-ecom: </a:t>
            </a:r>
            <a:r>
              <a:rPr sz="1500">
                <a:solidFill>
                  <a:srgbClr val="1A1A2D"/>
                </a:solidFill>
                <a:latin typeface="Calibri"/>
              </a:rPr>
              <a:t>PVC = (1 − Costo real del sprint / Costo planificado) × 100 (positivo = ahorro; negativo = sobrecosto).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1A1A2D"/>
                </a:solidFill>
                <a:latin typeface="Calibri"/>
              </a:rPr>
              <a:t>PCS-ecom: </a:t>
            </a:r>
            <a:r>
              <a:rPr sz="1500">
                <a:solidFill>
                  <a:srgbClr val="1A1A2D"/>
                </a:solidFill>
                <a:latin typeface="Calibri"/>
              </a:rPr>
              <a:t>porcentaje de clientes satisfechos a partir de encuestas in-app (CSAT ≥ 4/5).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970" y="222250"/>
            <a:ext cx="1475740" cy="360680"/>
          </a:xfrm>
          <a:prstGeom prst="rect">
            <a:avLst/>
          </a:prstGeom>
          <a:solidFill>
            <a:srgbClr val="4BAE50"/>
          </a:solidFill>
          <a:ln w="3175">
            <a:solidFill>
              <a:srgbClr val="4BAE5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700"/>
              </a:spcBef>
            </a:pP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RESPUESTA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53514" y="271983"/>
            <a:ext cx="3592829" cy="24002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entury Gothic"/>
                <a:cs typeface="Century Gothic"/>
              </a:rPr>
              <a:t>Ejercicio</a:t>
            </a:r>
            <a:r>
              <a:rPr dirty="0" sz="1400" spc="-2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1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–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Respuesta</a:t>
            </a:r>
            <a:r>
              <a:rPr dirty="0" sz="1400" spc="-2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modelo</a:t>
            </a:r>
            <a:r>
              <a:rPr dirty="0" sz="1400" spc="-40" b="1">
                <a:latin typeface="Century Gothic"/>
                <a:cs typeface="Century Gothic"/>
              </a:rPr>
              <a:t> </a:t>
            </a:r>
            <a:r>
              <a:rPr dirty="0" sz="1400" spc="-10" b="1">
                <a:latin typeface="Century Gothic"/>
                <a:cs typeface="Century Gothic"/>
              </a:rPr>
              <a:t>detallada</a:t>
            </a:r>
            <a:endParaRPr sz="1400">
              <a:latin typeface="Century Gothic"/>
              <a:cs typeface="Century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7970" y="676275"/>
          <a:ext cx="8318500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3657600"/>
                <a:gridCol w="1828800"/>
                <a:gridCol w="1371600"/>
              </a:tblGrid>
              <a:tr h="325755"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Métrica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1B2A49"/>
                      </a:solidFill>
                      <a:prstDash val="solid"/>
                    </a:lnL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Fórmula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B="0" marT="69850"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Fuente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B="0" marT="69850"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Frecuencia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B="0" marT="69850">
                    <a:lnR w="12700">
                      <a:solidFill>
                        <a:srgbClr val="1B2A49"/>
                      </a:solidFill>
                      <a:prstDash val="solid"/>
                    </a:lnR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PCC-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ecom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04775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1B2A49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Costo</a:t>
                      </a: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corrección</a:t>
                      </a:r>
                      <a:r>
                        <a:rPr dirty="0" sz="950" spc="-4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bugs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dirty="0" sz="950" spc="-4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Costo</a:t>
                      </a:r>
                      <a:r>
                        <a:rPr dirty="0" sz="950" spc="-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total sprint</a:t>
                      </a:r>
                      <a:r>
                        <a:rPr dirty="0" sz="950" spc="-1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×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 spc="-2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100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04775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1B2A49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Jira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+</a:t>
                      </a: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finanzas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04775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1B2A49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Por</a:t>
                      </a:r>
                      <a:r>
                        <a:rPr dirty="0" sz="950" spc="-1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sprint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04775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1B2A49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CDP-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ecom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Total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defectos</a:t>
                      </a:r>
                      <a:r>
                        <a:rPr dirty="0" sz="950" spc="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QA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+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producción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por</a:t>
                      </a:r>
                      <a:r>
                        <a:rPr dirty="0" sz="950" spc="-2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sprint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Jira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Por</a:t>
                      </a:r>
                      <a:r>
                        <a:rPr dirty="0" sz="950" spc="-1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sprint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PVC-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ecom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(1</a:t>
                      </a:r>
                      <a:r>
                        <a:rPr dirty="0" sz="950" spc="-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−</a:t>
                      </a:r>
                      <a:r>
                        <a:rPr dirty="0" sz="950" spc="-2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Costo</a:t>
                      </a:r>
                      <a:r>
                        <a:rPr dirty="0" sz="950" spc="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real</a:t>
                      </a:r>
                      <a:r>
                        <a:rPr dirty="0" sz="950" spc="-4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Costo</a:t>
                      </a:r>
                      <a:r>
                        <a:rPr dirty="0" sz="950" spc="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planificado)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×</a:t>
                      </a:r>
                      <a:r>
                        <a:rPr dirty="0" sz="950" spc="-2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100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Time</a:t>
                      </a:r>
                      <a:r>
                        <a:rPr dirty="0" sz="950" spc="-2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tracking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Por</a:t>
                      </a:r>
                      <a:r>
                        <a:rPr dirty="0" sz="950" spc="-1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sprint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PCS-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ecom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%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clientes con</a:t>
                      </a:r>
                      <a:r>
                        <a:rPr dirty="0" sz="950" spc="-3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CSAT</a:t>
                      </a:r>
                      <a:r>
                        <a:rPr dirty="0" sz="950" spc="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≥</a:t>
                      </a:r>
                      <a:r>
                        <a:rPr dirty="0" sz="950" spc="-2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4/5</a:t>
                      </a:r>
                      <a:r>
                        <a:rPr dirty="0" sz="950" spc="-3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en</a:t>
                      </a:r>
                      <a:r>
                        <a:rPr dirty="0" sz="950" spc="-3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encuestas</a:t>
                      </a:r>
                      <a:r>
                        <a:rPr dirty="0" sz="950" spc="-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95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in-</a:t>
                      </a:r>
                      <a:r>
                        <a:rPr dirty="0" sz="950" spc="-25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app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Encuestas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 spc="-10">
                          <a:solidFill>
                            <a:srgbClr val="212121"/>
                          </a:solidFill>
                          <a:latin typeface="Century Gothic"/>
                          <a:cs typeface="Century Gothic"/>
                        </a:rPr>
                        <a:t>Mensual</a:t>
                      </a:r>
                      <a:endParaRPr sz="950">
                        <a:latin typeface="Century Gothic"/>
                        <a:cs typeface="Century Gothic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D0D7E8"/>
                      </a:solidFill>
                      <a:prstDash val="solid"/>
                    </a:lnL>
                    <a:lnR w="6350">
                      <a:solidFill>
                        <a:srgbClr val="D0D7E8"/>
                      </a:solidFill>
                      <a:prstDash val="solid"/>
                    </a:lnR>
                    <a:lnT w="6350">
                      <a:solidFill>
                        <a:srgbClr val="D0D7E8"/>
                      </a:solidFill>
                      <a:prstDash val="solid"/>
                    </a:lnT>
                    <a:lnB w="6350">
                      <a:solidFill>
                        <a:srgbClr val="D0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53059" y="2709164"/>
            <a:ext cx="8441690" cy="16656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12700" marR="25400">
              <a:lnSpc>
                <a:spcPts val="1280"/>
              </a:lnSpc>
              <a:spcBef>
                <a:spcPts val="180"/>
              </a:spcBef>
            </a:pP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Un tablero</a:t>
            </a:r>
            <a:r>
              <a:rPr dirty="0" sz="1100" spc="-3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con</a:t>
            </a:r>
            <a:r>
              <a:rPr dirty="0" sz="1100" spc="-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4</a:t>
            </a:r>
            <a:r>
              <a:rPr dirty="0" sz="1100" spc="-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gráficos</a:t>
            </a:r>
            <a:r>
              <a:rPr dirty="0" sz="1100" spc="-3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1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líneas</a:t>
            </a:r>
            <a:r>
              <a:rPr dirty="0" sz="1100" spc="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por</a:t>
            </a:r>
            <a:r>
              <a:rPr dirty="0" sz="1100" spc="-1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sprint</a:t>
            </a:r>
            <a:r>
              <a:rPr dirty="0" sz="1100" spc="-3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+</a:t>
            </a:r>
            <a:r>
              <a:rPr dirty="0" sz="1100" spc="-1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semáforo</a:t>
            </a:r>
            <a:r>
              <a:rPr dirty="0" sz="1100" spc="-1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 i="1">
                <a:solidFill>
                  <a:srgbClr val="333333"/>
                </a:solidFill>
                <a:latin typeface="Century Gothic"/>
                <a:cs typeface="Century Gothic"/>
              </a:rPr>
              <a:t>(verde/amarillo/rojo)</a:t>
            </a:r>
            <a:r>
              <a:rPr dirty="0" sz="1100" spc="-4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permite</a:t>
            </a:r>
            <a:r>
              <a:rPr dirty="0" sz="1100" spc="-4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a</a:t>
            </a:r>
            <a:r>
              <a:rPr dirty="0" sz="1100" spc="-1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la gerencia</a:t>
            </a:r>
            <a:r>
              <a:rPr dirty="0" sz="1100" spc="-4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detectar</a:t>
            </a:r>
            <a:r>
              <a:rPr dirty="0" sz="1100" spc="-4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problemas</a:t>
            </a:r>
            <a:r>
              <a:rPr dirty="0" sz="1100" spc="-3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25" i="1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2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calidad</a:t>
            </a:r>
            <a:r>
              <a:rPr dirty="0" sz="1100" spc="-5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y</a:t>
            </a:r>
            <a:r>
              <a:rPr dirty="0" sz="1100" spc="-2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tomar</a:t>
            </a:r>
            <a:r>
              <a:rPr dirty="0" sz="1100" spc="-1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decisiones</a:t>
            </a:r>
            <a:r>
              <a:rPr dirty="0" sz="1100" spc="-5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2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inversión</a:t>
            </a:r>
            <a:r>
              <a:rPr dirty="0" sz="1100" spc="-5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en</a:t>
            </a:r>
            <a:r>
              <a:rPr dirty="0" sz="1100" spc="-1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automatización</a:t>
            </a:r>
            <a:r>
              <a:rPr dirty="0" sz="1100" spc="-5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y</a:t>
            </a:r>
            <a:r>
              <a:rPr dirty="0" sz="1100" spc="-1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revisiones</a:t>
            </a:r>
            <a:r>
              <a:rPr dirty="0" sz="1100" spc="-60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333333"/>
                </a:solidFill>
                <a:latin typeface="Century Gothic"/>
                <a:cs typeface="Century Gothic"/>
              </a:rPr>
              <a:t>de</a:t>
            </a:r>
            <a:r>
              <a:rPr dirty="0" sz="1100" spc="-25" i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100" spc="-10" i="1">
                <a:solidFill>
                  <a:srgbClr val="333333"/>
                </a:solidFill>
                <a:latin typeface="Century Gothic"/>
                <a:cs typeface="Century Gothic"/>
              </a:rPr>
              <a:t>código.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entury Gothic"/>
              <a:cs typeface="Century Gothic"/>
            </a:endParaRPr>
          </a:p>
          <a:p>
            <a:pPr algn="just" marL="12700">
              <a:lnSpc>
                <a:spcPct val="100000"/>
              </a:lnSpc>
            </a:pPr>
            <a:r>
              <a:rPr dirty="0" sz="1000" b="1">
                <a:solidFill>
                  <a:srgbClr val="1B2A49"/>
                </a:solidFill>
                <a:latin typeface="Century Gothic"/>
                <a:cs typeface="Century Gothic"/>
              </a:rPr>
              <a:t>Fuente</a:t>
            </a:r>
            <a:r>
              <a:rPr dirty="0" sz="1000" spc="-3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0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000" spc="-3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000" spc="-10" b="1">
                <a:solidFill>
                  <a:srgbClr val="1B2A49"/>
                </a:solidFill>
                <a:latin typeface="Century Gothic"/>
                <a:cs typeface="Century Gothic"/>
              </a:rPr>
              <a:t>datos</a:t>
            </a:r>
            <a:endParaRPr sz="1000">
              <a:latin typeface="Century Gothic"/>
              <a:cs typeface="Century Gothic"/>
            </a:endParaRPr>
          </a:p>
          <a:p>
            <a:pPr algn="just" marL="12700" marR="5080">
              <a:lnSpc>
                <a:spcPct val="100000"/>
              </a:lnSpc>
              <a:spcBef>
                <a:spcPts val="894"/>
              </a:spcBef>
            </a:pPr>
            <a:r>
              <a:rPr dirty="0" sz="1100">
                <a:latin typeface="Calibri"/>
                <a:cs typeface="Calibri"/>
              </a:rPr>
              <a:t>Sistema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seguimiento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incidencias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(Jira),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herramienta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tracking,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módulo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financiero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plataforma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encuestas.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tablero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diseña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con </a:t>
            </a:r>
            <a:r>
              <a:rPr dirty="0" sz="1100">
                <a:latin typeface="Calibri"/>
                <a:cs typeface="Calibri"/>
              </a:rPr>
              <a:t>cuatro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gráficos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líneas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sprint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resumen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semaforizado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(verde/amarillo/rojo)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métrica.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análisis,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estudiante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explica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que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un </a:t>
            </a:r>
            <a:r>
              <a:rPr dirty="0" sz="1100">
                <a:latin typeface="Calibri"/>
                <a:cs typeface="Calibri"/>
              </a:rPr>
              <a:t>aumento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CDP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PCC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combinado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caída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PCS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indica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problemas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calidad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que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justifican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invertir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pruebas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automatizadas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revisiones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de </a:t>
            </a:r>
            <a:r>
              <a:rPr dirty="0" sz="1100">
                <a:latin typeface="Calibri"/>
                <a:cs typeface="Calibri"/>
              </a:rPr>
              <a:t>código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más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estrictas,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alineado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enfoque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caso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donde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reducción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defectos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costo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calidad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tradujo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mayor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satisfacción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del </a:t>
            </a:r>
            <a:r>
              <a:rPr dirty="0" sz="1100" spc="-10">
                <a:latin typeface="Calibri"/>
                <a:cs typeface="Calibri"/>
              </a:rPr>
              <a:t>cliente.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970" y="222250"/>
            <a:ext cx="1018540" cy="37846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marL="334010">
              <a:lnSpc>
                <a:spcPct val="100000"/>
              </a:lnSpc>
              <a:spcBef>
                <a:spcPts val="630"/>
              </a:spcBef>
            </a:pPr>
            <a:r>
              <a:rPr dirty="0" sz="1300" b="1">
                <a:solidFill>
                  <a:srgbClr val="FFFFFF"/>
                </a:solidFill>
                <a:latin typeface="Century Gothic"/>
                <a:cs typeface="Century Gothic"/>
              </a:rPr>
              <a:t>EJ.</a:t>
            </a:r>
            <a:r>
              <a:rPr dirty="0" sz="1300" spc="-2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96313" y="281127"/>
            <a:ext cx="6142355" cy="24002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entury Gothic"/>
                <a:cs typeface="Century Gothic"/>
              </a:rPr>
              <a:t>Plan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integración</a:t>
            </a:r>
            <a:r>
              <a:rPr dirty="0" sz="1400" spc="-1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progresiva</a:t>
            </a:r>
            <a:r>
              <a:rPr dirty="0" sz="1400" spc="-1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PSP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y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TSP</a:t>
            </a:r>
            <a:r>
              <a:rPr dirty="0" sz="1400" spc="-4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en</a:t>
            </a:r>
            <a:r>
              <a:rPr dirty="0" sz="1400" spc="-1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un</a:t>
            </a:r>
            <a:r>
              <a:rPr dirty="0" sz="1400" spc="-4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equipo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spc="-10" b="1">
                <a:latin typeface="Century Gothic"/>
                <a:cs typeface="Century Gothic"/>
              </a:rPr>
              <a:t>desarrollo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20" y="1993392"/>
            <a:ext cx="8595360" cy="320040"/>
          </a:xfrm>
          <a:prstGeom prst="rect">
            <a:avLst/>
          </a:prstGeom>
          <a:solidFill>
            <a:srgbClr val="E8EBF5"/>
          </a:solidFill>
          <a:ln w="12700">
            <a:solidFill>
              <a:srgbClr val="D0D7E8"/>
            </a:solidFill>
          </a:ln>
        </p:spPr>
        <p:txBody>
          <a:bodyPr wrap="square" lIns="0" tIns="6921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545"/>
              </a:spcBef>
            </a:pPr>
            <a:r>
              <a:rPr dirty="0" sz="1100" spc="-10" b="1">
                <a:solidFill>
                  <a:srgbClr val="1B2A49"/>
                </a:solidFill>
                <a:latin typeface="Century Gothic"/>
                <a:cs typeface="Century Gothic"/>
              </a:rPr>
              <a:t>INSTRUCCIONES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2401646"/>
            <a:ext cx="7995284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80975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Describa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brevemente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equipo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desarrollo</a:t>
            </a:r>
            <a:r>
              <a:rPr dirty="0" sz="12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(tamaño,</a:t>
            </a:r>
            <a:r>
              <a:rPr dirty="0" sz="1200" spc="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tipo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proyecto,</a:t>
            </a:r>
            <a:r>
              <a:rPr dirty="0" sz="1200" spc="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nivel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madurez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actual).</a:t>
            </a:r>
            <a:endParaRPr sz="1200">
              <a:latin typeface="Century Gothic"/>
              <a:cs typeface="Century Gothic"/>
            </a:endParaRPr>
          </a:p>
          <a:p>
            <a:pPr marL="12700" marR="517525" indent="168910">
              <a:lnSpc>
                <a:spcPts val="1390"/>
              </a:lnSpc>
              <a:spcBef>
                <a:spcPts val="140"/>
              </a:spcBef>
              <a:buAutoNum type="arabicPeriod"/>
              <a:tabLst>
                <a:tab pos="18161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Seleccione</a:t>
            </a:r>
            <a:r>
              <a:rPr dirty="0" sz="12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3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prácticas PSP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(registro de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tiempos,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defectos,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planificación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personal)</a:t>
            </a:r>
            <a:r>
              <a:rPr dirty="0" sz="12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2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prácticas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TSP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(reuniones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lanzamiento/postmortem,</a:t>
            </a:r>
            <a:r>
              <a:rPr dirty="0" sz="1200" spc="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registro</a:t>
            </a:r>
            <a:r>
              <a:rPr dirty="0" sz="1200" spc="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datos</a:t>
            </a:r>
            <a:r>
              <a:rPr dirty="0" sz="1200" spc="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equipo).</a:t>
            </a:r>
            <a:endParaRPr sz="1200">
              <a:latin typeface="Century Gothic"/>
              <a:cs typeface="Century Gothic"/>
            </a:endParaRPr>
          </a:p>
          <a:p>
            <a:pPr marL="12700" marR="5080" indent="168910">
              <a:lnSpc>
                <a:spcPts val="1390"/>
              </a:lnSpc>
              <a:spcBef>
                <a:spcPts val="100"/>
              </a:spcBef>
              <a:buAutoNum type="arabicPeriod"/>
              <a:tabLst>
                <a:tab pos="18161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Defina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plan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tres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fases: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Piloto, Expansión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Consolidación,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indicando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qué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prácticas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se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introducen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en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cada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fase.</a:t>
            </a:r>
            <a:endParaRPr sz="1200">
              <a:latin typeface="Century Gothic"/>
              <a:cs typeface="Century Gothic"/>
            </a:endParaRPr>
          </a:p>
          <a:p>
            <a:pPr marL="181610" indent="-168910">
              <a:lnSpc>
                <a:spcPts val="1415"/>
              </a:lnSpc>
              <a:spcBef>
                <a:spcPts val="10"/>
              </a:spcBef>
              <a:buAutoNum type="arabicPeriod"/>
              <a:tabLst>
                <a:tab pos="18161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Especifique</a:t>
            </a:r>
            <a:r>
              <a:rPr dirty="0" sz="12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las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métricas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que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se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recogerán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evaluar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impacto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(defectos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por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fase,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cumplimiento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de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ts val="1415"/>
              </a:lnSpc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estimaciones,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retrabajo).</a:t>
            </a:r>
            <a:endParaRPr sz="1200">
              <a:latin typeface="Century Gothic"/>
              <a:cs typeface="Century Gothic"/>
            </a:endParaRPr>
          </a:p>
          <a:p>
            <a:pPr marL="181610" indent="-16891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81610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Identifique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riesgos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acciones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mitigación,</a:t>
            </a:r>
            <a:r>
              <a:rPr dirty="0" sz="1200" spc="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como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resistencia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al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cambio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o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falta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herramientas.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320" y="979932"/>
            <a:ext cx="8595360" cy="320040"/>
          </a:xfrm>
          <a:prstGeom prst="rect">
            <a:avLst/>
          </a:prstGeom>
          <a:solidFill>
            <a:srgbClr val="E8EBF5"/>
          </a:solidFill>
          <a:ln w="12700">
            <a:solidFill>
              <a:srgbClr val="D0D7E8"/>
            </a:solidFill>
          </a:ln>
        </p:spPr>
        <p:txBody>
          <a:bodyPr wrap="square" lIns="0" tIns="7429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585"/>
              </a:spcBef>
            </a:pP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OBJETIVOS</a:t>
            </a:r>
            <a:r>
              <a:rPr dirty="0" sz="1100" spc="-3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100" spc="-2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entury Gothic"/>
                <a:cs typeface="Century Gothic"/>
              </a:rPr>
              <a:t>APRENDIZAJE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1352169"/>
            <a:ext cx="77209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Diseñar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plan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realista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introducir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prácticas de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equipo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desarrollo,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considerando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restricciones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organizacionales.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580"/>
              </a:spcBef>
            </a:pPr>
            <a:r>
              <a:rPr dirty="0" sz="1300" b="1">
                <a:solidFill>
                  <a:srgbClr val="FFFFFF"/>
                </a:solidFill>
                <a:latin typeface="Century Gothic"/>
                <a:cs typeface="Century Gothic"/>
              </a:rPr>
              <a:t>EJ.</a:t>
            </a:r>
            <a:r>
              <a:rPr dirty="0" sz="1300" spc="-2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6313" y="281127"/>
            <a:ext cx="61423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Plan</a:t>
            </a:r>
            <a:r>
              <a:rPr dirty="0" sz="1400" spc="-3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4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integración</a:t>
            </a:r>
            <a:r>
              <a:rPr dirty="0" sz="1400" spc="-1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progresiva</a:t>
            </a:r>
            <a:r>
              <a:rPr dirty="0" sz="1400" spc="-1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400" spc="-3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PSP</a:t>
            </a:r>
            <a:r>
              <a:rPr dirty="0" sz="14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y</a:t>
            </a:r>
            <a:r>
              <a:rPr dirty="0" sz="14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TSP</a:t>
            </a:r>
            <a:r>
              <a:rPr dirty="0" sz="1400" spc="-4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en</a:t>
            </a:r>
            <a:r>
              <a:rPr dirty="0" sz="1400" spc="-1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un</a:t>
            </a:r>
            <a:r>
              <a:rPr dirty="0" sz="1400" spc="-4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equipo</a:t>
            </a:r>
            <a:r>
              <a:rPr dirty="0" sz="1400" spc="-2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4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400" spc="-10" b="1">
                <a:solidFill>
                  <a:srgbClr val="1B2A49"/>
                </a:solidFill>
                <a:latin typeface="Century Gothic"/>
                <a:cs typeface="Century Gothic"/>
              </a:rPr>
              <a:t>desarrollo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20" y="979932"/>
            <a:ext cx="8595360" cy="320040"/>
          </a:xfrm>
          <a:prstGeom prst="rect">
            <a:avLst/>
          </a:prstGeom>
          <a:solidFill>
            <a:srgbClr val="E8EBF5"/>
          </a:solidFill>
          <a:ln w="12700">
            <a:solidFill>
              <a:srgbClr val="D0D7E8"/>
            </a:solidFill>
          </a:ln>
        </p:spPr>
        <p:txBody>
          <a:bodyPr wrap="square" lIns="0" tIns="7429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585"/>
              </a:spcBef>
            </a:pP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CRITERIOS</a:t>
            </a:r>
            <a:r>
              <a:rPr dirty="0" sz="11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100" spc="-25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entury Gothic"/>
                <a:cs typeface="Century Gothic"/>
              </a:rPr>
              <a:t>EVALUACIÓN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1351864"/>
            <a:ext cx="645414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Alineación</a:t>
            </a:r>
            <a:r>
              <a:rPr dirty="0" sz="1600" spc="-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600" spc="-4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los</a:t>
            </a:r>
            <a:r>
              <a:rPr dirty="0" sz="1600" spc="-4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conceptos</a:t>
            </a:r>
            <a:r>
              <a:rPr dirty="0" sz="16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5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6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600" spc="-6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6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descritos</a:t>
            </a:r>
            <a:r>
              <a:rPr dirty="0" sz="16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caso.</a:t>
            </a:r>
            <a:endParaRPr sz="1600">
              <a:latin typeface="Century Gothic"/>
              <a:cs typeface="Century Gothic"/>
            </a:endParaRPr>
          </a:p>
          <a:p>
            <a:pPr marL="185420" indent="-1727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Realismo</a:t>
            </a:r>
            <a:r>
              <a:rPr dirty="0" sz="1600" spc="-4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6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plan</a:t>
            </a:r>
            <a:r>
              <a:rPr dirty="0" sz="16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4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fases</a:t>
            </a:r>
            <a:r>
              <a:rPr dirty="0" sz="16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respecto</a:t>
            </a:r>
            <a:r>
              <a:rPr dirty="0" sz="16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al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contexto</a:t>
            </a:r>
            <a:r>
              <a:rPr dirty="0" sz="16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equipo.</a:t>
            </a:r>
            <a:endParaRPr sz="1600">
              <a:latin typeface="Century Gothic"/>
              <a:cs typeface="Century Gothic"/>
            </a:endParaRPr>
          </a:p>
          <a:p>
            <a:pPr marL="185420" indent="-172720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Uso</a:t>
            </a:r>
            <a:r>
              <a:rPr dirty="0" sz="1600" spc="-4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adecuado</a:t>
            </a:r>
            <a:r>
              <a:rPr dirty="0" sz="1600" spc="-1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4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métricas</a:t>
            </a:r>
            <a:r>
              <a:rPr dirty="0" sz="16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evaluar</a:t>
            </a:r>
            <a:r>
              <a:rPr dirty="0" sz="1600" spc="-8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impacto.</a:t>
            </a:r>
            <a:endParaRPr sz="1600">
              <a:latin typeface="Century Gothic"/>
              <a:cs typeface="Century Gothic"/>
            </a:endParaRPr>
          </a:p>
          <a:p>
            <a:pPr marL="185420" indent="-172720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1600" spc="-10" b="1">
                <a:solidFill>
                  <a:srgbClr val="212121"/>
                </a:solidFill>
                <a:latin typeface="Century Gothic"/>
                <a:cs typeface="Century Gothic"/>
              </a:rPr>
              <a:t>Identificación</a:t>
            </a:r>
            <a:r>
              <a:rPr dirty="0" sz="1600" spc="1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6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tratamiento</a:t>
            </a:r>
            <a:r>
              <a:rPr dirty="0" sz="1600" spc="-3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b="1">
                <a:solidFill>
                  <a:srgbClr val="212121"/>
                </a:solidFill>
                <a:latin typeface="Century Gothic"/>
                <a:cs typeface="Century Gothic"/>
              </a:rPr>
              <a:t>riesgos</a:t>
            </a:r>
            <a:r>
              <a:rPr dirty="0" sz="16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adopción.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970" y="222250"/>
            <a:ext cx="1475740" cy="360680"/>
          </a:xfrm>
          <a:prstGeom prst="rect">
            <a:avLst/>
          </a:prstGeom>
          <a:solidFill>
            <a:srgbClr val="4BAE50"/>
          </a:solidFill>
          <a:ln w="3175">
            <a:solidFill>
              <a:srgbClr val="4BAE5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700"/>
              </a:spcBef>
            </a:pP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RESPUESTA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53514" y="271983"/>
            <a:ext cx="3592829" cy="24002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entury Gothic"/>
                <a:cs typeface="Century Gothic"/>
              </a:rPr>
              <a:t>Ejercicio</a:t>
            </a:r>
            <a:r>
              <a:rPr dirty="0" sz="1400" spc="-2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2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–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Respuesta</a:t>
            </a:r>
            <a:r>
              <a:rPr dirty="0" sz="1400" spc="-2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modelo</a:t>
            </a:r>
            <a:r>
              <a:rPr dirty="0" sz="1400" spc="-40" b="1">
                <a:latin typeface="Century Gothic"/>
                <a:cs typeface="Century Gothic"/>
              </a:rPr>
              <a:t> </a:t>
            </a:r>
            <a:r>
              <a:rPr dirty="0" sz="1400" spc="-10" b="1">
                <a:latin typeface="Century Gothic"/>
                <a:cs typeface="Century Gothic"/>
              </a:rPr>
              <a:t>detallada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320" y="685800"/>
            <a:ext cx="2743200" cy="457200"/>
          </a:xfrm>
          <a:custGeom>
            <a:avLst/>
            <a:gdLst/>
            <a:ahLst/>
            <a:cxnLst/>
            <a:rect l="l" t="t" r="r" b="b"/>
            <a:pathLst>
              <a:path w="2743200" h="457200">
                <a:moveTo>
                  <a:pt x="0" y="457200"/>
                </a:moveTo>
                <a:lnTo>
                  <a:pt x="2743200" y="457200"/>
                </a:lnTo>
                <a:lnTo>
                  <a:pt x="27432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7970" y="679450"/>
            <a:ext cx="2755900" cy="469900"/>
          </a:xfrm>
          <a:prstGeom prst="rect">
            <a:avLst/>
          </a:prstGeom>
          <a:solidFill>
            <a:srgbClr val="5B9BD4"/>
          </a:solidFill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FASE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60" b="1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Piloto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1145" y="1167257"/>
            <a:ext cx="2749550" cy="1377950"/>
            <a:chOff x="271145" y="1167257"/>
            <a:chExt cx="2749550" cy="1377950"/>
          </a:xfrm>
        </p:grpSpPr>
        <p:sp>
          <p:nvSpPr>
            <p:cNvPr id="7" name="object 7"/>
            <p:cNvSpPr/>
            <p:nvPr/>
          </p:nvSpPr>
          <p:spPr>
            <a:xfrm>
              <a:off x="274320" y="1170432"/>
              <a:ext cx="2743200" cy="1371600"/>
            </a:xfrm>
            <a:custGeom>
              <a:avLst/>
              <a:gdLst/>
              <a:ahLst/>
              <a:cxnLst/>
              <a:rect l="l" t="t" r="r" b="b"/>
              <a:pathLst>
                <a:path w="2743200" h="1371600">
                  <a:moveTo>
                    <a:pt x="27432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2743200" y="13716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20" y="1170432"/>
              <a:ext cx="2743200" cy="1371600"/>
            </a:xfrm>
            <a:custGeom>
              <a:avLst/>
              <a:gdLst/>
              <a:ahLst/>
              <a:cxnLst/>
              <a:rect l="l" t="t" r="r" b="b"/>
              <a:pathLst>
                <a:path w="2743200" h="1371600">
                  <a:moveTo>
                    <a:pt x="0" y="1371600"/>
                  </a:moveTo>
                  <a:lnTo>
                    <a:pt x="2743200" y="137160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635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38912" y="1218946"/>
            <a:ext cx="2435225" cy="8223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42900" marR="73025" indent="-342900">
              <a:lnSpc>
                <a:spcPct val="98700"/>
              </a:lnSpc>
              <a:spcBef>
                <a:spcPts val="120"/>
              </a:spcBef>
              <a:buFont typeface="Century Gothic"/>
              <a:buChar char="•"/>
              <a:tabLst>
                <a:tab pos="342900" algn="l"/>
              </a:tabLst>
            </a:pPr>
            <a:r>
              <a:rPr dirty="0" sz="1050" b="1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:</a:t>
            </a:r>
            <a:r>
              <a:rPr dirty="0" sz="105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registro</a:t>
            </a:r>
            <a:r>
              <a:rPr dirty="0" sz="105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05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tiempos</a:t>
            </a:r>
            <a:r>
              <a:rPr dirty="0" sz="105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6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defectos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 individuales</a:t>
            </a:r>
            <a:r>
              <a:rPr dirty="0" sz="105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(hojas </a:t>
            </a:r>
            <a:r>
              <a:rPr dirty="0" sz="1050" spc="-25">
                <a:solidFill>
                  <a:srgbClr val="212121"/>
                </a:solidFill>
                <a:latin typeface="Century Gothic"/>
                <a:cs typeface="Century Gothic"/>
              </a:rPr>
              <a:t>de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cálculo).</a:t>
            </a:r>
            <a:endParaRPr sz="1050">
              <a:latin typeface="Century Gothic"/>
              <a:cs typeface="Century Gothic"/>
            </a:endParaRPr>
          </a:p>
          <a:p>
            <a:pPr marL="342900" marR="5080" indent="-342900">
              <a:lnSpc>
                <a:spcPts val="1220"/>
              </a:lnSpc>
              <a:spcBef>
                <a:spcPts val="110"/>
              </a:spcBef>
              <a:buFont typeface="Century Gothic"/>
              <a:buChar char="•"/>
              <a:tabLst>
                <a:tab pos="342900" algn="l"/>
              </a:tabLst>
            </a:pPr>
            <a:r>
              <a:rPr dirty="0" sz="1050" b="1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:</a:t>
            </a:r>
            <a:r>
              <a:rPr dirty="0" sz="105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reunión</a:t>
            </a:r>
            <a:r>
              <a:rPr dirty="0" sz="105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semanal</a:t>
            </a:r>
            <a:r>
              <a:rPr dirty="0" sz="105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de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revisión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05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datos</a:t>
            </a:r>
            <a:r>
              <a:rPr dirty="0" sz="105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equipo</a:t>
            </a:r>
            <a:r>
              <a:rPr dirty="0" sz="105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(mini-</a:t>
            </a:r>
            <a:r>
              <a:rPr dirty="0" sz="1050" spc="-20">
                <a:solidFill>
                  <a:srgbClr val="212121"/>
                </a:solidFill>
                <a:latin typeface="Century Gothic"/>
                <a:cs typeface="Century Gothic"/>
              </a:rPr>
              <a:t>TSP).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27832" y="685800"/>
            <a:ext cx="2743200" cy="457200"/>
          </a:xfrm>
          <a:custGeom>
            <a:avLst/>
            <a:gdLst/>
            <a:ahLst/>
            <a:cxnLst/>
            <a:rect l="l" t="t" r="r" b="b"/>
            <a:pathLst>
              <a:path w="2743200" h="457200">
                <a:moveTo>
                  <a:pt x="0" y="457200"/>
                </a:moveTo>
                <a:lnTo>
                  <a:pt x="2743199" y="457200"/>
                </a:lnTo>
                <a:lnTo>
                  <a:pt x="2743199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221482" y="679450"/>
            <a:ext cx="2755900" cy="469900"/>
          </a:xfrm>
          <a:prstGeom prst="rect">
            <a:avLst/>
          </a:prstGeom>
          <a:solidFill>
            <a:srgbClr val="4471C4"/>
          </a:solidFill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FASE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60" b="1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100">
              <a:latin typeface="Century Gothic"/>
              <a:cs typeface="Century Gothic"/>
            </a:endParaRPr>
          </a:p>
          <a:p>
            <a:pPr algn="ctr" marL="635">
              <a:lnSpc>
                <a:spcPct val="100000"/>
              </a:lnSpc>
            </a:pP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Expansión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24657" y="1167257"/>
            <a:ext cx="2749550" cy="1377950"/>
            <a:chOff x="3224657" y="1167257"/>
            <a:chExt cx="2749550" cy="1377950"/>
          </a:xfrm>
        </p:grpSpPr>
        <p:sp>
          <p:nvSpPr>
            <p:cNvPr id="13" name="object 13"/>
            <p:cNvSpPr/>
            <p:nvPr/>
          </p:nvSpPr>
          <p:spPr>
            <a:xfrm>
              <a:off x="3227832" y="1170432"/>
              <a:ext cx="2743200" cy="1371600"/>
            </a:xfrm>
            <a:custGeom>
              <a:avLst/>
              <a:gdLst/>
              <a:ahLst/>
              <a:cxnLst/>
              <a:rect l="l" t="t" r="r" b="b"/>
              <a:pathLst>
                <a:path w="2743200" h="1371600">
                  <a:moveTo>
                    <a:pt x="2743199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2743199" y="1371600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27832" y="1170432"/>
              <a:ext cx="2743200" cy="1371600"/>
            </a:xfrm>
            <a:custGeom>
              <a:avLst/>
              <a:gdLst/>
              <a:ahLst/>
              <a:cxnLst/>
              <a:rect l="l" t="t" r="r" b="b"/>
              <a:pathLst>
                <a:path w="2743200" h="1371600">
                  <a:moveTo>
                    <a:pt x="0" y="1371600"/>
                  </a:moveTo>
                  <a:lnTo>
                    <a:pt x="2743199" y="1371600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635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393059" y="1218946"/>
            <a:ext cx="2411095" cy="662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2265" indent="-342265">
              <a:lnSpc>
                <a:spcPts val="1240"/>
              </a:lnSpc>
              <a:spcBef>
                <a:spcPts val="105"/>
              </a:spcBef>
              <a:buFont typeface="Century Gothic"/>
              <a:buChar char="•"/>
              <a:tabLst>
                <a:tab pos="342265" algn="l"/>
              </a:tabLst>
            </a:pPr>
            <a:r>
              <a:rPr dirty="0" sz="1050" b="1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:</a:t>
            </a:r>
            <a:r>
              <a:rPr dirty="0" sz="105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planificación</a:t>
            </a:r>
            <a:r>
              <a:rPr dirty="0" sz="105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personal</a:t>
            </a:r>
            <a:endParaRPr sz="1050">
              <a:latin typeface="Century Gothic"/>
              <a:cs typeface="Century Gothic"/>
            </a:endParaRPr>
          </a:p>
          <a:p>
            <a:pPr marL="342900">
              <a:lnSpc>
                <a:spcPts val="1240"/>
              </a:lnSpc>
            </a:pP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(estimaciones</a:t>
            </a:r>
            <a:r>
              <a:rPr dirty="0" sz="105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por</a:t>
            </a:r>
            <a:r>
              <a:rPr dirty="0" sz="105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tarea).</a:t>
            </a:r>
            <a:endParaRPr sz="1050">
              <a:latin typeface="Century Gothic"/>
              <a:cs typeface="Century Gothic"/>
            </a:endParaRPr>
          </a:p>
          <a:p>
            <a:pPr marL="342900" marR="5080" indent="-342900">
              <a:lnSpc>
                <a:spcPts val="1220"/>
              </a:lnSpc>
              <a:spcBef>
                <a:spcPts val="110"/>
              </a:spcBef>
              <a:buFont typeface="Century Gothic"/>
              <a:buChar char="•"/>
              <a:tabLst>
                <a:tab pos="342900" algn="l"/>
              </a:tabLst>
            </a:pPr>
            <a:r>
              <a:rPr dirty="0" sz="1050" b="1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:</a:t>
            </a:r>
            <a:r>
              <a:rPr dirty="0" sz="105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reuniones</a:t>
            </a:r>
            <a:r>
              <a:rPr dirty="0" sz="105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050" spc="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lanzamiento</a:t>
            </a:r>
            <a:r>
              <a:rPr dirty="0" sz="105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5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postmortem</a:t>
            </a:r>
            <a:r>
              <a:rPr dirty="0" sz="105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por</a:t>
            </a:r>
            <a:r>
              <a:rPr dirty="0" sz="105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release.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81344" y="685800"/>
            <a:ext cx="2743200" cy="457200"/>
          </a:xfrm>
          <a:custGeom>
            <a:avLst/>
            <a:gdLst/>
            <a:ahLst/>
            <a:cxnLst/>
            <a:rect l="l" t="t" r="r" b="b"/>
            <a:pathLst>
              <a:path w="2743200" h="457200">
                <a:moveTo>
                  <a:pt x="0" y="457200"/>
                </a:moveTo>
                <a:lnTo>
                  <a:pt x="2743200" y="457200"/>
                </a:lnTo>
                <a:lnTo>
                  <a:pt x="27432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2700">
            <a:solidFill>
              <a:srgbClr val="1B2A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74994" y="679450"/>
            <a:ext cx="2755900" cy="469900"/>
          </a:xfrm>
          <a:prstGeom prst="rect">
            <a:avLst/>
          </a:prstGeom>
          <a:solidFill>
            <a:srgbClr val="1B2A49"/>
          </a:solidFill>
        </p:spPr>
        <p:txBody>
          <a:bodyPr wrap="square" lIns="0" tIns="6032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75"/>
              </a:spcBef>
            </a:pPr>
            <a:r>
              <a:rPr dirty="0" sz="1100" b="1">
                <a:solidFill>
                  <a:srgbClr val="FFFFFF"/>
                </a:solidFill>
                <a:latin typeface="Century Gothic"/>
                <a:cs typeface="Century Gothic"/>
              </a:rPr>
              <a:t>FASE</a:t>
            </a: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100" spc="-60" b="1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100">
              <a:latin typeface="Century Gothic"/>
              <a:cs typeface="Century Gothic"/>
            </a:endParaRPr>
          </a:p>
          <a:p>
            <a:pPr algn="ctr" marL="1905">
              <a:lnSpc>
                <a:spcPct val="100000"/>
              </a:lnSpc>
            </a:pPr>
            <a:r>
              <a:rPr dirty="0" sz="1100" spc="-10" b="1">
                <a:solidFill>
                  <a:srgbClr val="FFFFFF"/>
                </a:solidFill>
                <a:latin typeface="Century Gothic"/>
                <a:cs typeface="Century Gothic"/>
              </a:rPr>
              <a:t>Consolidación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78169" y="1167257"/>
            <a:ext cx="2749550" cy="1377950"/>
            <a:chOff x="6178169" y="1167257"/>
            <a:chExt cx="2749550" cy="1377950"/>
          </a:xfrm>
        </p:grpSpPr>
        <p:sp>
          <p:nvSpPr>
            <p:cNvPr id="19" name="object 19"/>
            <p:cNvSpPr/>
            <p:nvPr/>
          </p:nvSpPr>
          <p:spPr>
            <a:xfrm>
              <a:off x="6181344" y="1170432"/>
              <a:ext cx="2743200" cy="1371600"/>
            </a:xfrm>
            <a:custGeom>
              <a:avLst/>
              <a:gdLst/>
              <a:ahLst/>
              <a:cxnLst/>
              <a:rect l="l" t="t" r="r" b="b"/>
              <a:pathLst>
                <a:path w="2743200" h="1371600">
                  <a:moveTo>
                    <a:pt x="27432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2743200" y="13716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81344" y="1170432"/>
              <a:ext cx="2743200" cy="1371600"/>
            </a:xfrm>
            <a:custGeom>
              <a:avLst/>
              <a:gdLst/>
              <a:ahLst/>
              <a:cxnLst/>
              <a:rect l="l" t="t" r="r" b="b"/>
              <a:pathLst>
                <a:path w="2743200" h="1371600">
                  <a:moveTo>
                    <a:pt x="0" y="1371600"/>
                  </a:moveTo>
                  <a:lnTo>
                    <a:pt x="2743200" y="137160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635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346825" y="1218946"/>
            <a:ext cx="2442210" cy="662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342265" marR="478155" indent="-342265">
              <a:lnSpc>
                <a:spcPts val="1240"/>
              </a:lnSpc>
              <a:spcBef>
                <a:spcPts val="105"/>
              </a:spcBef>
              <a:buChar char="•"/>
              <a:tabLst>
                <a:tab pos="342265" algn="l"/>
              </a:tabLst>
            </a:pP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Migración</a:t>
            </a:r>
            <a:r>
              <a:rPr dirty="0" sz="105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05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herramienta</a:t>
            </a:r>
            <a:endParaRPr sz="1050">
              <a:latin typeface="Century Gothic"/>
              <a:cs typeface="Century Gothic"/>
            </a:endParaRPr>
          </a:p>
          <a:p>
            <a:pPr algn="r" marR="451484">
              <a:lnSpc>
                <a:spcPts val="1240"/>
              </a:lnSpc>
            </a:pP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integrada</a:t>
            </a:r>
            <a:r>
              <a:rPr dirty="0" sz="105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(Jira</a:t>
            </a:r>
            <a:r>
              <a:rPr dirty="0" sz="105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+</a:t>
            </a:r>
            <a:r>
              <a:rPr dirty="0" sz="105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plugins).</a:t>
            </a:r>
            <a:endParaRPr sz="1050">
              <a:latin typeface="Century Gothic"/>
              <a:cs typeface="Century Gothic"/>
            </a:endParaRPr>
          </a:p>
          <a:p>
            <a:pPr marL="342900" marR="5080" indent="-342900">
              <a:lnSpc>
                <a:spcPts val="1220"/>
              </a:lnSpc>
              <a:spcBef>
                <a:spcPts val="110"/>
              </a:spcBef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Estándares</a:t>
            </a:r>
            <a:r>
              <a:rPr dirty="0" sz="105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05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calidad</a:t>
            </a:r>
            <a:r>
              <a:rPr dirty="0" sz="1050" spc="-7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212121"/>
                </a:solidFill>
                <a:latin typeface="Century Gothic"/>
                <a:cs typeface="Century Gothic"/>
              </a:rPr>
              <a:t>de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código</a:t>
            </a:r>
            <a:r>
              <a:rPr dirty="0" sz="105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05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212121"/>
                </a:solidFill>
                <a:latin typeface="Century Gothic"/>
                <a:cs typeface="Century Gothic"/>
              </a:rPr>
              <a:t>revisiones</a:t>
            </a:r>
            <a:r>
              <a:rPr dirty="0" sz="105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entury Gothic"/>
                <a:cs typeface="Century Gothic"/>
              </a:rPr>
              <a:t>sistemáticas.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3059" y="2667381"/>
            <a:ext cx="4345305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Métricas</a:t>
            </a:r>
            <a:r>
              <a:rPr dirty="0" sz="1100" spc="-5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de</a:t>
            </a:r>
            <a:r>
              <a:rPr dirty="0" sz="11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entury Gothic"/>
                <a:cs typeface="Century Gothic"/>
              </a:rPr>
              <a:t>evaluación:</a:t>
            </a:r>
            <a:endParaRPr sz="11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92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Defectos por</a:t>
            </a:r>
            <a:r>
              <a:rPr dirty="0" sz="1100" spc="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fase</a:t>
            </a:r>
            <a:r>
              <a:rPr dirty="0" sz="1100" spc="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entury Gothic"/>
                <a:cs typeface="Century Gothic"/>
              </a:rPr>
              <a:t>(especificación,</a:t>
            </a:r>
            <a:r>
              <a:rPr dirty="0" sz="11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entury Gothic"/>
                <a:cs typeface="Century Gothic"/>
              </a:rPr>
              <a:t>construcción,</a:t>
            </a:r>
            <a:r>
              <a:rPr dirty="0" sz="11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entury Gothic"/>
                <a:cs typeface="Century Gothic"/>
              </a:rPr>
              <a:t>pruebas).</a:t>
            </a:r>
            <a:endParaRPr sz="11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Porcentaje</a:t>
            </a:r>
            <a:r>
              <a:rPr dirty="0" sz="11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1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tareas</a:t>
            </a:r>
            <a:r>
              <a:rPr dirty="0" sz="11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entregadas</a:t>
            </a:r>
            <a:r>
              <a:rPr dirty="0" sz="11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dentro</a:t>
            </a:r>
            <a:r>
              <a:rPr dirty="0" sz="11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1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1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entury Gothic"/>
                <a:cs typeface="Century Gothic"/>
              </a:rPr>
              <a:t>estimación.</a:t>
            </a:r>
            <a:endParaRPr sz="11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Horas</a:t>
            </a:r>
            <a:r>
              <a:rPr dirty="0" sz="11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1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retrabajo</a:t>
            </a:r>
            <a:r>
              <a:rPr dirty="0" sz="11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e</a:t>
            </a:r>
            <a:r>
              <a:rPr dirty="0" sz="11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incidentes</a:t>
            </a:r>
            <a:r>
              <a:rPr dirty="0" sz="11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1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entury Gothic"/>
                <a:cs typeface="Century Gothic"/>
              </a:rPr>
              <a:t>producción.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3059" y="4069791"/>
            <a:ext cx="8051800" cy="3568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80"/>
              </a:spcBef>
            </a:pP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Riesgo</a:t>
            </a:r>
            <a:r>
              <a:rPr dirty="0" sz="1100" spc="-4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principal:</a:t>
            </a:r>
            <a:r>
              <a:rPr dirty="0" sz="1100" spc="-5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percepción</a:t>
            </a:r>
            <a:r>
              <a:rPr dirty="0" sz="1100" spc="-3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de</a:t>
            </a:r>
            <a:r>
              <a:rPr dirty="0" sz="1100" spc="-2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Century Gothic"/>
                <a:cs typeface="Century Gothic"/>
              </a:rPr>
              <a:t>'microgestión'.</a:t>
            </a:r>
            <a:r>
              <a:rPr dirty="0" sz="1100" spc="-5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Mitigación:</a:t>
            </a:r>
            <a:r>
              <a:rPr dirty="0" sz="1100" spc="-5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mostrar</a:t>
            </a:r>
            <a:r>
              <a:rPr dirty="0" sz="1100" spc="-3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resultados</a:t>
            </a:r>
            <a:r>
              <a:rPr dirty="0" sz="1100" spc="-5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agregados</a:t>
            </a:r>
            <a:r>
              <a:rPr dirty="0" sz="1100" spc="-4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y</a:t>
            </a:r>
            <a:r>
              <a:rPr dirty="0" sz="1100" spc="-1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no punitivos,</a:t>
            </a:r>
            <a:r>
              <a:rPr dirty="0" sz="1100" spc="-5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alineados</a:t>
            </a:r>
            <a:r>
              <a:rPr dirty="0" sz="1100" spc="-4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con</a:t>
            </a:r>
            <a:r>
              <a:rPr dirty="0" sz="1100" spc="-2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incentivos</a:t>
            </a:r>
            <a:r>
              <a:rPr dirty="0" sz="1100" spc="-5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de</a:t>
            </a:r>
            <a:r>
              <a:rPr dirty="0" sz="1100" spc="-2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carrera</a:t>
            </a:r>
            <a:r>
              <a:rPr dirty="0" sz="1100" spc="-4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y</a:t>
            </a:r>
            <a:r>
              <a:rPr dirty="0" sz="1100" spc="-20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entury Gothic"/>
                <a:cs typeface="Century Gothic"/>
              </a:rPr>
              <a:t>mejora</a:t>
            </a:r>
            <a:r>
              <a:rPr dirty="0" sz="1100" spc="-45" i="1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Century Gothic"/>
                <a:cs typeface="Century Gothic"/>
              </a:rPr>
              <a:t>continua.</a:t>
            </a:r>
            <a:endParaRPr sz="1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580"/>
              </a:spcBef>
            </a:pPr>
            <a:r>
              <a:rPr dirty="0" sz="1300" b="1">
                <a:solidFill>
                  <a:srgbClr val="FFFFFF"/>
                </a:solidFill>
                <a:latin typeface="Century Gothic"/>
                <a:cs typeface="Century Gothic"/>
              </a:rPr>
              <a:t>EJ.</a:t>
            </a:r>
            <a:r>
              <a:rPr dirty="0" sz="1300" spc="-20" b="1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96313" y="281127"/>
            <a:ext cx="6142355" cy="24002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entury Gothic"/>
                <a:cs typeface="Century Gothic"/>
              </a:rPr>
              <a:t>Plan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integración</a:t>
            </a:r>
            <a:r>
              <a:rPr dirty="0" sz="1400" spc="-1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progresiva</a:t>
            </a:r>
            <a:r>
              <a:rPr dirty="0" sz="1400" spc="-1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PSP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y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TSP</a:t>
            </a:r>
            <a:r>
              <a:rPr dirty="0" sz="1400" spc="-4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en</a:t>
            </a:r>
            <a:r>
              <a:rPr dirty="0" sz="1400" spc="-1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un</a:t>
            </a:r>
            <a:r>
              <a:rPr dirty="0" sz="1400" spc="-4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equipo</a:t>
            </a:r>
            <a:r>
              <a:rPr dirty="0" sz="1400" spc="-20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de</a:t>
            </a:r>
            <a:r>
              <a:rPr dirty="0" sz="1400" spc="-30" b="1">
                <a:latin typeface="Century Gothic"/>
                <a:cs typeface="Century Gothic"/>
              </a:rPr>
              <a:t> </a:t>
            </a:r>
            <a:r>
              <a:rPr dirty="0" sz="1400" spc="-10" b="1">
                <a:latin typeface="Century Gothic"/>
                <a:cs typeface="Century Gothic"/>
              </a:rPr>
              <a:t>desarrollo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20" y="979932"/>
            <a:ext cx="8595360" cy="320040"/>
          </a:xfrm>
          <a:prstGeom prst="rect">
            <a:avLst/>
          </a:prstGeom>
          <a:solidFill>
            <a:srgbClr val="E8EBF5"/>
          </a:solidFill>
          <a:ln w="12700">
            <a:solidFill>
              <a:srgbClr val="D0D7E8"/>
            </a:solidFill>
          </a:ln>
        </p:spPr>
        <p:txBody>
          <a:bodyPr wrap="square" lIns="0" tIns="7429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585"/>
              </a:spcBef>
            </a:pP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RESPUESTA</a:t>
            </a:r>
            <a:r>
              <a:rPr dirty="0" sz="1100" spc="-7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entury Gothic"/>
                <a:cs typeface="Century Gothic"/>
              </a:rPr>
              <a:t>MODELO</a:t>
            </a:r>
            <a:r>
              <a:rPr dirty="0" sz="1100" spc="-30" b="1">
                <a:solidFill>
                  <a:srgbClr val="1B2A49"/>
                </a:solidFill>
                <a:latin typeface="Century Gothic"/>
                <a:cs typeface="Century Gothic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entury Gothic"/>
                <a:cs typeface="Century Gothic"/>
              </a:rPr>
              <a:t>DETALLADA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1352169"/>
            <a:ext cx="8010525" cy="258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estudiante</a:t>
            </a:r>
            <a:r>
              <a:rPr dirty="0" sz="1200" spc="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describe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equipo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7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desarrolladores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que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mantiene</a:t>
            </a:r>
            <a:r>
              <a:rPr dirty="0" sz="1200" spc="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sistema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seguros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(similar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al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dominio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caso).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entury Gothic"/>
                <a:cs typeface="Century Gothic"/>
              </a:rPr>
              <a:t>fase</a:t>
            </a:r>
            <a:r>
              <a:rPr dirty="0" sz="1200" spc="-4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entury Gothic"/>
                <a:cs typeface="Century Gothic"/>
              </a:rPr>
              <a:t>piloto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,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introduce PSP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registro de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tiempos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defectos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individuales</a:t>
            </a:r>
            <a:r>
              <a:rPr dirty="0" sz="12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200" spc="50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hojas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cálculo,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una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reunión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semanal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equipo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para revisar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datos</a:t>
            </a:r>
            <a:r>
              <a:rPr dirty="0" sz="1200" spc="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(mini-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TSP).</a:t>
            </a:r>
            <a:r>
              <a:rPr dirty="0" sz="1200" spc="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entury Gothic"/>
                <a:cs typeface="Century Gothic"/>
              </a:rPr>
              <a:t>fase</a:t>
            </a:r>
            <a:r>
              <a:rPr dirty="0" sz="12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 b="1">
                <a:solidFill>
                  <a:srgbClr val="212121"/>
                </a:solidFill>
                <a:latin typeface="Century Gothic"/>
                <a:cs typeface="Century Gothic"/>
              </a:rPr>
              <a:t>expansión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,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añade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planificación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personal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(estimaciones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por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tarea)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reuniones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lanzamiento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postmortem</a:t>
            </a:r>
            <a:r>
              <a:rPr dirty="0" sz="1200" spc="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por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release,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registrando</a:t>
            </a:r>
            <a:r>
              <a:rPr dirty="0" sz="1200" spc="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compromisos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resultados.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entury Gothic"/>
                <a:cs typeface="Century Gothic"/>
              </a:rPr>
              <a:t>fase</a:t>
            </a:r>
            <a:r>
              <a:rPr dirty="0" sz="1200" spc="-25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0" b="1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 b="1">
                <a:solidFill>
                  <a:srgbClr val="212121"/>
                </a:solidFill>
                <a:latin typeface="Century Gothic"/>
                <a:cs typeface="Century Gothic"/>
              </a:rPr>
              <a:t>consolidación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,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migra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los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registros</a:t>
            </a:r>
            <a:r>
              <a:rPr dirty="0" sz="1200" spc="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una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herramienta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integrada</a:t>
            </a:r>
            <a:r>
              <a:rPr dirty="0" sz="1200" spc="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(por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ejemplo,</a:t>
            </a:r>
            <a:r>
              <a:rPr dirty="0" sz="12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Jira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+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plugins</a:t>
            </a:r>
            <a:r>
              <a:rPr dirty="0" sz="12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time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tracking)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define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estándares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calidad</a:t>
            </a:r>
            <a:r>
              <a:rPr dirty="0" sz="12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de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código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revisiones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sistemáticas.</a:t>
            </a:r>
            <a:endParaRPr sz="1200">
              <a:latin typeface="Century Gothic"/>
              <a:cs typeface="Century Gothic"/>
            </a:endParaRPr>
          </a:p>
          <a:p>
            <a:pPr marL="184785" marR="215900" indent="-17272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Las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métricas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incluyen:</a:t>
            </a:r>
            <a:r>
              <a:rPr dirty="0" sz="1200" spc="-7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defectos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por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fase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(especificación,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construcción,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pruebas),</a:t>
            </a:r>
            <a:r>
              <a:rPr dirty="0" sz="12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porcentaje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tareas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entregadas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dentro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estimación,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horas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retrabajo</a:t>
            </a:r>
            <a:r>
              <a:rPr dirty="0" sz="1200" spc="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número</a:t>
            </a:r>
            <a:r>
              <a:rPr dirty="0" sz="12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incidentes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producción.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endParaRPr sz="1200">
              <a:latin typeface="Century Gothic"/>
              <a:cs typeface="Century Gothic"/>
            </a:endParaRPr>
          </a:p>
          <a:p>
            <a:pPr marL="184785" marR="43815">
              <a:lnSpc>
                <a:spcPct val="100000"/>
              </a:lnSpc>
            </a:pP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estudiante</a:t>
            </a:r>
            <a:r>
              <a:rPr dirty="0" sz="1200" spc="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identifica riesgos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como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percepción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“microgestión” por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parte</a:t>
            </a:r>
            <a:r>
              <a:rPr dirty="0" sz="1200" spc="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los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desarrolladores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propone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mitigarlos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explicando</a:t>
            </a:r>
            <a:r>
              <a:rPr dirty="0" sz="12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propósito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mejora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personal,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mostrando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resultados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agregados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no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punitivos,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alineando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plan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incentivos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carrera.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Este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enfoque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refleja</a:t>
            </a:r>
            <a:r>
              <a:rPr dirty="0" sz="12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espíritu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caso,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donde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“ayudan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construir</a:t>
            </a:r>
            <a:r>
              <a:rPr dirty="0" sz="12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una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cultura</a:t>
            </a:r>
            <a:r>
              <a:rPr dirty="0" sz="12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organizacional</a:t>
            </a:r>
            <a:r>
              <a:rPr dirty="0" sz="1200" spc="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2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calidad”</a:t>
            </a:r>
            <a:r>
              <a:rPr dirty="0" sz="12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reducen</a:t>
            </a:r>
            <a:r>
              <a:rPr dirty="0" sz="12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2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resistencia</a:t>
            </a:r>
            <a:r>
              <a:rPr dirty="0" sz="12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212121"/>
                </a:solidFill>
                <a:latin typeface="Century Gothic"/>
                <a:cs typeface="Century Gothic"/>
              </a:rPr>
              <a:t>al</a:t>
            </a:r>
            <a:r>
              <a:rPr dirty="0" sz="12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entury Gothic"/>
                <a:cs typeface="Century Gothic"/>
              </a:rPr>
              <a:t>cambio.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239013"/>
            <a:ext cx="181991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/>
              <a:t>Conclusiones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44500" y="851661"/>
            <a:ext cx="8237220" cy="27019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55600" marR="338455" indent="-342900">
              <a:lnSpc>
                <a:spcPct val="98800"/>
              </a:lnSpc>
              <a:spcBef>
                <a:spcPts val="120"/>
              </a:spcBef>
              <a:buChar char="•"/>
              <a:tabLst>
                <a:tab pos="355600" algn="l"/>
              </a:tabLst>
            </a:pP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caso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evidencia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que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no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basta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adoptar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un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estándar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aislado: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6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sinergia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entre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CMMI,</a:t>
            </a:r>
            <a:r>
              <a:rPr dirty="0" sz="1600" spc="-7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TSP</a:t>
            </a:r>
            <a:r>
              <a:rPr dirty="0" sz="16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PSP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genera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mejoras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medibles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costo,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defectos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y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satisfacción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cliente.</a:t>
            </a:r>
            <a:endParaRPr sz="1600">
              <a:latin typeface="Century Gothic"/>
              <a:cs typeface="Century Gothic"/>
            </a:endParaRPr>
          </a:p>
          <a:p>
            <a:pPr marL="355600" marR="5080" indent="-342900">
              <a:lnSpc>
                <a:spcPts val="1870"/>
              </a:lnSpc>
              <a:spcBef>
                <a:spcPts val="155"/>
              </a:spcBef>
              <a:buChar char="•"/>
              <a:tabLst>
                <a:tab pos="355600" algn="l"/>
              </a:tabLst>
            </a:pP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integración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los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tres</a:t>
            </a:r>
            <a:r>
              <a:rPr dirty="0" sz="16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modelos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permite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una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reducción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significativa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del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costo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calidad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(de</a:t>
            </a:r>
            <a:r>
              <a:rPr dirty="0" sz="16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~19.85%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~7.41%)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defectos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por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proyecto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(de</a:t>
            </a:r>
            <a:r>
              <a:rPr dirty="0" sz="16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249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20">
                <a:solidFill>
                  <a:srgbClr val="212121"/>
                </a:solidFill>
                <a:latin typeface="Century Gothic"/>
                <a:cs typeface="Century Gothic"/>
              </a:rPr>
              <a:t>95).</a:t>
            </a:r>
            <a:endParaRPr sz="1600">
              <a:latin typeface="Century Gothic"/>
              <a:cs typeface="Century Gothic"/>
            </a:endParaRPr>
          </a:p>
          <a:p>
            <a:pPr marL="354965" indent="-342265">
              <a:lnSpc>
                <a:spcPts val="1889"/>
              </a:lnSpc>
              <a:buChar char="•"/>
              <a:tabLst>
                <a:tab pos="354965" algn="l"/>
              </a:tabLst>
            </a:pP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talento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humano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es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eje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central: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la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disciplina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individual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(PSP) y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equipo</a:t>
            </a:r>
            <a:endParaRPr sz="1600">
              <a:latin typeface="Century Gothic"/>
              <a:cs typeface="Century Gothic"/>
            </a:endParaRPr>
          </a:p>
          <a:p>
            <a:pPr marL="355600">
              <a:lnSpc>
                <a:spcPts val="1895"/>
              </a:lnSpc>
            </a:pP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(TSP) son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las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que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dan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vida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a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los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procesos</a:t>
            </a:r>
            <a:r>
              <a:rPr dirty="0" sz="1600" spc="-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organizacionales</a:t>
            </a:r>
            <a:r>
              <a:rPr dirty="0" sz="1600" spc="-1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(CMMI).</a:t>
            </a:r>
            <a:endParaRPr sz="1600">
              <a:latin typeface="Century Gothic"/>
              <a:cs typeface="Century Gothic"/>
            </a:endParaRPr>
          </a:p>
          <a:p>
            <a:pPr marL="355600" marR="120650" indent="-342900">
              <a:lnSpc>
                <a:spcPts val="1870"/>
              </a:lnSpc>
              <a:spcBef>
                <a:spcPts val="150"/>
              </a:spcBef>
              <a:buChar char="•"/>
              <a:tabLst>
                <a:tab pos="355600" algn="l"/>
              </a:tabLst>
            </a:pP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600" spc="-7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empresas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software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en</a:t>
            </a:r>
            <a:r>
              <a:rPr dirty="0" sz="1600" spc="-7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Latinoamérica,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este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modelo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representa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una</a:t>
            </a:r>
            <a:r>
              <a:rPr dirty="0" sz="16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vía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pragmática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para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elevar</a:t>
            </a:r>
            <a:r>
              <a:rPr dirty="0" sz="1600" spc="-6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su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madurez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procesos</a:t>
            </a:r>
            <a:r>
              <a:rPr dirty="0" sz="1600" spc="-2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sin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perder</a:t>
            </a:r>
            <a:r>
              <a:rPr dirty="0" sz="16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foco</a:t>
            </a:r>
            <a:r>
              <a:rPr dirty="0" sz="16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operativo.</a:t>
            </a:r>
            <a:endParaRPr sz="1600">
              <a:latin typeface="Century Gothic"/>
              <a:cs typeface="Century Gothic"/>
            </a:endParaRPr>
          </a:p>
          <a:p>
            <a:pPr marL="355600" marR="447675" indent="-342900">
              <a:lnSpc>
                <a:spcPts val="187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El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enfoque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es</a:t>
            </a:r>
            <a:r>
              <a:rPr dirty="0" sz="1600" spc="-4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compatible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se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fortalece</a:t>
            </a:r>
            <a:r>
              <a:rPr dirty="0" sz="1600" spc="-4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al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combinarse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con</a:t>
            </a:r>
            <a:r>
              <a:rPr dirty="0" sz="1600" spc="-5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prácticas</a:t>
            </a:r>
            <a:r>
              <a:rPr dirty="0" sz="1600" spc="-3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ágiles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(Scrum)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y</a:t>
            </a:r>
            <a:r>
              <a:rPr dirty="0" sz="16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DevOps</a:t>
            </a:r>
            <a:r>
              <a:rPr dirty="0" sz="1600" spc="-6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(CI/CD,</a:t>
            </a:r>
            <a:r>
              <a:rPr dirty="0" sz="1600" spc="-2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observabilidad</a:t>
            </a:r>
            <a:r>
              <a:rPr dirty="0" sz="1600" spc="-55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212121"/>
                </a:solidFill>
                <a:latin typeface="Century Gothic"/>
                <a:cs typeface="Century Gothic"/>
              </a:rPr>
              <a:t>de</a:t>
            </a:r>
            <a:r>
              <a:rPr dirty="0" sz="1600" spc="-30">
                <a:solidFill>
                  <a:srgbClr val="212121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212121"/>
                </a:solidFill>
                <a:latin typeface="Century Gothic"/>
                <a:cs typeface="Century Gothic"/>
              </a:rPr>
              <a:t>producto).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340" y="2266569"/>
            <a:ext cx="6820534" cy="1265555"/>
          </a:xfrm>
          <a:prstGeom prst="rect"/>
        </p:spPr>
        <p:txBody>
          <a:bodyPr wrap="square" lIns="0" tIns="38735" rIns="0" bIns="0" rtlCol="0" vert="horz">
            <a:spAutoFit/>
          </a:bodyPr>
          <a:lstStyle/>
          <a:p>
            <a:pPr marL="12700" marR="5080">
              <a:lnSpc>
                <a:spcPts val="3490"/>
              </a:lnSpc>
              <a:spcBef>
                <a:spcPts val="305"/>
              </a:spcBef>
            </a:pPr>
            <a:r>
              <a:rPr dirty="0" sz="3000">
                <a:solidFill>
                  <a:srgbClr val="FFFFFF"/>
                </a:solidFill>
              </a:rPr>
              <a:t>Estándares</a:t>
            </a:r>
            <a:r>
              <a:rPr dirty="0" sz="3000" spc="-40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y</a:t>
            </a:r>
            <a:r>
              <a:rPr dirty="0" sz="3000" spc="-15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Métricas</a:t>
            </a:r>
            <a:r>
              <a:rPr dirty="0" sz="3000" spc="-35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de</a:t>
            </a:r>
            <a:r>
              <a:rPr dirty="0" sz="3000" spc="-25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Calidad</a:t>
            </a:r>
            <a:r>
              <a:rPr dirty="0" sz="3000" spc="-40">
                <a:solidFill>
                  <a:srgbClr val="FFFFFF"/>
                </a:solidFill>
              </a:rPr>
              <a:t> </a:t>
            </a:r>
            <a:r>
              <a:rPr dirty="0" sz="3000" spc="-35">
                <a:solidFill>
                  <a:srgbClr val="FFFFFF"/>
                </a:solidFill>
              </a:rPr>
              <a:t>en </a:t>
            </a:r>
            <a:r>
              <a:rPr dirty="0" sz="3000">
                <a:solidFill>
                  <a:srgbClr val="FFFFFF"/>
                </a:solidFill>
              </a:rPr>
              <a:t>el</a:t>
            </a:r>
            <a:r>
              <a:rPr dirty="0" sz="3000" spc="-15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Desarrollo</a:t>
            </a:r>
            <a:r>
              <a:rPr dirty="0" sz="3000" spc="-5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de</a:t>
            </a:r>
            <a:r>
              <a:rPr dirty="0" sz="3000" spc="-15">
                <a:solidFill>
                  <a:srgbClr val="FFFFFF"/>
                </a:solidFill>
              </a:rPr>
              <a:t> </a:t>
            </a:r>
            <a:r>
              <a:rPr dirty="0" sz="3000" spc="-10">
                <a:solidFill>
                  <a:srgbClr val="FFFFFF"/>
                </a:solidFill>
              </a:rPr>
              <a:t>Software</a:t>
            </a:r>
            <a:endParaRPr sz="3000"/>
          </a:p>
          <a:p>
            <a:pPr marL="12700">
              <a:lnSpc>
                <a:spcPts val="2570"/>
              </a:lnSpc>
            </a:pPr>
            <a:r>
              <a:rPr dirty="0" sz="2600" b="1">
                <a:solidFill>
                  <a:srgbClr val="7AEDFC"/>
                </a:solidFill>
                <a:latin typeface="Century Gothic"/>
                <a:cs typeface="Century Gothic"/>
              </a:rPr>
              <a:t>Muchas</a:t>
            </a:r>
            <a:r>
              <a:rPr dirty="0" sz="2600" spc="-55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600" spc="-10" b="1">
                <a:solidFill>
                  <a:srgbClr val="7AEDFC"/>
                </a:solidFill>
                <a:latin typeface="Century Gothic"/>
                <a:cs typeface="Century Gothic"/>
              </a:rPr>
              <a:t>gracias</a:t>
            </a:r>
            <a:endParaRPr sz="2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2026-10-22T20:05:11Z</dcterms:created>
  <dcterms:modified xsi:type="dcterms:W3CDTF">2026-10-22T20:05:11Z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2026-10-22T00:00:00Z</vt:filetime>
  </property>
  <property fmtid="{D5CDD505-2E9C-101B-9397-08002B2CF9AE}" pid="5" name="Producer">
    <vt:lpwstr>Microsoft® PowerPoint® para Microsoft 365</vt:lpwstr>
  </property>
</Properties>
</file>