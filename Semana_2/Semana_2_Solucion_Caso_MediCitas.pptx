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9"/>
  </p:notesMasterIdLst>
  <p:sldIdLst>
    <p:sldId id="341" r:id="rId3"/>
    <p:sldId id="342" r:id="rId4"/>
    <p:sldId id="333" r:id="rId5"/>
    <p:sldId id="343" r:id="rId6"/>
    <p:sldId id="344" r:id="rId7"/>
    <p:sldId id="345" r:id="rId8"/>
    <p:sldId id="346" r:id="rId9"/>
    <p:sldId id="347" r:id="rId10"/>
    <p:sldId id="348" r:id="rId11"/>
    <p:sldId id="349" r:id="rId12"/>
    <p:sldId id="350" r:id="rId13"/>
    <p:sldId id="351" r:id="rId14"/>
    <p:sldId id="352" r:id="rId15"/>
    <p:sldId id="353" r:id="rId16"/>
    <p:sldId id="354" r:id="rId17"/>
    <p:sldId id="340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C52C1F-6D6C-3ED2-B73E-A3EBECB4A953}" v="76" dt="2026-07-02T04:55:40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1F3BA-561E-40F8-BA69-B9204D365301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27F4A-87DB-494C-94B7-1D15149278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469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D114D-178A-465A-B01D-00AE0C2E304C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0552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E6465-9E2C-F7D1-1025-017C427D6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2FCAB6-F63E-EA0F-01F2-8E3E1C2B7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9D3401-411E-EE18-DCDF-19B6CD4F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F1AF5F-7707-9BBB-28C2-ECB54EF2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A4DE97-7E1B-9F6C-1FEE-5248F845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522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38F18-1C0B-0749-058E-1B0E686B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53D8DE-7C2E-BD97-A2AA-88F4EE1D1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41F956-2A51-B46A-6C84-292248AB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87A6C4-FA66-E3C7-C032-D85598F3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C0D02B-4304-EE2A-7E8C-0B375B0E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867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2CDD2-34BE-1894-DA03-D3798321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B16E9-FD19-12B7-D1BA-245A6028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C213C5-1FA3-FA2A-3678-2ADA22CC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5E7D18-5809-0535-9B55-58679233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40B6F2-CB20-8B3A-9673-FAA2CDC1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739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0887D-BAD9-E85D-38D1-19C82452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55F1D-7973-0849-FAC7-2ED08D995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1175A7-F5D8-ADBE-35ED-2EA07ECAC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5B74CC-3C64-9425-489C-24DB5B49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49404E-8840-6F19-6ECE-CBDEE7D3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467B64-DB77-85DF-90EC-68DC705D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151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812DA-5830-C2DA-FEC4-9F93505A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C15237-094B-515A-A77F-0F30C24DE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199354-1A5B-0CF0-3712-B0B77DEA3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B310BE-BFEF-A116-C85B-AC716031C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A1E757-3A71-28BB-8A9E-ECEA14D18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F01BB1-AD86-2BA0-55E8-8951173D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14BB14-7FDE-B22B-DBE5-F68508CF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445680-3080-CA10-7F3C-A949E505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76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9DD37-5352-2F73-3A29-4538B3E9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8BDF24-B2D4-B274-E41E-B863DADA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FFC90A-39FD-B1DE-A6E9-4C076C92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F9A598-81CC-A97C-4ED5-351CC2B2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85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D21982-7EB1-D639-9FE6-2ED2E1E5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4BA5B4-1ACB-A6E1-8153-F6017EC0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3346AA-BB89-908E-34AC-B5C0BB4F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65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E547-B4C9-54C6-166C-68F57B52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05AAA1-ED18-5D90-54DF-27F28CDEB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AB449D-32A1-2028-FDD4-838932A96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E5BA6E-6660-0920-EEC0-2CE2AA83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30D8E-B087-EA02-03E2-521DFA49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C3B8D4-7896-270C-F6AB-532E0B8B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40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AE17D-485A-ECB9-B3CF-28BF2EED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6ACA8F-B1F8-B561-1D8A-F688DA25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E67B78-E7A8-5297-69F2-9F2F3E2F5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791531-116A-C123-A7D4-1AB359D9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162658-4EB8-E7B1-D7CD-832BF853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D045AE-C0E6-8B3A-974C-D535A281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345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68E0A-C617-9494-7FAF-EE98EDB3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01092-4D79-7865-173C-3380705A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B4A24B-2361-24B8-088C-8A82963B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B4E638-2A05-64BB-86B6-F7A751FAA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6CA604-5EC2-B4B2-BCDA-A72C5B4B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289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8B9AF1-B843-BB83-C453-61FDF2F92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26157F-1794-7926-228C-B16FC0F97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04E3A9-CC90-9107-B985-908B92FF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EB48AE-EC58-2E10-FC72-45F6A53E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0554D-9DB8-83AA-D250-A01E05DD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9483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BA8A-E1D6-8CF5-4EB8-ABC9A4AA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C35C38-A943-3D17-0E8A-AEA8D5894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3FEF9-3730-016D-9CDE-3B1B6E193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FEEA2-2345-6EB2-BCE8-A1B818E8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D0EA5-9047-2BBC-B0D6-50A93267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9068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4DDAD-4B9A-3ACC-563D-3C1631C36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1317E-A275-EB9C-BB7C-00FA79754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D0F10-D002-7E04-82A2-50D8E20A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82353-4F01-1FD0-B4A7-09B150A9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E4038-1BBC-367C-A8E8-D8CC6566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5404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70FD-4026-6E72-1D41-6EFB01B03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3CADB-F992-A9C2-D7BB-A1E61939D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9CFC6-2EAB-BADC-175E-06FDE668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8583F-18A4-2FBF-47EB-846F783B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02BF-9DEF-F8E6-50C2-2BB84E18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3323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9EC1-C52E-37AE-54FE-02C1046C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A8148-5BB6-28C8-5D95-C62BAB732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A9FB9-DB1F-A4BD-DD43-9D4632829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95F19-236F-77B1-8F6A-1F49E2F9E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90E32-036C-010C-53B3-8F808C24D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1C1AC-E0AD-FEC5-B73C-7E3096A68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2307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A49-3836-B9B0-5A83-DBAD5547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6270B-8F5D-B778-A0A8-DE255CCB5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B8625-B67B-1C49-DB51-283224357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BF7BE-8B07-F480-6FB1-C0377B861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046F55-A237-1A8D-9BD9-2267FB26A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D6DA49-6ACD-AC40-ADD7-3B1E0D27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4965F3-8D95-9871-4485-EAE28050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C1580-32B4-42A0-51B6-1D68128E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9628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A983-83B7-3944-D04E-52A95EF0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EB081A-5123-25FF-9F69-5C4E9502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47B4B-5D28-166D-A374-84556A58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71D76-47B3-311A-EE8A-9259F4ED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61791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9E274-1368-F3DD-1507-43DB44125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3BD5B2-1814-55AD-CB11-F108A311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3FC48-3DB3-7045-07A2-27A31271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53357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DD91-9253-E181-7E12-C4A7AE32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7BEBC-EF06-3BDA-0030-EC53CEFE0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058DF-73E2-3986-019C-050390D67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7FEDC-715B-59D2-9039-78D10E88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0371A-4502-3350-D34E-E61E7E86A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CCF89-3CFC-8E9D-37B0-246D1BB0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92948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01F4-9DCC-00EE-35F4-83E797CEB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4A782E-F114-3F04-3674-2AD88FE12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01783-55EE-4F23-5519-1CF7F5C8F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FE1FD-C55C-C36E-EB75-CF0C96AA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C4F85-E388-EE6A-1B35-7E6E94E75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E053E-DDCD-9FDC-C558-F07F86DB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11226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0787-5B44-1E1E-C98E-17A43385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BE95D-8B60-9DC1-5701-BF5437A66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87189-1220-7EF5-7467-74E03D5E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163B6-94DD-1E0D-6C9E-69E2399E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2C061-8EC4-0C82-35F6-FB9C4BA3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5840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861572-E9BE-9B75-33EF-D4B71EA0A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5A8AB-F7E6-408B-EFB2-A16DB332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94DF7-F334-D689-3F9A-C6C03560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45E46-8723-51E6-A678-AC81583B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A62E8-7C27-3FAE-A4BF-11960589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250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C8005C-7059-394A-5A7F-ADC560A0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1F0D5C-0C3B-8E6D-BFE1-56159D559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E041F9-8DD3-E69E-92E5-4B036E7F0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B60668-6D85-2862-B828-AA14A716B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B7542E-F1B7-7AC5-E112-1617942BE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163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08DFF-3046-6ABB-BDE2-37A69F1A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5D301-E944-EF85-1B1F-56F83B3E5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7C0A0-D3C7-157B-2681-77207473F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2C750-38DF-F531-0238-A869F7338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002E-F8BD-2A7C-5F20-DC97119BD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133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A636AB6E-D708-FC46-3E1B-AD35787DC531}"/>
              </a:ext>
            </a:extLst>
          </p:cNvPr>
          <p:cNvSpPr/>
          <p:nvPr/>
        </p:nvSpPr>
        <p:spPr>
          <a:xfrm>
            <a:off x="0" y="0"/>
            <a:ext cx="12192000" cy="68932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EBE24467-A941-3231-8A3E-21FD4EFF51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932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BB023E5-08B0-2427-9715-09205CDB1D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582" t="36088" r="1507" b="26199"/>
          <a:stretch/>
        </p:blipFill>
        <p:spPr>
          <a:xfrm>
            <a:off x="10060726" y="5395594"/>
            <a:ext cx="1806809" cy="132302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378A125-782B-9B4C-F519-EACF80EA5374}"/>
              </a:ext>
            </a:extLst>
          </p:cNvPr>
          <p:cNvSpPr txBox="1"/>
          <p:nvPr/>
        </p:nvSpPr>
        <p:spPr>
          <a:xfrm>
            <a:off x="4375678" y="5937607"/>
            <a:ext cx="5600856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es-CO" noProof="0" dirty="0">
                <a:latin typeface="Century Gothic"/>
              </a:rPr>
              <a:t>ASEGURAMIENTO DE LA CALIDAD DEL SOFTWARE</a:t>
            </a:r>
            <a:endParaRPr lang="es-CO" noProof="0" dirty="0"/>
          </a:p>
          <a:p>
            <a:pPr algn="r"/>
            <a:r>
              <a:rPr lang="es-CO" noProof="0" dirty="0">
                <a:latin typeface="Century Gothic"/>
              </a:rPr>
              <a:t>Julio 2026</a:t>
            </a:r>
            <a:endParaRPr lang="es-CO" noProof="0" dirty="0">
              <a:latin typeface="Century Gothic" panose="020B0502020202020204" pitchFamily="34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5595C607-E050-1D31-A7F0-5C432315B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1043" t="-3087" r="-3874" b="-2265"/>
          <a:stretch/>
        </p:blipFill>
        <p:spPr bwMode="auto">
          <a:xfrm rot="254132">
            <a:off x="1482100" y="1817745"/>
            <a:ext cx="3372018" cy="2165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2942E92C-F850-AC01-A952-6D862E39B8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533" y="274062"/>
            <a:ext cx="3782002" cy="123679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5B1B1DD-C336-11D0-3F79-3F350C0F3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5294" y="2825567"/>
            <a:ext cx="8120478" cy="1797326"/>
          </a:xfrm>
        </p:spPr>
        <p:txBody>
          <a:bodyPr>
            <a:normAutofit/>
          </a:bodyPr>
          <a:lstStyle/>
          <a:p>
            <a:r>
              <a:rPr lang="es-CO" sz="4400" b="1" noProof="0" dirty="0">
                <a:solidFill>
                  <a:srgbClr val="FFC000"/>
                </a:solidFill>
                <a:latin typeface="Century Gothic"/>
              </a:rPr>
              <a:t>SOLUCIÓN DEL EJERCICIO: CASO MEDICITAS</a:t>
            </a:r>
          </a:p>
        </p:txBody>
      </p:sp>
    </p:spTree>
    <p:extLst>
      <p:ext uri="{BB962C8B-B14F-4D97-AF65-F5344CB8AC3E}">
        <p14:creationId xmlns:p14="http://schemas.microsoft.com/office/powerpoint/2010/main" val="2695536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F0E97F75-4E8D-4225-ACDC-192F32266A97}"/>
              </a:ext>
            </a:extLst>
          </p:cNvPr>
          <p:cNvSpPr txBox="1">
            <a:spLocks/>
          </p:cNvSpPr>
          <p:nvPr/>
        </p:nvSpPr>
        <p:spPr>
          <a:xfrm>
            <a:off x="622716" y="139272"/>
            <a:ext cx="5913201" cy="5548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rdana"/>
                <a:ea typeface="+mj-ea"/>
                <a:cs typeface="+mj-cs"/>
              </a:rPr>
              <a:t>Tabla de contenido</a:t>
            </a:r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4AB2D2AB-799F-44C6-A8C2-F98B1C7C105E}"/>
              </a:ext>
            </a:extLst>
          </p:cNvPr>
          <p:cNvSpPr txBox="1"/>
          <p:nvPr/>
        </p:nvSpPr>
        <p:spPr>
          <a:xfrm>
            <a:off x="164505" y="1532450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0" i="0" u="none" strike="noStrike" kern="1200" cap="none" spc="0" normalizeH="0" baseline="0" noProof="0" dirty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01.</a:t>
            </a: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6DE6E35C-B117-43DD-A072-693CA0C8506F}"/>
              </a:ext>
            </a:extLst>
          </p:cNvPr>
          <p:cNvSpPr txBox="1"/>
          <p:nvPr/>
        </p:nvSpPr>
        <p:spPr>
          <a:xfrm>
            <a:off x="164505" y="3132567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0" i="0" u="none" strike="noStrike" kern="1200" cap="none" spc="0" normalizeH="0" baseline="0" noProof="0" dirty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02.</a:t>
            </a: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95FB1313-D0FA-4E96-B4A3-DD20E1991AC4}"/>
              </a:ext>
            </a:extLst>
          </p:cNvPr>
          <p:cNvSpPr txBox="1"/>
          <p:nvPr/>
        </p:nvSpPr>
        <p:spPr>
          <a:xfrm>
            <a:off x="893090" y="1532450"/>
            <a:ext cx="448429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El caso: sistema </a:t>
            </a:r>
            <a:r>
              <a:rPr kumimoji="0" lang="es-CO" sz="2000" b="0" i="0" u="sng" strike="noStrike" kern="1200" cap="none" spc="0" normalizeH="0" baseline="0" noProof="0" dirty="0" err="1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MediCitas</a:t>
            </a: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B0BE0913-DB4C-4916-9947-1697026CE0B3}"/>
              </a:ext>
            </a:extLst>
          </p:cNvPr>
          <p:cNvSpPr txBox="1"/>
          <p:nvPr/>
        </p:nvSpPr>
        <p:spPr>
          <a:xfrm>
            <a:off x="239764" y="4644334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0" i="0" u="none" strike="noStrike" kern="1200" cap="none" spc="0" normalizeH="0" baseline="0" noProof="0" dirty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03.</a:t>
            </a: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280CAB23-A6AD-465B-A138-12C209352194}"/>
              </a:ext>
            </a:extLst>
          </p:cNvPr>
          <p:cNvSpPr txBox="1"/>
          <p:nvPr/>
        </p:nvSpPr>
        <p:spPr>
          <a:xfrm>
            <a:off x="5413195" y="3107265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0" i="0" u="none" strike="noStrike" kern="1200" cap="none" spc="0" normalizeH="0" baseline="0" noProof="0" dirty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05.</a:t>
            </a:r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A4090016-0F69-433E-8CC4-F84AD53DBE15}"/>
              </a:ext>
            </a:extLst>
          </p:cNvPr>
          <p:cNvSpPr txBox="1"/>
          <p:nvPr/>
        </p:nvSpPr>
        <p:spPr>
          <a:xfrm>
            <a:off x="1093029" y="4792737"/>
            <a:ext cx="4484296" cy="32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Matriz de verificación y validación</a:t>
            </a: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6E8B458C-996C-4092-94D5-2AB68B70AD7F}"/>
              </a:ext>
            </a:extLst>
          </p:cNvPr>
          <p:cNvSpPr txBox="1"/>
          <p:nvPr/>
        </p:nvSpPr>
        <p:spPr>
          <a:xfrm>
            <a:off x="6241489" y="1573935"/>
            <a:ext cx="4484296" cy="32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Lista de control de revisión técnica</a:t>
            </a: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C46DB1DF-06BF-4441-8C15-62E87A62DE40}"/>
              </a:ext>
            </a:extLst>
          </p:cNvPr>
          <p:cNvSpPr txBox="1"/>
          <p:nvPr/>
        </p:nvSpPr>
        <p:spPr>
          <a:xfrm>
            <a:off x="996573" y="3116745"/>
            <a:ext cx="4484296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Hallazgos de seguridad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srgbClr val="737373"/>
              </a:solidFill>
              <a:effectLst/>
              <a:uLnTx/>
              <a:uFillTx/>
              <a:latin typeface="DM Sans Bold"/>
              <a:ea typeface="+mn-ea"/>
              <a:cs typeface="+mn-cs"/>
            </a:endParaRPr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7CE022EF-58EB-42DD-AA75-5219C0440962}"/>
              </a:ext>
            </a:extLst>
          </p:cNvPr>
          <p:cNvSpPr txBox="1"/>
          <p:nvPr/>
        </p:nvSpPr>
        <p:spPr>
          <a:xfrm>
            <a:off x="6383859" y="3121556"/>
            <a:ext cx="496045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Calibri"/>
                <a:cs typeface="Calibri"/>
              </a:rPr>
              <a:t>Plan y hallazgos de auditoría</a:t>
            </a: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F3A6312D-31F8-4D5C-8934-24A01ECA15C0}"/>
              </a:ext>
            </a:extLst>
          </p:cNvPr>
          <p:cNvSpPr txBox="1"/>
          <p:nvPr/>
        </p:nvSpPr>
        <p:spPr>
          <a:xfrm>
            <a:off x="5413728" y="1540473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0" i="0" u="none" strike="noStrike" kern="1200" cap="none" spc="0" normalizeH="0" baseline="0" noProof="0" dirty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04.</a:t>
            </a: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80A445F9-F3F3-4363-A875-A1E852063013}"/>
              </a:ext>
            </a:extLst>
          </p:cNvPr>
          <p:cNvSpPr txBox="1"/>
          <p:nvPr/>
        </p:nvSpPr>
        <p:spPr>
          <a:xfrm>
            <a:off x="5485614" y="4638365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0" i="0" u="none" strike="noStrike" kern="1200" cap="none" spc="0" normalizeH="0" baseline="0" noProof="0" dirty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06.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0F79177-F72B-A56A-B375-1ABE30756E86}"/>
              </a:ext>
            </a:extLst>
          </p:cNvPr>
          <p:cNvSpPr txBox="1"/>
          <p:nvPr/>
        </p:nvSpPr>
        <p:spPr>
          <a:xfrm>
            <a:off x="6380104" y="4602103"/>
            <a:ext cx="3928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ISO 25010, métricas y conclusiones</a:t>
            </a: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3209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noProof="0" dirty="0">
                <a:solidFill>
                  <a:schemeClr val="bg1"/>
                </a:solidFill>
              </a:rPr>
              <a:t>EL CASO: SISTEMA MEDICITAS (v3.2)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2923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IPS Salud Especial, red de 12 clínicas ambulatorias en Bogotá y municipios cercanos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500" b="1" i="0" noProof="0" dirty="0">
                <a:solidFill>
                  <a:srgbClr val="23325B"/>
                </a:solidFill>
                <a:latin typeface="Calibri"/>
              </a:rPr>
              <a:t>Contexto organizacional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54406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s-CO" sz="1300" noProof="0" dirty="0">
                <a:solidFill>
                  <a:srgbClr val="262E40"/>
                </a:solidFill>
                <a:latin typeface="Calibri"/>
              </a:rPr>
              <a:t>•  Equipo Scrum de 8 personas: 1 PO, 1 SM, 4 desarrolladores y 2 dedicados parcialmente a pruebas; sin área de QA independiente.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s-CO" sz="1300" noProof="0" dirty="0">
                <a:solidFill>
                  <a:srgbClr val="262E40"/>
                </a:solidFill>
                <a:latin typeface="Calibri"/>
              </a:rPr>
              <a:t>•  Fecha de liberación fijada contractualmente en 3 semanas, con el alcance de la v3.2 ya congelado (</a:t>
            </a:r>
            <a:r>
              <a:rPr lang="es-CO" sz="1300" noProof="0" dirty="0" err="1">
                <a:solidFill>
                  <a:srgbClr val="262E40"/>
                </a:solidFill>
                <a:latin typeface="Calibri"/>
              </a:rPr>
              <a:t>change</a:t>
            </a:r>
            <a:r>
              <a:rPr lang="es-CO" sz="1300" noProof="0" dirty="0">
                <a:solidFill>
                  <a:srgbClr val="262E40"/>
                </a:solidFill>
                <a:latin typeface="Calibri"/>
              </a:rPr>
              <a:t> </a:t>
            </a:r>
            <a:r>
              <a:rPr lang="es-CO" sz="1300" noProof="0" dirty="0" err="1">
                <a:solidFill>
                  <a:srgbClr val="262E40"/>
                </a:solidFill>
                <a:latin typeface="Calibri"/>
              </a:rPr>
              <a:t>freeze</a:t>
            </a:r>
            <a:r>
              <a:rPr lang="es-CO" sz="1300" noProof="0" dirty="0">
                <a:solidFill>
                  <a:srgbClr val="262E40"/>
                </a:solidFill>
                <a:latin typeface="Calibri"/>
              </a:rPr>
              <a:t>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s-CO" sz="1300" noProof="0" dirty="0">
                <a:solidFill>
                  <a:srgbClr val="262E40"/>
                </a:solidFill>
                <a:latin typeface="Calibri"/>
              </a:rPr>
              <a:t>•  Presión comercial por lanzar telemedicina antes que una IPS competidora.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s-CO" sz="1300" noProof="0" dirty="0">
                <a:solidFill>
                  <a:srgbClr val="262E40"/>
                </a:solidFill>
                <a:latin typeface="Calibri"/>
              </a:rPr>
              <a:t>•  Infraestructura híbrida: servidores propios para datos clínicos y AWS para telemedicina.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057400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500" b="1" i="0" noProof="0" dirty="0">
                <a:solidFill>
                  <a:srgbClr val="23325B"/>
                </a:solidFill>
                <a:latin typeface="Calibri"/>
              </a:rPr>
              <a:t>Actores involucrados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468880"/>
            <a:ext cx="54406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s-CO" sz="1300" noProof="0" dirty="0">
                <a:solidFill>
                  <a:srgbClr val="262E40"/>
                </a:solidFill>
                <a:latin typeface="Calibri"/>
              </a:rPr>
              <a:t>•  Pacientes (app móvil / portal web) y personal médico y administrativo.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s-CO" sz="1300" noProof="0" dirty="0">
                <a:solidFill>
                  <a:srgbClr val="262E40"/>
                </a:solidFill>
                <a:latin typeface="Calibri"/>
              </a:rPr>
              <a:t>•  Administrador de TI / DBA y oficial de protección de datos.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s-CO" sz="1300" noProof="0" dirty="0">
                <a:solidFill>
                  <a:srgbClr val="262E40"/>
                </a:solidFill>
                <a:latin typeface="Calibri"/>
              </a:rPr>
              <a:t>•  Equipo de desarrollo Scrum.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s-CO" sz="1300" noProof="0" dirty="0">
                <a:solidFill>
                  <a:srgbClr val="262E40"/>
                </a:solidFill>
                <a:latin typeface="Calibri"/>
              </a:rPr>
              <a:t>•  Proveedores externos: pasarela de pagos </a:t>
            </a:r>
            <a:r>
              <a:rPr lang="es-CO" sz="1300" noProof="0" dirty="0" err="1">
                <a:solidFill>
                  <a:srgbClr val="262E40"/>
                </a:solidFill>
                <a:latin typeface="Calibri"/>
              </a:rPr>
              <a:t>PayGateCol</a:t>
            </a:r>
            <a:r>
              <a:rPr lang="es-CO" sz="1300" noProof="0" dirty="0">
                <a:solidFill>
                  <a:srgbClr val="262E40"/>
                </a:solidFill>
                <a:latin typeface="Calibri"/>
              </a:rPr>
              <a:t> y API de WhatsApp Business.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440680"/>
            <a:ext cx="11183112" cy="868680"/>
          </a:xfrm>
          <a:prstGeom prst="roundRect">
            <a:avLst>
              <a:gd name="adj" fmla="val 6000"/>
            </a:avLst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3447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00" b="0" i="0" noProof="0" dirty="0">
                <a:solidFill>
                  <a:srgbClr val="FFFFFF"/>
                </a:solidFill>
                <a:latin typeface="Calibri"/>
              </a:rPr>
              <a:t>Versión 3.2 en preparación: nuevo módulo de telemedicina (</a:t>
            </a:r>
            <a:r>
              <a:rPr lang="es-CO" sz="1300" b="0" i="0" noProof="0" dirty="0" err="1">
                <a:solidFill>
                  <a:srgbClr val="FFFFFF"/>
                </a:solidFill>
                <a:latin typeface="Calibri"/>
              </a:rPr>
              <a:t>videoconsulta</a:t>
            </a:r>
            <a:r>
              <a:rPr lang="es-CO" sz="1300" b="0" i="0" noProof="0" dirty="0">
                <a:solidFill>
                  <a:srgbClr val="FFFFFF"/>
                </a:solidFill>
                <a:latin typeface="Calibri"/>
              </a:rPr>
              <a:t>) + rediseño de autenticación SSO. Se libera en 3 semanas, con el alcance ya congelado y presión comercial por ser primeros en telemedicina.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b="1" noProof="0" dirty="0">
                <a:solidFill>
                  <a:schemeClr val="bg1"/>
                </a:solidFill>
              </a:rPr>
              <a:t>FUNCIONALIDADES CRITICAS Y RESTRICCIONES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2923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Ocho funcionalidades criticas y ocho restricciones técnico-regulatorias delimitan el alcance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500" b="1" i="0" noProof="0" dirty="0">
                <a:solidFill>
                  <a:srgbClr val="23325B"/>
                </a:solidFill>
                <a:latin typeface="Calibri"/>
              </a:rPr>
              <a:t>Funcionalidades críticas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41448"/>
            <a:ext cx="5440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•  Autenticación y gestión de sesiones (incluye SSO).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•  Agendamiento y cancelación de citas médicas.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•  Consulta y edición de historias clínicas electrónicas (HCE).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•  Emisión de órdenes médicas y recetas electrónicas.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•  Facturación electrónica integrada con la DIAN.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•  Módulo de telemedicina (</a:t>
            </a:r>
            <a:r>
              <a:rPr lang="es-CO" sz="1250" noProof="0" dirty="0" err="1">
                <a:solidFill>
                  <a:srgbClr val="262E40"/>
                </a:solidFill>
                <a:latin typeface="Calibri"/>
              </a:rPr>
              <a:t>videoconsulta</a:t>
            </a: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), en desarrollo.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•  Notificaciones y recordatorios por SMS/WhatsApp.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•  Reportes gerenciales e indicadores clínicos.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057400"/>
            <a:ext cx="5440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500" b="1" i="0" noProof="0" dirty="0">
                <a:solidFill>
                  <a:srgbClr val="23325B"/>
                </a:solidFill>
                <a:latin typeface="Calibri"/>
              </a:rPr>
              <a:t>Restricciones técnicas y regulatorias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441448"/>
            <a:ext cx="5440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•  Ley 1581/2012 y Decreto 1377/2013 — protección de datos personales.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•  Resolución 1995/1999 — custodia y seguridad de la historia clínica.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•  Resoluciones 2654/2019 y 3100/2019 — telesalud y habilitación de telemedicina.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•  PCI-DSS — datos de tarjetas en el módulo de pagos.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•  Disponibilidad mínima: 99.5% en horario de atención (7 a.m.–9 p.m.).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•  Integración </a:t>
            </a:r>
            <a:r>
              <a:rPr lang="es-CO" sz="1250" noProof="0" dirty="0" err="1">
                <a:solidFill>
                  <a:srgbClr val="262E40"/>
                </a:solidFill>
                <a:latin typeface="Calibri"/>
              </a:rPr>
              <a:t>batch</a:t>
            </a: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 nocturna con el legado AS/400.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•  Infraestructura híbrida </a:t>
            </a:r>
            <a:r>
              <a:rPr lang="es-CO" sz="1250" noProof="0" dirty="0" err="1">
                <a:solidFill>
                  <a:srgbClr val="262E40"/>
                </a:solidFill>
                <a:latin typeface="Calibri"/>
              </a:rPr>
              <a:t>on</a:t>
            </a: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-premise (datos clínicos) + AWS (telemedicina).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CO" sz="1250" noProof="0" dirty="0">
                <a:solidFill>
                  <a:srgbClr val="262E40"/>
                </a:solidFill>
                <a:latin typeface="Calibri"/>
              </a:rPr>
              <a:t>•  Fecha de liberación y alcance ya congelados contractualmente.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146304"/>
            <a:ext cx="7200000" cy="711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 b="1" noProof="0" dirty="0">
                <a:solidFill>
                  <a:schemeClr val="bg1"/>
                </a:solidFill>
              </a:rPr>
              <a:t>HALLAZGOS DE SEGURIDAD IDENTIFICADOS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2923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Cinco hallazgos con su evidencia en la bitácora de incidencias y su impacto sobre el sistema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623252"/>
              </p:ext>
            </p:extLst>
          </p:nvPr>
        </p:nvGraphicFramePr>
        <p:xfrm>
          <a:off x="502920" y="2057400"/>
          <a:ext cx="11183112" cy="416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53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 err="1">
                          <a:solidFill>
                            <a:srgbClr val="FFC000"/>
                          </a:solidFill>
                          <a:latin typeface="Calibri"/>
                        </a:rPr>
                        <a:t>N°</a:t>
                      </a:r>
                      <a:endParaRPr lang="es-CO" sz="1200" b="1" noProof="0" dirty="0">
                        <a:solidFill>
                          <a:srgbClr val="FFC000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Hallazgo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Impacto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Control de acceso roto (IDOR): un médico accedió a HCE de pacientes no asignados alterando el ID en la URL.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INC-101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Violación de confidencialidad clínica; incumple Res. 1995/1999 y Ley 1581/2012; riesgo legal y reputacional alto.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Cuenta administrativa “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admin_ti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” compartida entre 4 personas; contraseñas sin expiración.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INC-102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Pérdida de trazabilidad y no repudio; mayor superficie de ataque sobre cuentas privilegiadas.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Canal de 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videoconsulta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 transmitido sin cifrar (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config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. de pruebas pasó a producción sin control de cambios).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INC-103 / CR-202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Expone datos de salud en tránsito; incumple RF-060 y Res. 2654/2019; evidencia falla de control de cambios.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Logs de la pasarela de pagos muestran el número completo de la tarjeta sin enmascarar.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INC-104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Incumplimiento directo de PCI-DSS; riesgo de fraude financiero y sanción contractual con 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PayGateCol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No se registran los accesos de lectura a la historia clínica, solo las escrituras.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INC-105 / RF-045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Impide detectar accesos indebidos (como INC-101); incumple RF-045 y la trazabilidad exigida por Res. 1995/1999.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007" y="146524"/>
            <a:ext cx="7200000" cy="711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b="1" noProof="0" dirty="0">
                <a:solidFill>
                  <a:schemeClr val="bg1"/>
                </a:solidFill>
              </a:rPr>
              <a:t>MATRIZ DE VERIFICACIÓN Y VALIDACIÓN - PARTE 1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2923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Solución de la plantilla de la sección 3 del archivo de apoyo (filas 1 a 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467267"/>
              </p:ext>
            </p:extLst>
          </p:nvPr>
        </p:nvGraphicFramePr>
        <p:xfrm>
          <a:off x="502920" y="2057400"/>
          <a:ext cx="11183112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9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Requisito / funcionalidad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Técnica y responsable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Criterio de aceptación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Ej.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RF-014 — Autenticación 2FA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Verificación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Revisión de código + inspección de configuración — Líder técnico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2FA disponible y exigible para roles críticos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RF-022 — Cifrado de HCE en reposo (AES-256)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Verificación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Revisión de configuración de cifrado + inspección de BD — Administrador de TI/DBA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Todos los campos de datos clínicos cifrados con AES-256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RF-031 — Rendimiento de agendamiento bajo carga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Validación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Prueba de carga con 100 usuarios concurrentes — Equipo de pruebas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Tiempo de respuesta ≤ 2 s en el percentil 95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RF-045 — Trazabilidad de accesos a HCE (lectura y escritura)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Verificación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Inspección de logs + revisión de código de auditoría — Líder técnico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Todo acceso de lectura y escritura queda registrado de forma inmutable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RF-052 — Cumplimiento PCI-DSS en pagos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Verificación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Auditoría de cumplimiento PCI-DSS — Oficial de protección de datos / auditor externo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Cero campos de PAN completo en logs o base de datos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noProof="0" dirty="0">
                <a:solidFill>
                  <a:schemeClr val="bg1"/>
                </a:solidFill>
              </a:rPr>
              <a:t>MATRIZ DE VERIFICACIÓN Y VALIDACIÓN - PARTE 2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2923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Continuación de la matriz de verificación y validación (filas 6 a 9)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562042"/>
              </p:ext>
            </p:extLst>
          </p:nvPr>
        </p:nvGraphicFramePr>
        <p:xfrm>
          <a:off x="502920" y="2057400"/>
          <a:ext cx="11183112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9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Requisito / funcionalidad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Técnica y responsable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Criterio de aceptación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RF-060 — Cifrado extremo a extremo del canal de video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Verificación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Revisión de configuración TLS/SRTP del servidor de videoconferencia — Administrador de TI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Canal siempre servido sobre HTTPS/SRTP, nunca HTTP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CR-201 — Autenticación SSO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Validación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Prueba de aceptación con personal médico y administrativo — 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Product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 Owner + usuarios piloto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Inicio de sesión único funcional en los 3 roles, sin bloqueos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Control de acceso por rol a la HCE (INC-101)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Verificación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Inspección de código + pentesting dirigido (IDOR) — Equipo de pruebas de seguridad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Ningún usuario accede a historias de pacientes no asignados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Integración 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batch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 nocturno con AS/400 (INC-106)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Validación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Prueba de integración + monitoreo de alertas — Administrador de TI/DBA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Cero fallos no alertados en 4 semanas de observación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Módulo de telemedicina — experiencia de usuario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Validación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Prueba piloto con pacientes y personal médico — 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Product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 Owner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Videoconsulta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 estable y cifrada; satisfacción ≥ 90% en encuesta piloto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b="1" noProof="0" dirty="0">
                <a:solidFill>
                  <a:schemeClr val="bg1"/>
                </a:solidFill>
              </a:rPr>
              <a:t>LISTA DE CONTROL DE REVISIÓN TÉCNICA - PARTE 1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2923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Solución de la sección 4 del archivo de apoyo (ítems 1 a 7)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612322"/>
              </p:ext>
            </p:extLst>
          </p:nvPr>
        </p:nvGraphicFramePr>
        <p:xfrm>
          <a:off x="502920" y="2057400"/>
          <a:ext cx="11183112" cy="4334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 err="1">
                          <a:solidFill>
                            <a:srgbClr val="FFC000"/>
                          </a:solidFill>
                          <a:latin typeface="Calibri"/>
                        </a:rPr>
                        <a:t>N°</a:t>
                      </a:r>
                      <a:endParaRPr lang="es-CO" sz="1200" b="1" noProof="0" dirty="0">
                        <a:solidFill>
                          <a:srgbClr val="FFC000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Ítem de revisión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Observaciones / evidencia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El código fuente cumple los estándares de codificación definidos por el equipo.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C76E00"/>
                          </a:solidFill>
                          <a:latin typeface="Calibri"/>
                        </a:rPr>
                        <a:t>N.A.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El escenario no aporta evidencia sobre estándares de codificación del equipo.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Existe trazabilidad entre los requisitos y los casos de prueba.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B02A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RF-031 y RF-060 no cuentan con casos de prueba ejecutados (ver 2.4).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Todos los cambios fueron documentados y aprobados antes de su despliegue.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B02A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CR-202 y CR-205 se desplegaron sin revisión registrada (ver 2.3).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Los mecanismos de autenticación y autorización protegen los recursos críticos.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B02A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INC-101 evidencia IDOR sobre HCE; 2FA es opcional (RF-014).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La información sensible se almacena y transmite cifrada.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B02A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RF-022 pendiente de verificación; INC-103: video sin cifrar.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Existen registros de auditoría para accesos y modificaciones a información crítica.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B02A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RF-045: solo se registran escrituras, no lecturas (INC-105).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Se ejecutaron pruebas de seguridad (pentesting) antes de la liberación.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B02A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Pentesting de HCE “No ejecutada”, sin tiempo asignado (ver 2.4).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noProof="0" dirty="0">
                <a:solidFill>
                  <a:schemeClr val="bg1"/>
                </a:solidFill>
              </a:rPr>
              <a:t>LISTA DE CONTROL DE REVISIÓN TÉCNICA - PARTE 2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33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Continuación del </a:t>
            </a:r>
            <a:r>
              <a:rPr kumimoji="0" lang="es-CO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checklist</a:t>
            </a: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de revisión técnica (ítems 8 a 14)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457700"/>
              </p:ext>
            </p:extLst>
          </p:nvPr>
        </p:nvGraphicFramePr>
        <p:xfrm>
          <a:off x="502920" y="2057400"/>
          <a:ext cx="11183112" cy="4334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 err="1">
                          <a:solidFill>
                            <a:srgbClr val="FFC000"/>
                          </a:solidFill>
                          <a:latin typeface="Calibri"/>
                        </a:rPr>
                        <a:t>N°</a:t>
                      </a:r>
                      <a:endParaRPr lang="es-CO" sz="1200" b="1" noProof="0" dirty="0">
                        <a:solidFill>
                          <a:srgbClr val="FFC000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Ítem de revisión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Observaciones / evidencia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Se ejecutaron pruebas de carga/rendimiento sobre los módulos críticos.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B02A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RF-031 no probado bajo carga; telemedicina “No ejecutada” (ver 2.4).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El manejo de datos personales cumple con la Ley 1581 de 2012.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B02A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INC-101, INC-102 y RF-022 pendiente evidencian brechas de protección de datos.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El manejo de la historia clínica cumple con la Resolución 1995 de 1999.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B02A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Falta de registro de lecturas (INC-105) y acceso indebido (INC-101).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El módulo de telemedicina cumple con la Resolución 2654 de 2019.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B02A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Canal sin cifrar (INC-103) incumple condiciones de seguridad de telesalud.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Existen alertas automáticas ante fallos de procesos críticos.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B02A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INC-106: el 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batch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 de facturación falló 3 veces sin alerta.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La documentación técnica y de usuario está actualizada para la versión a liberar.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C76E00"/>
                          </a:solidFill>
                          <a:latin typeface="Calibri"/>
                        </a:rPr>
                        <a:t>N.A.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Sin evidencia en el escenario; verificar antes de la liberación.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Los riesgos técnicos y regulatorios identificados fueron mitigados antes de la liberación.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B02A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Persisten 5 hallazgos de seguridad abiertos y pruebas críticas sin ejecutar a 3 semanas del 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release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noProof="0" dirty="0">
                <a:solidFill>
                  <a:schemeClr val="bg1"/>
                </a:solidFill>
              </a:rPr>
              <a:t>PLAN DE AUDITORÍA: DATOS GENERALES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33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Solución de la sección 5.1 del archivo de apoyo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220688"/>
              </p:ext>
            </p:extLst>
          </p:nvPr>
        </p:nvGraphicFramePr>
        <p:xfrm>
          <a:off x="502920" y="2057400"/>
          <a:ext cx="11183112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23325B"/>
                          </a:solidFill>
                          <a:latin typeface="Calibri"/>
                        </a:rPr>
                        <a:t>Objetivo de la auditoría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Evaluar el cumplimiento de 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MediCitas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 v3.2 con los requisitos de seguridad, protección de datos y regulación de telesalud aplicables, antes de su liberación a producción.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23325B"/>
                          </a:solidFill>
                          <a:latin typeface="Calibri"/>
                        </a:rPr>
                        <a:t>Alcance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Módulos de autenticación (SSO), historia clínica electrónica, telemedicina, pagos y facturación (integración AS/400); evidencia de los últimos 2 meses.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23325B"/>
                          </a:solidFill>
                          <a:latin typeface="Calibri"/>
                        </a:rPr>
                        <a:t>Criterios de auditoría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ISO/IEC 25010; Ley 1581 de 2012 y Decreto 1377 de 2013; Resolución 1995 de 1999; Resoluciones 2654 y 3100 de 2019; PCI-DSS.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23325B"/>
                          </a:solidFill>
                          <a:latin typeface="Calibri"/>
                        </a:rPr>
                        <a:t>Equipo auditor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Auditor líder (externo, independiente del equipo Scrum) + oficial de protección de datos + especialista en seguridad de la información.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23325B"/>
                          </a:solidFill>
                          <a:latin typeface="Calibri"/>
                        </a:rPr>
                        <a:t>Fecha de ejecución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Dentro de las 3 semanas previas a la liberación contractual, idealmente en la primera semana para permitir remediación.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23325B"/>
                          </a:solidFill>
                          <a:latin typeface="Calibri"/>
                        </a:rPr>
                        <a:t>Evidencias a recolectar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Bitácora de incidencias (INC-101 a INC-107), control de cambios (CR-201 a CR-205), resultados de pruebas, registros de acceso a HCE, configuración del canal de video, logs de pagos.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noProof="0" dirty="0">
                <a:solidFill>
                  <a:schemeClr val="bg1"/>
                </a:solidFill>
              </a:rPr>
              <a:t>HALLAZGOS DE AUDITORÍA - PARTE 1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33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Solución de la sección 5.2 del archivo de apoyo (hallazgos 1 a 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235047"/>
              </p:ext>
            </p:extLst>
          </p:nvPr>
        </p:nvGraphicFramePr>
        <p:xfrm>
          <a:off x="502920" y="2057400"/>
          <a:ext cx="11183111" cy="3877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41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 err="1">
                          <a:solidFill>
                            <a:srgbClr val="FFC000"/>
                          </a:solidFill>
                          <a:latin typeface="Calibri"/>
                        </a:rPr>
                        <a:t>N°</a:t>
                      </a:r>
                      <a:endParaRPr lang="es-CO" sz="1100" b="1" noProof="0" dirty="0">
                        <a:solidFill>
                          <a:srgbClr val="FFC000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Hallazgo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Criterio incumplido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Sev.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Recomendación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04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Control de acceso roto permite lectura de HCE de pacientes no asignados (IDOR).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Res. 1995/1999; ISO 25010 – Seguridad (confidencialidad)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INC-101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B02A2A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Validar autorización a nivel de objeto en el 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backend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; no confiar en el ID recibido del cliente.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04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Cuentas administrativas compartidas, sin expiración de contraseña.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Gestión de identidad; ISO 25010 – Seguridad (responsabilidad)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INC-102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B02A2A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Eliminar cuentas compartidas; asignar cuentas nominales con MFA y expiración.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04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Canal de 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videoconsulta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 transmitido sin cifrar por error de despliegue.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Res. 2654/2019; RF-060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INC-103 / CR-202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B02A2A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Forzar TLS/SRTP en producción; bloquear despliegues sin aprobación registrada.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noProof="0" dirty="0">
                <a:solidFill>
                  <a:schemeClr val="bg1"/>
                </a:solidFill>
              </a:rPr>
              <a:t>HALLAZGOS DE AUDITORÍA - PARTE 2 Y CONCLUSIÓN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33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Hallazgos 4 y 5, y conclusión general de la auditoría (sección 5.3)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028657"/>
              </p:ext>
            </p:extLst>
          </p:nvPr>
        </p:nvGraphicFramePr>
        <p:xfrm>
          <a:off x="502920" y="2057400"/>
          <a:ext cx="11183112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039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 err="1">
                          <a:solidFill>
                            <a:srgbClr val="FFC000"/>
                          </a:solidFill>
                          <a:latin typeface="Calibri"/>
                        </a:rPr>
                        <a:t>N°</a:t>
                      </a:r>
                      <a:endParaRPr lang="es-CO" sz="1100" b="1" noProof="0" dirty="0">
                        <a:solidFill>
                          <a:srgbClr val="FFC000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Hallazgo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Criterio incumplido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Sev.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Recomendación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Registros de la pasarela de pagos exponen el número completo de tarjeta.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PCI-DSS (enmascaramiento del PAN)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INC-104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B02A2A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Enmascarar o 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tokenizar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 el PAN en todos los logs; revisar configuración con 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PayGateCol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No se registran los accesos de lectura a la historia clínica.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RF-045; Res. 1995/1999 (trazabilidad)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INC-105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C76E0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Extender el log de auditoría inmutable a operaciones de lectura, con revisión periódica.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754880"/>
            <a:ext cx="11183112" cy="1691640"/>
          </a:xfrm>
          <a:prstGeom prst="roundRect">
            <a:avLst>
              <a:gd name="adj" fmla="val 6000"/>
            </a:avLst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634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50" b="1" i="0" noProof="0" dirty="0">
                <a:solidFill>
                  <a:srgbClr val="FFC000"/>
                </a:solidFill>
                <a:latin typeface="Calibri"/>
              </a:rPr>
              <a:t>Conclusión general de la auditoría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106344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CO" sz="1200" b="0" i="0" noProof="0" dirty="0" err="1">
                <a:solidFill>
                  <a:srgbClr val="FFFFFF"/>
                </a:solidFill>
                <a:latin typeface="Calibri"/>
              </a:rPr>
              <a:t>MediCitas</a:t>
            </a:r>
            <a:r>
              <a:rPr lang="es-CO" sz="1200" b="0" i="0" noProof="0" dirty="0">
                <a:solidFill>
                  <a:srgbClr val="FFFFFF"/>
                </a:solidFill>
                <a:latin typeface="Calibri"/>
              </a:rPr>
              <a:t> v3.2 no está listo para liberarse en su estado actual: persisten brechas de seguridad y trazabilidad no remediadas, pruebas críticas de seguridad y desempeño sin ejecutar, y cambios desplegados sin control (CR-202, CR-205). Se recomienda no liberar la v3.2 hasta remediar los hallazgos de severidad alta; como mínimo, no liberar telemedicina, pagos ni el acceso a la HCE.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noProof="0" dirty="0">
                <a:solidFill>
                  <a:schemeClr val="bg1"/>
                </a:solidFill>
              </a:rPr>
              <a:t>APLICACIÓN DE ISO/IEC 25010 AL CASO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33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Cada hallazgo se justifica con la característica de calidad que compromete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181077"/>
              </p:ext>
            </p:extLst>
          </p:nvPr>
        </p:nvGraphicFramePr>
        <p:xfrm>
          <a:off x="502920" y="2057400"/>
          <a:ext cx="11183112" cy="3813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Hallazgo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Característica ISO/IEC 25010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Justificación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1. Control de acceso roto (IDOR)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Seguridad — Confidencialidad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El sistema no impide que un usuario acceda a datos que no le corresponden.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2. Cuentas administrativas compartidas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Seguridad — Responsabilidad / autenticidad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No es posible atribuir una acción a una identidad única.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3. Canal de video sin cifrar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Seguridad — Confidencialidad e integridad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Los datos de salud viajan expuestos y pueden ser interceptados o alterados.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4. Logs de pago sin enmascarar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Seguridad — Confidencialidad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Se expone información financiera sensible en registros internos.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5. Falta de log de lectura en HCE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Seguridad — Responsabilidad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No se puede demostrar quién consultó cada historia clínica.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943600"/>
            <a:ext cx="11183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100" b="0" i="1" noProof="0" dirty="0">
                <a:solidFill>
                  <a:srgbClr val="666E80"/>
                </a:solidFill>
                <a:latin typeface="Calibri"/>
              </a:rPr>
              <a:t>Las pruebas no ejecutadas (pentesting, carga de telemedicina) comprometen la Capacidad de prueba, </a:t>
            </a:r>
            <a:r>
              <a:rPr lang="es-CO" sz="1100" b="0" i="1" noProof="0" dirty="0" err="1">
                <a:solidFill>
                  <a:srgbClr val="666E80"/>
                </a:solidFill>
                <a:latin typeface="Calibri"/>
              </a:rPr>
              <a:t>subcaracterística</a:t>
            </a:r>
            <a:r>
              <a:rPr lang="es-CO" sz="1100" b="0" i="1" noProof="0" dirty="0">
                <a:solidFill>
                  <a:srgbClr val="666E80"/>
                </a:solidFill>
                <a:latin typeface="Calibri"/>
              </a:rPr>
              <a:t> de Mantenibilidad; el </a:t>
            </a:r>
            <a:r>
              <a:rPr lang="es-CO" sz="1100" b="0" i="1" noProof="0" dirty="0" err="1">
                <a:solidFill>
                  <a:srgbClr val="666E80"/>
                </a:solidFill>
                <a:latin typeface="Calibri"/>
              </a:rPr>
              <a:t>batch</a:t>
            </a:r>
            <a:r>
              <a:rPr lang="es-CO" sz="1100" b="0" i="1" noProof="0" dirty="0">
                <a:solidFill>
                  <a:srgbClr val="666E80"/>
                </a:solidFill>
                <a:latin typeface="Calibri"/>
              </a:rPr>
              <a:t> sin alertas (INC-106) compromete la Fiabilidad (tolerancia a fallos).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noProof="0" dirty="0">
                <a:solidFill>
                  <a:schemeClr val="bg1"/>
                </a:solidFill>
              </a:rPr>
              <a:t>MÉTRICAS DE CALIDAD PARA EL CASO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33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Cinco métricas (cuatro con datos del escenario y una sin medición)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969166"/>
              </p:ext>
            </p:extLst>
          </p:nvPr>
        </p:nvGraphicFramePr>
        <p:xfrm>
          <a:off x="502920" y="2057400"/>
          <a:ext cx="11183112" cy="43159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Cálculo con los datos del caso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Criterio de aceptación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Densidad de hallazgos críticos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5 hallazgos de severidad alta / 8 funcionalidades críticas = 0.63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0 hallazgos de severidad alta abiertos antes del 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release</a:t>
                      </a:r>
                      <a:endParaRPr lang="es-CO" sz="1100" b="0" noProof="0" dirty="0">
                        <a:solidFill>
                          <a:srgbClr val="262E40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Cobertura de pruebas críticas ejecutadas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2 de 4 pruebas críticas ejecutadas (pentesting HCE y carga de telemedicina no ejecutadas) = 50%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≥ 100% de pruebas críticas ejecutadas antes del 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release</a:t>
                      </a:r>
                      <a:endParaRPr lang="es-CO" sz="1100" b="0" noProof="0" dirty="0">
                        <a:solidFill>
                          <a:srgbClr val="262E40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Tasa de cambios desplegados sin revisión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2 de 5 cambios (CR-202, CR-205) sin revisión registrada = 40%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0% de cambios desplegados sin aprobación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Fallos del 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batch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 sin alerta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3 fallos en 4 semanas sin generar alerta automática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100% de los fallos deben generar alerta (0 fallos silenciosos)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Disponibilidad en horario de atención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Criterio contractual 99.5% (7 a.m.–9 p.m.); sin medición formal reportada en el escenario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≥ 99.5% medido con monitoreo continuo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noProof="0" dirty="0">
                <a:solidFill>
                  <a:schemeClr val="bg1"/>
                </a:solidFill>
              </a:rPr>
              <a:t>CONCLUSIONES Y RECOMENDACIONES PRIORIZADAS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33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Síntesis del reporte de solución de problemas de la semana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1050" b="1" noProof="0" dirty="0">
                <a:solidFill>
                  <a:srgbClr val="FFFFFF"/>
                </a:solidFill>
                <a:latin typeface="Calibri"/>
              </a:rPr>
              <a:t>CRÍTICO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029968"/>
            <a:ext cx="994867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Corregir el control de acceso a la HCE (IDOR) y extender el log de auditoría a las lecturas.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15768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1050" b="1" noProof="0" dirty="0">
                <a:solidFill>
                  <a:srgbClr val="FFFFFF"/>
                </a:solidFill>
                <a:latin typeface="Calibri"/>
              </a:rPr>
              <a:t>CRÍTICO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88336"/>
            <a:ext cx="994867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Forzar el cifrado del canal de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videoconsulta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y enmascarar el PAN en los logs de pagos;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re-ejecutar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pruebas de seguridad.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74136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C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1050" b="1" noProof="0" dirty="0">
                <a:solidFill>
                  <a:srgbClr val="FFFFFF"/>
                </a:solidFill>
                <a:latin typeface="Calibri"/>
              </a:rPr>
              <a:t>ALTO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346704"/>
            <a:ext cx="994867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Eliminar las cuentas administrativas compartidas y aplicar MFA con expiración de contraseñas.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03250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C7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1050" b="1" noProof="0" dirty="0">
                <a:solidFill>
                  <a:srgbClr val="FFFFFF"/>
                </a:solidFill>
                <a:latin typeface="Calibri"/>
              </a:rPr>
              <a:t>ALTO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005072"/>
            <a:ext cx="994867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Ejecutar el pentesting de HCE y la prueba de carga de agendamiento/telemedicina antes de congelar el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release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690872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1050" b="1" noProof="0" dirty="0">
                <a:solidFill>
                  <a:srgbClr val="23325B"/>
                </a:solidFill>
                <a:latin typeface="Calibri"/>
              </a:rPr>
              <a:t>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663440"/>
            <a:ext cx="994867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Formalizar el control de cambios e implementar alertas automáticas para el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batch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de facturación.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394960"/>
            <a:ext cx="11183112" cy="1051560"/>
          </a:xfrm>
          <a:prstGeom prst="roundRect">
            <a:avLst>
              <a:gd name="adj" fmla="val 6000"/>
            </a:avLst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777240" y="5532120"/>
            <a:ext cx="1063447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CO" sz="1250" b="0" i="0" noProof="0" dirty="0">
                <a:solidFill>
                  <a:srgbClr val="FFFFFF"/>
                </a:solidFill>
                <a:latin typeface="Calibri"/>
              </a:rPr>
              <a:t>Dado el número y severidad de los hallazgos abiertos, se recomienda solicitar una prórroga de la fecha contractual o liberar por fases, excluyendo telemedicina, pagos y el acceso a la HCE hasta remediar los hallazgos críticos.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EFB09-AAE8-62F0-3A62-E003F41D3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FFB1F00-BE97-BE98-7D23-907738D05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7" y="1895"/>
            <a:ext cx="12192000" cy="6858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CF2E2F08-52A4-C49F-8F6A-FFD7963C46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3493" y="352325"/>
            <a:ext cx="4193066" cy="1261802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D4F57740-2D4F-3CF9-5FAE-C46DADEBE4AF}"/>
              </a:ext>
            </a:extLst>
          </p:cNvPr>
          <p:cNvSpPr txBox="1"/>
          <p:nvPr/>
        </p:nvSpPr>
        <p:spPr>
          <a:xfrm>
            <a:off x="423578" y="4402909"/>
            <a:ext cx="11016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i="0" noProof="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 Narrow" panose="020B0004020202020204" pitchFamily="34" charset="0"/>
              </a:rPr>
              <a:t>www.uniminuto.edu</a:t>
            </a:r>
            <a:r>
              <a:rPr lang="es-CO" sz="2800" b="1" i="0" noProof="0" dirty="0">
                <a:solidFill>
                  <a:srgbClr val="FEBE0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 Narrow" panose="020B0004020202020204" pitchFamily="34" charset="0"/>
              </a:rPr>
              <a:t>/uniminuto-virtual</a:t>
            </a:r>
            <a:endParaRPr lang="es-CO" sz="2800" b="1" noProof="0" dirty="0">
              <a:solidFill>
                <a:srgbClr val="FEBE05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3906353-C08E-4548-090D-A1EBFD47B7BF}"/>
              </a:ext>
            </a:extLst>
          </p:cNvPr>
          <p:cNvSpPr txBox="1"/>
          <p:nvPr/>
        </p:nvSpPr>
        <p:spPr>
          <a:xfrm>
            <a:off x="3535712" y="1938579"/>
            <a:ext cx="5784486" cy="12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CO" sz="8000" b="1" kern="100" noProof="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GRACIAS</a:t>
            </a: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0A3E55B8-D253-DBAD-1101-11B3FFFC13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043" t="-3087" r="-3874" b="-2265"/>
          <a:stretch/>
        </p:blipFill>
        <p:spPr bwMode="auto">
          <a:xfrm rot="254132">
            <a:off x="1873003" y="1932882"/>
            <a:ext cx="2224970" cy="121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492E92B6-11F2-A11D-1E16-791654733331}"/>
              </a:ext>
            </a:extLst>
          </p:cNvPr>
          <p:cNvSpPr/>
          <p:nvPr/>
        </p:nvSpPr>
        <p:spPr>
          <a:xfrm>
            <a:off x="160357" y="921392"/>
            <a:ext cx="7401413" cy="122575"/>
          </a:xfrm>
          <a:prstGeom prst="rect">
            <a:avLst/>
          </a:prstGeom>
          <a:solidFill>
            <a:srgbClr val="FEB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DB3FEE3-64D0-772A-0A61-D11F12ECF337}"/>
              </a:ext>
            </a:extLst>
          </p:cNvPr>
          <p:cNvSpPr txBox="1"/>
          <p:nvPr/>
        </p:nvSpPr>
        <p:spPr>
          <a:xfrm>
            <a:off x="2985950" y="3172713"/>
            <a:ext cx="6142437" cy="11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</a:pPr>
            <a:r>
              <a:rPr lang="es-CO" b="1" noProof="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  </a:t>
            </a:r>
            <a:r>
              <a:rPr lang="es-CO" sz="1600" b="1" noProof="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Educamos sin fronteras transformándonos para el futuro con </a:t>
            </a:r>
          </a:p>
          <a:p>
            <a:pPr>
              <a:lnSpc>
                <a:spcPts val="4000"/>
              </a:lnSpc>
            </a:pPr>
            <a:r>
              <a:rPr lang="es-CO" sz="4400" b="1" noProof="0" dirty="0">
                <a:solidFill>
                  <a:srgbClr val="FEBE0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   CALIDAD Y CALIDEZ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B92EF03-AA5F-BDC6-8DD7-15962ED54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4883" y="5628381"/>
            <a:ext cx="1427032" cy="78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1779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2556</Words>
  <Application>Microsoft Office PowerPoint</Application>
  <PresentationFormat>Panorámica</PresentationFormat>
  <Paragraphs>328</Paragraphs>
  <Slides>16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16</vt:i4>
      </vt:variant>
    </vt:vector>
  </HeadingPairs>
  <TitlesOfParts>
    <vt:vector size="27" baseType="lpstr">
      <vt:lpstr>Aptos</vt:lpstr>
      <vt:lpstr>Aptos Display</vt:lpstr>
      <vt:lpstr>Aptos Narrow</vt:lpstr>
      <vt:lpstr>Arial</vt:lpstr>
      <vt:lpstr>Calibri</vt:lpstr>
      <vt:lpstr>Calibri Light</vt:lpstr>
      <vt:lpstr>Cardana</vt:lpstr>
      <vt:lpstr>Century Gothic</vt:lpstr>
      <vt:lpstr>DM Sans Bold</vt:lpstr>
      <vt:lpstr>Tema de Office</vt:lpstr>
      <vt:lpstr>Office Theme</vt:lpstr>
      <vt:lpstr>SOLUCIÓN DEL EJERCICIO: CASO MEDICITAS</vt:lpstr>
      <vt:lpstr>Presentación de PowerPoint</vt:lpstr>
      <vt:lpstr>EL CASO: SISTEMA MEDICITAS (v3.2)</vt:lpstr>
      <vt:lpstr>FUNCIONALIDADES CRITICAS Y RESTRICCIONES</vt:lpstr>
      <vt:lpstr>HALLAZGOS DE SEGURIDAD IDENTIFICADOS</vt:lpstr>
      <vt:lpstr>MATRIZ DE VERIFICACIÓN Y VALIDACIÓN - PARTE 1</vt:lpstr>
      <vt:lpstr>MATRIZ DE VERIFICACIÓN Y VALIDACIÓN - PARTE 2</vt:lpstr>
      <vt:lpstr>LISTA DE CONTROL DE REVISIÓN TÉCNICA - PARTE 1</vt:lpstr>
      <vt:lpstr>LISTA DE CONTROL DE REVISIÓN TÉCNICA - PARTE 2</vt:lpstr>
      <vt:lpstr>PLAN DE AUDITORÍA: DATOS GENERALES</vt:lpstr>
      <vt:lpstr>HALLAZGOS DE AUDITORÍA - PARTE 1</vt:lpstr>
      <vt:lpstr>HALLAZGOS DE AUDITORÍA - PARTE 2 Y CONCLUSIÓN</vt:lpstr>
      <vt:lpstr>APLICACIÓN DE ISO/IEC 25010 AL CASO</vt:lpstr>
      <vt:lpstr>MÉTRICAS DE CALIDAD PARA EL CASO</vt:lpstr>
      <vt:lpstr>CONCLUSIONES Y RECOMENDACIONES PRIORIZADAS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LINA MARCELA NIETO ALBA</dc:creator>
  <cp:lastModifiedBy>CESAR ALFONSO BOLADO SILVA</cp:lastModifiedBy>
  <cp:revision>54</cp:revision>
  <dcterms:created xsi:type="dcterms:W3CDTF">2024-01-22T15:06:30Z</dcterms:created>
  <dcterms:modified xsi:type="dcterms:W3CDTF">2026-10-22T19:11:07Z</dcterms:modified>
</cp:coreProperties>
</file>