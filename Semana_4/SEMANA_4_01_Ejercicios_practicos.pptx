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3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962655"/>
            <a:ext cx="9144000" cy="2181225"/>
          </a:xfrm>
          <a:custGeom>
            <a:avLst/>
            <a:gdLst/>
            <a:ahLst/>
            <a:cxnLst/>
            <a:rect l="l" t="t" r="r" b="b"/>
            <a:pathLst>
              <a:path w="9144000" h="2181225">
                <a:moveTo>
                  <a:pt x="0" y="2180843"/>
                </a:moveTo>
                <a:lnTo>
                  <a:pt x="9144000" y="2180843"/>
                </a:lnTo>
                <a:lnTo>
                  <a:pt x="9144000" y="0"/>
                </a:lnTo>
                <a:lnTo>
                  <a:pt x="0" y="0"/>
                </a:lnTo>
                <a:lnTo>
                  <a:pt x="0" y="2180843"/>
                </a:lnTo>
                <a:close/>
              </a:path>
            </a:pathLst>
          </a:custGeom>
          <a:solidFill>
            <a:srgbClr val="0D15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1828800"/>
          </a:xfrm>
          <a:custGeom>
            <a:avLst/>
            <a:gdLst/>
            <a:ahLst/>
            <a:cxnLst/>
            <a:rect l="l" t="t" r="r" b="b"/>
            <a:pathLst>
              <a:path w="9144000" h="1828800">
                <a:moveTo>
                  <a:pt x="0" y="1828800"/>
                </a:moveTo>
                <a:lnTo>
                  <a:pt x="9144000" y="1828800"/>
                </a:lnTo>
                <a:lnTo>
                  <a:pt x="9144000" y="0"/>
                </a:lnTo>
                <a:lnTo>
                  <a:pt x="0" y="0"/>
                </a:lnTo>
                <a:lnTo>
                  <a:pt x="0" y="1828800"/>
                </a:lnTo>
                <a:close/>
              </a:path>
            </a:pathLst>
          </a:custGeom>
          <a:solidFill>
            <a:srgbClr val="0D15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1920239"/>
            <a:ext cx="9144000" cy="960119"/>
          </a:xfrm>
          <a:custGeom>
            <a:avLst/>
            <a:gdLst/>
            <a:ahLst/>
            <a:cxnLst/>
            <a:rect l="l" t="t" r="r" b="b"/>
            <a:pathLst>
              <a:path w="9144000" h="960119">
                <a:moveTo>
                  <a:pt x="0" y="960119"/>
                </a:moveTo>
                <a:lnTo>
                  <a:pt x="9144000" y="960119"/>
                </a:lnTo>
                <a:lnTo>
                  <a:pt x="9144000" y="0"/>
                </a:lnTo>
                <a:lnTo>
                  <a:pt x="0" y="0"/>
                </a:lnTo>
                <a:lnTo>
                  <a:pt x="0" y="960119"/>
                </a:lnTo>
                <a:close/>
              </a:path>
            </a:pathLst>
          </a:custGeom>
          <a:ln w="12700">
            <a:solidFill>
              <a:srgbClr val="1C27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1828800"/>
            <a:ext cx="9144000" cy="109855"/>
          </a:xfrm>
          <a:custGeom>
            <a:avLst/>
            <a:gdLst/>
            <a:ahLst/>
            <a:cxnLst/>
            <a:rect l="l" t="t" r="r" b="b"/>
            <a:pathLst>
              <a:path w="9144000" h="109855">
                <a:moveTo>
                  <a:pt x="9144000" y="0"/>
                </a:moveTo>
                <a:lnTo>
                  <a:pt x="0" y="0"/>
                </a:lnTo>
                <a:lnTo>
                  <a:pt x="0" y="109727"/>
                </a:lnTo>
                <a:lnTo>
                  <a:pt x="9144000" y="109727"/>
                </a:lnTo>
                <a:lnTo>
                  <a:pt x="9144000" y="0"/>
                </a:lnTo>
                <a:close/>
              </a:path>
            </a:pathLst>
          </a:custGeom>
          <a:solidFill>
            <a:srgbClr val="C8A1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0" y="1828800"/>
            <a:ext cx="9144000" cy="109855"/>
          </a:xfrm>
          <a:custGeom>
            <a:avLst/>
            <a:gdLst/>
            <a:ahLst/>
            <a:cxnLst/>
            <a:rect l="l" t="t" r="r" b="b"/>
            <a:pathLst>
              <a:path w="9144000" h="109855">
                <a:moveTo>
                  <a:pt x="0" y="109727"/>
                </a:moveTo>
                <a:lnTo>
                  <a:pt x="9144000" y="109727"/>
                </a:lnTo>
                <a:lnTo>
                  <a:pt x="9144000" y="0"/>
                </a:lnTo>
                <a:lnTo>
                  <a:pt x="0" y="0"/>
                </a:lnTo>
                <a:lnTo>
                  <a:pt x="0" y="109727"/>
                </a:lnTo>
                <a:close/>
              </a:path>
            </a:pathLst>
          </a:custGeom>
          <a:ln w="12699">
            <a:solidFill>
              <a:srgbClr val="C8A1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0" y="2852927"/>
            <a:ext cx="9144000" cy="109855"/>
          </a:xfrm>
          <a:custGeom>
            <a:avLst/>
            <a:gdLst/>
            <a:ahLst/>
            <a:cxnLst/>
            <a:rect l="l" t="t" r="r" b="b"/>
            <a:pathLst>
              <a:path w="9144000" h="109855">
                <a:moveTo>
                  <a:pt x="9144000" y="0"/>
                </a:moveTo>
                <a:lnTo>
                  <a:pt x="0" y="0"/>
                </a:lnTo>
                <a:lnTo>
                  <a:pt x="0" y="109728"/>
                </a:lnTo>
                <a:lnTo>
                  <a:pt x="9144000" y="109728"/>
                </a:lnTo>
                <a:lnTo>
                  <a:pt x="9144000" y="0"/>
                </a:lnTo>
                <a:close/>
              </a:path>
            </a:pathLst>
          </a:custGeom>
          <a:solidFill>
            <a:srgbClr val="C8A1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0" y="2852927"/>
            <a:ext cx="9144000" cy="109855"/>
          </a:xfrm>
          <a:custGeom>
            <a:avLst/>
            <a:gdLst/>
            <a:ahLst/>
            <a:cxnLst/>
            <a:rect l="l" t="t" r="r" b="b"/>
            <a:pathLst>
              <a:path w="9144000" h="109855">
                <a:moveTo>
                  <a:pt x="0" y="109728"/>
                </a:moveTo>
                <a:lnTo>
                  <a:pt x="9144000" y="109728"/>
                </a:lnTo>
                <a:lnTo>
                  <a:pt x="9144000" y="0"/>
                </a:ln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ln w="12699">
            <a:solidFill>
              <a:srgbClr val="C8A1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0" y="1938527"/>
            <a:ext cx="9144000" cy="914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1C275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1" i="0">
                <a:solidFill>
                  <a:srgbClr val="1C275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C275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50" b="1" i="0">
                <a:solidFill>
                  <a:srgbClr val="1C275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C275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rgbClr val="1C275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412479" cy="5029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64592" y="658368"/>
            <a:ext cx="1371600" cy="384175"/>
          </a:xfrm>
          <a:custGeom>
            <a:avLst/>
            <a:gdLst/>
            <a:ahLst/>
            <a:cxnLst/>
            <a:rect l="l" t="t" r="r" b="b"/>
            <a:pathLst>
              <a:path w="1371600" h="384175">
                <a:moveTo>
                  <a:pt x="1371600" y="0"/>
                </a:moveTo>
                <a:lnTo>
                  <a:pt x="0" y="0"/>
                </a:lnTo>
                <a:lnTo>
                  <a:pt x="0" y="384048"/>
                </a:lnTo>
                <a:lnTo>
                  <a:pt x="1371600" y="384048"/>
                </a:lnTo>
                <a:lnTo>
                  <a:pt x="1371600" y="0"/>
                </a:lnTo>
                <a:close/>
              </a:path>
            </a:pathLst>
          </a:custGeom>
          <a:solidFill>
            <a:srgbClr val="2D7C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64592" y="658368"/>
            <a:ext cx="1371600" cy="384175"/>
          </a:xfrm>
          <a:custGeom>
            <a:avLst/>
            <a:gdLst/>
            <a:ahLst/>
            <a:cxnLst/>
            <a:rect l="l" t="t" r="r" b="b"/>
            <a:pathLst>
              <a:path w="1371600" h="384175">
                <a:moveTo>
                  <a:pt x="0" y="384048"/>
                </a:moveTo>
                <a:lnTo>
                  <a:pt x="1371600" y="384048"/>
                </a:lnTo>
                <a:lnTo>
                  <a:pt x="137160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2700">
            <a:solidFill>
              <a:srgbClr val="2D7C3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Relationship Id="rId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8412479" cy="5029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1761" y="703834"/>
            <a:ext cx="4857115" cy="269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rgbClr val="1C275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3331" y="1227437"/>
            <a:ext cx="6156325" cy="15481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1" i="0">
                <a:solidFill>
                  <a:srgbClr val="1C275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7340" y="2690241"/>
            <a:ext cx="6915784" cy="1297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615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Calibri"/>
                <a:cs typeface="Calibri"/>
              </a:rPr>
              <a:t>Ejercicios</a:t>
            </a:r>
            <a:r>
              <a:rPr dirty="0" sz="3200" spc="-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Calibri"/>
                <a:cs typeface="Calibri"/>
              </a:rPr>
              <a:t>prácticos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085"/>
              </a:lnSpc>
            </a:pPr>
            <a:r>
              <a:rPr dirty="0" sz="2800" b="1">
                <a:solidFill>
                  <a:srgbClr val="7AEDFC"/>
                </a:solidFill>
                <a:latin typeface="Century Gothic"/>
                <a:cs typeface="Century Gothic"/>
              </a:rPr>
              <a:t>Semana</a:t>
            </a:r>
            <a:r>
              <a:rPr dirty="0" sz="2800" spc="-55" b="1">
                <a:solidFill>
                  <a:srgbClr val="7AEDFC"/>
                </a:solidFill>
                <a:latin typeface="Century Gothic"/>
                <a:cs typeface="Century Gothic"/>
              </a:rPr>
              <a:t> </a:t>
            </a:r>
            <a:r>
              <a:rPr dirty="0" sz="2800" b="1">
                <a:solidFill>
                  <a:srgbClr val="7AEDFC"/>
                </a:solidFill>
                <a:latin typeface="Century Gothic"/>
                <a:cs typeface="Century Gothic"/>
              </a:rPr>
              <a:t>4</a:t>
            </a:r>
            <a:r>
              <a:rPr dirty="0" sz="2800" spc="-50" b="1">
                <a:solidFill>
                  <a:srgbClr val="7AEDFC"/>
                </a:solidFill>
                <a:latin typeface="Century Gothic"/>
                <a:cs typeface="Century Gothic"/>
              </a:rPr>
              <a:t> </a:t>
            </a:r>
            <a:r>
              <a:rPr dirty="0" sz="2800" b="1">
                <a:solidFill>
                  <a:srgbClr val="7AEDFC"/>
                </a:solidFill>
                <a:latin typeface="Century Gothic"/>
                <a:cs typeface="Century Gothic"/>
              </a:rPr>
              <a:t>–</a:t>
            </a:r>
            <a:r>
              <a:rPr dirty="0" sz="2800" spc="-55" b="1">
                <a:solidFill>
                  <a:srgbClr val="7AEDFC"/>
                </a:solidFill>
                <a:latin typeface="Century Gothic"/>
                <a:cs typeface="Century Gothic"/>
              </a:rPr>
              <a:t> </a:t>
            </a:r>
            <a:r>
              <a:rPr dirty="0" sz="2800" b="1">
                <a:solidFill>
                  <a:srgbClr val="7AEDFC"/>
                </a:solidFill>
                <a:latin typeface="Century Gothic"/>
                <a:cs typeface="Century Gothic"/>
              </a:rPr>
              <a:t>Especificación</a:t>
            </a:r>
            <a:r>
              <a:rPr dirty="0" sz="2800" spc="-50" b="1">
                <a:solidFill>
                  <a:srgbClr val="7AEDFC"/>
                </a:solidFill>
                <a:latin typeface="Century Gothic"/>
                <a:cs typeface="Century Gothic"/>
              </a:rPr>
              <a:t> </a:t>
            </a:r>
            <a:r>
              <a:rPr dirty="0" sz="2800" b="1">
                <a:solidFill>
                  <a:srgbClr val="7AEDFC"/>
                </a:solidFill>
                <a:latin typeface="Century Gothic"/>
                <a:cs typeface="Century Gothic"/>
              </a:rPr>
              <a:t>de</a:t>
            </a:r>
            <a:r>
              <a:rPr dirty="0" sz="2800" spc="-60" b="1">
                <a:solidFill>
                  <a:srgbClr val="7AEDFC"/>
                </a:solidFill>
                <a:latin typeface="Century Gothic"/>
                <a:cs typeface="Century Gothic"/>
              </a:rPr>
              <a:t> </a:t>
            </a:r>
            <a:r>
              <a:rPr dirty="0" sz="2800" spc="-10" b="1">
                <a:solidFill>
                  <a:srgbClr val="7AEDFC"/>
                </a:solidFill>
                <a:latin typeface="Century Gothic"/>
                <a:cs typeface="Century Gothic"/>
              </a:rPr>
              <a:t>requisitos</a:t>
            </a:r>
            <a:endParaRPr sz="2800">
              <a:latin typeface="Century Gothic"/>
              <a:cs typeface="Century Gothic"/>
            </a:endParaRPr>
          </a:p>
          <a:p>
            <a:pPr marL="12700">
              <a:lnSpc>
                <a:spcPts val="3315"/>
              </a:lnSpc>
            </a:pPr>
            <a:r>
              <a:rPr dirty="0" sz="2800" b="1">
                <a:solidFill>
                  <a:srgbClr val="7AEDFC"/>
                </a:solidFill>
                <a:latin typeface="Century Gothic"/>
                <a:cs typeface="Century Gothic"/>
              </a:rPr>
              <a:t>de</a:t>
            </a:r>
            <a:r>
              <a:rPr dirty="0" sz="2800" spc="-40" b="1">
                <a:solidFill>
                  <a:srgbClr val="7AEDFC"/>
                </a:solidFill>
                <a:latin typeface="Century Gothic"/>
                <a:cs typeface="Century Gothic"/>
              </a:rPr>
              <a:t> </a:t>
            </a:r>
            <a:r>
              <a:rPr dirty="0" sz="2800" spc="-10" b="1">
                <a:solidFill>
                  <a:srgbClr val="7AEDFC"/>
                </a:solidFill>
                <a:latin typeface="Century Gothic"/>
                <a:cs typeface="Century Gothic"/>
              </a:rPr>
              <a:t>software</a:t>
            </a:r>
            <a:endParaRPr sz="28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0" y="1938527"/>
            <a:ext cx="9144000" cy="914400"/>
          </a:xfrm>
          <a:prstGeom prst="rect">
            <a:avLst/>
          </a:prstGeom>
          <a:solidFill>
            <a:srgbClr val="1C2753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71755">
              <a:lnSpc>
                <a:spcPts val="4135"/>
              </a:lnSpc>
              <a:tabLst>
                <a:tab pos="2748915" algn="l"/>
              </a:tabLst>
            </a:pPr>
            <a:r>
              <a:rPr dirty="0" sz="3600" b="1">
                <a:solidFill>
                  <a:srgbClr val="C8A127"/>
                </a:solidFill>
                <a:latin typeface="Calibri"/>
                <a:cs typeface="Calibri"/>
              </a:rPr>
              <a:t>E</a:t>
            </a:r>
            <a:r>
              <a:rPr dirty="0" sz="3600" spc="-22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8A127"/>
                </a:solidFill>
                <a:latin typeface="Calibri"/>
                <a:cs typeface="Calibri"/>
              </a:rPr>
              <a:t>J</a:t>
            </a:r>
            <a:r>
              <a:rPr dirty="0" sz="3600" spc="-22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8A127"/>
                </a:solidFill>
                <a:latin typeface="Calibri"/>
                <a:cs typeface="Calibri"/>
              </a:rPr>
              <a:t>E</a:t>
            </a:r>
            <a:r>
              <a:rPr dirty="0" sz="3600" spc="-22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8A127"/>
                </a:solidFill>
                <a:latin typeface="Calibri"/>
                <a:cs typeface="Calibri"/>
              </a:rPr>
              <a:t>R</a:t>
            </a:r>
            <a:r>
              <a:rPr dirty="0" sz="3600" spc="-22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8A127"/>
                </a:solidFill>
                <a:latin typeface="Calibri"/>
                <a:cs typeface="Calibri"/>
              </a:rPr>
              <a:t>C</a:t>
            </a:r>
            <a:r>
              <a:rPr dirty="0" sz="3600" spc="-22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8A127"/>
                </a:solidFill>
                <a:latin typeface="Calibri"/>
                <a:cs typeface="Calibri"/>
              </a:rPr>
              <a:t>I</a:t>
            </a:r>
            <a:r>
              <a:rPr dirty="0" sz="3600" spc="-22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8A127"/>
                </a:solidFill>
                <a:latin typeface="Calibri"/>
                <a:cs typeface="Calibri"/>
              </a:rPr>
              <a:t>C</a:t>
            </a:r>
            <a:r>
              <a:rPr dirty="0" sz="3600" spc="-22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8A127"/>
                </a:solidFill>
                <a:latin typeface="Calibri"/>
                <a:cs typeface="Calibri"/>
              </a:rPr>
              <a:t>I</a:t>
            </a:r>
            <a:r>
              <a:rPr dirty="0" sz="3600" spc="-22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3600" spc="-50" b="1">
                <a:solidFill>
                  <a:srgbClr val="C8A127"/>
                </a:solidFill>
                <a:latin typeface="Calibri"/>
                <a:cs typeface="Calibri"/>
              </a:rPr>
              <a:t>O</a:t>
            </a:r>
            <a:r>
              <a:rPr dirty="0" sz="3600" b="1">
                <a:solidFill>
                  <a:srgbClr val="C8A127"/>
                </a:solidFill>
                <a:latin typeface="Calibri"/>
                <a:cs typeface="Calibri"/>
              </a:rPr>
              <a:t>	</a:t>
            </a:r>
            <a:r>
              <a:rPr dirty="0" sz="3600" spc="-50" b="1">
                <a:solidFill>
                  <a:srgbClr val="C8A127"/>
                </a:solidFill>
                <a:latin typeface="Calibri"/>
                <a:cs typeface="Calibri"/>
              </a:rPr>
              <a:t>1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96692" y="3059048"/>
            <a:ext cx="41497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0">
                <a:solidFill>
                  <a:srgbClr val="FFFFFF"/>
                </a:solidFill>
                <a:latin typeface="Calibri Light"/>
                <a:cs typeface="Calibri Light"/>
              </a:rPr>
              <a:t>Contexto,</a:t>
            </a:r>
            <a:r>
              <a:rPr dirty="0" sz="1800" spc="-6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800" spc="-20" b="0">
                <a:solidFill>
                  <a:srgbClr val="FFFFFF"/>
                </a:solidFill>
                <a:latin typeface="Calibri Light"/>
                <a:cs typeface="Calibri Light"/>
              </a:rPr>
              <a:t>Stakeholders</a:t>
            </a:r>
            <a:r>
              <a:rPr dirty="0" sz="18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800" b="0">
                <a:solidFill>
                  <a:srgbClr val="FFFFFF"/>
                </a:solidFill>
                <a:latin typeface="Calibri Light"/>
                <a:cs typeface="Calibri Light"/>
              </a:rPr>
              <a:t>y</a:t>
            </a:r>
            <a:r>
              <a:rPr dirty="0" sz="18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800" b="0">
                <a:solidFill>
                  <a:srgbClr val="FFFFFF"/>
                </a:solidFill>
                <a:latin typeface="Calibri Light"/>
                <a:cs typeface="Calibri Light"/>
              </a:rPr>
              <a:t>Primeros</a:t>
            </a:r>
            <a:r>
              <a:rPr dirty="0" sz="1800" spc="-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800" spc="-10" b="0">
                <a:solidFill>
                  <a:srgbClr val="FFFFFF"/>
                </a:solidFill>
                <a:latin typeface="Calibri Light"/>
                <a:cs typeface="Calibri Light"/>
              </a:rPr>
              <a:t>Artefactos</a:t>
            </a:r>
            <a:endParaRPr sz="18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164592" y="658368"/>
              <a:ext cx="1371600" cy="384175"/>
            </a:xfrm>
            <a:custGeom>
              <a:avLst/>
              <a:gdLst/>
              <a:ahLst/>
              <a:cxnLst/>
              <a:rect l="l" t="t" r="r" b="b"/>
              <a:pathLst>
                <a:path w="1371600" h="384175">
                  <a:moveTo>
                    <a:pt x="137160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1371600" y="384048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B895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4592" y="658368"/>
              <a:ext cx="1371600" cy="384175"/>
            </a:xfrm>
            <a:custGeom>
              <a:avLst/>
              <a:gdLst/>
              <a:ahLst/>
              <a:cxnLst/>
              <a:rect l="l" t="t" r="r" b="b"/>
              <a:pathLst>
                <a:path w="1371600" h="384175">
                  <a:moveTo>
                    <a:pt x="0" y="384048"/>
                  </a:moveTo>
                  <a:lnTo>
                    <a:pt x="1371600" y="384048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B8952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709676" y="744982"/>
            <a:ext cx="28067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EJ.</a:t>
            </a:r>
            <a:r>
              <a:rPr dirty="0" sz="11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Enunciado</a:t>
            </a:r>
            <a:r>
              <a:rPr dirty="0" spc="-10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Sistema</a:t>
            </a:r>
            <a:r>
              <a:rPr dirty="0" spc="-40"/>
              <a:t> </a:t>
            </a:r>
            <a:r>
              <a:rPr dirty="0"/>
              <a:t>de</a:t>
            </a:r>
            <a:r>
              <a:rPr dirty="0" spc="-40"/>
              <a:t> </a:t>
            </a:r>
            <a:r>
              <a:rPr dirty="0"/>
              <a:t>Gestión</a:t>
            </a:r>
            <a:r>
              <a:rPr dirty="0" spc="-4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/>
              <a:t>Citas</a:t>
            </a:r>
            <a:r>
              <a:rPr dirty="0" spc="-40"/>
              <a:t> </a:t>
            </a:r>
            <a:r>
              <a:rPr dirty="0" spc="-10"/>
              <a:t>Médicas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58242" y="1136650"/>
            <a:ext cx="8790940" cy="86360"/>
            <a:chOff x="158242" y="1136650"/>
            <a:chExt cx="8790940" cy="86360"/>
          </a:xfrm>
        </p:grpSpPr>
        <p:sp>
          <p:nvSpPr>
            <p:cNvPr id="8" name="object 8"/>
            <p:cNvSpPr/>
            <p:nvPr/>
          </p:nvSpPr>
          <p:spPr>
            <a:xfrm>
              <a:off x="164592" y="1143000"/>
              <a:ext cx="8778240" cy="73660"/>
            </a:xfrm>
            <a:custGeom>
              <a:avLst/>
              <a:gdLst/>
              <a:ahLst/>
              <a:cxnLst/>
              <a:rect l="l" t="t" r="r" b="b"/>
              <a:pathLst>
                <a:path w="8778240" h="73659">
                  <a:moveTo>
                    <a:pt x="877824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8778240" y="73151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1A3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4592" y="1143000"/>
              <a:ext cx="8778240" cy="73660"/>
            </a:xfrm>
            <a:custGeom>
              <a:avLst/>
              <a:gdLst/>
              <a:ahLst/>
              <a:cxnLst/>
              <a:rect l="l" t="t" r="r" b="b"/>
              <a:pathLst>
                <a:path w="8778240" h="73659">
                  <a:moveTo>
                    <a:pt x="0" y="73151"/>
                  </a:moveTo>
                  <a:lnTo>
                    <a:pt x="8778240" y="73151"/>
                  </a:lnTo>
                  <a:lnTo>
                    <a:pt x="877824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1A3A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64592" y="1261872"/>
            <a:ext cx="8778240" cy="1097280"/>
          </a:xfrm>
          <a:prstGeom prst="rect">
            <a:avLst/>
          </a:prstGeom>
          <a:solidFill>
            <a:srgbClr val="EDF0F8"/>
          </a:solidFill>
          <a:ln w="12700">
            <a:solidFill>
              <a:srgbClr val="C5C9D7"/>
            </a:solidFill>
          </a:ln>
        </p:spPr>
        <p:txBody>
          <a:bodyPr wrap="square" lIns="0" tIns="73025" rIns="0" bIns="0" rtlCol="0" vert="horz">
            <a:spAutoFit/>
          </a:bodyPr>
          <a:lstStyle/>
          <a:p>
            <a:pPr marL="246379" marR="494030">
              <a:lnSpc>
                <a:spcPct val="100000"/>
              </a:lnSpc>
              <a:spcBef>
                <a:spcPts val="575"/>
              </a:spcBef>
            </a:pPr>
            <a:r>
              <a:rPr dirty="0" sz="1250" b="1">
                <a:solidFill>
                  <a:srgbClr val="1C2753"/>
                </a:solidFill>
                <a:latin typeface="Calibri"/>
                <a:cs typeface="Calibri"/>
              </a:rPr>
              <a:t>El</a:t>
            </a:r>
            <a:r>
              <a:rPr dirty="0" sz="1250" spc="-25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2753"/>
                </a:solidFill>
                <a:latin typeface="Calibri"/>
                <a:cs typeface="Calibri"/>
              </a:rPr>
              <a:t>director</a:t>
            </a:r>
            <a:r>
              <a:rPr dirty="0" sz="1250" spc="-10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2753"/>
                </a:solidFill>
                <a:latin typeface="Calibri"/>
                <a:cs typeface="Calibri"/>
              </a:rPr>
              <a:t>de</a:t>
            </a:r>
            <a:r>
              <a:rPr dirty="0" sz="1250" spc="-30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2753"/>
                </a:solidFill>
                <a:latin typeface="Calibri"/>
                <a:cs typeface="Calibri"/>
              </a:rPr>
              <a:t>la</a:t>
            </a:r>
            <a:r>
              <a:rPr dirty="0" sz="1250" spc="-35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2753"/>
                </a:solidFill>
                <a:latin typeface="Calibri"/>
                <a:cs typeface="Calibri"/>
              </a:rPr>
              <a:t>clínica</a:t>
            </a:r>
            <a:r>
              <a:rPr dirty="0" sz="1250" spc="-35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1C2753"/>
                </a:solidFill>
                <a:latin typeface="Calibri"/>
                <a:cs typeface="Calibri"/>
              </a:rPr>
              <a:t>comenta: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"Queremos</a:t>
            </a:r>
            <a:r>
              <a:rPr dirty="0" sz="1250" spc="-3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que</a:t>
            </a:r>
            <a:r>
              <a:rPr dirty="0" sz="1250" spc="-2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los</a:t>
            </a:r>
            <a:r>
              <a:rPr dirty="0" sz="1250" spc="-2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39496B"/>
                </a:solidFill>
                <a:latin typeface="Calibri"/>
                <a:cs typeface="Calibri"/>
              </a:rPr>
              <a:t>pacientes</a:t>
            </a:r>
            <a:r>
              <a:rPr dirty="0" sz="1250" spc="-20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puedan</a:t>
            </a:r>
            <a:r>
              <a:rPr dirty="0" sz="1250" spc="-30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agendar</a:t>
            </a:r>
            <a:r>
              <a:rPr dirty="0" sz="1250" spc="-2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y</a:t>
            </a:r>
            <a:r>
              <a:rPr dirty="0" sz="1250" spc="-2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cancelar</a:t>
            </a:r>
            <a:r>
              <a:rPr dirty="0" sz="1250" spc="-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citas</a:t>
            </a:r>
            <a:r>
              <a:rPr dirty="0" sz="1250" spc="-2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por</a:t>
            </a:r>
            <a:r>
              <a:rPr dirty="0" sz="1250" spc="-2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39496B"/>
                </a:solidFill>
                <a:latin typeface="Calibri"/>
                <a:cs typeface="Calibri"/>
              </a:rPr>
              <a:t>internet,</a:t>
            </a:r>
            <a:r>
              <a:rPr dirty="0" sz="1250" spc="-40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que</a:t>
            </a:r>
            <a:r>
              <a:rPr dirty="0" sz="1250" spc="-2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los</a:t>
            </a:r>
            <a:r>
              <a:rPr dirty="0" sz="1250" spc="-2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39496B"/>
                </a:solidFill>
                <a:latin typeface="Calibri"/>
                <a:cs typeface="Calibri"/>
              </a:rPr>
              <a:t>médicos</a:t>
            </a:r>
            <a:r>
              <a:rPr dirty="0" sz="1250" spc="-10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vean</a:t>
            </a:r>
            <a:r>
              <a:rPr dirty="0" sz="1250" spc="-1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su</a:t>
            </a:r>
            <a:r>
              <a:rPr dirty="0" sz="1250" spc="-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agenda</a:t>
            </a:r>
            <a:r>
              <a:rPr dirty="0" sz="1250" spc="-20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diaria</a:t>
            </a:r>
            <a:r>
              <a:rPr dirty="0" sz="1250" spc="-2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y</a:t>
            </a:r>
            <a:r>
              <a:rPr dirty="0" sz="1250" spc="-10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que</a:t>
            </a:r>
            <a:r>
              <a:rPr dirty="0" sz="1250" spc="-10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la</a:t>
            </a:r>
            <a:r>
              <a:rPr dirty="0" sz="1250" spc="-2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39496B"/>
                </a:solidFill>
                <a:latin typeface="Calibri"/>
                <a:cs typeface="Calibri"/>
              </a:rPr>
              <a:t>recepcionista</a:t>
            </a:r>
            <a:r>
              <a:rPr dirty="0" sz="1250" spc="-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pueda</a:t>
            </a:r>
            <a:r>
              <a:rPr dirty="0" sz="1250" spc="-10" i="1">
                <a:solidFill>
                  <a:srgbClr val="39496B"/>
                </a:solidFill>
                <a:latin typeface="Calibri"/>
                <a:cs typeface="Calibri"/>
              </a:rPr>
              <a:t> registrar</a:t>
            </a:r>
            <a:r>
              <a:rPr dirty="0" sz="1250" spc="-3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la</a:t>
            </a:r>
            <a:r>
              <a:rPr dirty="0" sz="1250" spc="-2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39496B"/>
                </a:solidFill>
                <a:latin typeface="Calibri"/>
                <a:cs typeface="Calibri"/>
              </a:rPr>
              <a:t>asistencia</a:t>
            </a:r>
            <a:r>
              <a:rPr dirty="0" sz="1250" spc="-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de</a:t>
            </a:r>
            <a:r>
              <a:rPr dirty="0" sz="1250" spc="-10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los</a:t>
            </a:r>
            <a:r>
              <a:rPr dirty="0" sz="1250" spc="-1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39496B"/>
                </a:solidFill>
                <a:latin typeface="Calibri"/>
                <a:cs typeface="Calibri"/>
              </a:rPr>
              <a:t>pacientes</a:t>
            </a:r>
            <a:r>
              <a:rPr dirty="0" sz="1250" spc="-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cuando</a:t>
            </a:r>
            <a:r>
              <a:rPr dirty="0" sz="1250" spc="-10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llegan.</a:t>
            </a:r>
            <a:r>
              <a:rPr dirty="0" sz="1250" spc="-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Por</a:t>
            </a:r>
            <a:r>
              <a:rPr dirty="0" sz="1250" spc="-20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ahora</a:t>
            </a:r>
            <a:r>
              <a:rPr dirty="0" sz="1250" spc="-20" i="1">
                <a:solidFill>
                  <a:srgbClr val="39496B"/>
                </a:solidFill>
                <a:latin typeface="Calibri"/>
                <a:cs typeface="Calibri"/>
              </a:rPr>
              <a:t> solo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trabajamos</a:t>
            </a:r>
            <a:r>
              <a:rPr dirty="0" sz="1250" spc="-30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en</a:t>
            </a:r>
            <a:r>
              <a:rPr dirty="0" sz="1250" spc="-30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una</a:t>
            </a:r>
            <a:r>
              <a:rPr dirty="0" sz="1250" spc="-1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sede,</a:t>
            </a:r>
            <a:r>
              <a:rPr dirty="0" sz="1250" spc="-20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pero</a:t>
            </a:r>
            <a:r>
              <a:rPr dirty="0" sz="1250" spc="-2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en</a:t>
            </a:r>
            <a:r>
              <a:rPr dirty="0" sz="1250" spc="-2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un</a:t>
            </a:r>
            <a:r>
              <a:rPr dirty="0" sz="1250" spc="-30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año</a:t>
            </a:r>
            <a:r>
              <a:rPr dirty="0" sz="1250" spc="-15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39496B"/>
                </a:solidFill>
                <a:latin typeface="Calibri"/>
                <a:cs typeface="Calibri"/>
              </a:rPr>
              <a:t>abriremos</a:t>
            </a:r>
            <a:r>
              <a:rPr dirty="0" sz="1250" spc="-30" i="1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39496B"/>
                </a:solidFill>
                <a:latin typeface="Calibri"/>
                <a:cs typeface="Calibri"/>
              </a:rPr>
              <a:t>otra."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331" y="2474798"/>
            <a:ext cx="24638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C2753"/>
                </a:solidFill>
                <a:latin typeface="Calibri"/>
                <a:cs typeface="Calibri"/>
              </a:rPr>
              <a:t>Con</a:t>
            </a:r>
            <a:r>
              <a:rPr dirty="0" sz="1200" spc="-20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2753"/>
                </a:solidFill>
                <a:latin typeface="Calibri"/>
                <a:cs typeface="Calibri"/>
              </a:rPr>
              <a:t>base</a:t>
            </a:r>
            <a:r>
              <a:rPr dirty="0" sz="1200" spc="-20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2753"/>
                </a:solidFill>
                <a:latin typeface="Calibri"/>
                <a:cs typeface="Calibri"/>
              </a:rPr>
              <a:t>en</a:t>
            </a:r>
            <a:r>
              <a:rPr dirty="0" sz="1200" spc="-15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2753"/>
                </a:solidFill>
                <a:latin typeface="Calibri"/>
                <a:cs typeface="Calibri"/>
              </a:rPr>
              <a:t>el</a:t>
            </a:r>
            <a:r>
              <a:rPr dirty="0" sz="1200" spc="-15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C2753"/>
                </a:solidFill>
                <a:latin typeface="Calibri"/>
                <a:cs typeface="Calibri"/>
              </a:rPr>
              <a:t>modelo</a:t>
            </a:r>
            <a:r>
              <a:rPr dirty="0" sz="1200" spc="-10" b="1">
                <a:solidFill>
                  <a:srgbClr val="1C2753"/>
                </a:solidFill>
                <a:latin typeface="Calibri"/>
                <a:cs typeface="Calibri"/>
              </a:rPr>
              <a:t> procedimental: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8242" y="2755138"/>
            <a:ext cx="360680" cy="360680"/>
            <a:chOff x="158242" y="2755138"/>
            <a:chExt cx="360680" cy="360680"/>
          </a:xfrm>
        </p:grpSpPr>
        <p:sp>
          <p:nvSpPr>
            <p:cNvPr id="13" name="object 13"/>
            <p:cNvSpPr/>
            <p:nvPr/>
          </p:nvSpPr>
          <p:spPr>
            <a:xfrm>
              <a:off x="164592" y="276148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736" y="0"/>
                  </a:moveTo>
                  <a:lnTo>
                    <a:pt x="127551" y="6201"/>
                  </a:lnTo>
                  <a:lnTo>
                    <a:pt x="86049" y="23706"/>
                  </a:lnTo>
                  <a:lnTo>
                    <a:pt x="50887" y="50863"/>
                  </a:lnTo>
                  <a:lnTo>
                    <a:pt x="23720" y="86021"/>
                  </a:lnTo>
                  <a:lnTo>
                    <a:pt x="6206" y="127529"/>
                  </a:lnTo>
                  <a:lnTo>
                    <a:pt x="0" y="173736"/>
                  </a:lnTo>
                  <a:lnTo>
                    <a:pt x="6206" y="219942"/>
                  </a:lnTo>
                  <a:lnTo>
                    <a:pt x="23720" y="261450"/>
                  </a:lnTo>
                  <a:lnTo>
                    <a:pt x="50887" y="296608"/>
                  </a:lnTo>
                  <a:lnTo>
                    <a:pt x="86049" y="323765"/>
                  </a:lnTo>
                  <a:lnTo>
                    <a:pt x="127551" y="341270"/>
                  </a:lnTo>
                  <a:lnTo>
                    <a:pt x="173736" y="347472"/>
                  </a:lnTo>
                  <a:lnTo>
                    <a:pt x="219920" y="341270"/>
                  </a:lnTo>
                  <a:lnTo>
                    <a:pt x="261422" y="323765"/>
                  </a:lnTo>
                  <a:lnTo>
                    <a:pt x="296584" y="296608"/>
                  </a:lnTo>
                  <a:lnTo>
                    <a:pt x="323751" y="261450"/>
                  </a:lnTo>
                  <a:lnTo>
                    <a:pt x="341265" y="219942"/>
                  </a:lnTo>
                  <a:lnTo>
                    <a:pt x="347472" y="173736"/>
                  </a:lnTo>
                  <a:lnTo>
                    <a:pt x="341265" y="127529"/>
                  </a:lnTo>
                  <a:lnTo>
                    <a:pt x="323751" y="86021"/>
                  </a:lnTo>
                  <a:lnTo>
                    <a:pt x="296584" y="50863"/>
                  </a:lnTo>
                  <a:lnTo>
                    <a:pt x="261422" y="23706"/>
                  </a:lnTo>
                  <a:lnTo>
                    <a:pt x="219920" y="6201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1C27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64592" y="2761488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0" y="173736"/>
                  </a:moveTo>
                  <a:lnTo>
                    <a:pt x="6206" y="127529"/>
                  </a:lnTo>
                  <a:lnTo>
                    <a:pt x="23720" y="86021"/>
                  </a:lnTo>
                  <a:lnTo>
                    <a:pt x="50887" y="50863"/>
                  </a:lnTo>
                  <a:lnTo>
                    <a:pt x="86049" y="23706"/>
                  </a:lnTo>
                  <a:lnTo>
                    <a:pt x="127551" y="6201"/>
                  </a:lnTo>
                  <a:lnTo>
                    <a:pt x="173736" y="0"/>
                  </a:lnTo>
                  <a:lnTo>
                    <a:pt x="219920" y="6201"/>
                  </a:lnTo>
                  <a:lnTo>
                    <a:pt x="261422" y="23706"/>
                  </a:lnTo>
                  <a:lnTo>
                    <a:pt x="296584" y="50863"/>
                  </a:lnTo>
                  <a:lnTo>
                    <a:pt x="323751" y="86021"/>
                  </a:lnTo>
                  <a:lnTo>
                    <a:pt x="341265" y="127529"/>
                  </a:lnTo>
                  <a:lnTo>
                    <a:pt x="347472" y="173736"/>
                  </a:lnTo>
                  <a:lnTo>
                    <a:pt x="341265" y="219942"/>
                  </a:lnTo>
                  <a:lnTo>
                    <a:pt x="323751" y="261450"/>
                  </a:lnTo>
                  <a:lnTo>
                    <a:pt x="296584" y="296608"/>
                  </a:lnTo>
                  <a:lnTo>
                    <a:pt x="261422" y="323765"/>
                  </a:lnTo>
                  <a:lnTo>
                    <a:pt x="219920" y="341270"/>
                  </a:lnTo>
                  <a:lnTo>
                    <a:pt x="173736" y="347472"/>
                  </a:lnTo>
                  <a:lnTo>
                    <a:pt x="127551" y="341270"/>
                  </a:lnTo>
                  <a:lnTo>
                    <a:pt x="86049" y="323765"/>
                  </a:lnTo>
                  <a:lnTo>
                    <a:pt x="50887" y="296608"/>
                  </a:lnTo>
                  <a:lnTo>
                    <a:pt x="23720" y="261450"/>
                  </a:lnTo>
                  <a:lnTo>
                    <a:pt x="6206" y="219942"/>
                  </a:lnTo>
                  <a:lnTo>
                    <a:pt x="0" y="173736"/>
                  </a:lnTo>
                  <a:close/>
                </a:path>
              </a:pathLst>
            </a:custGeom>
            <a:ln w="12700">
              <a:solidFill>
                <a:srgbClr val="1C275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83870" y="2813684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3100" y="2827401"/>
            <a:ext cx="348170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Defina</a:t>
            </a:r>
            <a:r>
              <a:rPr dirty="0" sz="120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al</a:t>
            </a:r>
            <a:r>
              <a:rPr dirty="0" sz="120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menos</a:t>
            </a:r>
            <a:r>
              <a:rPr dirty="0" sz="1200" spc="-1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tres</a:t>
            </a:r>
            <a:r>
              <a:rPr dirty="0" sz="120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C2753"/>
                </a:solidFill>
                <a:latin typeface="Calibri"/>
                <a:cs typeface="Calibri"/>
              </a:rPr>
              <a:t>escenarios</a:t>
            </a:r>
            <a:r>
              <a:rPr dirty="0" sz="120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de</a:t>
            </a:r>
            <a:r>
              <a:rPr dirty="0" sz="120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despliegue</a:t>
            </a:r>
            <a:r>
              <a:rPr dirty="0" sz="120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C2753"/>
                </a:solidFill>
                <a:latin typeface="Calibri"/>
                <a:cs typeface="Calibri"/>
              </a:rPr>
              <a:t>(Tabla </a:t>
            </a:r>
            <a:r>
              <a:rPr dirty="0" sz="1200" spc="-25">
                <a:solidFill>
                  <a:srgbClr val="1C2753"/>
                </a:solidFill>
                <a:latin typeface="Calibri"/>
                <a:cs typeface="Calibri"/>
              </a:rPr>
              <a:t>1).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58242" y="3230626"/>
            <a:ext cx="360680" cy="360680"/>
            <a:chOff x="158242" y="3230626"/>
            <a:chExt cx="360680" cy="360680"/>
          </a:xfrm>
        </p:grpSpPr>
        <p:sp>
          <p:nvSpPr>
            <p:cNvPr id="18" name="object 18"/>
            <p:cNvSpPr/>
            <p:nvPr/>
          </p:nvSpPr>
          <p:spPr>
            <a:xfrm>
              <a:off x="164592" y="3236976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736" y="0"/>
                  </a:moveTo>
                  <a:lnTo>
                    <a:pt x="127551" y="6201"/>
                  </a:lnTo>
                  <a:lnTo>
                    <a:pt x="86049" y="23706"/>
                  </a:lnTo>
                  <a:lnTo>
                    <a:pt x="50887" y="50863"/>
                  </a:lnTo>
                  <a:lnTo>
                    <a:pt x="23720" y="86021"/>
                  </a:lnTo>
                  <a:lnTo>
                    <a:pt x="6206" y="127529"/>
                  </a:lnTo>
                  <a:lnTo>
                    <a:pt x="0" y="173736"/>
                  </a:lnTo>
                  <a:lnTo>
                    <a:pt x="6206" y="219942"/>
                  </a:lnTo>
                  <a:lnTo>
                    <a:pt x="23720" y="261450"/>
                  </a:lnTo>
                  <a:lnTo>
                    <a:pt x="50887" y="296608"/>
                  </a:lnTo>
                  <a:lnTo>
                    <a:pt x="86049" y="323765"/>
                  </a:lnTo>
                  <a:lnTo>
                    <a:pt x="127551" y="341270"/>
                  </a:lnTo>
                  <a:lnTo>
                    <a:pt x="173736" y="347472"/>
                  </a:lnTo>
                  <a:lnTo>
                    <a:pt x="219920" y="341270"/>
                  </a:lnTo>
                  <a:lnTo>
                    <a:pt x="261422" y="323765"/>
                  </a:lnTo>
                  <a:lnTo>
                    <a:pt x="296584" y="296608"/>
                  </a:lnTo>
                  <a:lnTo>
                    <a:pt x="323751" y="261450"/>
                  </a:lnTo>
                  <a:lnTo>
                    <a:pt x="341265" y="219942"/>
                  </a:lnTo>
                  <a:lnTo>
                    <a:pt x="347472" y="173736"/>
                  </a:lnTo>
                  <a:lnTo>
                    <a:pt x="341265" y="127529"/>
                  </a:lnTo>
                  <a:lnTo>
                    <a:pt x="323751" y="86021"/>
                  </a:lnTo>
                  <a:lnTo>
                    <a:pt x="296584" y="50863"/>
                  </a:lnTo>
                  <a:lnTo>
                    <a:pt x="261422" y="23706"/>
                  </a:lnTo>
                  <a:lnTo>
                    <a:pt x="219920" y="6201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1C27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64592" y="3236976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173736"/>
                  </a:moveTo>
                  <a:lnTo>
                    <a:pt x="6206" y="127529"/>
                  </a:lnTo>
                  <a:lnTo>
                    <a:pt x="23720" y="86021"/>
                  </a:lnTo>
                  <a:lnTo>
                    <a:pt x="50887" y="50863"/>
                  </a:lnTo>
                  <a:lnTo>
                    <a:pt x="86049" y="23706"/>
                  </a:lnTo>
                  <a:lnTo>
                    <a:pt x="127551" y="6201"/>
                  </a:lnTo>
                  <a:lnTo>
                    <a:pt x="173736" y="0"/>
                  </a:lnTo>
                  <a:lnTo>
                    <a:pt x="219920" y="6201"/>
                  </a:lnTo>
                  <a:lnTo>
                    <a:pt x="261422" y="23706"/>
                  </a:lnTo>
                  <a:lnTo>
                    <a:pt x="296584" y="50863"/>
                  </a:lnTo>
                  <a:lnTo>
                    <a:pt x="323751" y="86021"/>
                  </a:lnTo>
                  <a:lnTo>
                    <a:pt x="341265" y="127529"/>
                  </a:lnTo>
                  <a:lnTo>
                    <a:pt x="347472" y="173736"/>
                  </a:lnTo>
                  <a:lnTo>
                    <a:pt x="341265" y="219942"/>
                  </a:lnTo>
                  <a:lnTo>
                    <a:pt x="323751" y="261450"/>
                  </a:lnTo>
                  <a:lnTo>
                    <a:pt x="296584" y="296608"/>
                  </a:lnTo>
                  <a:lnTo>
                    <a:pt x="261422" y="323765"/>
                  </a:lnTo>
                  <a:lnTo>
                    <a:pt x="219920" y="341270"/>
                  </a:lnTo>
                  <a:lnTo>
                    <a:pt x="173736" y="347472"/>
                  </a:lnTo>
                  <a:lnTo>
                    <a:pt x="127551" y="341270"/>
                  </a:lnTo>
                  <a:lnTo>
                    <a:pt x="86049" y="323765"/>
                  </a:lnTo>
                  <a:lnTo>
                    <a:pt x="50887" y="296608"/>
                  </a:lnTo>
                  <a:lnTo>
                    <a:pt x="23720" y="261450"/>
                  </a:lnTo>
                  <a:lnTo>
                    <a:pt x="6206" y="219942"/>
                  </a:lnTo>
                  <a:lnTo>
                    <a:pt x="0" y="173736"/>
                  </a:lnTo>
                  <a:close/>
                </a:path>
              </a:pathLst>
            </a:custGeom>
            <a:ln w="12700">
              <a:solidFill>
                <a:srgbClr val="1C275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283870" y="3289172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3100" y="3302889"/>
            <a:ext cx="2982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Defina</a:t>
            </a:r>
            <a:r>
              <a:rPr dirty="0" sz="1200" spc="-4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al</a:t>
            </a:r>
            <a:r>
              <a:rPr dirty="0" sz="120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menos</a:t>
            </a:r>
            <a:r>
              <a:rPr dirty="0" sz="120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tres</a:t>
            </a:r>
            <a:r>
              <a:rPr dirty="0" sz="120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tipos</a:t>
            </a:r>
            <a:r>
              <a:rPr dirty="0" sz="120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de</a:t>
            </a:r>
            <a:r>
              <a:rPr dirty="0" sz="120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usuarios</a:t>
            </a:r>
            <a:r>
              <a:rPr dirty="0" sz="120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C2753"/>
                </a:solidFill>
                <a:latin typeface="Calibri"/>
                <a:cs typeface="Calibri"/>
              </a:rPr>
              <a:t>(Tabla</a:t>
            </a:r>
            <a:r>
              <a:rPr dirty="0" sz="1200" spc="-25">
                <a:solidFill>
                  <a:srgbClr val="1C2753"/>
                </a:solidFill>
                <a:latin typeface="Calibri"/>
                <a:cs typeface="Calibri"/>
              </a:rPr>
              <a:t> 2).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58242" y="3706114"/>
            <a:ext cx="360680" cy="360680"/>
            <a:chOff x="158242" y="3706114"/>
            <a:chExt cx="360680" cy="360680"/>
          </a:xfrm>
        </p:grpSpPr>
        <p:sp>
          <p:nvSpPr>
            <p:cNvPr id="23" name="object 23"/>
            <p:cNvSpPr/>
            <p:nvPr/>
          </p:nvSpPr>
          <p:spPr>
            <a:xfrm>
              <a:off x="164592" y="3712464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736" y="0"/>
                  </a:moveTo>
                  <a:lnTo>
                    <a:pt x="127551" y="6201"/>
                  </a:lnTo>
                  <a:lnTo>
                    <a:pt x="86049" y="23706"/>
                  </a:lnTo>
                  <a:lnTo>
                    <a:pt x="50887" y="50863"/>
                  </a:lnTo>
                  <a:lnTo>
                    <a:pt x="23720" y="86021"/>
                  </a:lnTo>
                  <a:lnTo>
                    <a:pt x="6206" y="127529"/>
                  </a:lnTo>
                  <a:lnTo>
                    <a:pt x="0" y="173736"/>
                  </a:lnTo>
                  <a:lnTo>
                    <a:pt x="6206" y="219920"/>
                  </a:lnTo>
                  <a:lnTo>
                    <a:pt x="23720" y="261422"/>
                  </a:lnTo>
                  <a:lnTo>
                    <a:pt x="50887" y="296584"/>
                  </a:lnTo>
                  <a:lnTo>
                    <a:pt x="86049" y="323751"/>
                  </a:lnTo>
                  <a:lnTo>
                    <a:pt x="127551" y="341265"/>
                  </a:lnTo>
                  <a:lnTo>
                    <a:pt x="173736" y="347472"/>
                  </a:lnTo>
                  <a:lnTo>
                    <a:pt x="219920" y="341265"/>
                  </a:lnTo>
                  <a:lnTo>
                    <a:pt x="261422" y="323751"/>
                  </a:lnTo>
                  <a:lnTo>
                    <a:pt x="296584" y="296584"/>
                  </a:lnTo>
                  <a:lnTo>
                    <a:pt x="323751" y="261422"/>
                  </a:lnTo>
                  <a:lnTo>
                    <a:pt x="341265" y="219920"/>
                  </a:lnTo>
                  <a:lnTo>
                    <a:pt x="347472" y="173736"/>
                  </a:lnTo>
                  <a:lnTo>
                    <a:pt x="341265" y="127529"/>
                  </a:lnTo>
                  <a:lnTo>
                    <a:pt x="323751" y="86021"/>
                  </a:lnTo>
                  <a:lnTo>
                    <a:pt x="296584" y="50863"/>
                  </a:lnTo>
                  <a:lnTo>
                    <a:pt x="261422" y="23706"/>
                  </a:lnTo>
                  <a:lnTo>
                    <a:pt x="219920" y="6201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1C27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64592" y="3712464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173736"/>
                  </a:moveTo>
                  <a:lnTo>
                    <a:pt x="6206" y="127529"/>
                  </a:lnTo>
                  <a:lnTo>
                    <a:pt x="23720" y="86021"/>
                  </a:lnTo>
                  <a:lnTo>
                    <a:pt x="50887" y="50863"/>
                  </a:lnTo>
                  <a:lnTo>
                    <a:pt x="86049" y="23706"/>
                  </a:lnTo>
                  <a:lnTo>
                    <a:pt x="127551" y="6201"/>
                  </a:lnTo>
                  <a:lnTo>
                    <a:pt x="173736" y="0"/>
                  </a:lnTo>
                  <a:lnTo>
                    <a:pt x="219920" y="6201"/>
                  </a:lnTo>
                  <a:lnTo>
                    <a:pt x="261422" y="23706"/>
                  </a:lnTo>
                  <a:lnTo>
                    <a:pt x="296584" y="50863"/>
                  </a:lnTo>
                  <a:lnTo>
                    <a:pt x="323751" y="86021"/>
                  </a:lnTo>
                  <a:lnTo>
                    <a:pt x="341265" y="127529"/>
                  </a:lnTo>
                  <a:lnTo>
                    <a:pt x="347472" y="173736"/>
                  </a:lnTo>
                  <a:lnTo>
                    <a:pt x="341265" y="219920"/>
                  </a:lnTo>
                  <a:lnTo>
                    <a:pt x="323751" y="261422"/>
                  </a:lnTo>
                  <a:lnTo>
                    <a:pt x="296584" y="296584"/>
                  </a:lnTo>
                  <a:lnTo>
                    <a:pt x="261422" y="323751"/>
                  </a:lnTo>
                  <a:lnTo>
                    <a:pt x="219920" y="341265"/>
                  </a:lnTo>
                  <a:lnTo>
                    <a:pt x="173736" y="347472"/>
                  </a:lnTo>
                  <a:lnTo>
                    <a:pt x="127551" y="341265"/>
                  </a:lnTo>
                  <a:lnTo>
                    <a:pt x="86049" y="323751"/>
                  </a:lnTo>
                  <a:lnTo>
                    <a:pt x="50887" y="296584"/>
                  </a:lnTo>
                  <a:lnTo>
                    <a:pt x="23720" y="261422"/>
                  </a:lnTo>
                  <a:lnTo>
                    <a:pt x="6206" y="219920"/>
                  </a:lnTo>
                  <a:lnTo>
                    <a:pt x="0" y="173736"/>
                  </a:lnTo>
                  <a:close/>
                </a:path>
              </a:pathLst>
            </a:custGeom>
            <a:ln w="12700">
              <a:solidFill>
                <a:srgbClr val="1C275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283870" y="3764991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3100" y="3778707"/>
            <a:ext cx="669670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1C2753"/>
                </a:solidFill>
                <a:latin typeface="Calibri"/>
                <a:cs typeface="Calibri"/>
              </a:rPr>
              <a:t>Proponga</a:t>
            </a:r>
            <a:r>
              <a:rPr dirty="0" sz="120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el</a:t>
            </a:r>
            <a:r>
              <a:rPr dirty="0" sz="1200" spc="-10">
                <a:solidFill>
                  <a:srgbClr val="1C2753"/>
                </a:solidFill>
                <a:latin typeface="Calibri"/>
                <a:cs typeface="Calibri"/>
              </a:rPr>
              <a:t> contenido</a:t>
            </a:r>
            <a:r>
              <a:rPr dirty="0" sz="1200" spc="-4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de</a:t>
            </a:r>
            <a:r>
              <a:rPr dirty="0" sz="120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un</a:t>
            </a:r>
            <a:r>
              <a:rPr dirty="0" sz="120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acta</a:t>
            </a:r>
            <a:r>
              <a:rPr dirty="0" sz="120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de</a:t>
            </a:r>
            <a:r>
              <a:rPr dirty="0" sz="120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definición</a:t>
            </a:r>
            <a:r>
              <a:rPr dirty="0" sz="120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de</a:t>
            </a:r>
            <a:r>
              <a:rPr dirty="0" sz="120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objetivos</a:t>
            </a:r>
            <a:r>
              <a:rPr dirty="0" sz="1200" spc="-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del</a:t>
            </a:r>
            <a:r>
              <a:rPr dirty="0" sz="120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C2753"/>
                </a:solidFill>
                <a:latin typeface="Calibri"/>
                <a:cs typeface="Calibri"/>
              </a:rPr>
              <a:t>software</a:t>
            </a:r>
            <a:r>
              <a:rPr dirty="0" sz="120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(Figura</a:t>
            </a:r>
            <a:r>
              <a:rPr dirty="0" sz="120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3):</a:t>
            </a:r>
            <a:r>
              <a:rPr dirty="0" sz="1200" spc="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al</a:t>
            </a:r>
            <a:r>
              <a:rPr dirty="0" sz="120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menos</a:t>
            </a:r>
            <a:r>
              <a:rPr dirty="0" sz="1200" spc="-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tres</a:t>
            </a:r>
            <a:r>
              <a:rPr dirty="0" sz="120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C2753"/>
                </a:solidFill>
                <a:latin typeface="Calibri"/>
                <a:cs typeface="Calibri"/>
              </a:rPr>
              <a:t>objetivos.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164592" y="658368"/>
              <a:ext cx="1371600" cy="384175"/>
            </a:xfrm>
            <a:custGeom>
              <a:avLst/>
              <a:gdLst/>
              <a:ahLst/>
              <a:cxnLst/>
              <a:rect l="l" t="t" r="r" b="b"/>
              <a:pathLst>
                <a:path w="1371600" h="384175">
                  <a:moveTo>
                    <a:pt x="137160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1371600" y="384048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4592" y="658368"/>
              <a:ext cx="1371600" cy="384175"/>
            </a:xfrm>
            <a:custGeom>
              <a:avLst/>
              <a:gdLst/>
              <a:ahLst/>
              <a:cxnLst/>
              <a:rect l="l" t="t" r="r" b="b"/>
              <a:pathLst>
                <a:path w="1371600" h="384175">
                  <a:moveTo>
                    <a:pt x="0" y="384048"/>
                  </a:moveTo>
                  <a:lnTo>
                    <a:pt x="1371600" y="384048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2D7C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502412" y="744982"/>
            <a:ext cx="69405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RESPUESTA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Ejercicio</a:t>
            </a:r>
            <a:r>
              <a:rPr dirty="0" spc="-30"/>
              <a:t> </a:t>
            </a:r>
            <a:r>
              <a:rPr dirty="0"/>
              <a:t>1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25"/>
              <a:t> </a:t>
            </a:r>
            <a:r>
              <a:rPr dirty="0"/>
              <a:t>Escenarios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25"/>
              <a:t> </a:t>
            </a:r>
            <a:r>
              <a:rPr dirty="0"/>
              <a:t>Despliegue</a:t>
            </a:r>
            <a:r>
              <a:rPr dirty="0" spc="-25"/>
              <a:t> </a:t>
            </a:r>
            <a:r>
              <a:rPr dirty="0" spc="-20"/>
              <a:t>(Tabla</a:t>
            </a:r>
            <a:r>
              <a:rPr dirty="0" spc="-40"/>
              <a:t> </a:t>
            </a:r>
            <a:r>
              <a:rPr dirty="0" spc="-25"/>
              <a:t>1)</a:t>
            </a:r>
          </a:p>
        </p:txBody>
      </p:sp>
      <p:sp>
        <p:nvSpPr>
          <p:cNvPr id="7" name="object 7"/>
          <p:cNvSpPr/>
          <p:nvPr/>
        </p:nvSpPr>
        <p:spPr>
          <a:xfrm>
            <a:off x="164592" y="1143000"/>
            <a:ext cx="8778240" cy="73660"/>
          </a:xfrm>
          <a:custGeom>
            <a:avLst/>
            <a:gdLst/>
            <a:ahLst/>
            <a:cxnLst/>
            <a:rect l="l" t="t" r="r" b="b"/>
            <a:pathLst>
              <a:path w="8778240" h="73659">
                <a:moveTo>
                  <a:pt x="8778240" y="0"/>
                </a:moveTo>
                <a:lnTo>
                  <a:pt x="0" y="0"/>
                </a:lnTo>
                <a:lnTo>
                  <a:pt x="0" y="73151"/>
                </a:lnTo>
                <a:lnTo>
                  <a:pt x="8778240" y="73151"/>
                </a:lnTo>
                <a:lnTo>
                  <a:pt x="8778240" y="0"/>
                </a:lnTo>
                <a:close/>
              </a:path>
            </a:pathLst>
          </a:custGeom>
          <a:solidFill>
            <a:srgbClr val="1A3AA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58242" y="1136650"/>
          <a:ext cx="8867140" cy="19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/>
                <a:gridCol w="2560320"/>
                <a:gridCol w="5120640"/>
              </a:tblGrid>
              <a:tr h="11874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3AAC"/>
                      </a:solidFill>
                      <a:prstDash val="solid"/>
                    </a:lnL>
                    <a:lnR w="12700">
                      <a:solidFill>
                        <a:srgbClr val="1A3AAC"/>
                      </a:solidFill>
                      <a:prstDash val="solid"/>
                    </a:lnR>
                    <a:lnB w="12700">
                      <a:solidFill>
                        <a:srgbClr val="C5C9D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Código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1C27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Escenario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1C27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Descripción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1C275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25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E1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Portal web de pacientes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Sitio web accesible desde cualquier navegador para agendar/cancelar citas.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25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E2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Recepción clínica sede actual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Mostrador donde la recepcionista atiende a los pacientes presencialmente.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ED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25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E3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Consultorio</a:t>
                      </a:r>
                      <a:r>
                        <a:rPr dirty="0" sz="1200" spc="-7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médico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Computador</a:t>
                      </a:r>
                      <a:r>
                        <a:rPr dirty="0" sz="1200" spc="-4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el 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consultorio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donde</a:t>
                      </a:r>
                      <a:r>
                        <a:rPr dirty="0" sz="1200" spc="-3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el médico revisa</a:t>
                      </a:r>
                      <a:r>
                        <a:rPr dirty="0" sz="1200" spc="-2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su agenda</a:t>
                      </a:r>
                      <a:r>
                        <a:rPr dirty="0" sz="1200" spc="-2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diaria.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212" y="3299459"/>
            <a:ext cx="358902" cy="29336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67359" y="3325748"/>
            <a:ext cx="527748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5A6A89"/>
                </a:solidFill>
                <a:latin typeface="Calibri"/>
                <a:cs typeface="Calibri"/>
              </a:rPr>
              <a:t>Estos</a:t>
            </a:r>
            <a:r>
              <a:rPr dirty="0" sz="1100" spc="-60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A6A89"/>
                </a:solidFill>
                <a:latin typeface="Calibri"/>
                <a:cs typeface="Calibri"/>
              </a:rPr>
              <a:t>escenarios</a:t>
            </a:r>
            <a:r>
              <a:rPr dirty="0" sz="1100" spc="-30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A6A89"/>
                </a:solidFill>
                <a:latin typeface="Calibri"/>
                <a:cs typeface="Calibri"/>
              </a:rPr>
              <a:t>definen</a:t>
            </a:r>
            <a:r>
              <a:rPr dirty="0" sz="1100" spc="-2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A6A89"/>
                </a:solidFill>
                <a:latin typeface="Calibri"/>
                <a:cs typeface="Calibri"/>
              </a:rPr>
              <a:t>dónde</a:t>
            </a:r>
            <a:r>
              <a:rPr dirty="0" sz="1100" spc="-2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A6A89"/>
                </a:solidFill>
                <a:latin typeface="Calibri"/>
                <a:cs typeface="Calibri"/>
              </a:rPr>
              <a:t>y</a:t>
            </a:r>
            <a:r>
              <a:rPr dirty="0" sz="1100" spc="-2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A6A89"/>
                </a:solidFill>
                <a:latin typeface="Calibri"/>
                <a:cs typeface="Calibri"/>
              </a:rPr>
              <a:t>cómo</a:t>
            </a:r>
            <a:r>
              <a:rPr dirty="0" sz="1100" spc="-1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A6A89"/>
                </a:solidFill>
                <a:latin typeface="Calibri"/>
                <a:cs typeface="Calibri"/>
              </a:rPr>
              <a:t>se</a:t>
            </a:r>
            <a:r>
              <a:rPr dirty="0" sz="1100" spc="-20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A6A89"/>
                </a:solidFill>
                <a:latin typeface="Calibri"/>
                <a:cs typeface="Calibri"/>
              </a:rPr>
              <a:t>usa</a:t>
            </a:r>
            <a:r>
              <a:rPr dirty="0" sz="1100" spc="-2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A6A89"/>
                </a:solidFill>
                <a:latin typeface="Calibri"/>
                <a:cs typeface="Calibri"/>
              </a:rPr>
              <a:t>el</a:t>
            </a:r>
            <a:r>
              <a:rPr dirty="0" sz="1100" spc="-10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A6A89"/>
                </a:solidFill>
                <a:latin typeface="Calibri"/>
                <a:cs typeface="Calibri"/>
              </a:rPr>
              <a:t>sistema,</a:t>
            </a:r>
            <a:r>
              <a:rPr dirty="0" sz="1100" spc="-4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A6A89"/>
                </a:solidFill>
                <a:latin typeface="Calibri"/>
                <a:cs typeface="Calibri"/>
              </a:rPr>
              <a:t>base</a:t>
            </a:r>
            <a:r>
              <a:rPr dirty="0" sz="1100" spc="-2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A6A89"/>
                </a:solidFill>
                <a:latin typeface="Calibri"/>
                <a:cs typeface="Calibri"/>
              </a:rPr>
              <a:t>para</a:t>
            </a:r>
            <a:r>
              <a:rPr dirty="0" sz="1100" spc="-3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A6A89"/>
                </a:solidFill>
                <a:latin typeface="Calibri"/>
                <a:cs typeface="Calibri"/>
              </a:rPr>
              <a:t>la</a:t>
            </a:r>
            <a:r>
              <a:rPr dirty="0" sz="1100" spc="-20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A6A89"/>
                </a:solidFill>
                <a:latin typeface="Calibri"/>
                <a:cs typeface="Calibri"/>
              </a:rPr>
              <a:t>educción</a:t>
            </a:r>
            <a:r>
              <a:rPr dirty="0" sz="1100" spc="-1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A6A89"/>
                </a:solidFill>
                <a:latin typeface="Calibri"/>
                <a:cs typeface="Calibri"/>
              </a:rPr>
              <a:t>de</a:t>
            </a:r>
            <a:r>
              <a:rPr dirty="0" sz="1100" spc="-20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5A6A89"/>
                </a:solidFill>
                <a:latin typeface="Calibri"/>
                <a:cs typeface="Calibri"/>
              </a:rPr>
              <a:t>requisitos.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412" y="744982"/>
            <a:ext cx="69405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RESPUESTA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1761" y="703834"/>
            <a:ext cx="33235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C2753"/>
                </a:solidFill>
                <a:latin typeface="Calibri"/>
                <a:cs typeface="Calibri"/>
              </a:rPr>
              <a:t>Ejercicio</a:t>
            </a:r>
            <a:r>
              <a:rPr dirty="0" sz="1600" spc="-25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C2753"/>
                </a:solidFill>
                <a:latin typeface="Calibri"/>
                <a:cs typeface="Calibri"/>
              </a:rPr>
              <a:t>1</a:t>
            </a:r>
            <a:r>
              <a:rPr dirty="0" sz="1600" spc="-15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C2753"/>
                </a:solidFill>
                <a:latin typeface="Calibri"/>
                <a:cs typeface="Calibri"/>
              </a:rPr>
              <a:t>–</a:t>
            </a:r>
            <a:r>
              <a:rPr dirty="0" sz="1600" spc="-20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C2753"/>
                </a:solidFill>
                <a:latin typeface="Calibri"/>
                <a:cs typeface="Calibri"/>
              </a:rPr>
              <a:t>Tipos</a:t>
            </a:r>
            <a:r>
              <a:rPr dirty="0" sz="1600" spc="-25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C2753"/>
                </a:solidFill>
                <a:latin typeface="Calibri"/>
                <a:cs typeface="Calibri"/>
              </a:rPr>
              <a:t>de</a:t>
            </a:r>
            <a:r>
              <a:rPr dirty="0" sz="1600" spc="-30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C2753"/>
                </a:solidFill>
                <a:latin typeface="Calibri"/>
                <a:cs typeface="Calibri"/>
              </a:rPr>
              <a:t>Usuarios</a:t>
            </a:r>
            <a:r>
              <a:rPr dirty="0" sz="1600" spc="-5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600" spc="-20" b="1">
                <a:solidFill>
                  <a:srgbClr val="1C2753"/>
                </a:solidFill>
                <a:latin typeface="Calibri"/>
                <a:cs typeface="Calibri"/>
              </a:rPr>
              <a:t>(Tabla</a:t>
            </a:r>
            <a:r>
              <a:rPr dirty="0" sz="1600" spc="-25" b="1">
                <a:solidFill>
                  <a:srgbClr val="1C2753"/>
                </a:solidFill>
                <a:latin typeface="Calibri"/>
                <a:cs typeface="Calibri"/>
              </a:rPr>
              <a:t> 2)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4592" y="1143000"/>
            <a:ext cx="8778240" cy="73660"/>
          </a:xfrm>
          <a:custGeom>
            <a:avLst/>
            <a:gdLst/>
            <a:ahLst/>
            <a:cxnLst/>
            <a:rect l="l" t="t" r="r" b="b"/>
            <a:pathLst>
              <a:path w="8778240" h="73659">
                <a:moveTo>
                  <a:pt x="8778240" y="0"/>
                </a:moveTo>
                <a:lnTo>
                  <a:pt x="0" y="0"/>
                </a:lnTo>
                <a:lnTo>
                  <a:pt x="0" y="73151"/>
                </a:lnTo>
                <a:lnTo>
                  <a:pt x="8778240" y="73151"/>
                </a:lnTo>
                <a:lnTo>
                  <a:pt x="8778240" y="0"/>
                </a:lnTo>
                <a:close/>
              </a:path>
            </a:pathLst>
          </a:custGeom>
          <a:solidFill>
            <a:srgbClr val="1A3AAC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58242" y="1136650"/>
          <a:ext cx="8867140" cy="1947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7280"/>
                <a:gridCol w="1828800"/>
                <a:gridCol w="5852160"/>
              </a:tblGrid>
              <a:tr h="118745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3AAC"/>
                      </a:solidFill>
                      <a:prstDash val="solid"/>
                    </a:lnL>
                    <a:lnR w="12700">
                      <a:solidFill>
                        <a:srgbClr val="1A3AAC"/>
                      </a:solidFill>
                      <a:prstDash val="solid"/>
                    </a:lnR>
                    <a:lnB w="12700">
                      <a:solidFill>
                        <a:srgbClr val="C5C9D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Código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1C27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Usuario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1C275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</a:t>
                      </a:r>
                      <a:r>
                        <a:rPr dirty="0" sz="12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qué</a:t>
                      </a:r>
                      <a:r>
                        <a:rPr dirty="0" sz="12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usa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2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software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1C275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2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U001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Paciente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2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Agendar,</a:t>
                      </a:r>
                      <a:r>
                        <a:rPr dirty="0" sz="1200" spc="-3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consultar</a:t>
                      </a:r>
                      <a:r>
                        <a:rPr dirty="0" sz="1200" spc="-2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200" spc="-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cancelar</a:t>
                      </a:r>
                      <a:r>
                        <a:rPr dirty="0" sz="1200" spc="-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sus</a:t>
                      </a:r>
                      <a:r>
                        <a:rPr dirty="0" sz="1200" spc="-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citas</a:t>
                      </a:r>
                      <a:r>
                        <a:rPr dirty="0" sz="1200" spc="-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médicas.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2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U002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Recepcionista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EDF0F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Registrar asistencia, reprogramar</a:t>
                      </a:r>
                      <a:r>
                        <a:rPr dirty="0" sz="1200" spc="-3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citas, apoyar</a:t>
                      </a:r>
                      <a:r>
                        <a:rPr dirty="0" sz="1200" spc="-2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a 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pacientes</a:t>
                      </a:r>
                      <a:r>
                        <a:rPr dirty="0" sz="1200" spc="-2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ventanilla.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ED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2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U003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 spc="-1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Médico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Consultar</a:t>
                      </a:r>
                      <a:r>
                        <a:rPr dirty="0" sz="1200" spc="-4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su</a:t>
                      </a:r>
                      <a:r>
                        <a:rPr dirty="0" sz="1200" spc="-1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agenda</a:t>
                      </a:r>
                      <a:r>
                        <a:rPr dirty="0" sz="1200" spc="-3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diaria,</a:t>
                      </a:r>
                      <a:r>
                        <a:rPr dirty="0" sz="1200" spc="-3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ver</a:t>
                      </a:r>
                      <a:r>
                        <a:rPr dirty="0" sz="1200" spc="-2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datos</a:t>
                      </a:r>
                      <a:r>
                        <a:rPr dirty="0" sz="1200" spc="-2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básicos del</a:t>
                      </a:r>
                      <a:r>
                        <a:rPr dirty="0" sz="1200" spc="-2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paciente</a:t>
                      </a:r>
                      <a:r>
                        <a:rPr dirty="0" sz="1200" spc="-3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200" spc="-1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tipo</a:t>
                      </a:r>
                      <a:r>
                        <a:rPr dirty="0" sz="1200" spc="-3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200" spc="-2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cita.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164592" y="658368"/>
              <a:ext cx="1371600" cy="384175"/>
            </a:xfrm>
            <a:custGeom>
              <a:avLst/>
              <a:gdLst/>
              <a:ahLst/>
              <a:cxnLst/>
              <a:rect l="l" t="t" r="r" b="b"/>
              <a:pathLst>
                <a:path w="1371600" h="384175">
                  <a:moveTo>
                    <a:pt x="137160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1371600" y="384048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4592" y="658368"/>
              <a:ext cx="1371600" cy="384175"/>
            </a:xfrm>
            <a:custGeom>
              <a:avLst/>
              <a:gdLst/>
              <a:ahLst/>
              <a:cxnLst/>
              <a:rect l="l" t="t" r="r" b="b"/>
              <a:pathLst>
                <a:path w="1371600" h="384175">
                  <a:moveTo>
                    <a:pt x="0" y="384048"/>
                  </a:moveTo>
                  <a:lnTo>
                    <a:pt x="1371600" y="384048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2D7C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502412" y="744982"/>
            <a:ext cx="69405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RESPUESTA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Ejercicio</a:t>
            </a:r>
            <a:r>
              <a:rPr dirty="0" spc="-25"/>
              <a:t> </a:t>
            </a:r>
            <a:r>
              <a:rPr dirty="0"/>
              <a:t>1</a:t>
            </a:r>
            <a:r>
              <a:rPr dirty="0" spc="-15"/>
              <a:t> </a:t>
            </a:r>
            <a:r>
              <a:rPr dirty="0"/>
              <a:t>–</a:t>
            </a:r>
            <a:r>
              <a:rPr dirty="0" spc="-15"/>
              <a:t> </a:t>
            </a:r>
            <a:r>
              <a:rPr dirty="0"/>
              <a:t>Acta</a:t>
            </a:r>
            <a:r>
              <a:rPr dirty="0" spc="-35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Definición</a:t>
            </a:r>
            <a:r>
              <a:rPr dirty="0" spc="-20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 spc="-10"/>
              <a:t>Objetivos</a:t>
            </a:r>
            <a:r>
              <a:rPr dirty="0" spc="-15"/>
              <a:t> </a:t>
            </a:r>
            <a:r>
              <a:rPr dirty="0"/>
              <a:t>(Figura</a:t>
            </a:r>
            <a:r>
              <a:rPr dirty="0" spc="10"/>
              <a:t> </a:t>
            </a:r>
            <a:r>
              <a:rPr dirty="0" spc="-25"/>
              <a:t>3)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58242" y="1136650"/>
            <a:ext cx="8790940" cy="86360"/>
            <a:chOff x="158242" y="1136650"/>
            <a:chExt cx="8790940" cy="86360"/>
          </a:xfrm>
        </p:grpSpPr>
        <p:sp>
          <p:nvSpPr>
            <p:cNvPr id="8" name="object 8"/>
            <p:cNvSpPr/>
            <p:nvPr/>
          </p:nvSpPr>
          <p:spPr>
            <a:xfrm>
              <a:off x="164592" y="1143000"/>
              <a:ext cx="8778240" cy="73660"/>
            </a:xfrm>
            <a:custGeom>
              <a:avLst/>
              <a:gdLst/>
              <a:ahLst/>
              <a:cxnLst/>
              <a:rect l="l" t="t" r="r" b="b"/>
              <a:pathLst>
                <a:path w="8778240" h="73659">
                  <a:moveTo>
                    <a:pt x="877824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8778240" y="73151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1A3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4592" y="1143000"/>
              <a:ext cx="8778240" cy="73660"/>
            </a:xfrm>
            <a:custGeom>
              <a:avLst/>
              <a:gdLst/>
              <a:ahLst/>
              <a:cxnLst/>
              <a:rect l="l" t="t" r="r" b="b"/>
              <a:pathLst>
                <a:path w="8778240" h="73659">
                  <a:moveTo>
                    <a:pt x="0" y="73151"/>
                  </a:moveTo>
                  <a:lnTo>
                    <a:pt x="8778240" y="73151"/>
                  </a:lnTo>
                  <a:lnTo>
                    <a:pt x="877824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1A3A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58242" y="1255522"/>
            <a:ext cx="8790940" cy="452120"/>
          </a:xfrm>
          <a:prstGeom prst="rect">
            <a:avLst/>
          </a:prstGeom>
          <a:solidFill>
            <a:srgbClr val="1C2753"/>
          </a:solidFill>
          <a:ln w="3175">
            <a:solidFill>
              <a:srgbClr val="1C2753"/>
            </a:solidFill>
          </a:ln>
        </p:spPr>
        <p:txBody>
          <a:bodyPr wrap="square" lIns="0" tIns="115570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910"/>
              </a:spcBef>
            </a:pPr>
            <a:r>
              <a:rPr dirty="0" sz="1300" b="1">
                <a:solidFill>
                  <a:srgbClr val="C8A127"/>
                </a:solidFill>
                <a:latin typeface="Calibri"/>
                <a:cs typeface="Calibri"/>
              </a:rPr>
              <a:t>Sistema</a:t>
            </a:r>
            <a:r>
              <a:rPr dirty="0" sz="1300" spc="-2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8A127"/>
                </a:solidFill>
                <a:latin typeface="Calibri"/>
                <a:cs typeface="Calibri"/>
              </a:rPr>
              <a:t>de</a:t>
            </a:r>
            <a:r>
              <a:rPr dirty="0" sz="1300" spc="-3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8A127"/>
                </a:solidFill>
                <a:latin typeface="Calibri"/>
                <a:cs typeface="Calibri"/>
              </a:rPr>
              <a:t>Gestión</a:t>
            </a:r>
            <a:r>
              <a:rPr dirty="0" sz="1300" spc="-2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8A127"/>
                </a:solidFill>
                <a:latin typeface="Calibri"/>
                <a:cs typeface="Calibri"/>
              </a:rPr>
              <a:t>de</a:t>
            </a:r>
            <a:r>
              <a:rPr dirty="0" sz="1300" spc="-3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8A127"/>
                </a:solidFill>
                <a:latin typeface="Calibri"/>
                <a:cs typeface="Calibri"/>
              </a:rPr>
              <a:t>Citas</a:t>
            </a:r>
            <a:r>
              <a:rPr dirty="0" sz="1300" spc="-1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8A127"/>
                </a:solidFill>
                <a:latin typeface="Calibri"/>
                <a:cs typeface="Calibri"/>
              </a:rPr>
              <a:t>Médicas</a:t>
            </a:r>
            <a:r>
              <a:rPr dirty="0" sz="1300" spc="-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8A127"/>
                </a:solidFill>
                <a:latin typeface="Calibri"/>
                <a:cs typeface="Calibri"/>
              </a:rPr>
              <a:t>(SGCM)</a:t>
            </a:r>
            <a:r>
              <a:rPr dirty="0" sz="1300" spc="25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8A127"/>
                </a:solidFill>
                <a:latin typeface="Calibri"/>
                <a:cs typeface="Calibri"/>
              </a:rPr>
              <a:t>|</a:t>
            </a:r>
            <a:r>
              <a:rPr dirty="0" sz="1300" spc="24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8A127"/>
                </a:solidFill>
                <a:latin typeface="Calibri"/>
                <a:cs typeface="Calibri"/>
              </a:rPr>
              <a:t>Denominación</a:t>
            </a:r>
            <a:r>
              <a:rPr dirty="0" sz="1300" spc="1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8A127"/>
                </a:solidFill>
                <a:latin typeface="Calibri"/>
                <a:cs typeface="Calibri"/>
              </a:rPr>
              <a:t>del</a:t>
            </a:r>
            <a:r>
              <a:rPr dirty="0" sz="1300" spc="-1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C8A127"/>
                </a:solidFill>
                <a:latin typeface="Calibri"/>
                <a:cs typeface="Calibri"/>
              </a:rPr>
              <a:t>proyecto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4592" y="1810511"/>
            <a:ext cx="502920" cy="475615"/>
          </a:xfrm>
          <a:custGeom>
            <a:avLst/>
            <a:gdLst/>
            <a:ahLst/>
            <a:cxnLst/>
            <a:rect l="l" t="t" r="r" b="b"/>
            <a:pathLst>
              <a:path w="502920" h="475614">
                <a:moveTo>
                  <a:pt x="0" y="475488"/>
                </a:moveTo>
                <a:lnTo>
                  <a:pt x="502920" y="475488"/>
                </a:lnTo>
                <a:lnTo>
                  <a:pt x="502920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12700">
            <a:solidFill>
              <a:srgbClr val="C8A1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58242" y="1804161"/>
            <a:ext cx="515620" cy="488315"/>
          </a:xfrm>
          <a:prstGeom prst="rect">
            <a:avLst/>
          </a:prstGeom>
          <a:solidFill>
            <a:srgbClr val="C8A127"/>
          </a:solidFill>
        </p:spPr>
        <p:txBody>
          <a:bodyPr wrap="square" lIns="0" tIns="109855" rIns="0" bIns="0" rtlCol="0" vert="horz">
            <a:spAutoFit/>
          </a:bodyPr>
          <a:lstStyle/>
          <a:p>
            <a:pPr marL="154305">
              <a:lnSpc>
                <a:spcPct val="100000"/>
              </a:lnSpc>
              <a:spcBef>
                <a:spcPts val="865"/>
              </a:spcBef>
            </a:pPr>
            <a:r>
              <a:rPr dirty="0" sz="1600" spc="-25" b="1">
                <a:solidFill>
                  <a:srgbClr val="0D1540"/>
                </a:solidFill>
                <a:latin typeface="Calibri"/>
                <a:cs typeface="Calibri"/>
              </a:rPr>
              <a:t>01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7512" y="1810511"/>
            <a:ext cx="8275320" cy="475615"/>
          </a:xfrm>
          <a:prstGeom prst="rect">
            <a:avLst/>
          </a:prstGeom>
          <a:solidFill>
            <a:srgbClr val="EDF0F8"/>
          </a:solidFill>
          <a:ln w="12700">
            <a:solidFill>
              <a:srgbClr val="C5C9D7"/>
            </a:solidFill>
          </a:ln>
        </p:spPr>
        <p:txBody>
          <a:bodyPr wrap="square" lIns="0" tIns="133350" rIns="0" bIns="0" rtlCol="0" vert="horz">
            <a:spAutoFit/>
          </a:bodyPr>
          <a:lstStyle/>
          <a:p>
            <a:pPr marL="200660">
              <a:lnSpc>
                <a:spcPct val="100000"/>
              </a:lnSpc>
              <a:spcBef>
                <a:spcPts val="1050"/>
              </a:spcBef>
            </a:pP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Permitir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que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los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pacientes</a:t>
            </a:r>
            <a:r>
              <a:rPr dirty="0" sz="125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agenden</a:t>
            </a:r>
            <a:r>
              <a:rPr dirty="0" sz="12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y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cancelen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citas</a:t>
            </a:r>
            <a:r>
              <a:rPr dirty="0" sz="1250" spc="-4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médicas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vía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spc="-20">
                <a:solidFill>
                  <a:srgbClr val="1C2753"/>
                </a:solidFill>
                <a:latin typeface="Calibri"/>
                <a:cs typeface="Calibri"/>
              </a:rPr>
              <a:t>web.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4592" y="2432304"/>
            <a:ext cx="502920" cy="475615"/>
          </a:xfrm>
          <a:custGeom>
            <a:avLst/>
            <a:gdLst/>
            <a:ahLst/>
            <a:cxnLst/>
            <a:rect l="l" t="t" r="r" b="b"/>
            <a:pathLst>
              <a:path w="502920" h="475614">
                <a:moveTo>
                  <a:pt x="0" y="475488"/>
                </a:moveTo>
                <a:lnTo>
                  <a:pt x="502920" y="475488"/>
                </a:lnTo>
                <a:lnTo>
                  <a:pt x="502920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12700">
            <a:solidFill>
              <a:srgbClr val="C8A1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158242" y="2425954"/>
            <a:ext cx="515620" cy="488315"/>
          </a:xfrm>
          <a:prstGeom prst="rect">
            <a:avLst/>
          </a:prstGeom>
          <a:solidFill>
            <a:srgbClr val="C8A127"/>
          </a:solidFill>
        </p:spPr>
        <p:txBody>
          <a:bodyPr wrap="square" lIns="0" tIns="110490" rIns="0" bIns="0" rtlCol="0" vert="horz">
            <a:spAutoFit/>
          </a:bodyPr>
          <a:lstStyle/>
          <a:p>
            <a:pPr marL="154305">
              <a:lnSpc>
                <a:spcPct val="100000"/>
              </a:lnSpc>
              <a:spcBef>
                <a:spcPts val="870"/>
              </a:spcBef>
            </a:pPr>
            <a:r>
              <a:rPr dirty="0" sz="1600" spc="-25" b="1">
                <a:solidFill>
                  <a:srgbClr val="0D1540"/>
                </a:solidFill>
                <a:latin typeface="Calibri"/>
                <a:cs typeface="Calibri"/>
              </a:rPr>
              <a:t>02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7512" y="2432304"/>
            <a:ext cx="8275320" cy="475615"/>
          </a:xfrm>
          <a:prstGeom prst="rect">
            <a:avLst/>
          </a:prstGeom>
          <a:solidFill>
            <a:srgbClr val="FFFFFF"/>
          </a:solidFill>
          <a:ln w="12700">
            <a:solidFill>
              <a:srgbClr val="C5C9D7"/>
            </a:solidFill>
          </a:ln>
        </p:spPr>
        <p:txBody>
          <a:bodyPr wrap="square" lIns="0" tIns="133350" rIns="0" bIns="0" rtlCol="0" vert="horz">
            <a:spAutoFit/>
          </a:bodyPr>
          <a:lstStyle/>
          <a:p>
            <a:pPr marL="200660">
              <a:lnSpc>
                <a:spcPct val="100000"/>
              </a:lnSpc>
              <a:spcBef>
                <a:spcPts val="1050"/>
              </a:spcBef>
            </a:pP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Proveer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a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los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médicos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una</a:t>
            </a:r>
            <a:r>
              <a:rPr dirty="0" sz="125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vista</a:t>
            </a:r>
            <a:r>
              <a:rPr dirty="0" sz="1250" spc="-4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actualizada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de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su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agenda</a:t>
            </a:r>
            <a:r>
              <a:rPr dirty="0" sz="12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diaria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de</a:t>
            </a: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 citas.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64592" y="3054095"/>
            <a:ext cx="502920" cy="475615"/>
          </a:xfrm>
          <a:custGeom>
            <a:avLst/>
            <a:gdLst/>
            <a:ahLst/>
            <a:cxnLst/>
            <a:rect l="l" t="t" r="r" b="b"/>
            <a:pathLst>
              <a:path w="502920" h="475614">
                <a:moveTo>
                  <a:pt x="0" y="475487"/>
                </a:moveTo>
                <a:lnTo>
                  <a:pt x="502920" y="475487"/>
                </a:lnTo>
                <a:lnTo>
                  <a:pt x="502920" y="0"/>
                </a:lnTo>
                <a:lnTo>
                  <a:pt x="0" y="0"/>
                </a:lnTo>
                <a:lnTo>
                  <a:pt x="0" y="475487"/>
                </a:lnTo>
                <a:close/>
              </a:path>
            </a:pathLst>
          </a:custGeom>
          <a:ln w="12700">
            <a:solidFill>
              <a:srgbClr val="C8A1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58242" y="3047745"/>
            <a:ext cx="515620" cy="488315"/>
          </a:xfrm>
          <a:prstGeom prst="rect">
            <a:avLst/>
          </a:prstGeom>
          <a:solidFill>
            <a:srgbClr val="C8A127"/>
          </a:solidFill>
        </p:spPr>
        <p:txBody>
          <a:bodyPr wrap="square" lIns="0" tIns="109855" rIns="0" bIns="0" rtlCol="0" vert="horz">
            <a:spAutoFit/>
          </a:bodyPr>
          <a:lstStyle/>
          <a:p>
            <a:pPr marL="154305">
              <a:lnSpc>
                <a:spcPct val="100000"/>
              </a:lnSpc>
              <a:spcBef>
                <a:spcPts val="865"/>
              </a:spcBef>
            </a:pPr>
            <a:r>
              <a:rPr dirty="0" sz="1600" spc="-25" b="1">
                <a:solidFill>
                  <a:srgbClr val="0D1540"/>
                </a:solidFill>
                <a:latin typeface="Calibri"/>
                <a:cs typeface="Calibri"/>
              </a:rPr>
              <a:t>03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7512" y="3054095"/>
            <a:ext cx="8275320" cy="475615"/>
          </a:xfrm>
          <a:prstGeom prst="rect">
            <a:avLst/>
          </a:prstGeom>
          <a:solidFill>
            <a:srgbClr val="EDF0F8"/>
          </a:solidFill>
          <a:ln w="12700">
            <a:solidFill>
              <a:srgbClr val="C5C9D7"/>
            </a:solidFill>
          </a:ln>
        </p:spPr>
        <p:txBody>
          <a:bodyPr wrap="square" lIns="0" tIns="133985" rIns="0" bIns="0" rtlCol="0" vert="horz">
            <a:spAutoFit/>
          </a:bodyPr>
          <a:lstStyle/>
          <a:p>
            <a:pPr marL="200660">
              <a:lnSpc>
                <a:spcPct val="100000"/>
              </a:lnSpc>
              <a:spcBef>
                <a:spcPts val="1055"/>
              </a:spcBef>
            </a:pP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Facilitar</a:t>
            </a:r>
            <a:r>
              <a:rPr dirty="0" sz="125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a</a:t>
            </a:r>
            <a:r>
              <a:rPr dirty="0" sz="1250" spc="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la</a:t>
            </a:r>
            <a:r>
              <a:rPr dirty="0" sz="1250" spc="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recepcionista</a:t>
            </a:r>
            <a:r>
              <a:rPr dirty="0" sz="1250" spc="-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el</a:t>
            </a:r>
            <a:r>
              <a:rPr dirty="0" sz="1250" spc="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registro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 de</a:t>
            </a:r>
            <a:r>
              <a:rPr dirty="0" sz="1250" spc="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asistencia</a:t>
            </a:r>
            <a:r>
              <a:rPr dirty="0" sz="12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y</a:t>
            </a:r>
            <a:r>
              <a:rPr dirty="0" sz="1250" spc="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la</a:t>
            </a:r>
            <a:r>
              <a:rPr dirty="0" sz="1250" spc="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reprogramación</a:t>
            </a:r>
            <a:r>
              <a:rPr dirty="0" sz="1250" spc="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de</a:t>
            </a:r>
            <a:r>
              <a:rPr dirty="0" sz="1250" spc="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citas.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64592" y="3675888"/>
            <a:ext cx="502920" cy="475615"/>
          </a:xfrm>
          <a:custGeom>
            <a:avLst/>
            <a:gdLst/>
            <a:ahLst/>
            <a:cxnLst/>
            <a:rect l="l" t="t" r="r" b="b"/>
            <a:pathLst>
              <a:path w="502920" h="475614">
                <a:moveTo>
                  <a:pt x="0" y="475488"/>
                </a:moveTo>
                <a:lnTo>
                  <a:pt x="502920" y="475488"/>
                </a:lnTo>
                <a:lnTo>
                  <a:pt x="502920" y="0"/>
                </a:lnTo>
                <a:lnTo>
                  <a:pt x="0" y="0"/>
                </a:lnTo>
                <a:lnTo>
                  <a:pt x="0" y="475488"/>
                </a:lnTo>
                <a:close/>
              </a:path>
            </a:pathLst>
          </a:custGeom>
          <a:ln w="12700">
            <a:solidFill>
              <a:srgbClr val="C8A1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58242" y="3669538"/>
            <a:ext cx="515620" cy="488315"/>
          </a:xfrm>
          <a:prstGeom prst="rect">
            <a:avLst/>
          </a:prstGeom>
          <a:solidFill>
            <a:srgbClr val="C8A127"/>
          </a:solidFill>
        </p:spPr>
        <p:txBody>
          <a:bodyPr wrap="square" lIns="0" tIns="110489" rIns="0" bIns="0" rtlCol="0" vert="horz">
            <a:spAutoFit/>
          </a:bodyPr>
          <a:lstStyle/>
          <a:p>
            <a:pPr marL="154305">
              <a:lnSpc>
                <a:spcPct val="100000"/>
              </a:lnSpc>
              <a:spcBef>
                <a:spcPts val="869"/>
              </a:spcBef>
            </a:pPr>
            <a:r>
              <a:rPr dirty="0" sz="1600" spc="-25" b="1">
                <a:solidFill>
                  <a:srgbClr val="0D1540"/>
                </a:solidFill>
                <a:latin typeface="Calibri"/>
                <a:cs typeface="Calibri"/>
              </a:rPr>
              <a:t>04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7512" y="3675888"/>
            <a:ext cx="8275320" cy="475615"/>
          </a:xfrm>
          <a:prstGeom prst="rect">
            <a:avLst/>
          </a:prstGeom>
          <a:solidFill>
            <a:srgbClr val="FFFFFF"/>
          </a:solidFill>
          <a:ln w="12700">
            <a:solidFill>
              <a:srgbClr val="C5C9D7"/>
            </a:solidFill>
          </a:ln>
        </p:spPr>
        <p:txBody>
          <a:bodyPr wrap="square" lIns="0" tIns="133985" rIns="0" bIns="0" rtlCol="0" vert="horz">
            <a:spAutoFit/>
          </a:bodyPr>
          <a:lstStyle/>
          <a:p>
            <a:pPr marL="200660">
              <a:lnSpc>
                <a:spcPct val="100000"/>
              </a:lnSpc>
              <a:spcBef>
                <a:spcPts val="1055"/>
              </a:spcBef>
            </a:pP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Dejar</a:t>
            </a:r>
            <a:r>
              <a:rPr dirty="0" sz="125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preparado</a:t>
            </a:r>
            <a:r>
              <a:rPr dirty="0" sz="12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el</a:t>
            </a:r>
            <a:r>
              <a:rPr dirty="0" sz="125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sistema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para</a:t>
            </a:r>
            <a:r>
              <a:rPr dirty="0" sz="12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soportar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múltiples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sedes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en</a:t>
            </a:r>
            <a:r>
              <a:rPr dirty="0" sz="12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el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futuro.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43331" y="4194759"/>
            <a:ext cx="50399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5255" indent="-122555">
              <a:lnSpc>
                <a:spcPct val="100000"/>
              </a:lnSpc>
              <a:spcBef>
                <a:spcPts val="95"/>
              </a:spcBef>
              <a:buSzPct val="105000"/>
              <a:buFont typeface="Segoe UI Symbol"/>
              <a:buChar char="✓"/>
              <a:tabLst>
                <a:tab pos="135255" algn="l"/>
              </a:tabLst>
            </a:pPr>
            <a:r>
              <a:rPr dirty="0" sz="1000" i="1">
                <a:solidFill>
                  <a:srgbClr val="5A6A89"/>
                </a:solidFill>
                <a:latin typeface="Calibri"/>
                <a:cs typeface="Calibri"/>
              </a:rPr>
              <a:t>Este</a:t>
            </a:r>
            <a:r>
              <a:rPr dirty="0" sz="1000" spc="-1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A6A89"/>
                </a:solidFill>
                <a:latin typeface="Calibri"/>
                <a:cs typeface="Calibri"/>
              </a:rPr>
              <a:t>ejercicio</a:t>
            </a:r>
            <a:r>
              <a:rPr dirty="0" sz="1000" spc="-5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A6A89"/>
                </a:solidFill>
                <a:latin typeface="Calibri"/>
                <a:cs typeface="Calibri"/>
              </a:rPr>
              <a:t>entrena</a:t>
            </a:r>
            <a:r>
              <a:rPr dirty="0" sz="1000" spc="-2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A6A89"/>
                </a:solidFill>
                <a:latin typeface="Calibri"/>
                <a:cs typeface="Calibri"/>
              </a:rPr>
              <a:t>las</a:t>
            </a:r>
            <a:r>
              <a:rPr dirty="0" sz="1000" spc="-2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A6A89"/>
                </a:solidFill>
                <a:latin typeface="Calibri"/>
                <a:cs typeface="Calibri"/>
              </a:rPr>
              <a:t>dos</a:t>
            </a:r>
            <a:r>
              <a:rPr dirty="0" sz="1000" spc="-20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A6A89"/>
                </a:solidFill>
                <a:latin typeface="Calibri"/>
                <a:cs typeface="Calibri"/>
              </a:rPr>
              <a:t>primeras</a:t>
            </a:r>
            <a:r>
              <a:rPr dirty="0" sz="1000" spc="-3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A6A89"/>
                </a:solidFill>
                <a:latin typeface="Calibri"/>
                <a:cs typeface="Calibri"/>
              </a:rPr>
              <a:t>partes</a:t>
            </a:r>
            <a:r>
              <a:rPr dirty="0" sz="1000" spc="-20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A6A89"/>
                </a:solidFill>
                <a:latin typeface="Calibri"/>
                <a:cs typeface="Calibri"/>
              </a:rPr>
              <a:t>del</a:t>
            </a:r>
            <a:r>
              <a:rPr dirty="0" sz="1000" spc="-3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A6A89"/>
                </a:solidFill>
                <a:latin typeface="Calibri"/>
                <a:cs typeface="Calibri"/>
              </a:rPr>
              <a:t>modelo:</a:t>
            </a:r>
            <a:r>
              <a:rPr dirty="0" sz="1000" spc="-40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A6A89"/>
                </a:solidFill>
                <a:latin typeface="Calibri"/>
                <a:cs typeface="Calibri"/>
              </a:rPr>
              <a:t>definición</a:t>
            </a:r>
            <a:r>
              <a:rPr dirty="0" sz="1000" spc="-4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A6A89"/>
                </a:solidFill>
                <a:latin typeface="Calibri"/>
                <a:cs typeface="Calibri"/>
              </a:rPr>
              <a:t>de</a:t>
            </a:r>
            <a:r>
              <a:rPr dirty="0" sz="1000" spc="-20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A6A89"/>
                </a:solidFill>
                <a:latin typeface="Calibri"/>
                <a:cs typeface="Calibri"/>
              </a:rPr>
              <a:t>contexto</a:t>
            </a:r>
            <a:r>
              <a:rPr dirty="0" sz="1000" spc="-2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5A6A89"/>
                </a:solidFill>
                <a:latin typeface="Calibri"/>
                <a:cs typeface="Calibri"/>
              </a:rPr>
              <a:t>y</a:t>
            </a:r>
            <a:r>
              <a:rPr dirty="0" sz="1000" spc="-15" i="1">
                <a:solidFill>
                  <a:srgbClr val="5A6A89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5A6A89"/>
                </a:solidFill>
                <a:latin typeface="Calibri"/>
                <a:cs typeface="Calibri"/>
              </a:rPr>
              <a:t>stakeholders.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0" y="1938527"/>
            <a:ext cx="9144000" cy="914400"/>
          </a:xfrm>
          <a:prstGeom prst="rect">
            <a:avLst/>
          </a:prstGeom>
          <a:solidFill>
            <a:srgbClr val="1C2753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R="71755">
              <a:lnSpc>
                <a:spcPts val="4135"/>
              </a:lnSpc>
              <a:tabLst>
                <a:tab pos="2748915" algn="l"/>
              </a:tabLst>
            </a:pPr>
            <a:r>
              <a:rPr dirty="0" sz="3600" b="1">
                <a:solidFill>
                  <a:srgbClr val="C8A127"/>
                </a:solidFill>
                <a:latin typeface="Calibri"/>
                <a:cs typeface="Calibri"/>
              </a:rPr>
              <a:t>E</a:t>
            </a:r>
            <a:r>
              <a:rPr dirty="0" sz="3600" spc="-22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8A127"/>
                </a:solidFill>
                <a:latin typeface="Calibri"/>
                <a:cs typeface="Calibri"/>
              </a:rPr>
              <a:t>J</a:t>
            </a:r>
            <a:r>
              <a:rPr dirty="0" sz="3600" spc="-22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8A127"/>
                </a:solidFill>
                <a:latin typeface="Calibri"/>
                <a:cs typeface="Calibri"/>
              </a:rPr>
              <a:t>E</a:t>
            </a:r>
            <a:r>
              <a:rPr dirty="0" sz="3600" spc="-22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8A127"/>
                </a:solidFill>
                <a:latin typeface="Calibri"/>
                <a:cs typeface="Calibri"/>
              </a:rPr>
              <a:t>R</a:t>
            </a:r>
            <a:r>
              <a:rPr dirty="0" sz="3600" spc="-22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8A127"/>
                </a:solidFill>
                <a:latin typeface="Calibri"/>
                <a:cs typeface="Calibri"/>
              </a:rPr>
              <a:t>C</a:t>
            </a:r>
            <a:r>
              <a:rPr dirty="0" sz="3600" spc="-22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8A127"/>
                </a:solidFill>
                <a:latin typeface="Calibri"/>
                <a:cs typeface="Calibri"/>
              </a:rPr>
              <a:t>I</a:t>
            </a:r>
            <a:r>
              <a:rPr dirty="0" sz="3600" spc="-22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8A127"/>
                </a:solidFill>
                <a:latin typeface="Calibri"/>
                <a:cs typeface="Calibri"/>
              </a:rPr>
              <a:t>C</a:t>
            </a:r>
            <a:r>
              <a:rPr dirty="0" sz="3600" spc="-22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8A127"/>
                </a:solidFill>
                <a:latin typeface="Calibri"/>
                <a:cs typeface="Calibri"/>
              </a:rPr>
              <a:t>I</a:t>
            </a:r>
            <a:r>
              <a:rPr dirty="0" sz="3600" spc="-22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3600" spc="-50" b="1">
                <a:solidFill>
                  <a:srgbClr val="C8A127"/>
                </a:solidFill>
                <a:latin typeface="Calibri"/>
                <a:cs typeface="Calibri"/>
              </a:rPr>
              <a:t>O</a:t>
            </a:r>
            <a:r>
              <a:rPr dirty="0" sz="3600" b="1">
                <a:solidFill>
                  <a:srgbClr val="C8A127"/>
                </a:solidFill>
                <a:latin typeface="Calibri"/>
                <a:cs typeface="Calibri"/>
              </a:rPr>
              <a:t>	</a:t>
            </a:r>
            <a:r>
              <a:rPr dirty="0" sz="3600" spc="-50" b="1">
                <a:solidFill>
                  <a:srgbClr val="C8A127"/>
                </a:solidFill>
                <a:latin typeface="Calibri"/>
                <a:cs typeface="Calibri"/>
              </a:rPr>
              <a:t>2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02689" y="3068193"/>
            <a:ext cx="573786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0">
                <a:solidFill>
                  <a:srgbClr val="FFFFFF"/>
                </a:solidFill>
                <a:latin typeface="Calibri Light"/>
                <a:cs typeface="Calibri Light"/>
              </a:rPr>
              <a:t>De la</a:t>
            </a:r>
            <a:r>
              <a:rPr dirty="0" sz="1700" spc="-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700" spc="-10" b="0">
                <a:solidFill>
                  <a:srgbClr val="FFFFFF"/>
                </a:solidFill>
                <a:latin typeface="Calibri Light"/>
                <a:cs typeface="Calibri Light"/>
              </a:rPr>
              <a:t>Caracterización</a:t>
            </a:r>
            <a:r>
              <a:rPr dirty="0" sz="1700" b="0">
                <a:solidFill>
                  <a:srgbClr val="FFFFFF"/>
                </a:solidFill>
                <a:latin typeface="Calibri Light"/>
                <a:cs typeface="Calibri Light"/>
              </a:rPr>
              <a:t> a</a:t>
            </a:r>
            <a:r>
              <a:rPr dirty="0" sz="1700" spc="-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700" b="0">
                <a:solidFill>
                  <a:srgbClr val="FFFFFF"/>
                </a:solidFill>
                <a:latin typeface="Calibri Light"/>
                <a:cs typeface="Calibri Light"/>
              </a:rPr>
              <a:t>la </a:t>
            </a:r>
            <a:r>
              <a:rPr dirty="0" sz="1700" spc="-10" b="0">
                <a:solidFill>
                  <a:srgbClr val="FFFFFF"/>
                </a:solidFill>
                <a:latin typeface="Calibri Light"/>
                <a:cs typeface="Calibri Light"/>
              </a:rPr>
              <a:t>Especificación</a:t>
            </a:r>
            <a:r>
              <a:rPr dirty="0" sz="1700" spc="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700" b="0">
                <a:solidFill>
                  <a:srgbClr val="FFFFFF"/>
                </a:solidFill>
                <a:latin typeface="Calibri Light"/>
                <a:cs typeface="Calibri Light"/>
              </a:rPr>
              <a:t>de</a:t>
            </a:r>
            <a:r>
              <a:rPr dirty="0" sz="1700" spc="-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700" b="0">
                <a:solidFill>
                  <a:srgbClr val="FFFFFF"/>
                </a:solidFill>
                <a:latin typeface="Calibri Light"/>
                <a:cs typeface="Calibri Light"/>
              </a:rPr>
              <a:t>un</a:t>
            </a:r>
            <a:r>
              <a:rPr dirty="0" sz="1700" spc="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700" spc="-10" b="0">
                <a:solidFill>
                  <a:srgbClr val="FFFFFF"/>
                </a:solidFill>
                <a:latin typeface="Calibri Light"/>
                <a:cs typeface="Calibri Light"/>
              </a:rPr>
              <a:t>Requisito</a:t>
            </a:r>
            <a:r>
              <a:rPr dirty="0" sz="1700" spc="-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1700" spc="-10" b="0">
                <a:solidFill>
                  <a:srgbClr val="FFFFFF"/>
                </a:solidFill>
                <a:latin typeface="Calibri Light"/>
                <a:cs typeface="Calibri Light"/>
              </a:rPr>
              <a:t>Funcional</a:t>
            </a:r>
            <a:endParaRPr sz="17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164592" y="658368"/>
              <a:ext cx="1371600" cy="384175"/>
            </a:xfrm>
            <a:custGeom>
              <a:avLst/>
              <a:gdLst/>
              <a:ahLst/>
              <a:cxnLst/>
              <a:rect l="l" t="t" r="r" b="b"/>
              <a:pathLst>
                <a:path w="1371600" h="384175">
                  <a:moveTo>
                    <a:pt x="137160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1371600" y="384048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B895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4592" y="658368"/>
              <a:ext cx="1371600" cy="384175"/>
            </a:xfrm>
            <a:custGeom>
              <a:avLst/>
              <a:gdLst/>
              <a:ahLst/>
              <a:cxnLst/>
              <a:rect l="l" t="t" r="r" b="b"/>
              <a:pathLst>
                <a:path w="1371600" h="384175">
                  <a:moveTo>
                    <a:pt x="0" y="384048"/>
                  </a:moveTo>
                  <a:lnTo>
                    <a:pt x="1371600" y="384048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B8952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709676" y="744982"/>
            <a:ext cx="28067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EJ.</a:t>
            </a:r>
            <a:r>
              <a:rPr dirty="0" sz="11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Enunciado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40"/>
              <a:t> </a:t>
            </a:r>
            <a:r>
              <a:rPr dirty="0" spc="-10"/>
              <a:t>Caracterización</a:t>
            </a:r>
            <a:r>
              <a:rPr dirty="0" spc="-30"/>
              <a:t> </a:t>
            </a:r>
            <a:r>
              <a:rPr dirty="0"/>
              <a:t>del</a:t>
            </a:r>
            <a:r>
              <a:rPr dirty="0" spc="-50"/>
              <a:t> </a:t>
            </a:r>
            <a:r>
              <a:rPr dirty="0"/>
              <a:t>Escenario E1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58242" y="1136650"/>
            <a:ext cx="8790940" cy="1320800"/>
            <a:chOff x="158242" y="1136650"/>
            <a:chExt cx="8790940" cy="1320800"/>
          </a:xfrm>
        </p:grpSpPr>
        <p:sp>
          <p:nvSpPr>
            <p:cNvPr id="8" name="object 8"/>
            <p:cNvSpPr/>
            <p:nvPr/>
          </p:nvSpPr>
          <p:spPr>
            <a:xfrm>
              <a:off x="164592" y="1143000"/>
              <a:ext cx="8778240" cy="73660"/>
            </a:xfrm>
            <a:custGeom>
              <a:avLst/>
              <a:gdLst/>
              <a:ahLst/>
              <a:cxnLst/>
              <a:rect l="l" t="t" r="r" b="b"/>
              <a:pathLst>
                <a:path w="8778240" h="73659">
                  <a:moveTo>
                    <a:pt x="877824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8778240" y="73151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1A3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4592" y="1143000"/>
              <a:ext cx="8778240" cy="73660"/>
            </a:xfrm>
            <a:custGeom>
              <a:avLst/>
              <a:gdLst/>
              <a:ahLst/>
              <a:cxnLst/>
              <a:rect l="l" t="t" r="r" b="b"/>
              <a:pathLst>
                <a:path w="8778240" h="73659">
                  <a:moveTo>
                    <a:pt x="0" y="73151"/>
                  </a:moveTo>
                  <a:lnTo>
                    <a:pt x="8778240" y="73151"/>
                  </a:lnTo>
                  <a:lnTo>
                    <a:pt x="877824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1A3A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4592" y="1261871"/>
              <a:ext cx="8778240" cy="1188720"/>
            </a:xfrm>
            <a:custGeom>
              <a:avLst/>
              <a:gdLst/>
              <a:ahLst/>
              <a:cxnLst/>
              <a:rect l="l" t="t" r="r" b="b"/>
              <a:pathLst>
                <a:path w="8778240" h="1188720">
                  <a:moveTo>
                    <a:pt x="8778240" y="0"/>
                  </a:moveTo>
                  <a:lnTo>
                    <a:pt x="0" y="0"/>
                  </a:lnTo>
                  <a:lnTo>
                    <a:pt x="0" y="1188720"/>
                  </a:lnTo>
                  <a:lnTo>
                    <a:pt x="8778240" y="1188720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EDF0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64592" y="1261871"/>
              <a:ext cx="8778240" cy="1188720"/>
            </a:xfrm>
            <a:custGeom>
              <a:avLst/>
              <a:gdLst/>
              <a:ahLst/>
              <a:cxnLst/>
              <a:rect l="l" t="t" r="r" b="b"/>
              <a:pathLst>
                <a:path w="8778240" h="1188720">
                  <a:moveTo>
                    <a:pt x="0" y="1188720"/>
                  </a:moveTo>
                  <a:lnTo>
                    <a:pt x="8778240" y="1188720"/>
                  </a:lnTo>
                  <a:lnTo>
                    <a:pt x="8778240" y="0"/>
                  </a:lnTo>
                  <a:lnTo>
                    <a:pt x="0" y="0"/>
                  </a:lnTo>
                  <a:lnTo>
                    <a:pt x="0" y="1188720"/>
                  </a:lnTo>
                  <a:close/>
                </a:path>
              </a:pathLst>
            </a:custGeom>
            <a:ln w="12699">
              <a:solidFill>
                <a:srgbClr val="C5C9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4140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820"/>
              </a:spcBef>
            </a:pPr>
            <a:r>
              <a:rPr dirty="0"/>
              <a:t>Escenario E1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30"/>
              <a:t> </a:t>
            </a:r>
            <a:r>
              <a:rPr dirty="0"/>
              <a:t>Portal web</a:t>
            </a:r>
            <a:r>
              <a:rPr dirty="0" spc="-25"/>
              <a:t> </a:t>
            </a:r>
            <a:r>
              <a:rPr dirty="0"/>
              <a:t>de</a:t>
            </a:r>
            <a:r>
              <a:rPr dirty="0" spc="-30"/>
              <a:t> </a:t>
            </a:r>
            <a:r>
              <a:rPr dirty="0" spc="-10"/>
              <a:t>pacientes:</a:t>
            </a:r>
          </a:p>
          <a:p>
            <a:pPr marL="647700" indent="-342900">
              <a:lnSpc>
                <a:spcPct val="100000"/>
              </a:lnSpc>
              <a:spcBef>
                <a:spcPts val="690"/>
              </a:spcBef>
              <a:buChar char="•"/>
              <a:tabLst>
                <a:tab pos="647700" algn="l"/>
              </a:tabLst>
            </a:pP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El</a:t>
            </a:r>
            <a:r>
              <a:rPr dirty="0" sz="1200" spc="-1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paciente</a:t>
            </a:r>
            <a:r>
              <a:rPr dirty="0" sz="1200" spc="-3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debe</a:t>
            </a:r>
            <a:r>
              <a:rPr dirty="0" sz="1200" spc="-3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poder</a:t>
            </a:r>
            <a:r>
              <a:rPr dirty="0" sz="1200" spc="-40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ver</a:t>
            </a:r>
            <a:r>
              <a:rPr dirty="0" sz="1200" spc="-10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las</a:t>
            </a:r>
            <a:r>
              <a:rPr dirty="0" sz="1200" spc="-1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citas</a:t>
            </a:r>
            <a:r>
              <a:rPr dirty="0" sz="1200" spc="-10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disponibles</a:t>
            </a:r>
            <a:r>
              <a:rPr dirty="0" sz="1200" spc="-4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por</a:t>
            </a:r>
            <a:r>
              <a:rPr dirty="0" sz="1200" spc="-2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médico</a:t>
            </a:r>
            <a:r>
              <a:rPr dirty="0" sz="1200" spc="-10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y</a:t>
            </a:r>
            <a:r>
              <a:rPr dirty="0" sz="1200" spc="-1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39496B"/>
                </a:solidFill>
                <a:latin typeface="Calibri"/>
                <a:cs typeface="Calibri"/>
              </a:rPr>
              <a:t>especialidad.</a:t>
            </a:r>
            <a:endParaRPr sz="1200">
              <a:latin typeface="Calibri"/>
              <a:cs typeface="Calibri"/>
            </a:endParaRPr>
          </a:p>
          <a:p>
            <a:pPr marL="647700" indent="-342900">
              <a:lnSpc>
                <a:spcPct val="100000"/>
              </a:lnSpc>
              <a:buChar char="•"/>
              <a:tabLst>
                <a:tab pos="647700" algn="l"/>
              </a:tabLst>
            </a:pP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El</a:t>
            </a:r>
            <a:r>
              <a:rPr dirty="0" sz="1200" spc="-1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paciente</a:t>
            </a:r>
            <a:r>
              <a:rPr dirty="0" sz="1200" spc="-2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solo</a:t>
            </a:r>
            <a:r>
              <a:rPr dirty="0" sz="1200" spc="-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puede</a:t>
            </a:r>
            <a:r>
              <a:rPr dirty="0" sz="1200" spc="-30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agendar</a:t>
            </a:r>
            <a:r>
              <a:rPr dirty="0" sz="1200" spc="-40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citas</a:t>
            </a:r>
            <a:r>
              <a:rPr dirty="0" sz="1200" spc="-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en</a:t>
            </a:r>
            <a:r>
              <a:rPr dirty="0" sz="1200" spc="-1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39496B"/>
                </a:solidFill>
                <a:latin typeface="Calibri"/>
                <a:cs typeface="Calibri"/>
              </a:rPr>
              <a:t>horarios</a:t>
            </a:r>
            <a:r>
              <a:rPr dirty="0" sz="1200" spc="-3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39496B"/>
                </a:solidFill>
                <a:latin typeface="Calibri"/>
                <a:cs typeface="Calibri"/>
              </a:rPr>
              <a:t>libres.</a:t>
            </a:r>
            <a:endParaRPr sz="1200">
              <a:latin typeface="Calibri"/>
              <a:cs typeface="Calibri"/>
            </a:endParaRPr>
          </a:p>
          <a:p>
            <a:pPr marL="647700" indent="-342900">
              <a:lnSpc>
                <a:spcPct val="100000"/>
              </a:lnSpc>
              <a:buChar char="•"/>
              <a:tabLst>
                <a:tab pos="647700" algn="l"/>
              </a:tabLst>
            </a:pP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El</a:t>
            </a:r>
            <a:r>
              <a:rPr dirty="0" sz="1200" spc="-10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sistema</a:t>
            </a:r>
            <a:r>
              <a:rPr dirty="0" sz="1200" spc="-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debe</a:t>
            </a:r>
            <a:r>
              <a:rPr dirty="0" sz="1200" spc="-30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enviar</a:t>
            </a:r>
            <a:r>
              <a:rPr dirty="0" sz="1200" spc="-30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un</a:t>
            </a:r>
            <a:r>
              <a:rPr dirty="0" sz="1200" spc="-1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correo</a:t>
            </a:r>
            <a:r>
              <a:rPr dirty="0" sz="1200" spc="-10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de</a:t>
            </a:r>
            <a:r>
              <a:rPr dirty="0" sz="1200" spc="-1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39496B"/>
                </a:solidFill>
                <a:latin typeface="Calibri"/>
                <a:cs typeface="Calibri"/>
              </a:rPr>
              <a:t>confirmación</a:t>
            </a:r>
            <a:r>
              <a:rPr dirty="0" sz="1200" spc="-1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al</a:t>
            </a:r>
            <a:r>
              <a:rPr dirty="0" sz="1200" spc="-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paciente</a:t>
            </a:r>
            <a:r>
              <a:rPr dirty="0" sz="1200" spc="-30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cuando</a:t>
            </a:r>
            <a:r>
              <a:rPr dirty="0" sz="1200" spc="-20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se</a:t>
            </a:r>
            <a:r>
              <a:rPr dirty="0" sz="1200" spc="-5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39496B"/>
                </a:solidFill>
                <a:latin typeface="Calibri"/>
                <a:cs typeface="Calibri"/>
              </a:rPr>
              <a:t>registra</a:t>
            </a:r>
            <a:r>
              <a:rPr dirty="0" sz="1200" spc="-30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b="0">
                <a:solidFill>
                  <a:srgbClr val="39496B"/>
                </a:solidFill>
                <a:latin typeface="Calibri"/>
                <a:cs typeface="Calibri"/>
              </a:rPr>
              <a:t>una</a:t>
            </a:r>
            <a:r>
              <a:rPr dirty="0" sz="1200" spc="-30" b="0">
                <a:solidFill>
                  <a:srgbClr val="39496B"/>
                </a:solidFill>
                <a:latin typeface="Calibri"/>
                <a:cs typeface="Calibri"/>
              </a:rPr>
              <a:t> </a:t>
            </a:r>
            <a:r>
              <a:rPr dirty="0" sz="1200" spc="-10" b="0">
                <a:solidFill>
                  <a:srgbClr val="39496B"/>
                </a:solidFill>
                <a:latin typeface="Calibri"/>
                <a:cs typeface="Calibri"/>
              </a:rPr>
              <a:t>cita.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/>
              <a:t>Con</a:t>
            </a:r>
            <a:r>
              <a:rPr dirty="0" sz="1200" spc="-15"/>
              <a:t> </a:t>
            </a:r>
            <a:r>
              <a:rPr dirty="0" sz="1200"/>
              <a:t>base</a:t>
            </a:r>
            <a:r>
              <a:rPr dirty="0" sz="1200" spc="-25"/>
              <a:t> </a:t>
            </a:r>
            <a:r>
              <a:rPr dirty="0" sz="1200"/>
              <a:t>en</a:t>
            </a:r>
            <a:r>
              <a:rPr dirty="0" sz="1200" spc="-10"/>
              <a:t> </a:t>
            </a:r>
            <a:r>
              <a:rPr dirty="0" sz="1200"/>
              <a:t>el</a:t>
            </a:r>
            <a:r>
              <a:rPr dirty="0" sz="1200" spc="-15"/>
              <a:t> </a:t>
            </a:r>
            <a:r>
              <a:rPr dirty="0" sz="1200"/>
              <a:t>modelo </a:t>
            </a:r>
            <a:r>
              <a:rPr dirty="0" sz="1200" spc="-10"/>
              <a:t>procedimental:</a:t>
            </a:r>
            <a:endParaRPr sz="1200"/>
          </a:p>
        </p:txBody>
      </p:sp>
      <p:grpSp>
        <p:nvGrpSpPr>
          <p:cNvPr id="13" name="object 13"/>
          <p:cNvGrpSpPr/>
          <p:nvPr/>
        </p:nvGrpSpPr>
        <p:grpSpPr>
          <a:xfrm>
            <a:off x="158242" y="2846577"/>
            <a:ext cx="360680" cy="360680"/>
            <a:chOff x="158242" y="2846577"/>
            <a:chExt cx="360680" cy="360680"/>
          </a:xfrm>
        </p:grpSpPr>
        <p:sp>
          <p:nvSpPr>
            <p:cNvPr id="14" name="object 14"/>
            <p:cNvSpPr/>
            <p:nvPr/>
          </p:nvSpPr>
          <p:spPr>
            <a:xfrm>
              <a:off x="164592" y="285292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173736" y="0"/>
                  </a:moveTo>
                  <a:lnTo>
                    <a:pt x="127551" y="6201"/>
                  </a:lnTo>
                  <a:lnTo>
                    <a:pt x="86049" y="23706"/>
                  </a:lnTo>
                  <a:lnTo>
                    <a:pt x="50887" y="50863"/>
                  </a:lnTo>
                  <a:lnTo>
                    <a:pt x="23720" y="86021"/>
                  </a:lnTo>
                  <a:lnTo>
                    <a:pt x="6206" y="127529"/>
                  </a:lnTo>
                  <a:lnTo>
                    <a:pt x="0" y="173736"/>
                  </a:lnTo>
                  <a:lnTo>
                    <a:pt x="6206" y="219942"/>
                  </a:lnTo>
                  <a:lnTo>
                    <a:pt x="23720" y="261450"/>
                  </a:lnTo>
                  <a:lnTo>
                    <a:pt x="50887" y="296608"/>
                  </a:lnTo>
                  <a:lnTo>
                    <a:pt x="86049" y="323765"/>
                  </a:lnTo>
                  <a:lnTo>
                    <a:pt x="127551" y="341270"/>
                  </a:lnTo>
                  <a:lnTo>
                    <a:pt x="173736" y="347472"/>
                  </a:lnTo>
                  <a:lnTo>
                    <a:pt x="219920" y="341270"/>
                  </a:lnTo>
                  <a:lnTo>
                    <a:pt x="261422" y="323765"/>
                  </a:lnTo>
                  <a:lnTo>
                    <a:pt x="296584" y="296608"/>
                  </a:lnTo>
                  <a:lnTo>
                    <a:pt x="323751" y="261450"/>
                  </a:lnTo>
                  <a:lnTo>
                    <a:pt x="341265" y="219942"/>
                  </a:lnTo>
                  <a:lnTo>
                    <a:pt x="347472" y="173736"/>
                  </a:lnTo>
                  <a:lnTo>
                    <a:pt x="341265" y="127529"/>
                  </a:lnTo>
                  <a:lnTo>
                    <a:pt x="323751" y="86021"/>
                  </a:lnTo>
                  <a:lnTo>
                    <a:pt x="296584" y="50863"/>
                  </a:lnTo>
                  <a:lnTo>
                    <a:pt x="261422" y="23706"/>
                  </a:lnTo>
                  <a:lnTo>
                    <a:pt x="219920" y="6201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1C27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64592" y="2852927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80">
                  <a:moveTo>
                    <a:pt x="0" y="173736"/>
                  </a:moveTo>
                  <a:lnTo>
                    <a:pt x="6206" y="127529"/>
                  </a:lnTo>
                  <a:lnTo>
                    <a:pt x="23720" y="86021"/>
                  </a:lnTo>
                  <a:lnTo>
                    <a:pt x="50887" y="50863"/>
                  </a:lnTo>
                  <a:lnTo>
                    <a:pt x="86049" y="23706"/>
                  </a:lnTo>
                  <a:lnTo>
                    <a:pt x="127551" y="6201"/>
                  </a:lnTo>
                  <a:lnTo>
                    <a:pt x="173736" y="0"/>
                  </a:lnTo>
                  <a:lnTo>
                    <a:pt x="219920" y="6201"/>
                  </a:lnTo>
                  <a:lnTo>
                    <a:pt x="261422" y="23706"/>
                  </a:lnTo>
                  <a:lnTo>
                    <a:pt x="296584" y="50863"/>
                  </a:lnTo>
                  <a:lnTo>
                    <a:pt x="323751" y="86021"/>
                  </a:lnTo>
                  <a:lnTo>
                    <a:pt x="341265" y="127529"/>
                  </a:lnTo>
                  <a:lnTo>
                    <a:pt x="347472" y="173736"/>
                  </a:lnTo>
                  <a:lnTo>
                    <a:pt x="341265" y="219942"/>
                  </a:lnTo>
                  <a:lnTo>
                    <a:pt x="323751" y="261450"/>
                  </a:lnTo>
                  <a:lnTo>
                    <a:pt x="296584" y="296608"/>
                  </a:lnTo>
                  <a:lnTo>
                    <a:pt x="261422" y="323765"/>
                  </a:lnTo>
                  <a:lnTo>
                    <a:pt x="219920" y="341270"/>
                  </a:lnTo>
                  <a:lnTo>
                    <a:pt x="173736" y="347472"/>
                  </a:lnTo>
                  <a:lnTo>
                    <a:pt x="127551" y="341270"/>
                  </a:lnTo>
                  <a:lnTo>
                    <a:pt x="86049" y="323765"/>
                  </a:lnTo>
                  <a:lnTo>
                    <a:pt x="50887" y="296608"/>
                  </a:lnTo>
                  <a:lnTo>
                    <a:pt x="23720" y="261450"/>
                  </a:lnTo>
                  <a:lnTo>
                    <a:pt x="6206" y="219942"/>
                  </a:lnTo>
                  <a:lnTo>
                    <a:pt x="0" y="173736"/>
                  </a:lnTo>
                  <a:close/>
                </a:path>
              </a:pathLst>
            </a:custGeom>
            <a:ln w="12700">
              <a:solidFill>
                <a:srgbClr val="1C275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83870" y="2905125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3100" y="2950845"/>
            <a:ext cx="52406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Defina</a:t>
            </a:r>
            <a:r>
              <a:rPr dirty="0" sz="120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un</a:t>
            </a:r>
            <a:r>
              <a:rPr dirty="0" sz="120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código</a:t>
            </a:r>
            <a:r>
              <a:rPr dirty="0" sz="1200" spc="-1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y</a:t>
            </a:r>
            <a:r>
              <a:rPr dirty="0" sz="120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nombre</a:t>
            </a:r>
            <a:r>
              <a:rPr dirty="0" sz="1200" spc="-4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para</a:t>
            </a:r>
            <a:r>
              <a:rPr dirty="0" sz="120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un</a:t>
            </a:r>
            <a:r>
              <a:rPr dirty="0" sz="120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C2753"/>
                </a:solidFill>
                <a:latin typeface="Calibri"/>
                <a:cs typeface="Calibri"/>
              </a:rPr>
              <a:t>requisito</a:t>
            </a:r>
            <a:r>
              <a:rPr dirty="0" sz="1200" spc="-4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funcional</a:t>
            </a:r>
            <a:r>
              <a:rPr dirty="0" sz="1200" spc="-4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que</a:t>
            </a:r>
            <a:r>
              <a:rPr dirty="0" sz="120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cubra</a:t>
            </a:r>
            <a:r>
              <a:rPr dirty="0" sz="120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esta</a:t>
            </a:r>
            <a:r>
              <a:rPr dirty="0" sz="120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C2753"/>
                </a:solidFill>
                <a:latin typeface="Calibri"/>
                <a:cs typeface="Calibri"/>
              </a:rPr>
              <a:t>funcionalidad.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58242" y="3322065"/>
            <a:ext cx="360680" cy="360680"/>
            <a:chOff x="158242" y="3322065"/>
            <a:chExt cx="360680" cy="360680"/>
          </a:xfrm>
        </p:grpSpPr>
        <p:sp>
          <p:nvSpPr>
            <p:cNvPr id="19" name="object 19"/>
            <p:cNvSpPr/>
            <p:nvPr/>
          </p:nvSpPr>
          <p:spPr>
            <a:xfrm>
              <a:off x="164592" y="332841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173736" y="0"/>
                  </a:moveTo>
                  <a:lnTo>
                    <a:pt x="127551" y="6201"/>
                  </a:lnTo>
                  <a:lnTo>
                    <a:pt x="86049" y="23706"/>
                  </a:lnTo>
                  <a:lnTo>
                    <a:pt x="50887" y="50863"/>
                  </a:lnTo>
                  <a:lnTo>
                    <a:pt x="23720" y="86021"/>
                  </a:lnTo>
                  <a:lnTo>
                    <a:pt x="6206" y="127529"/>
                  </a:lnTo>
                  <a:lnTo>
                    <a:pt x="0" y="173735"/>
                  </a:lnTo>
                  <a:lnTo>
                    <a:pt x="6206" y="219942"/>
                  </a:lnTo>
                  <a:lnTo>
                    <a:pt x="23720" y="261450"/>
                  </a:lnTo>
                  <a:lnTo>
                    <a:pt x="50887" y="296608"/>
                  </a:lnTo>
                  <a:lnTo>
                    <a:pt x="86049" y="323765"/>
                  </a:lnTo>
                  <a:lnTo>
                    <a:pt x="127551" y="341270"/>
                  </a:lnTo>
                  <a:lnTo>
                    <a:pt x="173736" y="347471"/>
                  </a:lnTo>
                  <a:lnTo>
                    <a:pt x="219920" y="341270"/>
                  </a:lnTo>
                  <a:lnTo>
                    <a:pt x="261422" y="323765"/>
                  </a:lnTo>
                  <a:lnTo>
                    <a:pt x="296584" y="296608"/>
                  </a:lnTo>
                  <a:lnTo>
                    <a:pt x="323751" y="261450"/>
                  </a:lnTo>
                  <a:lnTo>
                    <a:pt x="341265" y="219942"/>
                  </a:lnTo>
                  <a:lnTo>
                    <a:pt x="347472" y="173735"/>
                  </a:lnTo>
                  <a:lnTo>
                    <a:pt x="341265" y="127529"/>
                  </a:lnTo>
                  <a:lnTo>
                    <a:pt x="323751" y="86021"/>
                  </a:lnTo>
                  <a:lnTo>
                    <a:pt x="296584" y="50863"/>
                  </a:lnTo>
                  <a:lnTo>
                    <a:pt x="261422" y="23706"/>
                  </a:lnTo>
                  <a:lnTo>
                    <a:pt x="219920" y="6201"/>
                  </a:lnTo>
                  <a:lnTo>
                    <a:pt x="173736" y="0"/>
                  </a:lnTo>
                  <a:close/>
                </a:path>
              </a:pathLst>
            </a:custGeom>
            <a:solidFill>
              <a:srgbClr val="1C27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64592" y="3328415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80" h="347979">
                  <a:moveTo>
                    <a:pt x="0" y="173735"/>
                  </a:moveTo>
                  <a:lnTo>
                    <a:pt x="6206" y="127529"/>
                  </a:lnTo>
                  <a:lnTo>
                    <a:pt x="23720" y="86021"/>
                  </a:lnTo>
                  <a:lnTo>
                    <a:pt x="50887" y="50863"/>
                  </a:lnTo>
                  <a:lnTo>
                    <a:pt x="86049" y="23706"/>
                  </a:lnTo>
                  <a:lnTo>
                    <a:pt x="127551" y="6201"/>
                  </a:lnTo>
                  <a:lnTo>
                    <a:pt x="173736" y="0"/>
                  </a:lnTo>
                  <a:lnTo>
                    <a:pt x="219920" y="6201"/>
                  </a:lnTo>
                  <a:lnTo>
                    <a:pt x="261422" y="23706"/>
                  </a:lnTo>
                  <a:lnTo>
                    <a:pt x="296584" y="50863"/>
                  </a:lnTo>
                  <a:lnTo>
                    <a:pt x="323751" y="86021"/>
                  </a:lnTo>
                  <a:lnTo>
                    <a:pt x="341265" y="127529"/>
                  </a:lnTo>
                  <a:lnTo>
                    <a:pt x="347472" y="173735"/>
                  </a:lnTo>
                  <a:lnTo>
                    <a:pt x="341265" y="219942"/>
                  </a:lnTo>
                  <a:lnTo>
                    <a:pt x="323751" y="261450"/>
                  </a:lnTo>
                  <a:lnTo>
                    <a:pt x="296584" y="296608"/>
                  </a:lnTo>
                  <a:lnTo>
                    <a:pt x="261422" y="323765"/>
                  </a:lnTo>
                  <a:lnTo>
                    <a:pt x="219920" y="341270"/>
                  </a:lnTo>
                  <a:lnTo>
                    <a:pt x="173736" y="347471"/>
                  </a:lnTo>
                  <a:lnTo>
                    <a:pt x="127551" y="341270"/>
                  </a:lnTo>
                  <a:lnTo>
                    <a:pt x="86049" y="323765"/>
                  </a:lnTo>
                  <a:lnTo>
                    <a:pt x="50887" y="296608"/>
                  </a:lnTo>
                  <a:lnTo>
                    <a:pt x="23720" y="261450"/>
                  </a:lnTo>
                  <a:lnTo>
                    <a:pt x="6206" y="219942"/>
                  </a:lnTo>
                  <a:lnTo>
                    <a:pt x="0" y="173735"/>
                  </a:lnTo>
                  <a:close/>
                </a:path>
              </a:pathLst>
            </a:custGeom>
            <a:ln w="12700">
              <a:solidFill>
                <a:srgbClr val="1C275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283870" y="3380613"/>
            <a:ext cx="10922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3100" y="3334892"/>
            <a:ext cx="795845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Complete</a:t>
            </a:r>
            <a:r>
              <a:rPr dirty="0" sz="1200" spc="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una</a:t>
            </a:r>
            <a:r>
              <a:rPr dirty="0" sz="1200" spc="-1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ficha de</a:t>
            </a:r>
            <a:r>
              <a:rPr dirty="0" sz="1200" spc="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C2753"/>
                </a:solidFill>
                <a:latin typeface="Calibri"/>
                <a:cs typeface="Calibri"/>
              </a:rPr>
              <a:t>especificación</a:t>
            </a:r>
            <a:r>
              <a:rPr dirty="0" sz="1200" spc="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de</a:t>
            </a:r>
            <a:r>
              <a:rPr dirty="0" sz="1200" spc="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C2753"/>
                </a:solidFill>
                <a:latin typeface="Calibri"/>
                <a:cs typeface="Calibri"/>
              </a:rPr>
              <a:t>requisitos</a:t>
            </a:r>
            <a:r>
              <a:rPr dirty="0" sz="120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(Figura 10)</a:t>
            </a:r>
            <a:r>
              <a:rPr dirty="0" sz="1200" spc="1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con:</a:t>
            </a:r>
            <a:r>
              <a:rPr dirty="0" sz="1200" spc="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C2753"/>
                </a:solidFill>
                <a:latin typeface="Calibri"/>
                <a:cs typeface="Calibri"/>
              </a:rPr>
              <a:t>descripción, precondiciones, poscondiciones,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 flujo</a:t>
            </a:r>
            <a:r>
              <a:rPr dirty="0" sz="1200" spc="-1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principal</a:t>
            </a:r>
            <a:r>
              <a:rPr dirty="0" sz="120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1C2753"/>
                </a:solidFill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un</a:t>
            </a:r>
            <a:r>
              <a:rPr dirty="0" sz="120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C2753"/>
                </a:solidFill>
                <a:latin typeface="Calibri"/>
                <a:cs typeface="Calibri"/>
              </a:rPr>
              <a:t>flujo</a:t>
            </a:r>
            <a:r>
              <a:rPr dirty="0" sz="120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C2753"/>
                </a:solidFill>
                <a:latin typeface="Calibri"/>
                <a:cs typeface="Calibri"/>
              </a:rPr>
              <a:t>alternativo.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164592" y="658368"/>
              <a:ext cx="1371600" cy="384175"/>
            </a:xfrm>
            <a:custGeom>
              <a:avLst/>
              <a:gdLst/>
              <a:ahLst/>
              <a:cxnLst/>
              <a:rect l="l" t="t" r="r" b="b"/>
              <a:pathLst>
                <a:path w="1371600" h="384175">
                  <a:moveTo>
                    <a:pt x="137160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1371600" y="384048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4592" y="658368"/>
              <a:ext cx="1371600" cy="384175"/>
            </a:xfrm>
            <a:custGeom>
              <a:avLst/>
              <a:gdLst/>
              <a:ahLst/>
              <a:cxnLst/>
              <a:rect l="l" t="t" r="r" b="b"/>
              <a:pathLst>
                <a:path w="1371600" h="384175">
                  <a:moveTo>
                    <a:pt x="0" y="384048"/>
                  </a:moveTo>
                  <a:lnTo>
                    <a:pt x="1371600" y="384048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2D7C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502412" y="744982"/>
            <a:ext cx="69405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RESPUESTA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Ejercicio</a:t>
            </a:r>
            <a:r>
              <a:rPr dirty="0" spc="-25"/>
              <a:t> </a:t>
            </a:r>
            <a:r>
              <a:rPr dirty="0"/>
              <a:t>2</a:t>
            </a:r>
            <a:r>
              <a:rPr dirty="0" spc="-20"/>
              <a:t> </a:t>
            </a:r>
            <a:r>
              <a:rPr dirty="0"/>
              <a:t>–</a:t>
            </a:r>
            <a:r>
              <a:rPr dirty="0" spc="-20"/>
              <a:t> </a:t>
            </a:r>
            <a:r>
              <a:rPr dirty="0"/>
              <a:t>RF01:</a:t>
            </a:r>
            <a:r>
              <a:rPr dirty="0" spc="-15"/>
              <a:t> </a:t>
            </a:r>
            <a:r>
              <a:rPr dirty="0" spc="-10"/>
              <a:t>Agendamiento</a:t>
            </a:r>
            <a:r>
              <a:rPr dirty="0" spc="-15"/>
              <a:t> </a:t>
            </a:r>
            <a:r>
              <a:rPr dirty="0"/>
              <a:t>de</a:t>
            </a:r>
            <a:r>
              <a:rPr dirty="0" spc="-20"/>
              <a:t> </a:t>
            </a:r>
            <a:r>
              <a:rPr dirty="0"/>
              <a:t>Citas</a:t>
            </a:r>
            <a:r>
              <a:rPr dirty="0" spc="-30"/>
              <a:t> </a:t>
            </a:r>
            <a:r>
              <a:rPr dirty="0"/>
              <a:t>por</a:t>
            </a:r>
            <a:r>
              <a:rPr dirty="0" spc="-20"/>
              <a:t> </a:t>
            </a:r>
            <a:r>
              <a:rPr dirty="0"/>
              <a:t>Portal</a:t>
            </a:r>
            <a:r>
              <a:rPr dirty="0" spc="-25"/>
              <a:t> Web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8242" y="1130300"/>
          <a:ext cx="8873490" cy="16960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5070"/>
                <a:gridCol w="7586345"/>
              </a:tblGrid>
              <a:tr h="10223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3AAC"/>
                      </a:solidFill>
                      <a:prstDash val="solid"/>
                    </a:lnL>
                    <a:lnR w="3175">
                      <a:solidFill>
                        <a:srgbClr val="1A3AAC"/>
                      </a:solidFill>
                      <a:prstDash val="solid"/>
                    </a:lnR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AC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43560">
                <a:tc>
                  <a:txBody>
                    <a:bodyPr/>
                    <a:lstStyle/>
                    <a:p>
                      <a:pPr marL="33401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dirty="0" sz="2000" spc="-20" b="1">
                          <a:solidFill>
                            <a:srgbClr val="0D1540"/>
                          </a:solidFill>
                          <a:latin typeface="Calibri"/>
                          <a:cs typeface="Calibri"/>
                        </a:rPr>
                        <a:t>RF01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92710">
                    <a:lnL w="12700">
                      <a:solidFill>
                        <a:srgbClr val="C8A127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78739">
                      <a:solidFill>
                        <a:srgbClr val="FFFFFF"/>
                      </a:solidFill>
                      <a:prstDash val="solid"/>
                    </a:lnB>
                    <a:solidFill>
                      <a:srgbClr val="C8A127"/>
                    </a:solidFill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dirty="0" sz="1600" spc="-1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Agendamiento</a:t>
                      </a:r>
                      <a:r>
                        <a:rPr dirty="0" sz="1600" spc="-2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2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citas</a:t>
                      </a:r>
                      <a:r>
                        <a:rPr dirty="0" sz="1600" spc="-4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por</a:t>
                      </a:r>
                      <a:r>
                        <a:rPr dirty="0" sz="1600" spc="-1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portal</a:t>
                      </a:r>
                      <a:r>
                        <a:rPr dirty="0" sz="1600" spc="-25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web</a:t>
                      </a:r>
                      <a:r>
                        <a:rPr dirty="0" sz="1600" spc="-3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600" spc="-35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pacientes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B="0" marT="125730">
                    <a:lnL w="3175">
                      <a:solidFill>
                        <a:srgbClr val="C8A127"/>
                      </a:solidFill>
                      <a:prstDash val="solid"/>
                    </a:lnL>
                    <a:lnT w="38100">
                      <a:solidFill>
                        <a:srgbClr val="FFFFFF"/>
                      </a:solidFill>
                      <a:prstDash val="solid"/>
                    </a:lnT>
                    <a:lnB w="78739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273685">
                <a:tc gridSpan="2"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00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D</a:t>
                      </a:r>
                      <a:r>
                        <a:rPr dirty="0" sz="1000" spc="6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1000" spc="6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1000" spc="7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000" spc="65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000" spc="75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000" spc="65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dirty="0" sz="1000" spc="7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dirty="0" sz="1000" spc="65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000" spc="7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Ó</a:t>
                      </a:r>
                      <a:r>
                        <a:rPr dirty="0" sz="1000" spc="65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5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76200">
                    <a:lnL w="12700">
                      <a:solidFill>
                        <a:srgbClr val="1C2753"/>
                      </a:solidFill>
                      <a:prstDash val="solid"/>
                    </a:lnL>
                    <a:lnR w="12700">
                      <a:solidFill>
                        <a:srgbClr val="1C2753"/>
                      </a:solidFill>
                      <a:prstDash val="solid"/>
                    </a:lnR>
                    <a:lnT w="78739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1C2753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776605">
                <a:tc gridSpan="2">
                  <a:txBody>
                    <a:bodyPr/>
                    <a:lstStyle/>
                    <a:p>
                      <a:pPr marL="200660" marR="3803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El sistema</a:t>
                      </a:r>
                      <a:r>
                        <a:rPr dirty="0" sz="1200" spc="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permitirá</a:t>
                      </a:r>
                      <a:r>
                        <a:rPr dirty="0" sz="1200" spc="-4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que</a:t>
                      </a:r>
                      <a:r>
                        <a:rPr dirty="0" sz="1200" spc="-2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un</a:t>
                      </a:r>
                      <a:r>
                        <a:rPr dirty="0" sz="1200" spc="-2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paciente</a:t>
                      </a:r>
                      <a:r>
                        <a:rPr dirty="0" sz="1200" spc="-2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autenticado</a:t>
                      </a:r>
                      <a:r>
                        <a:rPr dirty="0" sz="1200" spc="-3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consulte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disponibilidad</a:t>
                      </a:r>
                      <a:r>
                        <a:rPr dirty="0" sz="1200" spc="-4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200" spc="-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citas por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médico</a:t>
                      </a:r>
                      <a:r>
                        <a:rPr dirty="0" sz="1200" spc="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200" spc="-2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especialidad,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seleccione un</a:t>
                      </a:r>
                      <a:r>
                        <a:rPr dirty="0" sz="1200" spc="7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horario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libre</a:t>
                      </a:r>
                      <a:r>
                        <a:rPr dirty="0" sz="1200" spc="-3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registre</a:t>
                      </a:r>
                      <a:r>
                        <a:rPr dirty="0" sz="1200" spc="-4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200" spc="-3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cita.</a:t>
                      </a:r>
                      <a:r>
                        <a:rPr dirty="0" sz="1200" spc="-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Al</a:t>
                      </a:r>
                      <a:r>
                        <a:rPr dirty="0" sz="1200" spc="-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confirmar</a:t>
                      </a:r>
                      <a:r>
                        <a:rPr dirty="0" sz="1200" spc="-3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cita,</a:t>
                      </a:r>
                      <a:r>
                        <a:rPr dirty="0" sz="1200" spc="-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200" spc="-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sistema</a:t>
                      </a:r>
                      <a:r>
                        <a:rPr dirty="0" sz="1200" spc="-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enviará</a:t>
                      </a:r>
                      <a:r>
                        <a:rPr dirty="0" sz="1200" spc="-3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un</a:t>
                      </a:r>
                      <a:r>
                        <a:rPr dirty="0" sz="1200" spc="-2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correo</a:t>
                      </a:r>
                      <a:r>
                        <a:rPr dirty="0" sz="1200" spc="-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electrónico</a:t>
                      </a:r>
                      <a:r>
                        <a:rPr dirty="0" sz="1200" spc="-1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200" spc="-1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confirmación</a:t>
                      </a:r>
                      <a:r>
                        <a:rPr dirty="0" sz="1200" spc="-1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al</a:t>
                      </a:r>
                      <a:r>
                        <a:rPr dirty="0" sz="1200" spc="-5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39496B"/>
                          </a:solidFill>
                          <a:latin typeface="Calibri"/>
                          <a:cs typeface="Calibri"/>
                        </a:rPr>
                        <a:t>paciente.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64135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EDF0F8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58242" y="2901442"/>
            <a:ext cx="4310380" cy="269240"/>
          </a:xfrm>
          <a:prstGeom prst="rect">
            <a:avLst/>
          </a:prstGeom>
          <a:solidFill>
            <a:srgbClr val="1C2753"/>
          </a:solidFill>
          <a:ln w="3175">
            <a:solidFill>
              <a:srgbClr val="1C2753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400"/>
              </a:spcBef>
            </a:pP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P</a:t>
            </a:r>
            <a:r>
              <a:rPr dirty="0" sz="1000" spc="6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R</a:t>
            </a:r>
            <a:r>
              <a:rPr dirty="0" sz="1000" spc="7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E</a:t>
            </a:r>
            <a:r>
              <a:rPr dirty="0" sz="1000" spc="6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C</a:t>
            </a:r>
            <a:r>
              <a:rPr dirty="0" sz="1000" spc="7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O</a:t>
            </a:r>
            <a:r>
              <a:rPr dirty="0" sz="1000" spc="6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N</a:t>
            </a:r>
            <a:r>
              <a:rPr dirty="0" sz="1000" spc="7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D</a:t>
            </a:r>
            <a:r>
              <a:rPr dirty="0" sz="1000" spc="6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I</a:t>
            </a:r>
            <a:r>
              <a:rPr dirty="0" sz="1000" spc="7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C</a:t>
            </a:r>
            <a:r>
              <a:rPr dirty="0" sz="1000" spc="6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I</a:t>
            </a:r>
            <a:r>
              <a:rPr dirty="0" sz="1000" spc="6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O</a:t>
            </a:r>
            <a:r>
              <a:rPr dirty="0" sz="1000" spc="6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N</a:t>
            </a:r>
            <a:r>
              <a:rPr dirty="0" sz="1000" spc="7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E</a:t>
            </a:r>
            <a:r>
              <a:rPr dirty="0" sz="1000" spc="6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spc="-50" b="1">
                <a:solidFill>
                  <a:srgbClr val="C8A127"/>
                </a:solidFill>
                <a:latin typeface="Calibri"/>
                <a:cs typeface="Calibri"/>
              </a:rPr>
              <a:t>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4772" y="3724452"/>
            <a:ext cx="9842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solidFill>
                  <a:srgbClr val="1C2753"/>
                </a:solidFill>
                <a:latin typeface="Calibri"/>
                <a:cs typeface="Calibri"/>
              </a:rPr>
              <a:t>•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4772" y="3198622"/>
            <a:ext cx="3728085" cy="90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El</a:t>
            </a:r>
            <a:r>
              <a:rPr dirty="0" sz="115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paciente</a:t>
            </a:r>
            <a:r>
              <a:rPr dirty="0" sz="11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está</a:t>
            </a:r>
            <a:r>
              <a:rPr dirty="0" sz="11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registrado</a:t>
            </a:r>
            <a:r>
              <a:rPr dirty="0" sz="1150" spc="-1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en</a:t>
            </a:r>
            <a:r>
              <a:rPr dirty="0" sz="11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el</a:t>
            </a:r>
            <a:r>
              <a:rPr dirty="0" sz="115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C2753"/>
                </a:solidFill>
                <a:latin typeface="Calibri"/>
                <a:cs typeface="Calibri"/>
              </a:rPr>
              <a:t>sistema.</a:t>
            </a:r>
            <a:endParaRPr sz="115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El</a:t>
            </a:r>
            <a:r>
              <a:rPr dirty="0" sz="1150" spc="-1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paciente</a:t>
            </a:r>
            <a:r>
              <a:rPr dirty="0" sz="11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ha</a:t>
            </a:r>
            <a:r>
              <a:rPr dirty="0" sz="1150" spc="-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iniciado</a:t>
            </a:r>
            <a:r>
              <a:rPr dirty="0" sz="1150" spc="-1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sesión</a:t>
            </a:r>
            <a:r>
              <a:rPr dirty="0" sz="115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C2753"/>
                </a:solidFill>
                <a:latin typeface="Calibri"/>
                <a:cs typeface="Calibri"/>
              </a:rPr>
              <a:t>correctamente</a:t>
            </a:r>
            <a:r>
              <a:rPr dirty="0" sz="11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en</a:t>
            </a:r>
            <a:r>
              <a:rPr dirty="0" sz="11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el</a:t>
            </a:r>
            <a:r>
              <a:rPr dirty="0" sz="1150" spc="-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C2753"/>
                </a:solidFill>
                <a:latin typeface="Calibri"/>
                <a:cs typeface="Calibri"/>
              </a:rPr>
              <a:t>portal </a:t>
            </a:r>
            <a:r>
              <a:rPr dirty="0" sz="1150" spc="-20">
                <a:solidFill>
                  <a:srgbClr val="1C2753"/>
                </a:solidFill>
                <a:latin typeface="Calibri"/>
                <a:cs typeface="Calibri"/>
              </a:rPr>
              <a:t>web.</a:t>
            </a:r>
            <a:endParaRPr sz="1150">
              <a:latin typeface="Calibri"/>
              <a:cs typeface="Calibri"/>
            </a:endParaRPr>
          </a:p>
          <a:p>
            <a:pPr marL="355600" marR="665480">
              <a:lnSpc>
                <a:spcPct val="100000"/>
              </a:lnSpc>
            </a:pP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Existe</a:t>
            </a:r>
            <a:r>
              <a:rPr dirty="0" sz="11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al</a:t>
            </a:r>
            <a:r>
              <a:rPr dirty="0" sz="11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menos</a:t>
            </a:r>
            <a:r>
              <a:rPr dirty="0" sz="11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un</a:t>
            </a:r>
            <a:r>
              <a:rPr dirty="0" sz="115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médico</a:t>
            </a:r>
            <a:r>
              <a:rPr dirty="0" sz="115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y</a:t>
            </a:r>
            <a:r>
              <a:rPr dirty="0" sz="1150" spc="-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una</a:t>
            </a:r>
            <a:r>
              <a:rPr dirty="0" sz="11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C2753"/>
                </a:solidFill>
                <a:latin typeface="Calibri"/>
                <a:cs typeface="Calibri"/>
              </a:rPr>
              <a:t>especialidad configurados</a:t>
            </a:r>
            <a:r>
              <a:rPr dirty="0" sz="1150" spc="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en</a:t>
            </a:r>
            <a:r>
              <a:rPr dirty="0" sz="1150" spc="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el</a:t>
            </a:r>
            <a:r>
              <a:rPr dirty="0" sz="1150" spc="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C2753"/>
                </a:solidFill>
                <a:latin typeface="Calibri"/>
                <a:cs typeface="Calibri"/>
              </a:rPr>
              <a:t>sistema.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38802" y="2901442"/>
            <a:ext cx="4310380" cy="269240"/>
          </a:xfrm>
          <a:prstGeom prst="rect">
            <a:avLst/>
          </a:prstGeom>
          <a:solidFill>
            <a:srgbClr val="1A3AAC"/>
          </a:solidFill>
          <a:ln w="3175">
            <a:solidFill>
              <a:srgbClr val="1A3AAC"/>
            </a:solidFill>
          </a:ln>
        </p:spPr>
        <p:txBody>
          <a:bodyPr wrap="square" lIns="0" tIns="50800" rIns="0" bIns="0" rtlCol="0" vert="horz">
            <a:spAutoFit/>
          </a:bodyPr>
          <a:lstStyle/>
          <a:p>
            <a:pPr marL="189230">
              <a:lnSpc>
                <a:spcPct val="100000"/>
              </a:lnSpc>
              <a:spcBef>
                <a:spcPts val="400"/>
              </a:spcBef>
            </a:pP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P</a:t>
            </a:r>
            <a:r>
              <a:rPr dirty="0" sz="1000" spc="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1000" spc="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1000" spc="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1000" spc="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1000" spc="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1000" spc="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dirty="0" sz="1000" spc="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000" spc="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dirty="0" sz="1000" spc="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000" spc="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1000" spc="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100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000" spc="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50" b="1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15966" y="3724452"/>
            <a:ext cx="98425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50" spc="-50">
                <a:solidFill>
                  <a:srgbClr val="1C2753"/>
                </a:solidFill>
                <a:latin typeface="Calibri"/>
                <a:cs typeface="Calibri"/>
              </a:rPr>
              <a:t>•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15966" y="3198622"/>
            <a:ext cx="3576320" cy="902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La</a:t>
            </a:r>
            <a:r>
              <a:rPr dirty="0" sz="11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cita</a:t>
            </a:r>
            <a:r>
              <a:rPr dirty="0" sz="115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queda</a:t>
            </a:r>
            <a:r>
              <a:rPr dirty="0" sz="11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registrada</a:t>
            </a:r>
            <a:r>
              <a:rPr dirty="0" sz="115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con</a:t>
            </a:r>
            <a:r>
              <a:rPr dirty="0" sz="11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estado</a:t>
            </a:r>
            <a:r>
              <a:rPr dirty="0" sz="11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C2753"/>
                </a:solidFill>
                <a:latin typeface="Calibri"/>
                <a:cs typeface="Calibri"/>
              </a:rPr>
              <a:t>"Programada".</a:t>
            </a:r>
            <a:endParaRPr sz="1150">
              <a:latin typeface="Calibri"/>
              <a:cs typeface="Calibri"/>
            </a:endParaRPr>
          </a:p>
          <a:p>
            <a:pPr marL="355600" marR="321310" indent="-343535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El</a:t>
            </a:r>
            <a:r>
              <a:rPr dirty="0" sz="11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horario</a:t>
            </a:r>
            <a:r>
              <a:rPr dirty="0" sz="1150" spc="-10">
                <a:solidFill>
                  <a:srgbClr val="1C2753"/>
                </a:solidFill>
                <a:latin typeface="Calibri"/>
                <a:cs typeface="Calibri"/>
              </a:rPr>
              <a:t> seleccionado</a:t>
            </a:r>
            <a:r>
              <a:rPr dirty="0" sz="115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queda</a:t>
            </a:r>
            <a:r>
              <a:rPr dirty="0" sz="1150" spc="-1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marcado</a:t>
            </a:r>
            <a:r>
              <a:rPr dirty="0" sz="11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como</a:t>
            </a:r>
            <a:r>
              <a:rPr dirty="0" sz="115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1C2753"/>
                </a:solidFill>
                <a:latin typeface="Calibri"/>
                <a:cs typeface="Calibri"/>
              </a:rPr>
              <a:t>no </a:t>
            </a:r>
            <a:r>
              <a:rPr dirty="0" sz="1150" spc="-10">
                <a:solidFill>
                  <a:srgbClr val="1C2753"/>
                </a:solidFill>
                <a:latin typeface="Calibri"/>
                <a:cs typeface="Calibri"/>
              </a:rPr>
              <a:t>disponible.</a:t>
            </a:r>
            <a:endParaRPr sz="1150">
              <a:latin typeface="Calibri"/>
              <a:cs typeface="Calibri"/>
            </a:endParaRPr>
          </a:p>
          <a:p>
            <a:pPr marL="355600" marR="5080">
              <a:lnSpc>
                <a:spcPct val="100000"/>
              </a:lnSpc>
            </a:pP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Se</a:t>
            </a:r>
            <a:r>
              <a:rPr dirty="0" sz="11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ha</a:t>
            </a:r>
            <a:r>
              <a:rPr dirty="0" sz="115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enviado</a:t>
            </a:r>
            <a:r>
              <a:rPr dirty="0" sz="1150" spc="-1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un</a:t>
            </a:r>
            <a:r>
              <a:rPr dirty="0" sz="1150" spc="-4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correo</a:t>
            </a:r>
            <a:r>
              <a:rPr dirty="0" sz="1150" spc="-1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de</a:t>
            </a:r>
            <a:r>
              <a:rPr dirty="0" sz="11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confirmación</a:t>
            </a:r>
            <a:r>
              <a:rPr dirty="0" sz="1150" spc="-4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al</a:t>
            </a:r>
            <a:r>
              <a:rPr dirty="0" sz="115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C2753"/>
                </a:solidFill>
                <a:latin typeface="Calibri"/>
                <a:cs typeface="Calibri"/>
              </a:rPr>
              <a:t>correo</a:t>
            </a:r>
            <a:r>
              <a:rPr dirty="0" sz="115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150" spc="-25">
                <a:solidFill>
                  <a:srgbClr val="1C2753"/>
                </a:solidFill>
                <a:latin typeface="Calibri"/>
                <a:cs typeface="Calibri"/>
              </a:rPr>
              <a:t>del </a:t>
            </a:r>
            <a:r>
              <a:rPr dirty="0" sz="1150" spc="-10">
                <a:solidFill>
                  <a:srgbClr val="1C2753"/>
                </a:solidFill>
                <a:latin typeface="Calibri"/>
                <a:cs typeface="Calibri"/>
              </a:rPr>
              <a:t>paciente.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2412" y="744982"/>
            <a:ext cx="69405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RESPUESTA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51761" y="703834"/>
            <a:ext cx="27787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1C2753"/>
                </a:solidFill>
                <a:latin typeface="Calibri"/>
                <a:cs typeface="Calibri"/>
              </a:rPr>
              <a:t>Ejercicio</a:t>
            </a:r>
            <a:r>
              <a:rPr dirty="0" sz="1600" spc="-25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C2753"/>
                </a:solidFill>
                <a:latin typeface="Calibri"/>
                <a:cs typeface="Calibri"/>
              </a:rPr>
              <a:t>2</a:t>
            </a:r>
            <a:r>
              <a:rPr dirty="0" sz="1600" spc="-10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C2753"/>
                </a:solidFill>
                <a:latin typeface="Calibri"/>
                <a:cs typeface="Calibri"/>
              </a:rPr>
              <a:t>–</a:t>
            </a:r>
            <a:r>
              <a:rPr dirty="0" sz="1600" spc="-15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C2753"/>
                </a:solidFill>
                <a:latin typeface="Calibri"/>
                <a:cs typeface="Calibri"/>
              </a:rPr>
              <a:t>RF01:</a:t>
            </a:r>
            <a:r>
              <a:rPr dirty="0" sz="1600" spc="-10" b="1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1C2753"/>
                </a:solidFill>
                <a:latin typeface="Calibri"/>
                <a:cs typeface="Calibri"/>
              </a:rPr>
              <a:t>Flujo</a:t>
            </a:r>
            <a:r>
              <a:rPr dirty="0" sz="1600" spc="-10" b="1">
                <a:solidFill>
                  <a:srgbClr val="1C2753"/>
                </a:solidFill>
                <a:latin typeface="Calibri"/>
                <a:cs typeface="Calibri"/>
              </a:rPr>
              <a:t> Principal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8242" y="1136650"/>
            <a:ext cx="8790940" cy="86360"/>
            <a:chOff x="158242" y="1136650"/>
            <a:chExt cx="8790940" cy="86360"/>
          </a:xfrm>
        </p:grpSpPr>
        <p:sp>
          <p:nvSpPr>
            <p:cNvPr id="5" name="object 5"/>
            <p:cNvSpPr/>
            <p:nvPr/>
          </p:nvSpPr>
          <p:spPr>
            <a:xfrm>
              <a:off x="164592" y="1143000"/>
              <a:ext cx="8778240" cy="73660"/>
            </a:xfrm>
            <a:custGeom>
              <a:avLst/>
              <a:gdLst/>
              <a:ahLst/>
              <a:cxnLst/>
              <a:rect l="l" t="t" r="r" b="b"/>
              <a:pathLst>
                <a:path w="8778240" h="73659">
                  <a:moveTo>
                    <a:pt x="877824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8778240" y="73151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1A3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4592" y="1143000"/>
              <a:ext cx="8778240" cy="73660"/>
            </a:xfrm>
            <a:custGeom>
              <a:avLst/>
              <a:gdLst/>
              <a:ahLst/>
              <a:cxnLst/>
              <a:rect l="l" t="t" r="r" b="b"/>
              <a:pathLst>
                <a:path w="8778240" h="73659">
                  <a:moveTo>
                    <a:pt x="0" y="73151"/>
                  </a:moveTo>
                  <a:lnTo>
                    <a:pt x="8778240" y="73151"/>
                  </a:lnTo>
                  <a:lnTo>
                    <a:pt x="877824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1A3AA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8242" y="1136650"/>
          <a:ext cx="4386580" cy="3245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7680"/>
              </a:tblGrid>
              <a:tr h="118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A3AAC"/>
                      </a:solidFill>
                      <a:prstDash val="solid"/>
                    </a:lnL>
                    <a:lnB w="12700">
                      <a:solidFill>
                        <a:srgbClr val="C8A127"/>
                      </a:solidFill>
                      <a:prstDash val="soli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ctr" marR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200" b="1">
                          <a:solidFill>
                            <a:srgbClr val="0D1540"/>
                          </a:solidFill>
                          <a:latin typeface="Calibri"/>
                          <a:cs typeface="Calibri"/>
                        </a:rPr>
                        <a:t>U</a:t>
                      </a:r>
                      <a:r>
                        <a:rPr dirty="0" sz="1200" spc="110" b="1">
                          <a:solidFill>
                            <a:srgbClr val="0D15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1540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1200" spc="110" b="1">
                          <a:solidFill>
                            <a:srgbClr val="0D15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1540"/>
                          </a:solidFill>
                          <a:latin typeface="Calibri"/>
                          <a:cs typeface="Calibri"/>
                        </a:rPr>
                        <a:t>U</a:t>
                      </a:r>
                      <a:r>
                        <a:rPr dirty="0" sz="1200" spc="114" b="1">
                          <a:solidFill>
                            <a:srgbClr val="0D15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154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200" spc="120" b="1">
                          <a:solidFill>
                            <a:srgbClr val="0D15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1540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dirty="0" sz="1200" spc="114" b="1">
                          <a:solidFill>
                            <a:srgbClr val="0D15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0D1540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200" spc="120" b="1">
                          <a:solidFill>
                            <a:srgbClr val="0D154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0" b="1">
                          <a:solidFill>
                            <a:srgbClr val="0D1540"/>
                          </a:solidFill>
                          <a:latin typeface="Calibri"/>
                          <a:cs typeface="Calibri"/>
                        </a:rPr>
                        <a:t>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C8A127"/>
                      </a:solidFill>
                      <a:prstDash val="solid"/>
                    </a:lnL>
                    <a:lnR w="12700">
                      <a:solidFill>
                        <a:srgbClr val="C8A127"/>
                      </a:solidFill>
                      <a:prstDash val="solid"/>
                    </a:lnR>
                    <a:lnT w="12700">
                      <a:solidFill>
                        <a:srgbClr val="C8A12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C8A127"/>
                    </a:solidFill>
                  </a:tcPr>
                </a:tc>
              </a:tr>
              <a:tr h="2834640">
                <a:tc>
                  <a:txBody>
                    <a:bodyPr/>
                    <a:lstStyle/>
                    <a:p>
                      <a:pPr marL="368935" indent="-149860">
                        <a:lnSpc>
                          <a:spcPct val="100000"/>
                        </a:lnSpc>
                        <a:spcBef>
                          <a:spcPts val="930"/>
                        </a:spcBef>
                        <a:buAutoNum type="arabicPeriod"/>
                        <a:tabLst>
                          <a:tab pos="368935" algn="l"/>
                        </a:tabLst>
                      </a:pP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Inicia</a:t>
                      </a:r>
                      <a:r>
                        <a:rPr dirty="0" sz="1200" spc="-3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sesión</a:t>
                      </a:r>
                      <a:r>
                        <a:rPr dirty="0" sz="1200" spc="-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200" spc="-2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200" spc="-2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portal</a:t>
                      </a:r>
                      <a:r>
                        <a:rPr dirty="0" sz="1200" spc="-4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2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web.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68935" indent="-149860">
                        <a:lnSpc>
                          <a:spcPct val="100000"/>
                        </a:lnSpc>
                        <a:spcBef>
                          <a:spcPts val="430"/>
                        </a:spcBef>
                        <a:buAutoNum type="arabicPeriod"/>
                        <a:tabLst>
                          <a:tab pos="368935" algn="l"/>
                        </a:tabLst>
                      </a:pP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Selecciona</a:t>
                      </a:r>
                      <a:r>
                        <a:rPr dirty="0" sz="1200" spc="-2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200" spc="-2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opción</a:t>
                      </a:r>
                      <a:r>
                        <a:rPr dirty="0" sz="1200" spc="-2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"Agendar</a:t>
                      </a:r>
                      <a:r>
                        <a:rPr dirty="0" sz="1200" spc="-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cita".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68935" indent="-149860">
                        <a:lnSpc>
                          <a:spcPct val="100000"/>
                        </a:lnSpc>
                        <a:spcBef>
                          <a:spcPts val="430"/>
                        </a:spcBef>
                        <a:buAutoNum type="arabicPeriod"/>
                        <a:tabLst>
                          <a:tab pos="368935" algn="l"/>
                        </a:tabLst>
                      </a:pP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Elige</a:t>
                      </a:r>
                      <a:r>
                        <a:rPr dirty="0" sz="120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una</a:t>
                      </a:r>
                      <a:r>
                        <a:rPr dirty="0" sz="1200" spc="-3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especialidad.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68935" indent="-149860">
                        <a:lnSpc>
                          <a:spcPct val="100000"/>
                        </a:lnSpc>
                        <a:spcBef>
                          <a:spcPts val="434"/>
                        </a:spcBef>
                        <a:buAutoNum type="arabicPeriod"/>
                        <a:tabLst>
                          <a:tab pos="368935" algn="l"/>
                        </a:tabLst>
                      </a:pP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Selecciona</a:t>
                      </a:r>
                      <a:r>
                        <a:rPr dirty="0" sz="1200" spc="-3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un</a:t>
                      </a:r>
                      <a:r>
                        <a:rPr dirty="0" sz="1200" spc="-4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médico</a:t>
                      </a:r>
                      <a:r>
                        <a:rPr dirty="0" sz="1200" spc="-3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(opcional).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68935" indent="-149860">
                        <a:lnSpc>
                          <a:spcPct val="100000"/>
                        </a:lnSpc>
                        <a:spcBef>
                          <a:spcPts val="430"/>
                        </a:spcBef>
                        <a:buAutoNum type="arabicPeriod"/>
                        <a:tabLst>
                          <a:tab pos="368935" algn="l"/>
                        </a:tabLst>
                      </a:pP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Selecciona</a:t>
                      </a:r>
                      <a:r>
                        <a:rPr dirty="0" sz="1200" spc="-3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un</a:t>
                      </a:r>
                      <a:r>
                        <a:rPr dirty="0" sz="1200" spc="-4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horario</a:t>
                      </a:r>
                      <a:r>
                        <a:rPr dirty="0" sz="1200" spc="-4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disponible.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368935" indent="-149860">
                        <a:lnSpc>
                          <a:spcPct val="100000"/>
                        </a:lnSpc>
                        <a:spcBef>
                          <a:spcPts val="434"/>
                        </a:spcBef>
                        <a:buAutoNum type="arabicPeriod"/>
                        <a:tabLst>
                          <a:tab pos="368935" algn="l"/>
                        </a:tabLst>
                      </a:pP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Confirma</a:t>
                      </a:r>
                      <a:r>
                        <a:rPr dirty="0" sz="1200" spc="-3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200" spc="-1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cita.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118110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EDF0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638802" y="1136650"/>
          <a:ext cx="4386580" cy="3245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7680"/>
              </a:tblGrid>
              <a:tr h="1187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1A3AAC"/>
                      </a:solidFill>
                      <a:prstDash val="solid"/>
                    </a:lnR>
                    <a:lnB w="12700">
                      <a:solidFill>
                        <a:srgbClr val="1C2753"/>
                      </a:solidFill>
                      <a:prstDash val="soli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ctr" marR="4254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dirty="0" sz="120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1200" spc="11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dirty="0" sz="1200" spc="125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dirty="0" sz="1200" spc="114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T</a:t>
                      </a:r>
                      <a:r>
                        <a:rPr dirty="0" sz="1200" spc="125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dirty="0" sz="1200" spc="114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1200" spc="114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200" spc="-50" b="1">
                          <a:solidFill>
                            <a:srgbClr val="C8A127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B="0" marT="45720">
                    <a:lnL w="12700">
                      <a:solidFill>
                        <a:srgbClr val="1C2753"/>
                      </a:solidFill>
                      <a:prstDash val="solid"/>
                    </a:lnL>
                    <a:lnR w="12700">
                      <a:solidFill>
                        <a:srgbClr val="1C2753"/>
                      </a:solidFill>
                      <a:prstDash val="solid"/>
                    </a:lnR>
                    <a:lnT w="12700">
                      <a:solidFill>
                        <a:srgbClr val="1C2753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1C2753"/>
                    </a:solidFill>
                  </a:tcPr>
                </a:tc>
              </a:tr>
              <a:tr h="2834640">
                <a:tc>
                  <a:txBody>
                    <a:bodyPr/>
                    <a:lstStyle/>
                    <a:p>
                      <a:pPr marL="344805" indent="-143510">
                        <a:lnSpc>
                          <a:spcPct val="100000"/>
                        </a:lnSpc>
                        <a:spcBef>
                          <a:spcPts val="835"/>
                        </a:spcBef>
                        <a:buAutoNum type="arabicPeriod"/>
                        <a:tabLst>
                          <a:tab pos="344805" algn="l"/>
                        </a:tabLst>
                      </a:pP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Valida</a:t>
                      </a:r>
                      <a:r>
                        <a:rPr dirty="0" sz="115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las</a:t>
                      </a:r>
                      <a:r>
                        <a:rPr dirty="0" sz="1150" spc="-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credenciales</a:t>
                      </a:r>
                      <a:r>
                        <a:rPr dirty="0" sz="1150" spc="-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1150" spc="-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paciente.</a:t>
                      </a:r>
                      <a:endParaRPr sz="1150">
                        <a:latin typeface="Calibri"/>
                        <a:cs typeface="Calibri"/>
                      </a:endParaRPr>
                    </a:p>
                    <a:p>
                      <a:pPr marL="344805" indent="-143510">
                        <a:lnSpc>
                          <a:spcPct val="100000"/>
                        </a:lnSpc>
                        <a:spcBef>
                          <a:spcPts val="310"/>
                        </a:spcBef>
                        <a:buAutoNum type="arabicPeriod"/>
                        <a:tabLst>
                          <a:tab pos="344805" algn="l"/>
                        </a:tabLst>
                      </a:pP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Muestra</a:t>
                      </a:r>
                      <a:r>
                        <a:rPr dirty="0" sz="1150" spc="-2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150" spc="-3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menú</a:t>
                      </a:r>
                      <a:r>
                        <a:rPr dirty="0" sz="1150" spc="-4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con</a:t>
                      </a:r>
                      <a:r>
                        <a:rPr dirty="0" sz="1150" spc="-3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opción</a:t>
                      </a:r>
                      <a:r>
                        <a:rPr dirty="0" sz="1150" spc="-3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"Agendar</a:t>
                      </a:r>
                      <a:r>
                        <a:rPr dirty="0" sz="1150" spc="-3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cita".</a:t>
                      </a:r>
                      <a:endParaRPr sz="1150">
                        <a:latin typeface="Calibri"/>
                        <a:cs typeface="Calibri"/>
                      </a:endParaRPr>
                    </a:p>
                    <a:p>
                      <a:pPr marL="344805" indent="-143510">
                        <a:lnSpc>
                          <a:spcPct val="100000"/>
                        </a:lnSpc>
                        <a:spcBef>
                          <a:spcPts val="300"/>
                        </a:spcBef>
                        <a:buAutoNum type="arabicPeriod"/>
                        <a:tabLst>
                          <a:tab pos="344805" algn="l"/>
                        </a:tabLst>
                      </a:pP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Muestra</a:t>
                      </a:r>
                      <a:r>
                        <a:rPr dirty="0" sz="1150" spc="-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lista</a:t>
                      </a:r>
                      <a:r>
                        <a:rPr dirty="0" sz="115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dirty="0" sz="115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especialidades</a:t>
                      </a:r>
                      <a:r>
                        <a:rPr dirty="0" sz="1150" spc="-3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disponibles.</a:t>
                      </a:r>
                      <a:endParaRPr sz="1150">
                        <a:latin typeface="Calibri"/>
                        <a:cs typeface="Calibri"/>
                      </a:endParaRPr>
                    </a:p>
                    <a:p>
                      <a:pPr marL="344805" indent="-143510">
                        <a:lnSpc>
                          <a:spcPct val="100000"/>
                        </a:lnSpc>
                        <a:spcBef>
                          <a:spcPts val="300"/>
                        </a:spcBef>
                        <a:buAutoNum type="arabicPeriod"/>
                        <a:tabLst>
                          <a:tab pos="344805" algn="l"/>
                        </a:tabLst>
                      </a:pP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Muestra</a:t>
                      </a:r>
                      <a:r>
                        <a:rPr dirty="0" sz="1150" spc="-2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médicos</a:t>
                      </a:r>
                      <a:r>
                        <a:rPr dirty="0" sz="1150" spc="-4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asociados</a:t>
                      </a:r>
                      <a:r>
                        <a:rPr dirty="0" sz="1150" spc="-4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150" spc="-1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150" spc="-3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especialidad.</a:t>
                      </a:r>
                      <a:endParaRPr sz="1150">
                        <a:latin typeface="Calibri"/>
                        <a:cs typeface="Calibri"/>
                      </a:endParaRPr>
                    </a:p>
                    <a:p>
                      <a:pPr marL="344805" indent="-143510">
                        <a:lnSpc>
                          <a:spcPct val="100000"/>
                        </a:lnSpc>
                        <a:spcBef>
                          <a:spcPts val="300"/>
                        </a:spcBef>
                        <a:buAutoNum type="arabicPeriod"/>
                        <a:tabLst>
                          <a:tab pos="344805" algn="l"/>
                        </a:tabLst>
                      </a:pP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Muestra</a:t>
                      </a:r>
                      <a:r>
                        <a:rPr dirty="0" sz="1150" spc="-4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horarios</a:t>
                      </a:r>
                      <a:r>
                        <a:rPr dirty="0" sz="1150" spc="-4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disponibles.</a:t>
                      </a:r>
                      <a:endParaRPr sz="1150">
                        <a:latin typeface="Calibri"/>
                        <a:cs typeface="Calibri"/>
                      </a:endParaRPr>
                    </a:p>
                    <a:p>
                      <a:pPr marL="344805" indent="-143510">
                        <a:lnSpc>
                          <a:spcPct val="100000"/>
                        </a:lnSpc>
                        <a:spcBef>
                          <a:spcPts val="315"/>
                        </a:spcBef>
                        <a:buAutoNum type="arabicPeriod"/>
                        <a:tabLst>
                          <a:tab pos="344805" algn="l"/>
                        </a:tabLst>
                      </a:pP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Registra</a:t>
                      </a:r>
                      <a:r>
                        <a:rPr dirty="0" sz="1150" spc="-2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dirty="0" sz="115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cita</a:t>
                      </a:r>
                      <a:r>
                        <a:rPr dirty="0" sz="1150" spc="-2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150" spc="-1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base</a:t>
                      </a:r>
                      <a:r>
                        <a:rPr dirty="0" sz="1150" spc="-1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15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datos.</a:t>
                      </a:r>
                      <a:endParaRPr sz="1150">
                        <a:latin typeface="Calibri"/>
                        <a:cs typeface="Calibri"/>
                      </a:endParaRPr>
                    </a:p>
                    <a:p>
                      <a:pPr marL="344805" indent="-143510">
                        <a:lnSpc>
                          <a:spcPct val="100000"/>
                        </a:lnSpc>
                        <a:spcBef>
                          <a:spcPts val="300"/>
                        </a:spcBef>
                        <a:buAutoNum type="arabicPeriod"/>
                        <a:tabLst>
                          <a:tab pos="344805" algn="l"/>
                        </a:tabLst>
                      </a:pP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Marca</a:t>
                      </a:r>
                      <a:r>
                        <a:rPr dirty="0" sz="1150" spc="-2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dirty="0" sz="1150" spc="-3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horario</a:t>
                      </a:r>
                      <a:r>
                        <a:rPr dirty="0" sz="1150" spc="-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como</a:t>
                      </a:r>
                      <a:r>
                        <a:rPr dirty="0" sz="1150" spc="-4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1150" spc="-1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disponible.</a:t>
                      </a:r>
                      <a:endParaRPr sz="1150">
                        <a:latin typeface="Calibri"/>
                        <a:cs typeface="Calibri"/>
                      </a:endParaRPr>
                    </a:p>
                    <a:p>
                      <a:pPr marL="344805" indent="-143510">
                        <a:lnSpc>
                          <a:spcPct val="100000"/>
                        </a:lnSpc>
                        <a:spcBef>
                          <a:spcPts val="300"/>
                        </a:spcBef>
                        <a:buAutoNum type="arabicPeriod"/>
                        <a:tabLst>
                          <a:tab pos="344805" algn="l"/>
                        </a:tabLst>
                      </a:pP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Envía</a:t>
                      </a:r>
                      <a:r>
                        <a:rPr dirty="0" sz="1150" spc="-2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correo</a:t>
                      </a:r>
                      <a:r>
                        <a:rPr dirty="0" sz="1150" spc="-2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150" spc="-1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confirmación.</a:t>
                      </a:r>
                      <a:endParaRPr sz="1150">
                        <a:latin typeface="Calibri"/>
                        <a:cs typeface="Calibri"/>
                      </a:endParaRPr>
                    </a:p>
                    <a:p>
                      <a:pPr marL="344805" indent="-143510">
                        <a:lnSpc>
                          <a:spcPct val="100000"/>
                        </a:lnSpc>
                        <a:spcBef>
                          <a:spcPts val="310"/>
                        </a:spcBef>
                        <a:buAutoNum type="arabicPeriod"/>
                        <a:tabLst>
                          <a:tab pos="344805" algn="l"/>
                        </a:tabLst>
                      </a:pP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Muestra</a:t>
                      </a:r>
                      <a:r>
                        <a:rPr dirty="0" sz="1150" spc="-5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mensaje</a:t>
                      </a:r>
                      <a:r>
                        <a:rPr dirty="0" sz="1150" spc="-2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de </a:t>
                      </a:r>
                      <a:r>
                        <a:rPr dirty="0" sz="115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confirmación</a:t>
                      </a:r>
                      <a:r>
                        <a:rPr dirty="0" sz="1150" spc="-3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5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dirty="0" sz="1150" spc="-10">
                          <a:solidFill>
                            <a:srgbClr val="1C2753"/>
                          </a:solidFill>
                          <a:latin typeface="Calibri"/>
                          <a:cs typeface="Calibri"/>
                        </a:rPr>
                        <a:t> pantalla.</a:t>
                      </a:r>
                      <a:endParaRPr sz="1150">
                        <a:latin typeface="Calibri"/>
                        <a:cs typeface="Calibri"/>
                      </a:endParaRPr>
                    </a:p>
                  </a:txBody>
                  <a:tcPr marL="0" marR="0" marB="0" marT="106045">
                    <a:lnL w="12700">
                      <a:solidFill>
                        <a:srgbClr val="C5C9D7"/>
                      </a:solidFill>
                      <a:prstDash val="solid"/>
                    </a:lnL>
                    <a:lnR w="12700">
                      <a:solidFill>
                        <a:srgbClr val="C5C9D7"/>
                      </a:solidFill>
                      <a:prstDash val="solid"/>
                    </a:lnR>
                    <a:lnT w="12700">
                      <a:solidFill>
                        <a:srgbClr val="C5C9D7"/>
                      </a:solidFill>
                      <a:prstDash val="solid"/>
                    </a:lnT>
                    <a:lnB w="12700">
                      <a:solidFill>
                        <a:srgbClr val="C5C9D7"/>
                      </a:solidFill>
                      <a:prstDash val="solid"/>
                    </a:lnB>
                    <a:solidFill>
                      <a:srgbClr val="E8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164592" y="658368"/>
              <a:ext cx="1371600" cy="384175"/>
            </a:xfrm>
            <a:custGeom>
              <a:avLst/>
              <a:gdLst/>
              <a:ahLst/>
              <a:cxnLst/>
              <a:rect l="l" t="t" r="r" b="b"/>
              <a:pathLst>
                <a:path w="1371600" h="384175">
                  <a:moveTo>
                    <a:pt x="137160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1371600" y="384048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4592" y="658368"/>
              <a:ext cx="1371600" cy="384175"/>
            </a:xfrm>
            <a:custGeom>
              <a:avLst/>
              <a:gdLst/>
              <a:ahLst/>
              <a:cxnLst/>
              <a:rect l="l" t="t" r="r" b="b"/>
              <a:pathLst>
                <a:path w="1371600" h="384175">
                  <a:moveTo>
                    <a:pt x="0" y="384048"/>
                  </a:moveTo>
                  <a:lnTo>
                    <a:pt x="1371600" y="384048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2D7C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502412" y="744982"/>
            <a:ext cx="69405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RESPUESTA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Ejercicio</a:t>
            </a:r>
            <a:r>
              <a:rPr dirty="0" spc="-25"/>
              <a:t> </a:t>
            </a:r>
            <a:r>
              <a:rPr dirty="0"/>
              <a:t>2</a:t>
            </a:r>
            <a:r>
              <a:rPr dirty="0" spc="-10"/>
              <a:t> </a:t>
            </a:r>
            <a:r>
              <a:rPr dirty="0"/>
              <a:t>–</a:t>
            </a:r>
            <a:r>
              <a:rPr dirty="0" spc="-15"/>
              <a:t> </a:t>
            </a:r>
            <a:r>
              <a:rPr dirty="0"/>
              <a:t>RF01:</a:t>
            </a:r>
            <a:r>
              <a:rPr dirty="0" spc="-10"/>
              <a:t> </a:t>
            </a:r>
            <a:r>
              <a:rPr dirty="0"/>
              <a:t>Flujo Alternativo 1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58242" y="1136650"/>
            <a:ext cx="8790940" cy="509270"/>
            <a:chOff x="158242" y="1136650"/>
            <a:chExt cx="8790940" cy="509270"/>
          </a:xfrm>
        </p:grpSpPr>
        <p:sp>
          <p:nvSpPr>
            <p:cNvPr id="8" name="object 8"/>
            <p:cNvSpPr/>
            <p:nvPr/>
          </p:nvSpPr>
          <p:spPr>
            <a:xfrm>
              <a:off x="164592" y="1143000"/>
              <a:ext cx="8778240" cy="73660"/>
            </a:xfrm>
            <a:custGeom>
              <a:avLst/>
              <a:gdLst/>
              <a:ahLst/>
              <a:cxnLst/>
              <a:rect l="l" t="t" r="r" b="b"/>
              <a:pathLst>
                <a:path w="8778240" h="73659">
                  <a:moveTo>
                    <a:pt x="877824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8778240" y="73151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1A3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4592" y="1143000"/>
              <a:ext cx="8778240" cy="73660"/>
            </a:xfrm>
            <a:custGeom>
              <a:avLst/>
              <a:gdLst/>
              <a:ahLst/>
              <a:cxnLst/>
              <a:rect l="l" t="t" r="r" b="b"/>
              <a:pathLst>
                <a:path w="8778240" h="73659">
                  <a:moveTo>
                    <a:pt x="0" y="73151"/>
                  </a:moveTo>
                  <a:lnTo>
                    <a:pt x="8778240" y="73151"/>
                  </a:lnTo>
                  <a:lnTo>
                    <a:pt x="877824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1A3A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4592" y="1261871"/>
              <a:ext cx="8778240" cy="384175"/>
            </a:xfrm>
            <a:custGeom>
              <a:avLst/>
              <a:gdLst/>
              <a:ahLst/>
              <a:cxnLst/>
              <a:rect l="l" t="t" r="r" b="b"/>
              <a:pathLst>
                <a:path w="8778240" h="384175">
                  <a:moveTo>
                    <a:pt x="877824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8778240" y="384048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8A1A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031" y="1312163"/>
              <a:ext cx="314705" cy="31927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58242" y="1255522"/>
            <a:ext cx="8790940" cy="396875"/>
          </a:xfrm>
          <a:prstGeom prst="rect">
            <a:avLst/>
          </a:prstGeom>
          <a:ln w="3175">
            <a:solidFill>
              <a:srgbClr val="8A1A1A"/>
            </a:solidFill>
          </a:ln>
        </p:spPr>
        <p:txBody>
          <a:bodyPr wrap="square" lIns="0" tIns="97790" rIns="0" bIns="0" rtlCol="0" vert="horz">
            <a:spAutoFit/>
          </a:bodyPr>
          <a:lstStyle/>
          <a:p>
            <a:pPr marL="389890">
              <a:lnSpc>
                <a:spcPct val="100000"/>
              </a:lnSpc>
              <a:spcBef>
                <a:spcPts val="77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Condición:</a:t>
            </a:r>
            <a:r>
              <a:rPr dirty="0" sz="1200" spc="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No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existen</a:t>
            </a:r>
            <a:r>
              <a:rPr dirty="0" sz="12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horarios</a:t>
            </a:r>
            <a:r>
              <a:rPr dirty="0" sz="12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disponibles</a:t>
            </a:r>
            <a:r>
              <a:rPr dirty="0" sz="12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dirty="0" sz="12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dirty="0" sz="12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combinación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médico–especialidad–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fecha</a:t>
            </a:r>
            <a:r>
              <a:rPr dirty="0" sz="12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seleccionada.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4592" y="1755648"/>
            <a:ext cx="8778240" cy="256540"/>
          </a:xfrm>
          <a:custGeom>
            <a:avLst/>
            <a:gdLst/>
            <a:ahLst/>
            <a:cxnLst/>
            <a:rect l="l" t="t" r="r" b="b"/>
            <a:pathLst>
              <a:path w="8778240" h="256539">
                <a:moveTo>
                  <a:pt x="0" y="256031"/>
                </a:moveTo>
                <a:lnTo>
                  <a:pt x="8778240" y="256031"/>
                </a:lnTo>
                <a:lnTo>
                  <a:pt x="8778240" y="0"/>
                </a:lnTo>
                <a:lnTo>
                  <a:pt x="0" y="0"/>
                </a:lnTo>
                <a:lnTo>
                  <a:pt x="0" y="256031"/>
                </a:lnTo>
                <a:close/>
              </a:path>
            </a:pathLst>
          </a:custGeom>
          <a:ln w="12700">
            <a:solidFill>
              <a:srgbClr val="1C27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58242" y="1749298"/>
            <a:ext cx="8790940" cy="269240"/>
          </a:xfrm>
          <a:prstGeom prst="rect">
            <a:avLst/>
          </a:prstGeom>
          <a:solidFill>
            <a:srgbClr val="1C2753"/>
          </a:solidFill>
        </p:spPr>
        <p:txBody>
          <a:bodyPr wrap="square" lIns="0" tIns="50165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395"/>
              </a:spcBef>
            </a:pP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S</a:t>
            </a:r>
            <a:r>
              <a:rPr dirty="0" sz="1000" spc="6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I</a:t>
            </a:r>
            <a:r>
              <a:rPr dirty="0" sz="1000" spc="6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S</a:t>
            </a:r>
            <a:r>
              <a:rPr dirty="0" sz="1000" spc="6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T</a:t>
            </a:r>
            <a:r>
              <a:rPr dirty="0" sz="1000" spc="6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E</a:t>
            </a:r>
            <a:r>
              <a:rPr dirty="0" sz="1000" spc="6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M</a:t>
            </a:r>
            <a:r>
              <a:rPr dirty="0" sz="1000" spc="7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spc="-50" b="1">
                <a:solidFill>
                  <a:srgbClr val="C8A127"/>
                </a:solidFill>
                <a:latin typeface="Calibri"/>
                <a:cs typeface="Calibri"/>
              </a:rPr>
              <a:t>A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58242" y="2005329"/>
            <a:ext cx="8790940" cy="789940"/>
            <a:chOff x="158242" y="2005329"/>
            <a:chExt cx="8790940" cy="789940"/>
          </a:xfrm>
        </p:grpSpPr>
        <p:sp>
          <p:nvSpPr>
            <p:cNvPr id="16" name="object 16"/>
            <p:cNvSpPr/>
            <p:nvPr/>
          </p:nvSpPr>
          <p:spPr>
            <a:xfrm>
              <a:off x="164592" y="2011679"/>
              <a:ext cx="8778240" cy="777240"/>
            </a:xfrm>
            <a:custGeom>
              <a:avLst/>
              <a:gdLst/>
              <a:ahLst/>
              <a:cxnLst/>
              <a:rect l="l" t="t" r="r" b="b"/>
              <a:pathLst>
                <a:path w="8778240" h="777239">
                  <a:moveTo>
                    <a:pt x="8778240" y="0"/>
                  </a:moveTo>
                  <a:lnTo>
                    <a:pt x="0" y="0"/>
                  </a:lnTo>
                  <a:lnTo>
                    <a:pt x="0" y="777240"/>
                  </a:lnTo>
                  <a:lnTo>
                    <a:pt x="8778240" y="777240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EDF0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64592" y="2011679"/>
              <a:ext cx="8778240" cy="777240"/>
            </a:xfrm>
            <a:custGeom>
              <a:avLst/>
              <a:gdLst/>
              <a:ahLst/>
              <a:cxnLst/>
              <a:rect l="l" t="t" r="r" b="b"/>
              <a:pathLst>
                <a:path w="8778240" h="777239">
                  <a:moveTo>
                    <a:pt x="0" y="777240"/>
                  </a:moveTo>
                  <a:lnTo>
                    <a:pt x="8778240" y="777240"/>
                  </a:lnTo>
                  <a:lnTo>
                    <a:pt x="8778240" y="0"/>
                  </a:lnTo>
                  <a:lnTo>
                    <a:pt x="0" y="0"/>
                  </a:lnTo>
                  <a:lnTo>
                    <a:pt x="0" y="777240"/>
                  </a:lnTo>
                  <a:close/>
                </a:path>
              </a:pathLst>
            </a:custGeom>
            <a:ln w="12700">
              <a:solidFill>
                <a:srgbClr val="C5C9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11480" y="2188591"/>
            <a:ext cx="543115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42265" algn="l"/>
              </a:tabLst>
            </a:pP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1.</a:t>
            </a:r>
            <a:r>
              <a:rPr dirty="0" sz="125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Informa</a:t>
            </a: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al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paciente</a:t>
            </a:r>
            <a:r>
              <a:rPr dirty="0" sz="125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que</a:t>
            </a:r>
            <a:r>
              <a:rPr dirty="0" sz="12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no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hay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horarios</a:t>
            </a:r>
            <a:r>
              <a:rPr dirty="0" sz="12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disponibles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para</a:t>
            </a:r>
            <a:r>
              <a:rPr dirty="0" sz="12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la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selección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actual.</a:t>
            </a:r>
            <a:endParaRPr sz="125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2.</a:t>
            </a:r>
            <a:r>
              <a:rPr dirty="0" sz="125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Ofrece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fechas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alternativas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o</a:t>
            </a:r>
            <a:r>
              <a:rPr dirty="0" sz="125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la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opción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de</a:t>
            </a:r>
            <a:r>
              <a:rPr dirty="0" sz="12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cambiar</a:t>
            </a:r>
            <a:r>
              <a:rPr dirty="0" sz="125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de</a:t>
            </a:r>
            <a:r>
              <a:rPr dirty="0" sz="125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médico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o</a:t>
            </a:r>
            <a:r>
              <a:rPr dirty="0" sz="1250" spc="-3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especialidad.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64592" y="2907792"/>
            <a:ext cx="8778240" cy="256540"/>
          </a:xfrm>
          <a:custGeom>
            <a:avLst/>
            <a:gdLst/>
            <a:ahLst/>
            <a:cxnLst/>
            <a:rect l="l" t="t" r="r" b="b"/>
            <a:pathLst>
              <a:path w="8778240" h="256539">
                <a:moveTo>
                  <a:pt x="0" y="256031"/>
                </a:moveTo>
                <a:lnTo>
                  <a:pt x="8778240" y="256031"/>
                </a:lnTo>
                <a:lnTo>
                  <a:pt x="8778240" y="0"/>
                </a:lnTo>
                <a:lnTo>
                  <a:pt x="0" y="0"/>
                </a:lnTo>
                <a:lnTo>
                  <a:pt x="0" y="256031"/>
                </a:lnTo>
                <a:close/>
              </a:path>
            </a:pathLst>
          </a:custGeom>
          <a:ln w="12700">
            <a:solidFill>
              <a:srgbClr val="C8A1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58242" y="2901442"/>
            <a:ext cx="8790940" cy="269240"/>
          </a:xfrm>
          <a:prstGeom prst="rect">
            <a:avLst/>
          </a:prstGeom>
          <a:solidFill>
            <a:srgbClr val="C8A127"/>
          </a:solidFill>
        </p:spPr>
        <p:txBody>
          <a:bodyPr wrap="square" lIns="0" tIns="50800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400"/>
              </a:spcBef>
            </a:pPr>
            <a:r>
              <a:rPr dirty="0" sz="1000" b="1">
                <a:solidFill>
                  <a:srgbClr val="0D1540"/>
                </a:solidFill>
                <a:latin typeface="Calibri"/>
                <a:cs typeface="Calibri"/>
              </a:rPr>
              <a:t>U</a:t>
            </a:r>
            <a:r>
              <a:rPr dirty="0" sz="1000" spc="65" b="1">
                <a:solidFill>
                  <a:srgbClr val="0D1540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1540"/>
                </a:solidFill>
                <a:latin typeface="Calibri"/>
                <a:cs typeface="Calibri"/>
              </a:rPr>
              <a:t>S</a:t>
            </a:r>
            <a:r>
              <a:rPr dirty="0" sz="1000" spc="70" b="1">
                <a:solidFill>
                  <a:srgbClr val="0D1540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1540"/>
                </a:solidFill>
                <a:latin typeface="Calibri"/>
                <a:cs typeface="Calibri"/>
              </a:rPr>
              <a:t>U</a:t>
            </a:r>
            <a:r>
              <a:rPr dirty="0" sz="1000" spc="70" b="1">
                <a:solidFill>
                  <a:srgbClr val="0D1540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1540"/>
                </a:solidFill>
                <a:latin typeface="Calibri"/>
                <a:cs typeface="Calibri"/>
              </a:rPr>
              <a:t>A</a:t>
            </a:r>
            <a:r>
              <a:rPr dirty="0" sz="1000" spc="60" b="1">
                <a:solidFill>
                  <a:srgbClr val="0D1540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1540"/>
                </a:solidFill>
                <a:latin typeface="Calibri"/>
                <a:cs typeface="Calibri"/>
              </a:rPr>
              <a:t>R</a:t>
            </a:r>
            <a:r>
              <a:rPr dirty="0" sz="1000" spc="75" b="1">
                <a:solidFill>
                  <a:srgbClr val="0D1540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1540"/>
                </a:solidFill>
                <a:latin typeface="Calibri"/>
                <a:cs typeface="Calibri"/>
              </a:rPr>
              <a:t>I</a:t>
            </a:r>
            <a:r>
              <a:rPr dirty="0" sz="1000" spc="70" b="1">
                <a:solidFill>
                  <a:srgbClr val="0D1540"/>
                </a:solidFill>
                <a:latin typeface="Calibri"/>
                <a:cs typeface="Calibri"/>
              </a:rPr>
              <a:t> </a:t>
            </a:r>
            <a:r>
              <a:rPr dirty="0" sz="1000" spc="-50" b="1">
                <a:solidFill>
                  <a:srgbClr val="0D1540"/>
                </a:solidFill>
                <a:latin typeface="Calibri"/>
                <a:cs typeface="Calibri"/>
              </a:rPr>
              <a:t>O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58242" y="3157473"/>
            <a:ext cx="8790940" cy="515620"/>
            <a:chOff x="158242" y="3157473"/>
            <a:chExt cx="8790940" cy="515620"/>
          </a:xfrm>
        </p:grpSpPr>
        <p:sp>
          <p:nvSpPr>
            <p:cNvPr id="22" name="object 22"/>
            <p:cNvSpPr/>
            <p:nvPr/>
          </p:nvSpPr>
          <p:spPr>
            <a:xfrm>
              <a:off x="164592" y="3163823"/>
              <a:ext cx="8778240" cy="502920"/>
            </a:xfrm>
            <a:custGeom>
              <a:avLst/>
              <a:gdLst/>
              <a:ahLst/>
              <a:cxnLst/>
              <a:rect l="l" t="t" r="r" b="b"/>
              <a:pathLst>
                <a:path w="8778240" h="502920">
                  <a:moveTo>
                    <a:pt x="8778240" y="0"/>
                  </a:moveTo>
                  <a:lnTo>
                    <a:pt x="0" y="0"/>
                  </a:lnTo>
                  <a:lnTo>
                    <a:pt x="0" y="502919"/>
                  </a:lnTo>
                  <a:lnTo>
                    <a:pt x="8778240" y="502919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E8E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64592" y="3163823"/>
              <a:ext cx="8778240" cy="502920"/>
            </a:xfrm>
            <a:custGeom>
              <a:avLst/>
              <a:gdLst/>
              <a:ahLst/>
              <a:cxnLst/>
              <a:rect l="l" t="t" r="r" b="b"/>
              <a:pathLst>
                <a:path w="8778240" h="502920">
                  <a:moveTo>
                    <a:pt x="0" y="502919"/>
                  </a:moveTo>
                  <a:lnTo>
                    <a:pt x="8778240" y="502919"/>
                  </a:lnTo>
                  <a:lnTo>
                    <a:pt x="8778240" y="0"/>
                  </a:lnTo>
                  <a:lnTo>
                    <a:pt x="0" y="0"/>
                  </a:lnTo>
                  <a:lnTo>
                    <a:pt x="0" y="502919"/>
                  </a:lnTo>
                  <a:close/>
                </a:path>
              </a:pathLst>
            </a:custGeom>
            <a:ln w="12700">
              <a:solidFill>
                <a:srgbClr val="C5C9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11480" y="3303777"/>
            <a:ext cx="533590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42265" algn="l"/>
              </a:tabLst>
            </a:pP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3.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Selecciona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otra</a:t>
            </a:r>
            <a:r>
              <a:rPr dirty="0" sz="125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fecha,</a:t>
            </a:r>
            <a:r>
              <a:rPr dirty="0" sz="1250" spc="-1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médico</a:t>
            </a:r>
            <a:r>
              <a:rPr dirty="0" sz="1250" spc="-2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o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especialidad,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o</a:t>
            </a: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decide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cancelar</a:t>
            </a:r>
            <a:r>
              <a:rPr dirty="0" sz="1250" spc="-30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el</a:t>
            </a:r>
            <a:r>
              <a:rPr dirty="0" sz="1250" spc="-25">
                <a:solidFill>
                  <a:srgbClr val="1C2753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1C2753"/>
                </a:solidFill>
                <a:latin typeface="Calibri"/>
                <a:cs typeface="Calibri"/>
              </a:rPr>
              <a:t>proceso.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242" y="3788409"/>
            <a:ext cx="8790940" cy="607060"/>
          </a:xfrm>
          <a:prstGeom prst="rect">
            <a:avLst/>
          </a:prstGeom>
          <a:solidFill>
            <a:srgbClr val="1C2753"/>
          </a:solidFill>
          <a:ln w="3175">
            <a:solidFill>
              <a:srgbClr val="1C2753"/>
            </a:solidFill>
          </a:ln>
        </p:spPr>
        <p:txBody>
          <a:bodyPr wrap="square" lIns="0" tIns="116839" rIns="0" bIns="0" rtlCol="0" vert="horz">
            <a:spAutoFit/>
          </a:bodyPr>
          <a:lstStyle/>
          <a:p>
            <a:pPr marL="373380" indent="-147955">
              <a:lnSpc>
                <a:spcPct val="100000"/>
              </a:lnSpc>
              <a:spcBef>
                <a:spcPts val="919"/>
              </a:spcBef>
              <a:buSzPct val="104166"/>
              <a:buFont typeface="Segoe UI Symbol"/>
              <a:buChar char="✓"/>
              <a:tabLst>
                <a:tab pos="373380" algn="l"/>
              </a:tabLst>
            </a:pP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Este</a:t>
            </a:r>
            <a:r>
              <a:rPr dirty="0" sz="12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ejercicio</a:t>
            </a:r>
            <a:r>
              <a:rPr dirty="0" sz="12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lleva</a:t>
            </a:r>
            <a:r>
              <a:rPr dirty="0" sz="12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dirty="0" sz="12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FFFFFF"/>
                </a:solidFill>
                <a:latin typeface="Calibri"/>
                <a:cs typeface="Calibri"/>
              </a:rPr>
              <a:t>estudiante</a:t>
            </a:r>
            <a:r>
              <a:rPr dirty="0" sz="12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desde</a:t>
            </a:r>
            <a:r>
              <a:rPr dirty="0" sz="12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dirty="0" sz="12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FFFFFF"/>
                </a:solidFill>
                <a:latin typeface="Calibri"/>
                <a:cs typeface="Calibri"/>
              </a:rPr>
              <a:t>caracterización</a:t>
            </a:r>
            <a:r>
              <a:rPr dirty="0" sz="1200" spc="-3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dirty="0" sz="12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escenario</a:t>
            </a:r>
            <a:r>
              <a:rPr dirty="0" sz="1200" spc="-1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hasta</a:t>
            </a:r>
            <a:r>
              <a:rPr dirty="0" sz="12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una</a:t>
            </a:r>
            <a:r>
              <a:rPr dirty="0" sz="1200" spc="-2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FFFFFF"/>
                </a:solidFill>
                <a:latin typeface="Calibri"/>
                <a:cs typeface="Calibri"/>
              </a:rPr>
              <a:t>especificación</a:t>
            </a:r>
            <a:r>
              <a:rPr dirty="0" sz="12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detallada:</a:t>
            </a:r>
            <a:r>
              <a:rPr dirty="0" sz="1200" spc="-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educción</a:t>
            </a:r>
            <a:r>
              <a:rPr dirty="0" sz="1200" spc="-2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dirty="0" sz="1200" spc="-1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elicitación</a:t>
            </a:r>
            <a:r>
              <a:rPr dirty="0" sz="1200" spc="-35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50" i="1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endParaRPr sz="1200">
              <a:latin typeface="Calibri"/>
              <a:cs typeface="Calibri"/>
            </a:endParaRPr>
          </a:p>
          <a:p>
            <a:pPr marL="225425">
              <a:lnSpc>
                <a:spcPct val="100000"/>
              </a:lnSpc>
            </a:pPr>
            <a:r>
              <a:rPr dirty="0" sz="1200" spc="-10" i="1">
                <a:solidFill>
                  <a:srgbClr val="FFFFFF"/>
                </a:solidFill>
                <a:latin typeface="Calibri"/>
                <a:cs typeface="Calibri"/>
              </a:rPr>
              <a:t>especificación.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3" name="object 3"/>
            <p:cNvSpPr/>
            <p:nvPr/>
          </p:nvSpPr>
          <p:spPr>
            <a:xfrm>
              <a:off x="164592" y="658368"/>
              <a:ext cx="1371600" cy="384175"/>
            </a:xfrm>
            <a:custGeom>
              <a:avLst/>
              <a:gdLst/>
              <a:ahLst/>
              <a:cxnLst/>
              <a:rect l="l" t="t" r="r" b="b"/>
              <a:pathLst>
                <a:path w="1371600" h="384175">
                  <a:moveTo>
                    <a:pt x="137160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1371600" y="384048"/>
                  </a:lnTo>
                  <a:lnTo>
                    <a:pt x="1371600" y="0"/>
                  </a:lnTo>
                  <a:close/>
                </a:path>
              </a:pathLst>
            </a:custGeom>
            <a:solidFill>
              <a:srgbClr val="2D7C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4592" y="658368"/>
              <a:ext cx="1371600" cy="384175"/>
            </a:xfrm>
            <a:custGeom>
              <a:avLst/>
              <a:gdLst/>
              <a:ahLst/>
              <a:cxnLst/>
              <a:rect l="l" t="t" r="r" b="b"/>
              <a:pathLst>
                <a:path w="1371600" h="384175">
                  <a:moveTo>
                    <a:pt x="0" y="384048"/>
                  </a:moveTo>
                  <a:lnTo>
                    <a:pt x="1371600" y="384048"/>
                  </a:lnTo>
                  <a:lnTo>
                    <a:pt x="137160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2D7C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502412" y="744982"/>
            <a:ext cx="69405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RESPUESTA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Ejercicio</a:t>
            </a:r>
            <a:r>
              <a:rPr dirty="0" spc="-25"/>
              <a:t> </a:t>
            </a:r>
            <a:r>
              <a:rPr dirty="0"/>
              <a:t>2</a:t>
            </a:r>
            <a:r>
              <a:rPr dirty="0" spc="-10"/>
              <a:t> </a:t>
            </a:r>
            <a:r>
              <a:rPr dirty="0"/>
              <a:t>–</a:t>
            </a:r>
            <a:r>
              <a:rPr dirty="0" spc="-15"/>
              <a:t> </a:t>
            </a:r>
            <a:r>
              <a:rPr dirty="0"/>
              <a:t>RF01:</a:t>
            </a:r>
            <a:r>
              <a:rPr dirty="0" spc="-10"/>
              <a:t> </a:t>
            </a:r>
            <a:r>
              <a:rPr dirty="0"/>
              <a:t>Flujo Alternativo 2 (concurrencia)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58242" y="1136650"/>
            <a:ext cx="8790940" cy="509270"/>
            <a:chOff x="158242" y="1136650"/>
            <a:chExt cx="8790940" cy="509270"/>
          </a:xfrm>
        </p:grpSpPr>
        <p:sp>
          <p:nvSpPr>
            <p:cNvPr id="8" name="object 8"/>
            <p:cNvSpPr/>
            <p:nvPr/>
          </p:nvSpPr>
          <p:spPr>
            <a:xfrm>
              <a:off x="164592" y="1143000"/>
              <a:ext cx="8778240" cy="73660"/>
            </a:xfrm>
            <a:custGeom>
              <a:avLst/>
              <a:gdLst/>
              <a:ahLst/>
              <a:cxnLst/>
              <a:rect l="l" t="t" r="r" b="b"/>
              <a:pathLst>
                <a:path w="8778240" h="73659">
                  <a:moveTo>
                    <a:pt x="877824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8778240" y="73151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1A3A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64592" y="1143000"/>
              <a:ext cx="8778240" cy="73660"/>
            </a:xfrm>
            <a:custGeom>
              <a:avLst/>
              <a:gdLst/>
              <a:ahLst/>
              <a:cxnLst/>
              <a:rect l="l" t="t" r="r" b="b"/>
              <a:pathLst>
                <a:path w="8778240" h="73659">
                  <a:moveTo>
                    <a:pt x="0" y="73151"/>
                  </a:moveTo>
                  <a:lnTo>
                    <a:pt x="8778240" y="73151"/>
                  </a:lnTo>
                  <a:lnTo>
                    <a:pt x="877824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1A3AA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4592" y="1261871"/>
              <a:ext cx="8778240" cy="384175"/>
            </a:xfrm>
            <a:custGeom>
              <a:avLst/>
              <a:gdLst/>
              <a:ahLst/>
              <a:cxnLst/>
              <a:rect l="l" t="t" r="r" b="b"/>
              <a:pathLst>
                <a:path w="8778240" h="384175">
                  <a:moveTo>
                    <a:pt x="877824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8778240" y="384048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8A1A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6031" y="1312163"/>
              <a:ext cx="314705" cy="319277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58242" y="1255522"/>
            <a:ext cx="8790940" cy="396875"/>
          </a:xfrm>
          <a:prstGeom prst="rect">
            <a:avLst/>
          </a:prstGeom>
          <a:ln w="3175">
            <a:solidFill>
              <a:srgbClr val="8A1A1A"/>
            </a:solidFill>
          </a:ln>
        </p:spPr>
        <p:txBody>
          <a:bodyPr wrap="square" lIns="0" tIns="97790" rIns="0" bIns="0" rtlCol="0" vert="horz">
            <a:spAutoFit/>
          </a:bodyPr>
          <a:lstStyle/>
          <a:p>
            <a:pPr marL="389890">
              <a:lnSpc>
                <a:spcPct val="100000"/>
              </a:lnSpc>
              <a:spcBef>
                <a:spcPts val="77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Condición:</a:t>
            </a:r>
            <a:r>
              <a:rPr dirty="0" sz="1200" spc="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Otro paciente reserva el mismo horario antes de que se confirme la cita.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4592" y="1755648"/>
            <a:ext cx="8778240" cy="256540"/>
          </a:xfrm>
          <a:custGeom>
            <a:avLst/>
            <a:gdLst/>
            <a:ahLst/>
            <a:cxnLst/>
            <a:rect l="l" t="t" r="r" b="b"/>
            <a:pathLst>
              <a:path w="8778240" h="256539">
                <a:moveTo>
                  <a:pt x="0" y="256031"/>
                </a:moveTo>
                <a:lnTo>
                  <a:pt x="8778240" y="256031"/>
                </a:lnTo>
                <a:lnTo>
                  <a:pt x="8778240" y="0"/>
                </a:lnTo>
                <a:lnTo>
                  <a:pt x="0" y="0"/>
                </a:lnTo>
                <a:lnTo>
                  <a:pt x="0" y="256031"/>
                </a:lnTo>
                <a:close/>
              </a:path>
            </a:pathLst>
          </a:custGeom>
          <a:ln w="12700">
            <a:solidFill>
              <a:srgbClr val="1C275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58242" y="1749298"/>
            <a:ext cx="8790940" cy="269240"/>
          </a:xfrm>
          <a:prstGeom prst="rect">
            <a:avLst/>
          </a:prstGeom>
          <a:solidFill>
            <a:srgbClr val="1C2753"/>
          </a:solidFill>
        </p:spPr>
        <p:txBody>
          <a:bodyPr wrap="square" lIns="0" tIns="50165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395"/>
              </a:spcBef>
            </a:pP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S</a:t>
            </a:r>
            <a:r>
              <a:rPr dirty="0" sz="1000" spc="6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I</a:t>
            </a:r>
            <a:r>
              <a:rPr dirty="0" sz="1000" spc="6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S</a:t>
            </a:r>
            <a:r>
              <a:rPr dirty="0" sz="1000" spc="6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T</a:t>
            </a:r>
            <a:r>
              <a:rPr dirty="0" sz="1000" spc="65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E</a:t>
            </a:r>
            <a:r>
              <a:rPr dirty="0" sz="1000" spc="6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C8A127"/>
                </a:solidFill>
                <a:latin typeface="Calibri"/>
                <a:cs typeface="Calibri"/>
              </a:rPr>
              <a:t>M</a:t>
            </a:r>
            <a:r>
              <a:rPr dirty="0" sz="1000" spc="70" b="1">
                <a:solidFill>
                  <a:srgbClr val="C8A127"/>
                </a:solidFill>
                <a:latin typeface="Calibri"/>
                <a:cs typeface="Calibri"/>
              </a:rPr>
              <a:t> </a:t>
            </a:r>
            <a:r>
              <a:rPr dirty="0" sz="1000" spc="-50" b="1">
                <a:solidFill>
                  <a:srgbClr val="C8A127"/>
                </a:solidFill>
                <a:latin typeface="Calibri"/>
                <a:cs typeface="Calibri"/>
              </a:rPr>
              <a:t>A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58242" y="2005329"/>
            <a:ext cx="8790940" cy="789940"/>
            <a:chOff x="158242" y="2005329"/>
            <a:chExt cx="8790940" cy="789940"/>
          </a:xfrm>
        </p:grpSpPr>
        <p:sp>
          <p:nvSpPr>
            <p:cNvPr id="16" name="object 16"/>
            <p:cNvSpPr/>
            <p:nvPr/>
          </p:nvSpPr>
          <p:spPr>
            <a:xfrm>
              <a:off x="164592" y="2011679"/>
              <a:ext cx="8778240" cy="777240"/>
            </a:xfrm>
            <a:custGeom>
              <a:avLst/>
              <a:gdLst/>
              <a:ahLst/>
              <a:cxnLst/>
              <a:rect l="l" t="t" r="r" b="b"/>
              <a:pathLst>
                <a:path w="8778240" h="777239">
                  <a:moveTo>
                    <a:pt x="8778240" y="0"/>
                  </a:moveTo>
                  <a:lnTo>
                    <a:pt x="0" y="0"/>
                  </a:lnTo>
                  <a:lnTo>
                    <a:pt x="0" y="777240"/>
                  </a:lnTo>
                  <a:lnTo>
                    <a:pt x="8778240" y="777240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EDF0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64592" y="2011679"/>
              <a:ext cx="8778240" cy="777240"/>
            </a:xfrm>
            <a:custGeom>
              <a:avLst/>
              <a:gdLst/>
              <a:ahLst/>
              <a:cxnLst/>
              <a:rect l="l" t="t" r="r" b="b"/>
              <a:pathLst>
                <a:path w="8778240" h="777239">
                  <a:moveTo>
                    <a:pt x="0" y="777240"/>
                  </a:moveTo>
                  <a:lnTo>
                    <a:pt x="8778240" y="777240"/>
                  </a:lnTo>
                  <a:lnTo>
                    <a:pt x="8778240" y="0"/>
                  </a:lnTo>
                  <a:lnTo>
                    <a:pt x="0" y="0"/>
                  </a:lnTo>
                  <a:lnTo>
                    <a:pt x="0" y="777240"/>
                  </a:lnTo>
                  <a:close/>
                </a:path>
              </a:pathLst>
            </a:custGeom>
            <a:ln w="12700">
              <a:solidFill>
                <a:srgbClr val="C5C9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11480" y="2188591"/>
            <a:ext cx="5431155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42265" algn="l"/>
              </a:tabLst>
            </a:pP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1. Detecta que el horario ya no está disponible y no registra la cita.</a:t>
            </a:r>
            <a:endParaRPr sz="1250">
              <a:latin typeface="Calibri"/>
              <a:cs typeface="Calibri"/>
            </a:endParaRPr>
          </a:p>
          <a:p>
            <a:pPr marL="342265" indent="-342265">
              <a:lnSpc>
                <a:spcPct val="100000"/>
              </a:lnSpc>
              <a:buChar char="•"/>
              <a:tabLst>
                <a:tab pos="342265" algn="l"/>
              </a:tabLst>
            </a:pP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2. Informa al paciente y actualiza la lista de horarios libres.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64592" y="2907792"/>
            <a:ext cx="8778240" cy="256540"/>
          </a:xfrm>
          <a:custGeom>
            <a:avLst/>
            <a:gdLst/>
            <a:ahLst/>
            <a:cxnLst/>
            <a:rect l="l" t="t" r="r" b="b"/>
            <a:pathLst>
              <a:path w="8778240" h="256539">
                <a:moveTo>
                  <a:pt x="0" y="256031"/>
                </a:moveTo>
                <a:lnTo>
                  <a:pt x="8778240" y="256031"/>
                </a:lnTo>
                <a:lnTo>
                  <a:pt x="8778240" y="0"/>
                </a:lnTo>
                <a:lnTo>
                  <a:pt x="0" y="0"/>
                </a:lnTo>
                <a:lnTo>
                  <a:pt x="0" y="256031"/>
                </a:lnTo>
                <a:close/>
              </a:path>
            </a:pathLst>
          </a:custGeom>
          <a:ln w="12700">
            <a:solidFill>
              <a:srgbClr val="C8A1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58242" y="2901442"/>
            <a:ext cx="8790940" cy="269240"/>
          </a:xfrm>
          <a:prstGeom prst="rect">
            <a:avLst/>
          </a:prstGeom>
          <a:solidFill>
            <a:srgbClr val="C8A127"/>
          </a:solidFill>
        </p:spPr>
        <p:txBody>
          <a:bodyPr wrap="square" lIns="0" tIns="50800" rIns="0" bIns="0" rtlCol="0" vert="horz">
            <a:spAutoFit/>
          </a:bodyPr>
          <a:lstStyle/>
          <a:p>
            <a:pPr marL="188595">
              <a:lnSpc>
                <a:spcPct val="100000"/>
              </a:lnSpc>
              <a:spcBef>
                <a:spcPts val="400"/>
              </a:spcBef>
            </a:pPr>
            <a:r>
              <a:rPr dirty="0" sz="1000" b="1">
                <a:solidFill>
                  <a:srgbClr val="0D1540"/>
                </a:solidFill>
                <a:latin typeface="Calibri"/>
                <a:cs typeface="Calibri"/>
              </a:rPr>
              <a:t>U</a:t>
            </a:r>
            <a:r>
              <a:rPr dirty="0" sz="1000" spc="65" b="1">
                <a:solidFill>
                  <a:srgbClr val="0D1540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1540"/>
                </a:solidFill>
                <a:latin typeface="Calibri"/>
                <a:cs typeface="Calibri"/>
              </a:rPr>
              <a:t>S</a:t>
            </a:r>
            <a:r>
              <a:rPr dirty="0" sz="1000" spc="70" b="1">
                <a:solidFill>
                  <a:srgbClr val="0D1540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1540"/>
                </a:solidFill>
                <a:latin typeface="Calibri"/>
                <a:cs typeface="Calibri"/>
              </a:rPr>
              <a:t>U</a:t>
            </a:r>
            <a:r>
              <a:rPr dirty="0" sz="1000" spc="70" b="1">
                <a:solidFill>
                  <a:srgbClr val="0D1540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1540"/>
                </a:solidFill>
                <a:latin typeface="Calibri"/>
                <a:cs typeface="Calibri"/>
              </a:rPr>
              <a:t>A</a:t>
            </a:r>
            <a:r>
              <a:rPr dirty="0" sz="1000" spc="60" b="1">
                <a:solidFill>
                  <a:srgbClr val="0D1540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1540"/>
                </a:solidFill>
                <a:latin typeface="Calibri"/>
                <a:cs typeface="Calibri"/>
              </a:rPr>
              <a:t>R</a:t>
            </a:r>
            <a:r>
              <a:rPr dirty="0" sz="1000" spc="75" b="1">
                <a:solidFill>
                  <a:srgbClr val="0D1540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0D1540"/>
                </a:solidFill>
                <a:latin typeface="Calibri"/>
                <a:cs typeface="Calibri"/>
              </a:rPr>
              <a:t>I</a:t>
            </a:r>
            <a:r>
              <a:rPr dirty="0" sz="1000" spc="70" b="1">
                <a:solidFill>
                  <a:srgbClr val="0D1540"/>
                </a:solidFill>
                <a:latin typeface="Calibri"/>
                <a:cs typeface="Calibri"/>
              </a:rPr>
              <a:t> </a:t>
            </a:r>
            <a:r>
              <a:rPr dirty="0" sz="1000" spc="-50" b="1">
                <a:solidFill>
                  <a:srgbClr val="0D1540"/>
                </a:solidFill>
                <a:latin typeface="Calibri"/>
                <a:cs typeface="Calibri"/>
              </a:rPr>
              <a:t>O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58242" y="3157473"/>
            <a:ext cx="8790940" cy="515620"/>
            <a:chOff x="158242" y="3157473"/>
            <a:chExt cx="8790940" cy="515620"/>
          </a:xfrm>
        </p:grpSpPr>
        <p:sp>
          <p:nvSpPr>
            <p:cNvPr id="22" name="object 22"/>
            <p:cNvSpPr/>
            <p:nvPr/>
          </p:nvSpPr>
          <p:spPr>
            <a:xfrm>
              <a:off x="164592" y="3163823"/>
              <a:ext cx="8778240" cy="502920"/>
            </a:xfrm>
            <a:custGeom>
              <a:avLst/>
              <a:gdLst/>
              <a:ahLst/>
              <a:cxnLst/>
              <a:rect l="l" t="t" r="r" b="b"/>
              <a:pathLst>
                <a:path w="8778240" h="502920">
                  <a:moveTo>
                    <a:pt x="8778240" y="0"/>
                  </a:moveTo>
                  <a:lnTo>
                    <a:pt x="0" y="0"/>
                  </a:lnTo>
                  <a:lnTo>
                    <a:pt x="0" y="502919"/>
                  </a:lnTo>
                  <a:lnTo>
                    <a:pt x="8778240" y="502919"/>
                  </a:lnTo>
                  <a:lnTo>
                    <a:pt x="8778240" y="0"/>
                  </a:lnTo>
                  <a:close/>
                </a:path>
              </a:pathLst>
            </a:custGeom>
            <a:solidFill>
              <a:srgbClr val="E8EB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64592" y="3163823"/>
              <a:ext cx="8778240" cy="502920"/>
            </a:xfrm>
            <a:custGeom>
              <a:avLst/>
              <a:gdLst/>
              <a:ahLst/>
              <a:cxnLst/>
              <a:rect l="l" t="t" r="r" b="b"/>
              <a:pathLst>
                <a:path w="8778240" h="502920">
                  <a:moveTo>
                    <a:pt x="0" y="502919"/>
                  </a:moveTo>
                  <a:lnTo>
                    <a:pt x="8778240" y="502919"/>
                  </a:lnTo>
                  <a:lnTo>
                    <a:pt x="8778240" y="0"/>
                  </a:lnTo>
                  <a:lnTo>
                    <a:pt x="0" y="0"/>
                  </a:lnTo>
                  <a:lnTo>
                    <a:pt x="0" y="502919"/>
                  </a:lnTo>
                  <a:close/>
                </a:path>
              </a:pathLst>
            </a:custGeom>
            <a:ln w="12700">
              <a:solidFill>
                <a:srgbClr val="C5C9D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11480" y="3303777"/>
            <a:ext cx="533590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422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42265" algn="l"/>
              </a:tabLst>
            </a:pPr>
            <a:r>
              <a:rPr dirty="0" sz="1250">
                <a:solidFill>
                  <a:srgbClr val="1C2753"/>
                </a:solidFill>
                <a:latin typeface="Calibri"/>
                <a:cs typeface="Calibri"/>
              </a:rPr>
              <a:t>3. Elige otro horario de la lista actualizada o cancela el proceso.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8242" y="3788409"/>
            <a:ext cx="8790940" cy="607060"/>
          </a:xfrm>
          <a:prstGeom prst="rect">
            <a:avLst/>
          </a:prstGeom>
          <a:solidFill>
            <a:srgbClr val="1C2753"/>
          </a:solidFill>
          <a:ln w="3175">
            <a:solidFill>
              <a:srgbClr val="1C2753"/>
            </a:solidFill>
          </a:ln>
        </p:spPr>
        <p:txBody>
          <a:bodyPr wrap="square" lIns="0" tIns="116839" rIns="0" bIns="0" rtlCol="0" vert="horz">
            <a:spAutoFit/>
          </a:bodyPr>
          <a:lstStyle/>
          <a:p>
            <a:pPr marL="373380" indent="-147955">
              <a:lnSpc>
                <a:spcPct val="100000"/>
              </a:lnSpc>
              <a:spcBef>
                <a:spcPts val="919"/>
              </a:spcBef>
              <a:buSzPct val="104166"/>
              <a:buFont typeface="Segoe UI Symbol"/>
              <a:buChar char="✓"/>
              <a:tabLst>
                <a:tab pos="373380" algn="l"/>
              </a:tabLst>
            </a:pP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Regla adicional: si falla el envío del correo, la cita permanece registrada, el envío se reintenta y se informa en pantalla (requisito no funcional de confiabilidad).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PptxGenJS Presentation</dc:title>
  <dcterms:created xsi:type="dcterms:W3CDTF">2026-10-22T20:03:55Z</dcterms:created>
  <dcterms:modified xsi:type="dcterms:W3CDTF">2026-10-22T20:03:55Z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2026-07-27T00:00:00Z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2026-10-22T00:00:00Z</vt:filetime>
  </property>
  <property fmtid="{D5CDD505-2E9C-101B-9397-08002B2CF9AE}" pid="5" name="Producer">
    <vt:lpwstr>Microsoft® PowerPoint® para Microsoft 365</vt:lpwstr>
  </property>
</Properties>
</file>