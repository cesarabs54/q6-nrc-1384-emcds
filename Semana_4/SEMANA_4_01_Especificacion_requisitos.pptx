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3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2" r:id="rId32"/>
    <p:sldId id="283" r:id="rId33"/>
    <p:sldId id="281" r:id="rId31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8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D1F4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A2E5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4846320"/>
          </a:xfrm>
          <a:custGeom>
            <a:avLst/>
            <a:gdLst/>
            <a:ahLst/>
            <a:cxnLst/>
            <a:rect l="l" t="t" r="r" b="b"/>
            <a:pathLst>
              <a:path w="9144000" h="4846320">
                <a:moveTo>
                  <a:pt x="0" y="4846320"/>
                </a:moveTo>
                <a:lnTo>
                  <a:pt x="9144000" y="4846320"/>
                </a:lnTo>
                <a:lnTo>
                  <a:pt x="9144000" y="0"/>
                </a:lnTo>
                <a:lnTo>
                  <a:pt x="0" y="0"/>
                </a:lnTo>
                <a:lnTo>
                  <a:pt x="0" y="4846320"/>
                </a:lnTo>
                <a:close/>
              </a:path>
            </a:pathLst>
          </a:custGeom>
          <a:solidFill>
            <a:srgbClr val="051237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5143500"/>
                </a:move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ln w="12700">
            <a:solidFill>
              <a:srgbClr val="05123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867270" y="2944368"/>
            <a:ext cx="2277110" cy="1729105"/>
          </a:xfrm>
          <a:custGeom>
            <a:avLst/>
            <a:gdLst/>
            <a:ahLst/>
            <a:cxnLst/>
            <a:rect l="l" t="t" r="r" b="b"/>
            <a:pathLst>
              <a:path w="2277109" h="1729104">
                <a:moveTo>
                  <a:pt x="2276729" y="0"/>
                </a:moveTo>
                <a:lnTo>
                  <a:pt x="0" y="1594192"/>
                </a:lnTo>
                <a:lnTo>
                  <a:pt x="94360" y="1729016"/>
                </a:lnTo>
                <a:lnTo>
                  <a:pt x="2276729" y="200840"/>
                </a:lnTo>
                <a:lnTo>
                  <a:pt x="2276729" y="0"/>
                </a:lnTo>
                <a:close/>
              </a:path>
            </a:pathLst>
          </a:custGeom>
          <a:solidFill>
            <a:srgbClr val="C8A1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6867270" y="2944368"/>
            <a:ext cx="2277110" cy="1729105"/>
          </a:xfrm>
          <a:custGeom>
            <a:avLst/>
            <a:gdLst/>
            <a:ahLst/>
            <a:cxnLst/>
            <a:rect l="l" t="t" r="r" b="b"/>
            <a:pathLst>
              <a:path w="2277109" h="1729104">
                <a:moveTo>
                  <a:pt x="2276729" y="200840"/>
                </a:moveTo>
                <a:lnTo>
                  <a:pt x="94360" y="1729016"/>
                </a:lnTo>
                <a:lnTo>
                  <a:pt x="0" y="1594192"/>
                </a:lnTo>
                <a:lnTo>
                  <a:pt x="2276729" y="0"/>
                </a:lnTo>
              </a:path>
            </a:pathLst>
          </a:custGeom>
          <a:ln w="12700">
            <a:solidFill>
              <a:srgbClr val="C8A1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7772400" y="347472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40" h="1005839">
                <a:moveTo>
                  <a:pt x="502920" y="0"/>
                </a:moveTo>
                <a:lnTo>
                  <a:pt x="454486" y="2302"/>
                </a:lnTo>
                <a:lnTo>
                  <a:pt x="407355" y="9068"/>
                </a:lnTo>
                <a:lnTo>
                  <a:pt x="361737" y="20088"/>
                </a:lnTo>
                <a:lnTo>
                  <a:pt x="317842" y="35150"/>
                </a:lnTo>
                <a:lnTo>
                  <a:pt x="275883" y="54044"/>
                </a:lnTo>
                <a:lnTo>
                  <a:pt x="236069" y="76558"/>
                </a:lnTo>
                <a:lnTo>
                  <a:pt x="198611" y="102483"/>
                </a:lnTo>
                <a:lnTo>
                  <a:pt x="163720" y="131608"/>
                </a:lnTo>
                <a:lnTo>
                  <a:pt x="131608" y="163720"/>
                </a:lnTo>
                <a:lnTo>
                  <a:pt x="102483" y="198611"/>
                </a:lnTo>
                <a:lnTo>
                  <a:pt x="76558" y="236069"/>
                </a:lnTo>
                <a:lnTo>
                  <a:pt x="54044" y="275883"/>
                </a:lnTo>
                <a:lnTo>
                  <a:pt x="35150" y="317842"/>
                </a:lnTo>
                <a:lnTo>
                  <a:pt x="20088" y="361737"/>
                </a:lnTo>
                <a:lnTo>
                  <a:pt x="9068" y="407355"/>
                </a:lnTo>
                <a:lnTo>
                  <a:pt x="2302" y="454486"/>
                </a:lnTo>
                <a:lnTo>
                  <a:pt x="0" y="502919"/>
                </a:lnTo>
                <a:lnTo>
                  <a:pt x="2302" y="551353"/>
                </a:lnTo>
                <a:lnTo>
                  <a:pt x="9068" y="598484"/>
                </a:lnTo>
                <a:lnTo>
                  <a:pt x="20088" y="644102"/>
                </a:lnTo>
                <a:lnTo>
                  <a:pt x="35150" y="687997"/>
                </a:lnTo>
                <a:lnTo>
                  <a:pt x="54044" y="729956"/>
                </a:lnTo>
                <a:lnTo>
                  <a:pt x="76558" y="769770"/>
                </a:lnTo>
                <a:lnTo>
                  <a:pt x="102483" y="807228"/>
                </a:lnTo>
                <a:lnTo>
                  <a:pt x="131608" y="842119"/>
                </a:lnTo>
                <a:lnTo>
                  <a:pt x="163720" y="874231"/>
                </a:lnTo>
                <a:lnTo>
                  <a:pt x="198611" y="903356"/>
                </a:lnTo>
                <a:lnTo>
                  <a:pt x="236069" y="929281"/>
                </a:lnTo>
                <a:lnTo>
                  <a:pt x="275883" y="951795"/>
                </a:lnTo>
                <a:lnTo>
                  <a:pt x="317842" y="970689"/>
                </a:lnTo>
                <a:lnTo>
                  <a:pt x="361737" y="985751"/>
                </a:lnTo>
                <a:lnTo>
                  <a:pt x="407355" y="996771"/>
                </a:lnTo>
                <a:lnTo>
                  <a:pt x="454486" y="1003537"/>
                </a:lnTo>
                <a:lnTo>
                  <a:pt x="502920" y="1005839"/>
                </a:lnTo>
                <a:lnTo>
                  <a:pt x="551353" y="1003537"/>
                </a:lnTo>
                <a:lnTo>
                  <a:pt x="598484" y="996771"/>
                </a:lnTo>
                <a:lnTo>
                  <a:pt x="644102" y="985751"/>
                </a:lnTo>
                <a:lnTo>
                  <a:pt x="687997" y="970689"/>
                </a:lnTo>
                <a:lnTo>
                  <a:pt x="729956" y="951795"/>
                </a:lnTo>
                <a:lnTo>
                  <a:pt x="769770" y="929281"/>
                </a:lnTo>
                <a:lnTo>
                  <a:pt x="807228" y="903356"/>
                </a:lnTo>
                <a:lnTo>
                  <a:pt x="842119" y="874231"/>
                </a:lnTo>
                <a:lnTo>
                  <a:pt x="874231" y="842119"/>
                </a:lnTo>
                <a:lnTo>
                  <a:pt x="903356" y="807228"/>
                </a:lnTo>
                <a:lnTo>
                  <a:pt x="929281" y="769770"/>
                </a:lnTo>
                <a:lnTo>
                  <a:pt x="951795" y="729956"/>
                </a:lnTo>
                <a:lnTo>
                  <a:pt x="970689" y="687997"/>
                </a:lnTo>
                <a:lnTo>
                  <a:pt x="985751" y="644102"/>
                </a:lnTo>
                <a:lnTo>
                  <a:pt x="996771" y="598484"/>
                </a:lnTo>
                <a:lnTo>
                  <a:pt x="1003537" y="551353"/>
                </a:lnTo>
                <a:lnTo>
                  <a:pt x="1005840" y="502919"/>
                </a:lnTo>
                <a:lnTo>
                  <a:pt x="1003537" y="454486"/>
                </a:lnTo>
                <a:lnTo>
                  <a:pt x="996771" y="407355"/>
                </a:lnTo>
                <a:lnTo>
                  <a:pt x="985751" y="361737"/>
                </a:lnTo>
                <a:lnTo>
                  <a:pt x="970689" y="317842"/>
                </a:lnTo>
                <a:lnTo>
                  <a:pt x="951795" y="275883"/>
                </a:lnTo>
                <a:lnTo>
                  <a:pt x="929281" y="236069"/>
                </a:lnTo>
                <a:lnTo>
                  <a:pt x="903356" y="198611"/>
                </a:lnTo>
                <a:lnTo>
                  <a:pt x="874231" y="163720"/>
                </a:lnTo>
                <a:lnTo>
                  <a:pt x="842119" y="131608"/>
                </a:lnTo>
                <a:lnTo>
                  <a:pt x="807228" y="102483"/>
                </a:lnTo>
                <a:lnTo>
                  <a:pt x="769770" y="76558"/>
                </a:lnTo>
                <a:lnTo>
                  <a:pt x="729956" y="54044"/>
                </a:lnTo>
                <a:lnTo>
                  <a:pt x="687997" y="35150"/>
                </a:lnTo>
                <a:lnTo>
                  <a:pt x="644102" y="20088"/>
                </a:lnTo>
                <a:lnTo>
                  <a:pt x="598484" y="9068"/>
                </a:lnTo>
                <a:lnTo>
                  <a:pt x="551353" y="2302"/>
                </a:lnTo>
                <a:lnTo>
                  <a:pt x="502920" y="0"/>
                </a:lnTo>
                <a:close/>
              </a:path>
            </a:pathLst>
          </a:custGeom>
          <a:solidFill>
            <a:srgbClr val="C8A1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7772400" y="3474720"/>
            <a:ext cx="1005840" cy="1005840"/>
          </a:xfrm>
          <a:custGeom>
            <a:avLst/>
            <a:gdLst/>
            <a:ahLst/>
            <a:cxnLst/>
            <a:rect l="l" t="t" r="r" b="b"/>
            <a:pathLst>
              <a:path w="1005840" h="1005839">
                <a:moveTo>
                  <a:pt x="0" y="502919"/>
                </a:moveTo>
                <a:lnTo>
                  <a:pt x="2302" y="454486"/>
                </a:lnTo>
                <a:lnTo>
                  <a:pt x="9068" y="407355"/>
                </a:lnTo>
                <a:lnTo>
                  <a:pt x="20088" y="361737"/>
                </a:lnTo>
                <a:lnTo>
                  <a:pt x="35150" y="317842"/>
                </a:lnTo>
                <a:lnTo>
                  <a:pt x="54044" y="275883"/>
                </a:lnTo>
                <a:lnTo>
                  <a:pt x="76558" y="236069"/>
                </a:lnTo>
                <a:lnTo>
                  <a:pt x="102483" y="198611"/>
                </a:lnTo>
                <a:lnTo>
                  <a:pt x="131608" y="163720"/>
                </a:lnTo>
                <a:lnTo>
                  <a:pt x="163720" y="131608"/>
                </a:lnTo>
                <a:lnTo>
                  <a:pt x="198611" y="102483"/>
                </a:lnTo>
                <a:lnTo>
                  <a:pt x="236069" y="76558"/>
                </a:lnTo>
                <a:lnTo>
                  <a:pt x="275883" y="54044"/>
                </a:lnTo>
                <a:lnTo>
                  <a:pt x="317842" y="35150"/>
                </a:lnTo>
                <a:lnTo>
                  <a:pt x="361737" y="20088"/>
                </a:lnTo>
                <a:lnTo>
                  <a:pt x="407355" y="9068"/>
                </a:lnTo>
                <a:lnTo>
                  <a:pt x="454486" y="2302"/>
                </a:lnTo>
                <a:lnTo>
                  <a:pt x="502920" y="0"/>
                </a:lnTo>
                <a:lnTo>
                  <a:pt x="551353" y="2302"/>
                </a:lnTo>
                <a:lnTo>
                  <a:pt x="598484" y="9068"/>
                </a:lnTo>
                <a:lnTo>
                  <a:pt x="644102" y="20088"/>
                </a:lnTo>
                <a:lnTo>
                  <a:pt x="687997" y="35150"/>
                </a:lnTo>
                <a:lnTo>
                  <a:pt x="729956" y="54044"/>
                </a:lnTo>
                <a:lnTo>
                  <a:pt x="769770" y="76558"/>
                </a:lnTo>
                <a:lnTo>
                  <a:pt x="807228" y="102483"/>
                </a:lnTo>
                <a:lnTo>
                  <a:pt x="842119" y="131608"/>
                </a:lnTo>
                <a:lnTo>
                  <a:pt x="874231" y="163720"/>
                </a:lnTo>
                <a:lnTo>
                  <a:pt x="903356" y="198611"/>
                </a:lnTo>
                <a:lnTo>
                  <a:pt x="929281" y="236069"/>
                </a:lnTo>
                <a:lnTo>
                  <a:pt x="951795" y="275883"/>
                </a:lnTo>
                <a:lnTo>
                  <a:pt x="970689" y="317842"/>
                </a:lnTo>
                <a:lnTo>
                  <a:pt x="985751" y="361737"/>
                </a:lnTo>
                <a:lnTo>
                  <a:pt x="996771" y="407355"/>
                </a:lnTo>
                <a:lnTo>
                  <a:pt x="1003537" y="454486"/>
                </a:lnTo>
                <a:lnTo>
                  <a:pt x="1005840" y="502919"/>
                </a:lnTo>
                <a:lnTo>
                  <a:pt x="1003537" y="551353"/>
                </a:lnTo>
                <a:lnTo>
                  <a:pt x="996771" y="598484"/>
                </a:lnTo>
                <a:lnTo>
                  <a:pt x="985751" y="644102"/>
                </a:lnTo>
                <a:lnTo>
                  <a:pt x="970689" y="687997"/>
                </a:lnTo>
                <a:lnTo>
                  <a:pt x="951795" y="729956"/>
                </a:lnTo>
                <a:lnTo>
                  <a:pt x="929281" y="769770"/>
                </a:lnTo>
                <a:lnTo>
                  <a:pt x="903356" y="807228"/>
                </a:lnTo>
                <a:lnTo>
                  <a:pt x="874231" y="842119"/>
                </a:lnTo>
                <a:lnTo>
                  <a:pt x="842119" y="874231"/>
                </a:lnTo>
                <a:lnTo>
                  <a:pt x="807228" y="903356"/>
                </a:lnTo>
                <a:lnTo>
                  <a:pt x="769770" y="929281"/>
                </a:lnTo>
                <a:lnTo>
                  <a:pt x="729956" y="951795"/>
                </a:lnTo>
                <a:lnTo>
                  <a:pt x="687997" y="970689"/>
                </a:lnTo>
                <a:lnTo>
                  <a:pt x="644102" y="985751"/>
                </a:lnTo>
                <a:lnTo>
                  <a:pt x="598484" y="996771"/>
                </a:lnTo>
                <a:lnTo>
                  <a:pt x="551353" y="1003537"/>
                </a:lnTo>
                <a:lnTo>
                  <a:pt x="502920" y="1005839"/>
                </a:lnTo>
                <a:lnTo>
                  <a:pt x="454486" y="1003537"/>
                </a:lnTo>
                <a:lnTo>
                  <a:pt x="407355" y="996771"/>
                </a:lnTo>
                <a:lnTo>
                  <a:pt x="361737" y="985751"/>
                </a:lnTo>
                <a:lnTo>
                  <a:pt x="317842" y="970689"/>
                </a:lnTo>
                <a:lnTo>
                  <a:pt x="275883" y="951795"/>
                </a:lnTo>
                <a:lnTo>
                  <a:pt x="236069" y="929281"/>
                </a:lnTo>
                <a:lnTo>
                  <a:pt x="198611" y="903356"/>
                </a:lnTo>
                <a:lnTo>
                  <a:pt x="163720" y="874231"/>
                </a:lnTo>
                <a:lnTo>
                  <a:pt x="131608" y="842119"/>
                </a:lnTo>
                <a:lnTo>
                  <a:pt x="102483" y="807228"/>
                </a:lnTo>
                <a:lnTo>
                  <a:pt x="76558" y="769770"/>
                </a:lnTo>
                <a:lnTo>
                  <a:pt x="54044" y="729956"/>
                </a:lnTo>
                <a:lnTo>
                  <a:pt x="35150" y="687997"/>
                </a:lnTo>
                <a:lnTo>
                  <a:pt x="20088" y="644102"/>
                </a:lnTo>
                <a:lnTo>
                  <a:pt x="9068" y="598484"/>
                </a:lnTo>
                <a:lnTo>
                  <a:pt x="2302" y="551353"/>
                </a:lnTo>
                <a:lnTo>
                  <a:pt x="0" y="502919"/>
                </a:lnTo>
                <a:close/>
              </a:path>
            </a:pathLst>
          </a:custGeom>
          <a:ln w="38100">
            <a:solidFill>
              <a:srgbClr val="B8850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D1F4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A2E5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D1F4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D1F4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594359"/>
            <a:ext cx="9144000" cy="4234180"/>
          </a:xfrm>
          <a:custGeom>
            <a:avLst/>
            <a:gdLst/>
            <a:ahLst/>
            <a:cxnLst/>
            <a:rect l="l" t="t" r="r" b="b"/>
            <a:pathLst>
              <a:path w="9144000" h="4234180">
                <a:moveTo>
                  <a:pt x="9144000" y="0"/>
                </a:moveTo>
                <a:lnTo>
                  <a:pt x="0" y="0"/>
                </a:lnTo>
                <a:lnTo>
                  <a:pt x="0" y="4233672"/>
                </a:lnTo>
                <a:lnTo>
                  <a:pt x="9144000" y="423367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594359"/>
            <a:ext cx="9144000" cy="4234180"/>
          </a:xfrm>
          <a:custGeom>
            <a:avLst/>
            <a:gdLst/>
            <a:ahLst/>
            <a:cxnLst/>
            <a:rect l="l" t="t" r="r" b="b"/>
            <a:pathLst>
              <a:path w="9144000" h="4234180">
                <a:moveTo>
                  <a:pt x="0" y="4233672"/>
                </a:moveTo>
                <a:lnTo>
                  <a:pt x="9144000" y="4233672"/>
                </a:lnTo>
                <a:lnTo>
                  <a:pt x="9144000" y="0"/>
                </a:lnTo>
                <a:lnTo>
                  <a:pt x="0" y="0"/>
                </a:lnTo>
                <a:lnTo>
                  <a:pt x="0" y="423367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3999" cy="59436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8138159" y="73152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388620" y="0"/>
                </a:moveTo>
                <a:lnTo>
                  <a:pt x="339872" y="3027"/>
                </a:lnTo>
                <a:lnTo>
                  <a:pt x="292931" y="11868"/>
                </a:lnTo>
                <a:lnTo>
                  <a:pt x="248161" y="26158"/>
                </a:lnTo>
                <a:lnTo>
                  <a:pt x="205927" y="45532"/>
                </a:lnTo>
                <a:lnTo>
                  <a:pt x="166592" y="69627"/>
                </a:lnTo>
                <a:lnTo>
                  <a:pt x="130521" y="98078"/>
                </a:lnTo>
                <a:lnTo>
                  <a:pt x="98078" y="130521"/>
                </a:lnTo>
                <a:lnTo>
                  <a:pt x="69627" y="166592"/>
                </a:lnTo>
                <a:lnTo>
                  <a:pt x="45532" y="205927"/>
                </a:lnTo>
                <a:lnTo>
                  <a:pt x="26158" y="248161"/>
                </a:lnTo>
                <a:lnTo>
                  <a:pt x="11868" y="292931"/>
                </a:lnTo>
                <a:lnTo>
                  <a:pt x="3027" y="339872"/>
                </a:lnTo>
                <a:lnTo>
                  <a:pt x="0" y="388620"/>
                </a:lnTo>
                <a:lnTo>
                  <a:pt x="3027" y="437367"/>
                </a:lnTo>
                <a:lnTo>
                  <a:pt x="11868" y="484308"/>
                </a:lnTo>
                <a:lnTo>
                  <a:pt x="26158" y="529078"/>
                </a:lnTo>
                <a:lnTo>
                  <a:pt x="45532" y="571312"/>
                </a:lnTo>
                <a:lnTo>
                  <a:pt x="69627" y="610647"/>
                </a:lnTo>
                <a:lnTo>
                  <a:pt x="98078" y="646718"/>
                </a:lnTo>
                <a:lnTo>
                  <a:pt x="130521" y="679161"/>
                </a:lnTo>
                <a:lnTo>
                  <a:pt x="166592" y="707612"/>
                </a:lnTo>
                <a:lnTo>
                  <a:pt x="205927" y="731707"/>
                </a:lnTo>
                <a:lnTo>
                  <a:pt x="248161" y="751081"/>
                </a:lnTo>
                <a:lnTo>
                  <a:pt x="292931" y="765371"/>
                </a:lnTo>
                <a:lnTo>
                  <a:pt x="339872" y="774212"/>
                </a:lnTo>
                <a:lnTo>
                  <a:pt x="388620" y="777239"/>
                </a:lnTo>
                <a:lnTo>
                  <a:pt x="437367" y="774212"/>
                </a:lnTo>
                <a:lnTo>
                  <a:pt x="484308" y="765371"/>
                </a:lnTo>
                <a:lnTo>
                  <a:pt x="529078" y="751081"/>
                </a:lnTo>
                <a:lnTo>
                  <a:pt x="571312" y="731707"/>
                </a:lnTo>
                <a:lnTo>
                  <a:pt x="610647" y="707612"/>
                </a:lnTo>
                <a:lnTo>
                  <a:pt x="646718" y="679161"/>
                </a:lnTo>
                <a:lnTo>
                  <a:pt x="679161" y="646718"/>
                </a:lnTo>
                <a:lnTo>
                  <a:pt x="707612" y="610647"/>
                </a:lnTo>
                <a:lnTo>
                  <a:pt x="731707" y="571312"/>
                </a:lnTo>
                <a:lnTo>
                  <a:pt x="751081" y="529078"/>
                </a:lnTo>
                <a:lnTo>
                  <a:pt x="765371" y="484308"/>
                </a:lnTo>
                <a:lnTo>
                  <a:pt x="774212" y="437367"/>
                </a:lnTo>
                <a:lnTo>
                  <a:pt x="777240" y="388620"/>
                </a:lnTo>
                <a:lnTo>
                  <a:pt x="774212" y="339872"/>
                </a:lnTo>
                <a:lnTo>
                  <a:pt x="765371" y="292931"/>
                </a:lnTo>
                <a:lnTo>
                  <a:pt x="751081" y="248161"/>
                </a:lnTo>
                <a:lnTo>
                  <a:pt x="731707" y="205927"/>
                </a:lnTo>
                <a:lnTo>
                  <a:pt x="707612" y="166592"/>
                </a:lnTo>
                <a:lnTo>
                  <a:pt x="679161" y="130521"/>
                </a:lnTo>
                <a:lnTo>
                  <a:pt x="646718" y="98078"/>
                </a:lnTo>
                <a:lnTo>
                  <a:pt x="610647" y="69627"/>
                </a:lnTo>
                <a:lnTo>
                  <a:pt x="571312" y="45532"/>
                </a:lnTo>
                <a:lnTo>
                  <a:pt x="529078" y="26158"/>
                </a:lnTo>
                <a:lnTo>
                  <a:pt x="484308" y="11868"/>
                </a:lnTo>
                <a:lnTo>
                  <a:pt x="437367" y="3027"/>
                </a:lnTo>
                <a:lnTo>
                  <a:pt x="388620" y="0"/>
                </a:lnTo>
                <a:close/>
              </a:path>
            </a:pathLst>
          </a:custGeom>
          <a:solidFill>
            <a:srgbClr val="C8A1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8138159" y="73152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388620"/>
                </a:moveTo>
                <a:lnTo>
                  <a:pt x="3027" y="339872"/>
                </a:lnTo>
                <a:lnTo>
                  <a:pt x="11868" y="292931"/>
                </a:lnTo>
                <a:lnTo>
                  <a:pt x="26158" y="248161"/>
                </a:lnTo>
                <a:lnTo>
                  <a:pt x="45532" y="205927"/>
                </a:lnTo>
                <a:lnTo>
                  <a:pt x="69627" y="166592"/>
                </a:lnTo>
                <a:lnTo>
                  <a:pt x="98078" y="130521"/>
                </a:lnTo>
                <a:lnTo>
                  <a:pt x="130521" y="98078"/>
                </a:lnTo>
                <a:lnTo>
                  <a:pt x="166592" y="69627"/>
                </a:lnTo>
                <a:lnTo>
                  <a:pt x="205927" y="45532"/>
                </a:lnTo>
                <a:lnTo>
                  <a:pt x="248161" y="26158"/>
                </a:lnTo>
                <a:lnTo>
                  <a:pt x="292931" y="11868"/>
                </a:lnTo>
                <a:lnTo>
                  <a:pt x="339872" y="3027"/>
                </a:lnTo>
                <a:lnTo>
                  <a:pt x="388620" y="0"/>
                </a:lnTo>
                <a:lnTo>
                  <a:pt x="437367" y="3027"/>
                </a:lnTo>
                <a:lnTo>
                  <a:pt x="484308" y="11868"/>
                </a:lnTo>
                <a:lnTo>
                  <a:pt x="529078" y="26158"/>
                </a:lnTo>
                <a:lnTo>
                  <a:pt x="571312" y="45532"/>
                </a:lnTo>
                <a:lnTo>
                  <a:pt x="610647" y="69627"/>
                </a:lnTo>
                <a:lnTo>
                  <a:pt x="646718" y="98078"/>
                </a:lnTo>
                <a:lnTo>
                  <a:pt x="679161" y="130521"/>
                </a:lnTo>
                <a:lnTo>
                  <a:pt x="707612" y="166592"/>
                </a:lnTo>
                <a:lnTo>
                  <a:pt x="731707" y="205927"/>
                </a:lnTo>
                <a:lnTo>
                  <a:pt x="751081" y="248161"/>
                </a:lnTo>
                <a:lnTo>
                  <a:pt x="765371" y="292931"/>
                </a:lnTo>
                <a:lnTo>
                  <a:pt x="774212" y="339872"/>
                </a:lnTo>
                <a:lnTo>
                  <a:pt x="777240" y="388620"/>
                </a:lnTo>
                <a:lnTo>
                  <a:pt x="774212" y="437367"/>
                </a:lnTo>
                <a:lnTo>
                  <a:pt x="765371" y="484308"/>
                </a:lnTo>
                <a:lnTo>
                  <a:pt x="751081" y="529078"/>
                </a:lnTo>
                <a:lnTo>
                  <a:pt x="731707" y="571312"/>
                </a:lnTo>
                <a:lnTo>
                  <a:pt x="707612" y="610647"/>
                </a:lnTo>
                <a:lnTo>
                  <a:pt x="679161" y="646718"/>
                </a:lnTo>
                <a:lnTo>
                  <a:pt x="646718" y="679161"/>
                </a:lnTo>
                <a:lnTo>
                  <a:pt x="610647" y="707612"/>
                </a:lnTo>
                <a:lnTo>
                  <a:pt x="571312" y="731707"/>
                </a:lnTo>
                <a:lnTo>
                  <a:pt x="529078" y="751081"/>
                </a:lnTo>
                <a:lnTo>
                  <a:pt x="484308" y="765371"/>
                </a:lnTo>
                <a:lnTo>
                  <a:pt x="437367" y="774212"/>
                </a:lnTo>
                <a:lnTo>
                  <a:pt x="388620" y="777239"/>
                </a:lnTo>
                <a:lnTo>
                  <a:pt x="339872" y="774212"/>
                </a:lnTo>
                <a:lnTo>
                  <a:pt x="292931" y="765371"/>
                </a:lnTo>
                <a:lnTo>
                  <a:pt x="248161" y="751081"/>
                </a:lnTo>
                <a:lnTo>
                  <a:pt x="205927" y="731707"/>
                </a:lnTo>
                <a:lnTo>
                  <a:pt x="166592" y="707612"/>
                </a:lnTo>
                <a:lnTo>
                  <a:pt x="130521" y="679161"/>
                </a:lnTo>
                <a:lnTo>
                  <a:pt x="98078" y="646718"/>
                </a:lnTo>
                <a:lnTo>
                  <a:pt x="69627" y="610647"/>
                </a:lnTo>
                <a:lnTo>
                  <a:pt x="45532" y="571312"/>
                </a:lnTo>
                <a:lnTo>
                  <a:pt x="26158" y="529078"/>
                </a:lnTo>
                <a:lnTo>
                  <a:pt x="11868" y="484308"/>
                </a:lnTo>
                <a:lnTo>
                  <a:pt x="3027" y="437367"/>
                </a:lnTo>
                <a:lnTo>
                  <a:pt x="0" y="388620"/>
                </a:lnTo>
                <a:close/>
              </a:path>
            </a:pathLst>
          </a:custGeom>
          <a:ln w="25400">
            <a:solidFill>
              <a:srgbClr val="B8850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3059" y="690117"/>
            <a:ext cx="8437880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D1F4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4512" y="1228724"/>
            <a:ext cx="8359140" cy="2920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A2E5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15900" y="4913629"/>
            <a:ext cx="484505" cy="1325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7340" y="2690241"/>
            <a:ext cx="684784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FFFFFF"/>
                </a:solidFill>
              </a:rPr>
              <a:t>Especificación</a:t>
            </a:r>
            <a:r>
              <a:rPr dirty="0" sz="3200" spc="-55">
                <a:solidFill>
                  <a:srgbClr val="FFFFFF"/>
                </a:solidFill>
              </a:rPr>
              <a:t> </a:t>
            </a:r>
            <a:r>
              <a:rPr dirty="0" sz="3200">
                <a:solidFill>
                  <a:srgbClr val="FFFFFF"/>
                </a:solidFill>
              </a:rPr>
              <a:t>de</a:t>
            </a:r>
            <a:r>
              <a:rPr dirty="0" sz="3200" spc="-80">
                <a:solidFill>
                  <a:srgbClr val="FFFFFF"/>
                </a:solidFill>
              </a:rPr>
              <a:t> </a:t>
            </a:r>
            <a:r>
              <a:rPr dirty="0" sz="3200">
                <a:solidFill>
                  <a:srgbClr val="FFFFFF"/>
                </a:solidFill>
              </a:rPr>
              <a:t>requisitos</a:t>
            </a:r>
            <a:r>
              <a:rPr dirty="0" sz="3200" spc="-60">
                <a:solidFill>
                  <a:srgbClr val="FFFFFF"/>
                </a:solidFill>
              </a:rPr>
              <a:t> </a:t>
            </a:r>
            <a:r>
              <a:rPr dirty="0" sz="3200">
                <a:solidFill>
                  <a:srgbClr val="FFFFFF"/>
                </a:solidFill>
              </a:rPr>
              <a:t>del</a:t>
            </a:r>
            <a:r>
              <a:rPr dirty="0" sz="3200" spc="-40">
                <a:solidFill>
                  <a:srgbClr val="FFFFFF"/>
                </a:solidFill>
              </a:rPr>
              <a:t> </a:t>
            </a:r>
            <a:r>
              <a:rPr dirty="0" sz="3200" spc="-10">
                <a:solidFill>
                  <a:srgbClr val="FFFFFF"/>
                </a:solidFill>
              </a:rPr>
              <a:t>software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07340" y="3322396"/>
            <a:ext cx="17532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7AEDFC"/>
                </a:solidFill>
                <a:latin typeface="Century Gothic"/>
                <a:cs typeface="Century Gothic"/>
              </a:rPr>
              <a:t>Semana</a:t>
            </a:r>
            <a:r>
              <a:rPr dirty="0" sz="2800" spc="-70" b="1">
                <a:solidFill>
                  <a:srgbClr val="7AEDFC"/>
                </a:solidFill>
                <a:latin typeface="Century Gothic"/>
                <a:cs typeface="Century Gothic"/>
              </a:rPr>
              <a:t> </a:t>
            </a:r>
            <a:r>
              <a:rPr dirty="0" sz="2800" spc="-50" b="1">
                <a:solidFill>
                  <a:srgbClr val="7AEDFC"/>
                </a:solidFill>
                <a:latin typeface="Century Gothic"/>
                <a:cs typeface="Century Gothic"/>
              </a:rPr>
              <a:t>4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350" y="0"/>
            <a:ext cx="9156700" cy="4834890"/>
            <a:chOff x="-6350" y="0"/>
            <a:chExt cx="9156700" cy="4834890"/>
          </a:xfrm>
        </p:grpSpPr>
        <p:sp>
          <p:nvSpPr>
            <p:cNvPr id="4" name="object 4"/>
            <p:cNvSpPr/>
            <p:nvPr/>
          </p:nvSpPr>
          <p:spPr>
            <a:xfrm>
              <a:off x="0" y="594359"/>
              <a:ext cx="9144000" cy="4234180"/>
            </a:xfrm>
            <a:custGeom>
              <a:avLst/>
              <a:gdLst/>
              <a:ahLst/>
              <a:cxnLst/>
              <a:rect l="l" t="t" r="r" b="b"/>
              <a:pathLst>
                <a:path w="9144000" h="4234180">
                  <a:moveTo>
                    <a:pt x="9144000" y="0"/>
                  </a:moveTo>
                  <a:lnTo>
                    <a:pt x="0" y="0"/>
                  </a:lnTo>
                  <a:lnTo>
                    <a:pt x="0" y="4233672"/>
                  </a:lnTo>
                  <a:lnTo>
                    <a:pt x="9144000" y="423367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594359"/>
              <a:ext cx="9144000" cy="4234180"/>
            </a:xfrm>
            <a:custGeom>
              <a:avLst/>
              <a:gdLst/>
              <a:ahLst/>
              <a:cxnLst/>
              <a:rect l="l" t="t" r="r" b="b"/>
              <a:pathLst>
                <a:path w="9144000" h="4234180">
                  <a:moveTo>
                    <a:pt x="0" y="4233672"/>
                  </a:moveTo>
                  <a:lnTo>
                    <a:pt x="9144000" y="423367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2336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3999" cy="5943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138159" y="73152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388620" y="0"/>
                  </a:move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20"/>
                  </a:lnTo>
                  <a:lnTo>
                    <a:pt x="3027" y="437367"/>
                  </a:lnTo>
                  <a:lnTo>
                    <a:pt x="11868" y="484308"/>
                  </a:lnTo>
                  <a:lnTo>
                    <a:pt x="26158" y="529078"/>
                  </a:lnTo>
                  <a:lnTo>
                    <a:pt x="45532" y="571312"/>
                  </a:lnTo>
                  <a:lnTo>
                    <a:pt x="69627" y="610647"/>
                  </a:lnTo>
                  <a:lnTo>
                    <a:pt x="98078" y="646718"/>
                  </a:lnTo>
                  <a:lnTo>
                    <a:pt x="130521" y="679161"/>
                  </a:lnTo>
                  <a:lnTo>
                    <a:pt x="166592" y="707612"/>
                  </a:lnTo>
                  <a:lnTo>
                    <a:pt x="205927" y="731707"/>
                  </a:lnTo>
                  <a:lnTo>
                    <a:pt x="248161" y="751081"/>
                  </a:lnTo>
                  <a:lnTo>
                    <a:pt x="292931" y="765371"/>
                  </a:lnTo>
                  <a:lnTo>
                    <a:pt x="339872" y="774212"/>
                  </a:lnTo>
                  <a:lnTo>
                    <a:pt x="388620" y="777239"/>
                  </a:lnTo>
                  <a:lnTo>
                    <a:pt x="437367" y="774212"/>
                  </a:lnTo>
                  <a:lnTo>
                    <a:pt x="484308" y="765371"/>
                  </a:lnTo>
                  <a:lnTo>
                    <a:pt x="529078" y="751081"/>
                  </a:lnTo>
                  <a:lnTo>
                    <a:pt x="571312" y="731707"/>
                  </a:lnTo>
                  <a:lnTo>
                    <a:pt x="610647" y="707612"/>
                  </a:lnTo>
                  <a:lnTo>
                    <a:pt x="646718" y="679161"/>
                  </a:lnTo>
                  <a:lnTo>
                    <a:pt x="679161" y="646718"/>
                  </a:lnTo>
                  <a:lnTo>
                    <a:pt x="707612" y="610647"/>
                  </a:lnTo>
                  <a:lnTo>
                    <a:pt x="731707" y="571312"/>
                  </a:lnTo>
                  <a:lnTo>
                    <a:pt x="751081" y="529078"/>
                  </a:lnTo>
                  <a:lnTo>
                    <a:pt x="765371" y="484308"/>
                  </a:lnTo>
                  <a:lnTo>
                    <a:pt x="774212" y="437367"/>
                  </a:lnTo>
                  <a:lnTo>
                    <a:pt x="777240" y="388620"/>
                  </a:lnTo>
                  <a:lnTo>
                    <a:pt x="774212" y="339872"/>
                  </a:lnTo>
                  <a:lnTo>
                    <a:pt x="765371" y="292931"/>
                  </a:lnTo>
                  <a:lnTo>
                    <a:pt x="751081" y="248161"/>
                  </a:lnTo>
                  <a:lnTo>
                    <a:pt x="731707" y="205927"/>
                  </a:lnTo>
                  <a:lnTo>
                    <a:pt x="707612" y="166592"/>
                  </a:lnTo>
                  <a:lnTo>
                    <a:pt x="679161" y="130521"/>
                  </a:lnTo>
                  <a:lnTo>
                    <a:pt x="646718" y="98078"/>
                  </a:lnTo>
                  <a:lnTo>
                    <a:pt x="610647" y="69627"/>
                  </a:lnTo>
                  <a:lnTo>
                    <a:pt x="571312" y="45532"/>
                  </a:lnTo>
                  <a:lnTo>
                    <a:pt x="529078" y="26158"/>
                  </a:lnTo>
                  <a:lnTo>
                    <a:pt x="484308" y="11868"/>
                  </a:lnTo>
                  <a:lnTo>
                    <a:pt x="437367" y="3027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138159" y="73152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0" y="388620"/>
                  </a:moveTo>
                  <a:lnTo>
                    <a:pt x="3027" y="339872"/>
                  </a:lnTo>
                  <a:lnTo>
                    <a:pt x="11868" y="292931"/>
                  </a:lnTo>
                  <a:lnTo>
                    <a:pt x="26158" y="248161"/>
                  </a:lnTo>
                  <a:lnTo>
                    <a:pt x="45532" y="205927"/>
                  </a:lnTo>
                  <a:lnTo>
                    <a:pt x="69627" y="166592"/>
                  </a:lnTo>
                  <a:lnTo>
                    <a:pt x="98078" y="130521"/>
                  </a:lnTo>
                  <a:lnTo>
                    <a:pt x="130521" y="98078"/>
                  </a:lnTo>
                  <a:lnTo>
                    <a:pt x="166592" y="69627"/>
                  </a:lnTo>
                  <a:lnTo>
                    <a:pt x="205927" y="45532"/>
                  </a:lnTo>
                  <a:lnTo>
                    <a:pt x="248161" y="26158"/>
                  </a:lnTo>
                  <a:lnTo>
                    <a:pt x="292931" y="11868"/>
                  </a:lnTo>
                  <a:lnTo>
                    <a:pt x="339872" y="3027"/>
                  </a:lnTo>
                  <a:lnTo>
                    <a:pt x="388620" y="0"/>
                  </a:lnTo>
                  <a:lnTo>
                    <a:pt x="437367" y="3027"/>
                  </a:lnTo>
                  <a:lnTo>
                    <a:pt x="484308" y="11868"/>
                  </a:lnTo>
                  <a:lnTo>
                    <a:pt x="529078" y="26158"/>
                  </a:lnTo>
                  <a:lnTo>
                    <a:pt x="571312" y="45532"/>
                  </a:lnTo>
                  <a:lnTo>
                    <a:pt x="610647" y="69627"/>
                  </a:lnTo>
                  <a:lnTo>
                    <a:pt x="646718" y="98078"/>
                  </a:lnTo>
                  <a:lnTo>
                    <a:pt x="679161" y="130521"/>
                  </a:lnTo>
                  <a:lnTo>
                    <a:pt x="707612" y="166592"/>
                  </a:lnTo>
                  <a:lnTo>
                    <a:pt x="731707" y="205927"/>
                  </a:lnTo>
                  <a:lnTo>
                    <a:pt x="751081" y="248161"/>
                  </a:lnTo>
                  <a:lnTo>
                    <a:pt x="765371" y="292931"/>
                  </a:lnTo>
                  <a:lnTo>
                    <a:pt x="774212" y="339872"/>
                  </a:lnTo>
                  <a:lnTo>
                    <a:pt x="777240" y="388620"/>
                  </a:lnTo>
                  <a:lnTo>
                    <a:pt x="774212" y="437367"/>
                  </a:lnTo>
                  <a:lnTo>
                    <a:pt x="765371" y="484308"/>
                  </a:lnTo>
                  <a:lnTo>
                    <a:pt x="751081" y="529078"/>
                  </a:lnTo>
                  <a:lnTo>
                    <a:pt x="731707" y="571312"/>
                  </a:lnTo>
                  <a:lnTo>
                    <a:pt x="707612" y="610647"/>
                  </a:lnTo>
                  <a:lnTo>
                    <a:pt x="679161" y="646718"/>
                  </a:lnTo>
                  <a:lnTo>
                    <a:pt x="646718" y="679161"/>
                  </a:lnTo>
                  <a:lnTo>
                    <a:pt x="610647" y="707612"/>
                  </a:lnTo>
                  <a:lnTo>
                    <a:pt x="571312" y="731707"/>
                  </a:lnTo>
                  <a:lnTo>
                    <a:pt x="529078" y="751081"/>
                  </a:lnTo>
                  <a:lnTo>
                    <a:pt x="484308" y="765371"/>
                  </a:lnTo>
                  <a:lnTo>
                    <a:pt x="437367" y="774212"/>
                  </a:lnTo>
                  <a:lnTo>
                    <a:pt x="388620" y="777239"/>
                  </a:lnTo>
                  <a:lnTo>
                    <a:pt x="339872" y="774212"/>
                  </a:lnTo>
                  <a:lnTo>
                    <a:pt x="292931" y="765371"/>
                  </a:lnTo>
                  <a:lnTo>
                    <a:pt x="248161" y="751081"/>
                  </a:lnTo>
                  <a:lnTo>
                    <a:pt x="205927" y="731707"/>
                  </a:lnTo>
                  <a:lnTo>
                    <a:pt x="166592" y="707612"/>
                  </a:lnTo>
                  <a:lnTo>
                    <a:pt x="130521" y="679161"/>
                  </a:lnTo>
                  <a:lnTo>
                    <a:pt x="98078" y="646718"/>
                  </a:lnTo>
                  <a:lnTo>
                    <a:pt x="69627" y="610647"/>
                  </a:lnTo>
                  <a:lnTo>
                    <a:pt x="45532" y="571312"/>
                  </a:lnTo>
                  <a:lnTo>
                    <a:pt x="26158" y="529078"/>
                  </a:lnTo>
                  <a:lnTo>
                    <a:pt x="11868" y="484308"/>
                  </a:lnTo>
                  <a:lnTo>
                    <a:pt x="3027" y="437367"/>
                  </a:lnTo>
                  <a:lnTo>
                    <a:pt x="0" y="388620"/>
                  </a:lnTo>
                  <a:close/>
                </a:path>
              </a:pathLst>
            </a:custGeom>
            <a:ln w="254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-6350" y="3788409"/>
            <a:ext cx="9156700" cy="1361440"/>
            <a:chOff x="-6350" y="3788409"/>
            <a:chExt cx="9156700" cy="1361440"/>
          </a:xfrm>
        </p:grpSpPr>
        <p:sp>
          <p:nvSpPr>
            <p:cNvPr id="11" name="object 11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7200" y="3794759"/>
              <a:ext cx="457200" cy="384175"/>
            </a:xfrm>
            <a:custGeom>
              <a:avLst/>
              <a:gdLst/>
              <a:ahLst/>
              <a:cxnLst/>
              <a:rect l="l" t="t" r="r" b="b"/>
              <a:pathLst>
                <a:path w="457200" h="384175">
                  <a:moveTo>
                    <a:pt x="0" y="384047"/>
                  </a:moveTo>
                  <a:lnTo>
                    <a:pt x="457200" y="38404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384047"/>
                  </a:lnTo>
                  <a:close/>
                </a:path>
              </a:pathLst>
            </a:custGeom>
            <a:ln w="12700">
              <a:solidFill>
                <a:srgbClr val="1C31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9558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Contenido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50850" y="1228089"/>
            <a:ext cx="469900" cy="396875"/>
          </a:xfrm>
          <a:prstGeom prst="rect">
            <a:avLst/>
          </a:prstGeom>
          <a:solidFill>
            <a:srgbClr val="1C316F"/>
          </a:solidFill>
          <a:ln w="3175">
            <a:solidFill>
              <a:srgbClr val="1C316F"/>
            </a:solidFill>
          </a:ln>
        </p:spPr>
        <p:txBody>
          <a:bodyPr wrap="square" lIns="0" tIns="106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4884" y="1309877"/>
            <a:ext cx="3516629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Introducción</a:t>
            </a:r>
            <a:r>
              <a:rPr dirty="0" sz="1250" spc="1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a</a:t>
            </a:r>
            <a:r>
              <a:rPr dirty="0" sz="1250" spc="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la 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especificación</a:t>
            </a:r>
            <a:r>
              <a:rPr dirty="0" sz="1250" spc="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50" spc="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requisitos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y 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0850" y="1740154"/>
            <a:ext cx="469900" cy="396875"/>
          </a:xfrm>
          <a:prstGeom prst="rect">
            <a:avLst/>
          </a:prstGeom>
          <a:solidFill>
            <a:srgbClr val="1C316F"/>
          </a:solidFill>
          <a:ln w="3175">
            <a:solidFill>
              <a:srgbClr val="1C316F"/>
            </a:solidFill>
          </a:ln>
        </p:spPr>
        <p:txBody>
          <a:bodyPr wrap="square" lIns="0" tIns="1066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4884" y="1821637"/>
            <a:ext cx="331597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Estándar IEEE 830 (hoy ISO/IEC/IEEE 29148)</a:t>
            </a:r>
            <a:r>
              <a:rPr dirty="0" sz="1250" spc="-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para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 especificación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50" spc="10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0850" y="2252217"/>
            <a:ext cx="469900" cy="396875"/>
          </a:xfrm>
          <a:prstGeom prst="rect">
            <a:avLst/>
          </a:prstGeom>
          <a:solidFill>
            <a:srgbClr val="1C316F"/>
          </a:solidFill>
          <a:ln w="3175">
            <a:solidFill>
              <a:srgbClr val="1C316F"/>
            </a:solidFill>
          </a:ln>
        </p:spPr>
        <p:txBody>
          <a:bodyPr wrap="square" lIns="0" tIns="106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4884" y="2334260"/>
            <a:ext cx="253746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ISO/IEC/IEEE 12207</a:t>
            </a:r>
            <a:r>
              <a:rPr dirty="0" sz="1250" spc="-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250" spc="-20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la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del</a:t>
            </a:r>
            <a:r>
              <a:rPr dirty="0" sz="1250" spc="-1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software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50" y="2764282"/>
            <a:ext cx="469900" cy="396875"/>
          </a:xfrm>
          <a:prstGeom prst="rect">
            <a:avLst/>
          </a:prstGeom>
          <a:solidFill>
            <a:srgbClr val="1C316F"/>
          </a:solidFill>
          <a:ln w="3175">
            <a:solidFill>
              <a:srgbClr val="1C316F"/>
            </a:solidFill>
          </a:ln>
        </p:spPr>
        <p:txBody>
          <a:bodyPr wrap="square" lIns="0" tIns="1066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84884" y="2846324"/>
            <a:ext cx="319722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Modelos</a:t>
            </a:r>
            <a:r>
              <a:rPr dirty="0" sz="1250" spc="-3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50" spc="-3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mejora</a:t>
            </a:r>
            <a:r>
              <a:rPr dirty="0" sz="1250" spc="-2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50" spc="-3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procesos</a:t>
            </a:r>
            <a:r>
              <a:rPr dirty="0" sz="1250" spc="-20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(SPI)</a:t>
            </a:r>
            <a:r>
              <a:rPr dirty="0" sz="1250" spc="-5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250" spc="-3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0850" y="3276346"/>
            <a:ext cx="469900" cy="396875"/>
          </a:xfrm>
          <a:prstGeom prst="rect">
            <a:avLst/>
          </a:prstGeom>
          <a:solidFill>
            <a:srgbClr val="1C316F"/>
          </a:solidFill>
          <a:ln w="3175">
            <a:solidFill>
              <a:srgbClr val="1C316F"/>
            </a:solidFill>
          </a:ln>
        </p:spPr>
        <p:txBody>
          <a:bodyPr wrap="square" lIns="0" tIns="1066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05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84884" y="3358641"/>
            <a:ext cx="237236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Modelo</a:t>
            </a:r>
            <a:r>
              <a:rPr dirty="0" sz="1250" spc="-2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procedimental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50" spc="-2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0850" y="3788409"/>
            <a:ext cx="469900" cy="396875"/>
          </a:xfrm>
          <a:prstGeom prst="rect">
            <a:avLst/>
          </a:prstGeom>
          <a:solidFill>
            <a:srgbClr val="1C316F"/>
          </a:solidFill>
        </p:spPr>
        <p:txBody>
          <a:bodyPr wrap="square" lIns="0" tIns="1066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06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84884" y="3870756"/>
            <a:ext cx="263144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Métricas</a:t>
            </a:r>
            <a:r>
              <a:rPr dirty="0" sz="1250" spc="-30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250" spc="-2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mejora</a:t>
            </a:r>
            <a:r>
              <a:rPr dirty="0" sz="1250" spc="-15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continua</a:t>
            </a:r>
            <a:r>
              <a:rPr dirty="0" sz="1250" spc="-20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50" spc="-20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D1F4E"/>
                </a:solidFill>
                <a:latin typeface="Calibri"/>
                <a:cs typeface="Calibri"/>
              </a:rPr>
              <a:t>la</a:t>
            </a:r>
            <a:r>
              <a:rPr dirty="0" sz="1250" spc="-20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50" y="4300473"/>
            <a:ext cx="469900" cy="396875"/>
          </a:xfrm>
          <a:prstGeom prst="rect">
            <a:avLst/>
          </a:prstGeom>
          <a:solidFill>
            <a:srgbClr val="1C316F"/>
          </a:solidFill>
          <a:ln w="3175">
            <a:solidFill>
              <a:srgbClr val="1C316F"/>
            </a:solidFill>
          </a:ln>
        </p:spPr>
        <p:txBody>
          <a:bodyPr wrap="square" lIns="0" tIns="1066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07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84884" y="4383125"/>
            <a:ext cx="124142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Ejercicios</a:t>
            </a:r>
            <a:r>
              <a:rPr dirty="0" sz="1250" spc="10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D1F4E"/>
                </a:solidFill>
                <a:latin typeface="Calibri"/>
                <a:cs typeface="Calibri"/>
              </a:rPr>
              <a:t>prácticos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269491"/>
            <a:ext cx="9156700" cy="3880485"/>
            <a:chOff x="-6350" y="1269491"/>
            <a:chExt cx="9156700" cy="3880485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636" y="1269491"/>
              <a:ext cx="4259580" cy="15620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2608" y="1325879"/>
              <a:ext cx="4051300" cy="1417320"/>
            </a:xfrm>
            <a:custGeom>
              <a:avLst/>
              <a:gdLst/>
              <a:ahLst/>
              <a:cxnLst/>
              <a:rect l="l" t="t" r="r" b="b"/>
              <a:pathLst>
                <a:path w="4051300" h="1417320">
                  <a:moveTo>
                    <a:pt x="0" y="1417320"/>
                  </a:moveTo>
                  <a:lnTo>
                    <a:pt x="4050791" y="1417320"/>
                  </a:lnTo>
                  <a:lnTo>
                    <a:pt x="4050791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28600" y="1325879"/>
              <a:ext cx="4114800" cy="1417320"/>
            </a:xfrm>
            <a:custGeom>
              <a:avLst/>
              <a:gdLst/>
              <a:ahLst/>
              <a:cxnLst/>
              <a:rect l="l" t="t" r="r" b="b"/>
              <a:pathLst>
                <a:path w="4114800" h="1417320">
                  <a:moveTo>
                    <a:pt x="0" y="1417320"/>
                  </a:moveTo>
                  <a:lnTo>
                    <a:pt x="4114800" y="141732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ln w="190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28600" y="13258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5" h="1417320">
                  <a:moveTo>
                    <a:pt x="64007" y="0"/>
                  </a:moveTo>
                  <a:lnTo>
                    <a:pt x="0" y="0"/>
                  </a:lnTo>
                  <a:lnTo>
                    <a:pt x="0" y="1417320"/>
                  </a:lnTo>
                  <a:lnTo>
                    <a:pt x="64007" y="141732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8600" y="13258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5" h="1417320">
                  <a:moveTo>
                    <a:pt x="0" y="1417320"/>
                  </a:moveTo>
                  <a:lnTo>
                    <a:pt x="64007" y="1417320"/>
                  </a:lnTo>
                  <a:lnTo>
                    <a:pt x="64007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53059" y="744982"/>
            <a:ext cx="51415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Introducción</a:t>
            </a:r>
            <a:r>
              <a:rPr dirty="0" sz="18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a</a:t>
            </a:r>
            <a:r>
              <a:rPr dirty="0" sz="18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la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especificación</a:t>
            </a:r>
            <a:r>
              <a:rPr dirty="0" sz="1800" spc="-5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r>
              <a:rPr dirty="0" sz="1800" spc="-6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y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8958" y="1482978"/>
            <a:ext cx="4035425" cy="8997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Rol</a:t>
            </a:r>
            <a:r>
              <a:rPr dirty="0" sz="12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crítico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1200">
              <a:latin typeface="Calibri"/>
              <a:cs typeface="Calibri"/>
            </a:endParaRPr>
          </a:p>
          <a:p>
            <a:pPr marL="185420" marR="681355">
              <a:lnSpc>
                <a:spcPct val="100000"/>
              </a:lnSpc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especificación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requisitos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como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base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calidad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del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software.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70476" y="1269491"/>
            <a:ext cx="4259580" cy="1562100"/>
            <a:chOff x="4570476" y="1269491"/>
            <a:chExt cx="4259580" cy="15621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0476" y="1269491"/>
              <a:ext cx="4259580" cy="15620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27448" y="1325879"/>
              <a:ext cx="4051300" cy="1417320"/>
            </a:xfrm>
            <a:custGeom>
              <a:avLst/>
              <a:gdLst/>
              <a:ahLst/>
              <a:cxnLst/>
              <a:rect l="l" t="t" r="r" b="b"/>
              <a:pathLst>
                <a:path w="4051300" h="1417320">
                  <a:moveTo>
                    <a:pt x="0" y="1417320"/>
                  </a:moveTo>
                  <a:lnTo>
                    <a:pt x="4050792" y="1417320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663440" y="1325879"/>
              <a:ext cx="4114800" cy="1417320"/>
            </a:xfrm>
            <a:custGeom>
              <a:avLst/>
              <a:gdLst/>
              <a:ahLst/>
              <a:cxnLst/>
              <a:rect l="l" t="t" r="r" b="b"/>
              <a:pathLst>
                <a:path w="4114800" h="1417320">
                  <a:moveTo>
                    <a:pt x="0" y="1417320"/>
                  </a:moveTo>
                  <a:lnTo>
                    <a:pt x="4114800" y="141732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ln w="19049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663440" y="13258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5" h="1417320">
                  <a:moveTo>
                    <a:pt x="64008" y="0"/>
                  </a:moveTo>
                  <a:lnTo>
                    <a:pt x="0" y="0"/>
                  </a:lnTo>
                  <a:lnTo>
                    <a:pt x="0" y="1417320"/>
                  </a:lnTo>
                  <a:lnTo>
                    <a:pt x="64008" y="141732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663440" y="13258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5" h="1417320">
                  <a:moveTo>
                    <a:pt x="0" y="1417320"/>
                  </a:moveTo>
                  <a:lnTo>
                    <a:pt x="64008" y="141732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ln w="12699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733797" y="1482978"/>
            <a:ext cx="4035425" cy="8997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605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Conexión</a:t>
            </a:r>
            <a:r>
              <a:rPr dirty="0" sz="12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con</a:t>
            </a:r>
            <a:r>
              <a:rPr dirty="0" sz="12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1200">
              <a:latin typeface="Calibri"/>
              <a:cs typeface="Calibri"/>
            </a:endParaRPr>
          </a:p>
          <a:p>
            <a:pPr marL="186055" marR="832485">
              <a:lnSpc>
                <a:spcPct val="100000"/>
              </a:lnSpc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Requisitos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bien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definidos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reducen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defectos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retrabajos significativamente.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5636" y="2869679"/>
            <a:ext cx="4259580" cy="1562100"/>
            <a:chOff x="135636" y="2869679"/>
            <a:chExt cx="4259580" cy="156210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636" y="2869679"/>
              <a:ext cx="4259580" cy="15621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92607" y="2926079"/>
              <a:ext cx="4051300" cy="1417320"/>
            </a:xfrm>
            <a:custGeom>
              <a:avLst/>
              <a:gdLst/>
              <a:ahLst/>
              <a:cxnLst/>
              <a:rect l="l" t="t" r="r" b="b"/>
              <a:pathLst>
                <a:path w="4051300" h="1417320">
                  <a:moveTo>
                    <a:pt x="0" y="1417320"/>
                  </a:moveTo>
                  <a:lnTo>
                    <a:pt x="4050791" y="1417320"/>
                  </a:lnTo>
                  <a:lnTo>
                    <a:pt x="4050791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28600" y="2926079"/>
              <a:ext cx="4114800" cy="1417320"/>
            </a:xfrm>
            <a:custGeom>
              <a:avLst/>
              <a:gdLst/>
              <a:ahLst/>
              <a:cxnLst/>
              <a:rect l="l" t="t" r="r" b="b"/>
              <a:pathLst>
                <a:path w="4114800" h="1417320">
                  <a:moveTo>
                    <a:pt x="0" y="1417320"/>
                  </a:moveTo>
                  <a:lnTo>
                    <a:pt x="4114800" y="141732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ln w="190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28600" y="29260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5" h="1417320">
                  <a:moveTo>
                    <a:pt x="64007" y="0"/>
                  </a:moveTo>
                  <a:lnTo>
                    <a:pt x="0" y="0"/>
                  </a:lnTo>
                  <a:lnTo>
                    <a:pt x="0" y="1417320"/>
                  </a:lnTo>
                  <a:lnTo>
                    <a:pt x="64007" y="141732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28600" y="29260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5" h="1417320">
                  <a:moveTo>
                    <a:pt x="0" y="1417320"/>
                  </a:moveTo>
                  <a:lnTo>
                    <a:pt x="64007" y="1417320"/>
                  </a:lnTo>
                  <a:lnTo>
                    <a:pt x="64007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298958" y="3083432"/>
            <a:ext cx="4035425" cy="819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Marco</a:t>
            </a:r>
            <a:r>
              <a:rPr dirty="0" sz="12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la</a:t>
            </a:r>
            <a:r>
              <a:rPr dirty="0" sz="12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unidad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85420">
              <a:lnSpc>
                <a:spcPct val="100000"/>
              </a:lnSpc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IEEE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830,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ISO/IEC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12207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modelo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procedimental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requisitos.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70476" y="2869679"/>
            <a:ext cx="4259580" cy="1562100"/>
            <a:chOff x="4570476" y="2869679"/>
            <a:chExt cx="4259580" cy="156210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0476" y="2869679"/>
              <a:ext cx="4259580" cy="15621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727448" y="2926079"/>
              <a:ext cx="4051300" cy="1417320"/>
            </a:xfrm>
            <a:custGeom>
              <a:avLst/>
              <a:gdLst/>
              <a:ahLst/>
              <a:cxnLst/>
              <a:rect l="l" t="t" r="r" b="b"/>
              <a:pathLst>
                <a:path w="4051300" h="1417320">
                  <a:moveTo>
                    <a:pt x="0" y="1417320"/>
                  </a:moveTo>
                  <a:lnTo>
                    <a:pt x="4050792" y="1417320"/>
                  </a:lnTo>
                  <a:lnTo>
                    <a:pt x="4050792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663440" y="2926079"/>
              <a:ext cx="4114800" cy="1417320"/>
            </a:xfrm>
            <a:custGeom>
              <a:avLst/>
              <a:gdLst/>
              <a:ahLst/>
              <a:cxnLst/>
              <a:rect l="l" t="t" r="r" b="b"/>
              <a:pathLst>
                <a:path w="4114800" h="1417320">
                  <a:moveTo>
                    <a:pt x="0" y="1417320"/>
                  </a:moveTo>
                  <a:lnTo>
                    <a:pt x="4114800" y="141732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ln w="190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663440" y="29260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5" h="1417320">
                  <a:moveTo>
                    <a:pt x="64008" y="0"/>
                  </a:moveTo>
                  <a:lnTo>
                    <a:pt x="0" y="0"/>
                  </a:lnTo>
                  <a:lnTo>
                    <a:pt x="0" y="1417320"/>
                  </a:lnTo>
                  <a:lnTo>
                    <a:pt x="64008" y="1417320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663440" y="2926079"/>
              <a:ext cx="64135" cy="1417320"/>
            </a:xfrm>
            <a:custGeom>
              <a:avLst/>
              <a:gdLst/>
              <a:ahLst/>
              <a:cxnLst/>
              <a:rect l="l" t="t" r="r" b="b"/>
              <a:pathLst>
                <a:path w="64135" h="1417320">
                  <a:moveTo>
                    <a:pt x="0" y="1417320"/>
                  </a:moveTo>
                  <a:lnTo>
                    <a:pt x="64008" y="1417320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417320"/>
                  </a:lnTo>
                  <a:close/>
                </a:path>
              </a:pathLst>
            </a:custGeom>
            <a:ln w="12699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733797" y="3083432"/>
            <a:ext cx="4035425" cy="819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605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Enfoque</a:t>
            </a:r>
            <a:r>
              <a:rPr dirty="0" sz="12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del</a:t>
            </a:r>
            <a:r>
              <a:rPr dirty="0" sz="12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curso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200">
              <a:latin typeface="Calibri"/>
              <a:cs typeface="Calibri"/>
            </a:endParaRPr>
          </a:p>
          <a:p>
            <a:pPr marL="186055">
              <a:lnSpc>
                <a:spcPct val="100000"/>
              </a:lnSpc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Visión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integrada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con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modelos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mejora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procesos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(SPI).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306192" y="4583074"/>
            <a:ext cx="453263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"La</a:t>
            </a:r>
            <a:r>
              <a:rPr dirty="0" sz="800" spc="-3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calidad</a:t>
            </a:r>
            <a:r>
              <a:rPr dirty="0" sz="800" spc="1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de</a:t>
            </a:r>
            <a:r>
              <a:rPr dirty="0" sz="800" spc="-2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180"/>
                </a:solidFill>
                <a:latin typeface="Calibri"/>
                <a:cs typeface="Calibri"/>
              </a:rPr>
              <a:t>software 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se</a:t>
            </a:r>
            <a:r>
              <a:rPr dirty="0" sz="800" spc="-2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puede</a:t>
            </a:r>
            <a:r>
              <a:rPr dirty="0" sz="800" spc="-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medir</a:t>
            </a:r>
            <a:r>
              <a:rPr dirty="0" sz="800" spc="-1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en</a:t>
            </a:r>
            <a:r>
              <a:rPr dirty="0" sz="800" spc="-2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términos de</a:t>
            </a:r>
            <a:r>
              <a:rPr dirty="0" sz="800" spc="-2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180"/>
                </a:solidFill>
                <a:latin typeface="Calibri"/>
                <a:cs typeface="Calibri"/>
              </a:rPr>
              <a:t>densidad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 de</a:t>
            </a:r>
            <a:r>
              <a:rPr dirty="0" sz="800" spc="-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defectos"</a:t>
            </a:r>
            <a:r>
              <a:rPr dirty="0" sz="800" spc="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—</a:t>
            </a:r>
            <a:r>
              <a:rPr dirty="0" sz="800" spc="-3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Espejo</a:t>
            </a:r>
            <a:r>
              <a:rPr dirty="0" sz="800" spc="-2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180"/>
                </a:solidFill>
                <a:latin typeface="Calibri"/>
                <a:cs typeface="Calibri"/>
              </a:rPr>
              <a:t>Chavarría</a:t>
            </a:r>
            <a:r>
              <a:rPr dirty="0" sz="800" spc="-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et</a:t>
            </a:r>
            <a:r>
              <a:rPr dirty="0" sz="800" spc="-2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180"/>
                </a:solidFill>
                <a:latin typeface="Calibri"/>
                <a:cs typeface="Calibri"/>
              </a:rPr>
              <a:t>al.,</a:t>
            </a:r>
            <a:r>
              <a:rPr dirty="0" sz="800" spc="-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6B7180"/>
                </a:solidFill>
                <a:latin typeface="Calibri"/>
                <a:cs typeface="Calibri"/>
              </a:rPr>
              <a:t>2016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319530"/>
            <a:ext cx="9156700" cy="3830320"/>
            <a:chOff x="-6350" y="1319530"/>
            <a:chExt cx="9156700" cy="3830320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759" y="1325880"/>
              <a:ext cx="1920239" cy="914400"/>
            </a:xfrm>
            <a:custGeom>
              <a:avLst/>
              <a:gdLst/>
              <a:ahLst/>
              <a:cxnLst/>
              <a:rect l="l" t="t" r="r" b="b"/>
              <a:pathLst>
                <a:path w="1920239" h="914400">
                  <a:moveTo>
                    <a:pt x="1920239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920239" y="91440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0D1F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65759" y="1325880"/>
              <a:ext cx="1920239" cy="914400"/>
            </a:xfrm>
            <a:custGeom>
              <a:avLst/>
              <a:gdLst/>
              <a:ahLst/>
              <a:cxnLst/>
              <a:rect l="l" t="t" r="r" b="b"/>
              <a:pathLst>
                <a:path w="1920239" h="914400">
                  <a:moveTo>
                    <a:pt x="0" y="914400"/>
                  </a:moveTo>
                  <a:lnTo>
                    <a:pt x="1920239" y="914400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53059" y="744982"/>
            <a:ext cx="5478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Especificación</a:t>
            </a:r>
            <a:r>
              <a:rPr dirty="0" sz="1800" spc="-6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r>
              <a:rPr dirty="0" sz="18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8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aseguramiento</a:t>
            </a:r>
            <a:r>
              <a:rPr dirty="0" sz="1800" spc="-6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la</a:t>
            </a:r>
            <a:r>
              <a:rPr dirty="0" sz="18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5759" y="1325880"/>
            <a:ext cx="1920239" cy="91440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0"/>
              </a:spcBef>
            </a:pPr>
            <a:endParaRPr sz="1200">
              <a:latin typeface="Times New Roman"/>
              <a:cs typeface="Times New Roman"/>
            </a:endParaRPr>
          </a:p>
          <a:p>
            <a:pPr marL="772795" marR="624840" indent="-142240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Requisitos claros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4857" y="1618615"/>
            <a:ext cx="232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C8A127"/>
                </a:solidFill>
                <a:latin typeface="Calibri"/>
                <a:cs typeface="Calibri"/>
              </a:rPr>
              <a:t>→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508250" y="1319530"/>
            <a:ext cx="1932939" cy="927100"/>
            <a:chOff x="2508250" y="1319530"/>
            <a:chExt cx="1932939" cy="927100"/>
          </a:xfrm>
        </p:grpSpPr>
        <p:sp>
          <p:nvSpPr>
            <p:cNvPr id="12" name="object 12"/>
            <p:cNvSpPr/>
            <p:nvPr/>
          </p:nvSpPr>
          <p:spPr>
            <a:xfrm>
              <a:off x="2514600" y="1325880"/>
              <a:ext cx="1920239" cy="914400"/>
            </a:xfrm>
            <a:custGeom>
              <a:avLst/>
              <a:gdLst/>
              <a:ahLst/>
              <a:cxnLst/>
              <a:rect l="l" t="t" r="r" b="b"/>
              <a:pathLst>
                <a:path w="1920239" h="914400">
                  <a:moveTo>
                    <a:pt x="1920239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920239" y="91440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514600" y="1325880"/>
              <a:ext cx="1920239" cy="914400"/>
            </a:xfrm>
            <a:custGeom>
              <a:avLst/>
              <a:gdLst/>
              <a:ahLst/>
              <a:cxnLst/>
              <a:rect l="l" t="t" r="r" b="b"/>
              <a:pathLst>
                <a:path w="1920239" h="914400">
                  <a:moveTo>
                    <a:pt x="0" y="914400"/>
                  </a:moveTo>
                  <a:lnTo>
                    <a:pt x="1920239" y="914400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514600" y="1325880"/>
            <a:ext cx="1920239" cy="91440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690880" marR="683895" indent="-635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Menos defectos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34078" y="1618615"/>
            <a:ext cx="232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C8A127"/>
                </a:solidFill>
                <a:latin typeface="Calibri"/>
                <a:cs typeface="Calibri"/>
              </a:rPr>
              <a:t>→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57090" y="1319530"/>
            <a:ext cx="1932939" cy="927100"/>
            <a:chOff x="4657090" y="1319530"/>
            <a:chExt cx="1932939" cy="927100"/>
          </a:xfrm>
        </p:grpSpPr>
        <p:sp>
          <p:nvSpPr>
            <p:cNvPr id="17" name="object 17"/>
            <p:cNvSpPr/>
            <p:nvPr/>
          </p:nvSpPr>
          <p:spPr>
            <a:xfrm>
              <a:off x="4663440" y="1325880"/>
              <a:ext cx="1920239" cy="914400"/>
            </a:xfrm>
            <a:custGeom>
              <a:avLst/>
              <a:gdLst/>
              <a:ahLst/>
              <a:cxnLst/>
              <a:rect l="l" t="t" r="r" b="b"/>
              <a:pathLst>
                <a:path w="1920240" h="914400">
                  <a:moveTo>
                    <a:pt x="1920239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920239" y="91440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663440" y="1325880"/>
              <a:ext cx="1920239" cy="914400"/>
            </a:xfrm>
            <a:custGeom>
              <a:avLst/>
              <a:gdLst/>
              <a:ahLst/>
              <a:cxnLst/>
              <a:rect l="l" t="t" r="r" b="b"/>
              <a:pathLst>
                <a:path w="1920240" h="914400">
                  <a:moveTo>
                    <a:pt x="0" y="914400"/>
                  </a:moveTo>
                  <a:lnTo>
                    <a:pt x="1920239" y="914400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663440" y="1325880"/>
            <a:ext cx="1920239" cy="91440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0"/>
              </a:spcBef>
            </a:pPr>
            <a:endParaRPr sz="1200">
              <a:latin typeface="Times New Roman"/>
              <a:cs typeface="Times New Roman"/>
            </a:endParaRPr>
          </a:p>
          <a:p>
            <a:pPr marL="638175" marR="551180" indent="-79375">
              <a:lnSpc>
                <a:spcPct val="100000"/>
              </a:lnSpc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Menor</a:t>
            </a:r>
            <a:r>
              <a:rPr dirty="0" sz="12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costo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83171" y="1618615"/>
            <a:ext cx="232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C8A127"/>
                </a:solidFill>
                <a:latin typeface="Calibri"/>
                <a:cs typeface="Calibri"/>
              </a:rPr>
              <a:t>→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805930" y="1319530"/>
            <a:ext cx="1932939" cy="927100"/>
            <a:chOff x="6805930" y="1319530"/>
            <a:chExt cx="1932939" cy="927100"/>
          </a:xfrm>
        </p:grpSpPr>
        <p:sp>
          <p:nvSpPr>
            <p:cNvPr id="22" name="object 22"/>
            <p:cNvSpPr/>
            <p:nvPr/>
          </p:nvSpPr>
          <p:spPr>
            <a:xfrm>
              <a:off x="6812280" y="1325880"/>
              <a:ext cx="1920239" cy="914400"/>
            </a:xfrm>
            <a:custGeom>
              <a:avLst/>
              <a:gdLst/>
              <a:ahLst/>
              <a:cxnLst/>
              <a:rect l="l" t="t" r="r" b="b"/>
              <a:pathLst>
                <a:path w="1920240" h="914400">
                  <a:moveTo>
                    <a:pt x="1920239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920239" y="914400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812280" y="1325880"/>
              <a:ext cx="1920239" cy="914400"/>
            </a:xfrm>
            <a:custGeom>
              <a:avLst/>
              <a:gdLst/>
              <a:ahLst/>
              <a:cxnLst/>
              <a:rect l="l" t="t" r="r" b="b"/>
              <a:pathLst>
                <a:path w="1920240" h="914400">
                  <a:moveTo>
                    <a:pt x="0" y="914400"/>
                  </a:moveTo>
                  <a:lnTo>
                    <a:pt x="1920239" y="914400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812280" y="1325880"/>
            <a:ext cx="1920239" cy="91440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0"/>
              </a:spcBef>
            </a:pPr>
            <a:endParaRPr sz="1200">
              <a:latin typeface="Times New Roman"/>
              <a:cs typeface="Times New Roman"/>
            </a:endParaRPr>
          </a:p>
          <a:p>
            <a:pPr marL="574040" marR="566420" indent="180975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Mayor rentabilidad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59409" y="2462529"/>
            <a:ext cx="76835" cy="1896745"/>
            <a:chOff x="359409" y="2462529"/>
            <a:chExt cx="76835" cy="1896745"/>
          </a:xfrm>
        </p:grpSpPr>
        <p:sp>
          <p:nvSpPr>
            <p:cNvPr id="26" name="object 26"/>
            <p:cNvSpPr/>
            <p:nvPr/>
          </p:nvSpPr>
          <p:spPr>
            <a:xfrm>
              <a:off x="365759" y="2468879"/>
              <a:ext cx="64135" cy="567055"/>
            </a:xfrm>
            <a:custGeom>
              <a:avLst/>
              <a:gdLst/>
              <a:ahLst/>
              <a:cxnLst/>
              <a:rect l="l" t="t" r="r" b="b"/>
              <a:pathLst>
                <a:path w="64134" h="567055">
                  <a:moveTo>
                    <a:pt x="64008" y="0"/>
                  </a:moveTo>
                  <a:lnTo>
                    <a:pt x="0" y="0"/>
                  </a:lnTo>
                  <a:lnTo>
                    <a:pt x="0" y="566928"/>
                  </a:lnTo>
                  <a:lnTo>
                    <a:pt x="64008" y="566928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65759" y="2468879"/>
              <a:ext cx="64135" cy="567055"/>
            </a:xfrm>
            <a:custGeom>
              <a:avLst/>
              <a:gdLst/>
              <a:ahLst/>
              <a:cxnLst/>
              <a:rect l="l" t="t" r="r" b="b"/>
              <a:pathLst>
                <a:path w="64134" h="567055">
                  <a:moveTo>
                    <a:pt x="0" y="566928"/>
                  </a:moveTo>
                  <a:lnTo>
                    <a:pt x="64008" y="566928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65759" y="3127247"/>
              <a:ext cx="64135" cy="567055"/>
            </a:xfrm>
            <a:custGeom>
              <a:avLst/>
              <a:gdLst/>
              <a:ahLst/>
              <a:cxnLst/>
              <a:rect l="l" t="t" r="r" b="b"/>
              <a:pathLst>
                <a:path w="64134" h="567054">
                  <a:moveTo>
                    <a:pt x="64008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64008" y="566927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65759" y="3127247"/>
              <a:ext cx="64135" cy="567055"/>
            </a:xfrm>
            <a:custGeom>
              <a:avLst/>
              <a:gdLst/>
              <a:ahLst/>
              <a:cxnLst/>
              <a:rect l="l" t="t" r="r" b="b"/>
              <a:pathLst>
                <a:path w="64134" h="567054">
                  <a:moveTo>
                    <a:pt x="0" y="566927"/>
                  </a:moveTo>
                  <a:lnTo>
                    <a:pt x="64008" y="566927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65759" y="3785615"/>
              <a:ext cx="64135" cy="567055"/>
            </a:xfrm>
            <a:custGeom>
              <a:avLst/>
              <a:gdLst/>
              <a:ahLst/>
              <a:cxnLst/>
              <a:rect l="l" t="t" r="r" b="b"/>
              <a:pathLst>
                <a:path w="64134" h="567054">
                  <a:moveTo>
                    <a:pt x="64008" y="0"/>
                  </a:moveTo>
                  <a:lnTo>
                    <a:pt x="0" y="0"/>
                  </a:lnTo>
                  <a:lnTo>
                    <a:pt x="0" y="566928"/>
                  </a:lnTo>
                  <a:lnTo>
                    <a:pt x="64008" y="566928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65759" y="3785615"/>
              <a:ext cx="64135" cy="567055"/>
            </a:xfrm>
            <a:custGeom>
              <a:avLst/>
              <a:gdLst/>
              <a:ahLst/>
              <a:cxnLst/>
              <a:rect l="l" t="t" r="r" b="b"/>
              <a:pathLst>
                <a:path w="64134" h="567054">
                  <a:moveTo>
                    <a:pt x="0" y="566928"/>
                  </a:moveTo>
                  <a:lnTo>
                    <a:pt x="64008" y="566928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627380" y="2457490"/>
            <a:ext cx="7993380" cy="180022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Evidencia</a:t>
            </a:r>
            <a:r>
              <a:rPr dirty="0" sz="1100" spc="-5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empírica: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60"/>
              </a:spcBef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un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estudio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22</a:t>
            </a:r>
            <a:r>
              <a:rPr dirty="0" sz="9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proyectos,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integración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buenas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prácticas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redujo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significativamente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defectos</a:t>
            </a:r>
            <a:r>
              <a:rPr dirty="0" sz="9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costos,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incrementando</a:t>
            </a:r>
            <a:r>
              <a:rPr dirty="0" sz="950" spc="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rentabilidad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satisfacción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del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cliente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(Espejo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Chavarría</a:t>
            </a:r>
            <a:r>
              <a:rPr dirty="0" sz="950" spc="-5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et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al.,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2016).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Impacto</a:t>
            </a:r>
            <a:r>
              <a:rPr dirty="0" sz="11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en</a:t>
            </a:r>
            <a:r>
              <a:rPr dirty="0" sz="1100" spc="-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negocio: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mejora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9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especificación</a:t>
            </a:r>
            <a:r>
              <a:rPr dirty="0" sz="950" spc="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requisitos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incrementa</a:t>
            </a:r>
            <a:r>
              <a:rPr dirty="0" sz="9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rentabilidad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satisfacción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9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cliente</a:t>
            </a:r>
            <a:r>
              <a:rPr dirty="0" sz="9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al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reducir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retrabajos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950" spc="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correcciones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 tardías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950" spc="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producción.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Visión</a:t>
            </a:r>
            <a:r>
              <a:rPr dirty="0" sz="11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1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proceso: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Los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requisitos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son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uno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los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primeros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filtros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calidad</a:t>
            </a:r>
            <a:r>
              <a:rPr dirty="0" sz="9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proceso;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su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correcta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definición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actúa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como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mecanismo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preventivo de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defectos.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410969"/>
            <a:ext cx="9156700" cy="3738879"/>
            <a:chOff x="-6350" y="1410969"/>
            <a:chExt cx="9156700" cy="3738879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20040" y="1417319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4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3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4" y="292607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8" y="146303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0040" y="1417319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303"/>
                  </a:moveTo>
                  <a:lnTo>
                    <a:pt x="7459" y="100071"/>
                  </a:lnTo>
                  <a:lnTo>
                    <a:pt x="28229" y="59911"/>
                  </a:lnTo>
                  <a:lnTo>
                    <a:pt x="59900" y="28236"/>
                  </a:lnTo>
                  <a:lnTo>
                    <a:pt x="100062" y="7461"/>
                  </a:lnTo>
                  <a:lnTo>
                    <a:pt x="146304" y="0"/>
                  </a:lnTo>
                  <a:lnTo>
                    <a:pt x="192545" y="7461"/>
                  </a:lnTo>
                  <a:lnTo>
                    <a:pt x="232707" y="28236"/>
                  </a:lnTo>
                  <a:lnTo>
                    <a:pt x="264378" y="59911"/>
                  </a:lnTo>
                  <a:lnTo>
                    <a:pt x="285148" y="100071"/>
                  </a:lnTo>
                  <a:lnTo>
                    <a:pt x="292608" y="146303"/>
                  </a:lnTo>
                  <a:lnTo>
                    <a:pt x="285148" y="192536"/>
                  </a:lnTo>
                  <a:lnTo>
                    <a:pt x="264378" y="232696"/>
                  </a:lnTo>
                  <a:lnTo>
                    <a:pt x="232707" y="264371"/>
                  </a:lnTo>
                  <a:lnTo>
                    <a:pt x="192545" y="285146"/>
                  </a:lnTo>
                  <a:lnTo>
                    <a:pt x="146304" y="292607"/>
                  </a:lnTo>
                  <a:lnTo>
                    <a:pt x="100062" y="285146"/>
                  </a:lnTo>
                  <a:lnTo>
                    <a:pt x="59900" y="264371"/>
                  </a:lnTo>
                  <a:lnTo>
                    <a:pt x="28229" y="232696"/>
                  </a:lnTo>
                  <a:lnTo>
                    <a:pt x="7459" y="192536"/>
                  </a:lnTo>
                  <a:lnTo>
                    <a:pt x="0" y="146303"/>
                  </a:lnTo>
                  <a:close/>
                </a:path>
              </a:pathLst>
            </a:custGeom>
            <a:ln w="12700">
              <a:solidFill>
                <a:srgbClr val="1C31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53059" y="744982"/>
            <a:ext cx="44773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Fundamentos</a:t>
            </a:r>
            <a:r>
              <a:rPr dirty="0" sz="18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7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la</a:t>
            </a:r>
            <a:r>
              <a:rPr dirty="0" sz="18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especificación</a:t>
            </a:r>
            <a:r>
              <a:rPr dirty="0" sz="1800" spc="-6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944" y="1467738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8547" y="1354074"/>
            <a:ext cx="12045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0D1F4E"/>
                </a:solidFill>
                <a:latin typeface="Calibri"/>
                <a:cs typeface="Calibri"/>
              </a:rPr>
              <a:t>Clasificación</a:t>
            </a:r>
            <a:r>
              <a:rPr dirty="0" sz="1150" spc="-5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D1F4E"/>
                </a:solidFill>
                <a:latin typeface="Calibri"/>
                <a:cs typeface="Calibri"/>
              </a:rPr>
              <a:t>clásica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8547" y="1768602"/>
            <a:ext cx="302006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10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funcionales</a:t>
            </a:r>
            <a:r>
              <a:rPr dirty="0" sz="105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105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no funcionales </a:t>
            </a:r>
            <a:r>
              <a:rPr dirty="0" sz="1050" spc="-10">
                <a:solidFill>
                  <a:srgbClr val="34485E"/>
                </a:solidFill>
                <a:latin typeface="Calibri"/>
                <a:cs typeface="Calibri"/>
              </a:rPr>
              <a:t>(IEEE-STD-830).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3690" y="2279650"/>
            <a:ext cx="305435" cy="305435"/>
            <a:chOff x="313690" y="2279650"/>
            <a:chExt cx="305435" cy="305435"/>
          </a:xfrm>
        </p:grpSpPr>
        <p:sp>
          <p:nvSpPr>
            <p:cNvPr id="13" name="object 13"/>
            <p:cNvSpPr/>
            <p:nvPr/>
          </p:nvSpPr>
          <p:spPr>
            <a:xfrm>
              <a:off x="320040" y="2286000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4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4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4" y="292607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8" y="146304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0040" y="2286000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304"/>
                  </a:moveTo>
                  <a:lnTo>
                    <a:pt x="7459" y="100071"/>
                  </a:lnTo>
                  <a:lnTo>
                    <a:pt x="28229" y="59911"/>
                  </a:lnTo>
                  <a:lnTo>
                    <a:pt x="59900" y="28236"/>
                  </a:lnTo>
                  <a:lnTo>
                    <a:pt x="100062" y="7461"/>
                  </a:lnTo>
                  <a:lnTo>
                    <a:pt x="146304" y="0"/>
                  </a:lnTo>
                  <a:lnTo>
                    <a:pt x="192545" y="7461"/>
                  </a:lnTo>
                  <a:lnTo>
                    <a:pt x="232707" y="28236"/>
                  </a:lnTo>
                  <a:lnTo>
                    <a:pt x="264378" y="59911"/>
                  </a:lnTo>
                  <a:lnTo>
                    <a:pt x="285148" y="100071"/>
                  </a:lnTo>
                  <a:lnTo>
                    <a:pt x="292608" y="146304"/>
                  </a:lnTo>
                  <a:lnTo>
                    <a:pt x="285148" y="192536"/>
                  </a:lnTo>
                  <a:lnTo>
                    <a:pt x="264378" y="232696"/>
                  </a:lnTo>
                  <a:lnTo>
                    <a:pt x="232707" y="264371"/>
                  </a:lnTo>
                  <a:lnTo>
                    <a:pt x="192545" y="285146"/>
                  </a:lnTo>
                  <a:lnTo>
                    <a:pt x="146304" y="292607"/>
                  </a:lnTo>
                  <a:lnTo>
                    <a:pt x="100062" y="285146"/>
                  </a:lnTo>
                  <a:lnTo>
                    <a:pt x="59900" y="264371"/>
                  </a:lnTo>
                  <a:lnTo>
                    <a:pt x="28229" y="232696"/>
                  </a:lnTo>
                  <a:lnTo>
                    <a:pt x="7459" y="192536"/>
                  </a:lnTo>
                  <a:lnTo>
                    <a:pt x="0" y="146304"/>
                  </a:lnTo>
                  <a:close/>
                </a:path>
              </a:pathLst>
            </a:custGeom>
            <a:ln w="12700">
              <a:solidFill>
                <a:srgbClr val="1C31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21944" y="2336418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28547" y="2223007"/>
            <a:ext cx="125031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0D1F4E"/>
                </a:solidFill>
                <a:latin typeface="Calibri"/>
                <a:cs typeface="Calibri"/>
              </a:rPr>
              <a:t>Enfoque</a:t>
            </a:r>
            <a:r>
              <a:rPr dirty="0" sz="115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D1F4E"/>
                </a:solidFill>
                <a:latin typeface="Calibri"/>
                <a:cs typeface="Calibri"/>
              </a:rPr>
              <a:t>del</a:t>
            </a:r>
            <a:r>
              <a:rPr dirty="0" sz="1150" spc="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D1F4E"/>
                </a:solidFill>
                <a:latin typeface="Calibri"/>
                <a:cs typeface="Calibri"/>
              </a:rPr>
              <a:t>modelo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8547" y="2637536"/>
            <a:ext cx="24999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Énfasis</a:t>
            </a:r>
            <a:r>
              <a:rPr dirty="0" sz="10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en</a:t>
            </a:r>
            <a:r>
              <a:rPr dirty="0" sz="10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10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funcionales</a:t>
            </a:r>
            <a:r>
              <a:rPr dirty="0" sz="10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/</a:t>
            </a:r>
            <a:r>
              <a:rPr dirty="0" sz="10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34485E"/>
                </a:solidFill>
                <a:latin typeface="Calibri"/>
                <a:cs typeface="Calibri"/>
              </a:rPr>
              <a:t>usuario.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13690" y="3148329"/>
            <a:ext cx="305435" cy="305435"/>
            <a:chOff x="313690" y="3148329"/>
            <a:chExt cx="305435" cy="305435"/>
          </a:xfrm>
        </p:grpSpPr>
        <p:sp>
          <p:nvSpPr>
            <p:cNvPr id="19" name="object 19"/>
            <p:cNvSpPr/>
            <p:nvPr/>
          </p:nvSpPr>
          <p:spPr>
            <a:xfrm>
              <a:off x="320040" y="3154679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4" y="0"/>
                  </a:moveTo>
                  <a:lnTo>
                    <a:pt x="100062" y="7461"/>
                  </a:lnTo>
                  <a:lnTo>
                    <a:pt x="59900" y="28236"/>
                  </a:lnTo>
                  <a:lnTo>
                    <a:pt x="28229" y="59911"/>
                  </a:lnTo>
                  <a:lnTo>
                    <a:pt x="7459" y="100071"/>
                  </a:lnTo>
                  <a:lnTo>
                    <a:pt x="0" y="146303"/>
                  </a:lnTo>
                  <a:lnTo>
                    <a:pt x="7459" y="192536"/>
                  </a:lnTo>
                  <a:lnTo>
                    <a:pt x="28229" y="232696"/>
                  </a:lnTo>
                  <a:lnTo>
                    <a:pt x="59900" y="264371"/>
                  </a:lnTo>
                  <a:lnTo>
                    <a:pt x="100062" y="285146"/>
                  </a:lnTo>
                  <a:lnTo>
                    <a:pt x="146304" y="292607"/>
                  </a:lnTo>
                  <a:lnTo>
                    <a:pt x="192545" y="285146"/>
                  </a:lnTo>
                  <a:lnTo>
                    <a:pt x="232707" y="264371"/>
                  </a:lnTo>
                  <a:lnTo>
                    <a:pt x="264378" y="232696"/>
                  </a:lnTo>
                  <a:lnTo>
                    <a:pt x="285148" y="192536"/>
                  </a:lnTo>
                  <a:lnTo>
                    <a:pt x="292608" y="146303"/>
                  </a:lnTo>
                  <a:lnTo>
                    <a:pt x="285148" y="100071"/>
                  </a:lnTo>
                  <a:lnTo>
                    <a:pt x="264378" y="59911"/>
                  </a:lnTo>
                  <a:lnTo>
                    <a:pt x="232707" y="28236"/>
                  </a:lnTo>
                  <a:lnTo>
                    <a:pt x="192545" y="7461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20040" y="3154679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303"/>
                  </a:moveTo>
                  <a:lnTo>
                    <a:pt x="7459" y="100071"/>
                  </a:lnTo>
                  <a:lnTo>
                    <a:pt x="28229" y="59911"/>
                  </a:lnTo>
                  <a:lnTo>
                    <a:pt x="59900" y="28236"/>
                  </a:lnTo>
                  <a:lnTo>
                    <a:pt x="100062" y="7461"/>
                  </a:lnTo>
                  <a:lnTo>
                    <a:pt x="146304" y="0"/>
                  </a:lnTo>
                  <a:lnTo>
                    <a:pt x="192545" y="7461"/>
                  </a:lnTo>
                  <a:lnTo>
                    <a:pt x="232707" y="28236"/>
                  </a:lnTo>
                  <a:lnTo>
                    <a:pt x="264378" y="59911"/>
                  </a:lnTo>
                  <a:lnTo>
                    <a:pt x="285148" y="100071"/>
                  </a:lnTo>
                  <a:lnTo>
                    <a:pt x="292608" y="146303"/>
                  </a:lnTo>
                  <a:lnTo>
                    <a:pt x="285148" y="192536"/>
                  </a:lnTo>
                  <a:lnTo>
                    <a:pt x="264378" y="232696"/>
                  </a:lnTo>
                  <a:lnTo>
                    <a:pt x="232707" y="264371"/>
                  </a:lnTo>
                  <a:lnTo>
                    <a:pt x="192545" y="285146"/>
                  </a:lnTo>
                  <a:lnTo>
                    <a:pt x="146304" y="292607"/>
                  </a:lnTo>
                  <a:lnTo>
                    <a:pt x="100062" y="285146"/>
                  </a:lnTo>
                  <a:lnTo>
                    <a:pt x="59900" y="264371"/>
                  </a:lnTo>
                  <a:lnTo>
                    <a:pt x="28229" y="232696"/>
                  </a:lnTo>
                  <a:lnTo>
                    <a:pt x="7459" y="192536"/>
                  </a:lnTo>
                  <a:lnTo>
                    <a:pt x="0" y="146303"/>
                  </a:lnTo>
                  <a:close/>
                </a:path>
              </a:pathLst>
            </a:custGeom>
            <a:ln w="12700">
              <a:solidFill>
                <a:srgbClr val="1C31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21944" y="3205352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8547" y="3091941"/>
            <a:ext cx="1767839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0D1F4E"/>
                </a:solidFill>
                <a:latin typeface="Calibri"/>
                <a:cs typeface="Calibri"/>
              </a:rPr>
              <a:t>Necesidad</a:t>
            </a:r>
            <a:r>
              <a:rPr dirty="0" sz="115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5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15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D1F4E"/>
                </a:solidFill>
                <a:latin typeface="Calibri"/>
                <a:cs typeface="Calibri"/>
              </a:rPr>
              <a:t>procedimiento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28547" y="3506470"/>
            <a:ext cx="57734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No</a:t>
            </a:r>
            <a:r>
              <a:rPr dirty="0" sz="10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basta</a:t>
            </a:r>
            <a:r>
              <a:rPr dirty="0" sz="10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clasificar;</a:t>
            </a:r>
            <a:r>
              <a:rPr dirty="0" sz="10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se</a:t>
            </a:r>
            <a:r>
              <a:rPr dirty="0" sz="10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requiere</a:t>
            </a:r>
            <a:r>
              <a:rPr dirty="0" sz="10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un</a:t>
            </a:r>
            <a:r>
              <a:rPr dirty="0" sz="10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modelo</a:t>
            </a:r>
            <a:r>
              <a:rPr dirty="0" sz="10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operativo</a:t>
            </a:r>
            <a:r>
              <a:rPr dirty="0" sz="10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que</a:t>
            </a:r>
            <a:r>
              <a:rPr dirty="0" sz="10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indique</a:t>
            </a:r>
            <a:r>
              <a:rPr dirty="0" sz="10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cómo</a:t>
            </a:r>
            <a:r>
              <a:rPr dirty="0" sz="10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obtener</a:t>
            </a:r>
            <a:r>
              <a:rPr dirty="0" sz="10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los</a:t>
            </a:r>
            <a:r>
              <a:rPr dirty="0" sz="10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10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paso</a:t>
            </a:r>
            <a:r>
              <a:rPr dirty="0" sz="10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a</a:t>
            </a:r>
            <a:r>
              <a:rPr dirty="0" sz="1050" spc="-10">
                <a:solidFill>
                  <a:srgbClr val="34485E"/>
                </a:solidFill>
                <a:latin typeface="Calibri"/>
                <a:cs typeface="Calibri"/>
              </a:rPr>
              <a:t> paso.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13690" y="4017009"/>
            <a:ext cx="305435" cy="305435"/>
            <a:chOff x="313690" y="4017009"/>
            <a:chExt cx="305435" cy="305435"/>
          </a:xfrm>
        </p:grpSpPr>
        <p:sp>
          <p:nvSpPr>
            <p:cNvPr id="25" name="object 25"/>
            <p:cNvSpPr/>
            <p:nvPr/>
          </p:nvSpPr>
          <p:spPr>
            <a:xfrm>
              <a:off x="320040" y="4023359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146304" y="0"/>
                  </a:moveTo>
                  <a:lnTo>
                    <a:pt x="100062" y="7459"/>
                  </a:lnTo>
                  <a:lnTo>
                    <a:pt x="59900" y="28229"/>
                  </a:lnTo>
                  <a:lnTo>
                    <a:pt x="28229" y="59900"/>
                  </a:lnTo>
                  <a:lnTo>
                    <a:pt x="7459" y="100062"/>
                  </a:lnTo>
                  <a:lnTo>
                    <a:pt x="0" y="146303"/>
                  </a:lnTo>
                  <a:lnTo>
                    <a:pt x="7459" y="192545"/>
                  </a:lnTo>
                  <a:lnTo>
                    <a:pt x="28229" y="232707"/>
                  </a:lnTo>
                  <a:lnTo>
                    <a:pt x="59900" y="264378"/>
                  </a:lnTo>
                  <a:lnTo>
                    <a:pt x="100062" y="285148"/>
                  </a:lnTo>
                  <a:lnTo>
                    <a:pt x="146304" y="292607"/>
                  </a:lnTo>
                  <a:lnTo>
                    <a:pt x="192545" y="285148"/>
                  </a:lnTo>
                  <a:lnTo>
                    <a:pt x="232707" y="264378"/>
                  </a:lnTo>
                  <a:lnTo>
                    <a:pt x="264378" y="232707"/>
                  </a:lnTo>
                  <a:lnTo>
                    <a:pt x="285148" y="192545"/>
                  </a:lnTo>
                  <a:lnTo>
                    <a:pt x="292608" y="146303"/>
                  </a:lnTo>
                  <a:lnTo>
                    <a:pt x="285148" y="100062"/>
                  </a:lnTo>
                  <a:lnTo>
                    <a:pt x="264378" y="59900"/>
                  </a:lnTo>
                  <a:lnTo>
                    <a:pt x="232707" y="28229"/>
                  </a:lnTo>
                  <a:lnTo>
                    <a:pt x="192545" y="7459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20040" y="4023359"/>
              <a:ext cx="292735" cy="292735"/>
            </a:xfrm>
            <a:custGeom>
              <a:avLst/>
              <a:gdLst/>
              <a:ahLst/>
              <a:cxnLst/>
              <a:rect l="l" t="t" r="r" b="b"/>
              <a:pathLst>
                <a:path w="292734" h="292735">
                  <a:moveTo>
                    <a:pt x="0" y="146303"/>
                  </a:moveTo>
                  <a:lnTo>
                    <a:pt x="7459" y="100062"/>
                  </a:lnTo>
                  <a:lnTo>
                    <a:pt x="28229" y="59900"/>
                  </a:lnTo>
                  <a:lnTo>
                    <a:pt x="59900" y="28229"/>
                  </a:lnTo>
                  <a:lnTo>
                    <a:pt x="100062" y="7459"/>
                  </a:lnTo>
                  <a:lnTo>
                    <a:pt x="146304" y="0"/>
                  </a:lnTo>
                  <a:lnTo>
                    <a:pt x="192545" y="7459"/>
                  </a:lnTo>
                  <a:lnTo>
                    <a:pt x="232707" y="28229"/>
                  </a:lnTo>
                  <a:lnTo>
                    <a:pt x="264378" y="59900"/>
                  </a:lnTo>
                  <a:lnTo>
                    <a:pt x="285148" y="100062"/>
                  </a:lnTo>
                  <a:lnTo>
                    <a:pt x="292608" y="146303"/>
                  </a:lnTo>
                  <a:lnTo>
                    <a:pt x="285148" y="192545"/>
                  </a:lnTo>
                  <a:lnTo>
                    <a:pt x="264378" y="232707"/>
                  </a:lnTo>
                  <a:lnTo>
                    <a:pt x="232707" y="264378"/>
                  </a:lnTo>
                  <a:lnTo>
                    <a:pt x="192545" y="285148"/>
                  </a:lnTo>
                  <a:lnTo>
                    <a:pt x="146304" y="292607"/>
                  </a:lnTo>
                  <a:lnTo>
                    <a:pt x="100062" y="285148"/>
                  </a:lnTo>
                  <a:lnTo>
                    <a:pt x="59900" y="264378"/>
                  </a:lnTo>
                  <a:lnTo>
                    <a:pt x="28229" y="232707"/>
                  </a:lnTo>
                  <a:lnTo>
                    <a:pt x="7459" y="192545"/>
                  </a:lnTo>
                  <a:lnTo>
                    <a:pt x="0" y="146303"/>
                  </a:lnTo>
                  <a:close/>
                </a:path>
              </a:pathLst>
            </a:custGeom>
            <a:ln w="12700">
              <a:solidFill>
                <a:srgbClr val="1C316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21944" y="407436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28547" y="3960672"/>
            <a:ext cx="137541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0D1F4E"/>
                </a:solidFill>
                <a:latin typeface="Calibri"/>
                <a:cs typeface="Calibri"/>
              </a:rPr>
              <a:t>Problema</a:t>
            </a:r>
            <a:r>
              <a:rPr dirty="0" sz="115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50" spc="-10" b="1">
                <a:solidFill>
                  <a:srgbClr val="0D1F4E"/>
                </a:solidFill>
                <a:latin typeface="Calibri"/>
                <a:cs typeface="Calibri"/>
              </a:rPr>
              <a:t>identificado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8547" y="4375505"/>
            <a:ext cx="702945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Ausencia</a:t>
            </a:r>
            <a:r>
              <a:rPr dirty="0" sz="10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10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un</a:t>
            </a:r>
            <a:r>
              <a:rPr dirty="0" sz="10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modelo</a:t>
            </a:r>
            <a:r>
              <a:rPr dirty="0" sz="10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procedimental</a:t>
            </a:r>
            <a:r>
              <a:rPr dirty="0" sz="10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ampliamente</a:t>
            </a:r>
            <a:r>
              <a:rPr dirty="0" sz="10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adoptado:</a:t>
            </a:r>
            <a:r>
              <a:rPr dirty="0" sz="1050" spc="-25">
                <a:solidFill>
                  <a:srgbClr val="34485E"/>
                </a:solidFill>
                <a:latin typeface="Calibri"/>
                <a:cs typeface="Calibri"/>
              </a:rPr>
              <a:t> IEEE-</a:t>
            </a:r>
            <a:r>
              <a:rPr dirty="0" sz="1050" spc="-10">
                <a:solidFill>
                  <a:srgbClr val="34485E"/>
                </a:solidFill>
                <a:latin typeface="Calibri"/>
                <a:cs typeface="Calibri"/>
              </a:rPr>
              <a:t>STD-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830</a:t>
            </a:r>
            <a:r>
              <a:rPr dirty="0" sz="10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define</a:t>
            </a:r>
            <a:r>
              <a:rPr dirty="0" sz="10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categorías</a:t>
            </a:r>
            <a:r>
              <a:rPr dirty="0" sz="10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pero</a:t>
            </a:r>
            <a:r>
              <a:rPr dirty="0" sz="10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no</a:t>
            </a:r>
            <a:r>
              <a:rPr dirty="0" sz="10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el</a:t>
            </a:r>
            <a:r>
              <a:rPr dirty="0" sz="10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34485E"/>
                </a:solidFill>
                <a:latin typeface="Calibri"/>
                <a:cs typeface="Calibri"/>
              </a:rPr>
              <a:t>cómo</a:t>
            </a:r>
            <a:r>
              <a:rPr dirty="0" sz="1050" spc="-10">
                <a:solidFill>
                  <a:srgbClr val="34485E"/>
                </a:solidFill>
                <a:latin typeface="Calibri"/>
                <a:cs typeface="Calibri"/>
              </a:rPr>
              <a:t> obtenerlas.</a:t>
            </a:r>
            <a:endParaRPr sz="105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960"/>
              </a:spcBef>
            </a:pP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"IEEE-</a:t>
            </a:r>
            <a:r>
              <a:rPr dirty="0" sz="750" spc="-10" i="1">
                <a:solidFill>
                  <a:srgbClr val="6B7180"/>
                </a:solidFill>
                <a:latin typeface="Calibri"/>
                <a:cs typeface="Calibri"/>
              </a:rPr>
              <a:t>STD-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830</a:t>
            </a:r>
            <a:r>
              <a:rPr dirty="0" sz="750" spc="-3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define</a:t>
            </a:r>
            <a:r>
              <a:rPr dirty="0" sz="750" spc="-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simplemente</a:t>
            </a:r>
            <a:r>
              <a:rPr dirty="0" sz="750" spc="-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una</a:t>
            </a:r>
            <a:r>
              <a:rPr dirty="0" sz="750" spc="-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clasificación</a:t>
            </a:r>
            <a:r>
              <a:rPr dirty="0" sz="750" spc="1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de</a:t>
            </a:r>
            <a:r>
              <a:rPr dirty="0" sz="750" spc="-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spc="-10" i="1">
                <a:solidFill>
                  <a:srgbClr val="6B7180"/>
                </a:solidFill>
                <a:latin typeface="Calibri"/>
                <a:cs typeface="Calibri"/>
              </a:rPr>
              <a:t>requisitos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en dos</a:t>
            </a:r>
            <a:r>
              <a:rPr dirty="0" sz="750" spc="-1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grandes</a:t>
            </a:r>
            <a:r>
              <a:rPr dirty="0" sz="750" spc="-1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grupos...</a:t>
            </a:r>
            <a:r>
              <a:rPr dirty="0" sz="750" spc="-1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pero</a:t>
            </a:r>
            <a:r>
              <a:rPr dirty="0" sz="750" spc="-1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no</a:t>
            </a:r>
            <a:r>
              <a:rPr dirty="0" sz="750" spc="-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detalla</a:t>
            </a:r>
            <a:r>
              <a:rPr dirty="0" sz="750" spc="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cómo</a:t>
            </a:r>
            <a:r>
              <a:rPr dirty="0" sz="750" spc="-2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obtenerlos</a:t>
            </a:r>
            <a:r>
              <a:rPr dirty="0" sz="750" spc="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paso</a:t>
            </a:r>
            <a:r>
              <a:rPr dirty="0" sz="750" spc="-2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a</a:t>
            </a:r>
            <a:r>
              <a:rPr dirty="0" sz="750" spc="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paso."</a:t>
            </a:r>
            <a:r>
              <a:rPr dirty="0" sz="750" spc="-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—</a:t>
            </a:r>
            <a:r>
              <a:rPr dirty="0" sz="750" spc="-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spc="-10" i="1">
                <a:solidFill>
                  <a:srgbClr val="6B7180"/>
                </a:solidFill>
                <a:latin typeface="Calibri"/>
                <a:cs typeface="Calibri"/>
              </a:rPr>
              <a:t>Cornejo-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Aparicio et</a:t>
            </a:r>
            <a:r>
              <a:rPr dirty="0" sz="750" spc="-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al., </a:t>
            </a:r>
            <a:r>
              <a:rPr dirty="0" sz="750" spc="-20" i="1">
                <a:solidFill>
                  <a:srgbClr val="6B7180"/>
                </a:solidFill>
                <a:latin typeface="Calibri"/>
                <a:cs typeface="Calibri"/>
              </a:rPr>
              <a:t>2020</a:t>
            </a:r>
            <a:endParaRPr sz="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2103120"/>
            <a:ext cx="9156700" cy="3046730"/>
            <a:chOff x="-6350" y="2103120"/>
            <a:chExt cx="9156700" cy="3046730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148839" y="2103120"/>
              <a:ext cx="6675120" cy="713740"/>
            </a:xfrm>
            <a:custGeom>
              <a:avLst/>
              <a:gdLst/>
              <a:ahLst/>
              <a:cxnLst/>
              <a:rect l="l" t="t" r="r" b="b"/>
              <a:pathLst>
                <a:path w="6675120" h="713739">
                  <a:moveTo>
                    <a:pt x="6675119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6675119" y="713232"/>
                  </a:lnTo>
                  <a:lnTo>
                    <a:pt x="66751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53059" y="744982"/>
            <a:ext cx="8300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Estándar IEEE 830 (hoy ISO/IEC/IEEE 29148)</a:t>
            </a:r>
            <a:r>
              <a:rPr dirty="0" sz="18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para</a:t>
            </a:r>
            <a:r>
              <a:rPr dirty="0" sz="18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especificación</a:t>
            </a:r>
            <a:r>
              <a:rPr dirty="0" sz="1800" spc="-6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5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3690" y="1255522"/>
            <a:ext cx="1658620" cy="3304540"/>
          </a:xfrm>
          <a:prstGeom prst="rect">
            <a:avLst/>
          </a:prstGeom>
          <a:solidFill>
            <a:srgbClr val="0D1F4E"/>
          </a:solidFill>
          <a:ln w="3175">
            <a:solidFill>
              <a:srgbClr val="0D1F4E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25"/>
              </a:spcBef>
            </a:pPr>
            <a:endParaRPr sz="3000">
              <a:latin typeface="Times New Roman"/>
              <a:cs typeface="Times New Roman"/>
            </a:endParaRPr>
          </a:p>
          <a:p>
            <a:pPr marL="538480" marR="492125" indent="-40005">
              <a:lnSpc>
                <a:spcPct val="100000"/>
              </a:lnSpc>
            </a:pPr>
            <a:r>
              <a:rPr dirty="0" sz="3000" spc="-20" b="1">
                <a:solidFill>
                  <a:srgbClr val="C8A127"/>
                </a:solidFill>
                <a:latin typeface="Calibri"/>
                <a:cs typeface="Calibri"/>
              </a:rPr>
              <a:t>IEEE </a:t>
            </a:r>
            <a:r>
              <a:rPr dirty="0" sz="3000" spc="-25" b="1">
                <a:solidFill>
                  <a:srgbClr val="C8A127"/>
                </a:solidFill>
                <a:latin typeface="Calibri"/>
                <a:cs typeface="Calibri"/>
              </a:rPr>
              <a:t>830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48839" y="1298447"/>
            <a:ext cx="6675120" cy="713740"/>
          </a:xfrm>
          <a:prstGeom prst="rect">
            <a:avLst/>
          </a:prstGeom>
          <a:solidFill>
            <a:srgbClr val="F4F5F7"/>
          </a:solidFill>
          <a:ln w="6350">
            <a:solidFill>
              <a:srgbClr val="C9DCFB"/>
            </a:solidFill>
          </a:ln>
        </p:spPr>
        <p:txBody>
          <a:bodyPr wrap="square" lIns="0" tIns="6731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530"/>
              </a:spcBef>
            </a:pPr>
            <a:r>
              <a:rPr dirty="0" sz="1100" spc="-10" b="1">
                <a:solidFill>
                  <a:srgbClr val="1C316F"/>
                </a:solidFill>
                <a:latin typeface="Calibri"/>
                <a:cs typeface="Calibri"/>
              </a:rPr>
              <a:t>Propósito</a:t>
            </a:r>
            <a:endParaRPr sz="1100">
              <a:latin typeface="Calibri"/>
              <a:cs typeface="Calibri"/>
            </a:endParaRPr>
          </a:p>
          <a:p>
            <a:pPr marL="228600" marR="359410">
              <a:lnSpc>
                <a:spcPct val="100000"/>
              </a:lnSpc>
              <a:spcBef>
                <a:spcPts val="625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Estructurar</a:t>
            </a:r>
            <a:r>
              <a:rPr dirty="0" sz="950" spc="-5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el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documento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software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(SRS)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secciones</a:t>
            </a:r>
            <a:r>
              <a:rPr dirty="0" sz="95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claras:</a:t>
            </a:r>
            <a:r>
              <a:rPr dirty="0" sz="950" spc="-5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introducción,</a:t>
            </a:r>
            <a:r>
              <a:rPr dirty="0" sz="950" spc="-4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descripción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general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requisitos específicos.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8839" y="2103120"/>
            <a:ext cx="6675120" cy="713740"/>
          </a:xfrm>
          <a:prstGeom prst="rect">
            <a:avLst/>
          </a:prstGeom>
          <a:ln w="6350">
            <a:solidFill>
              <a:srgbClr val="C9DCFB"/>
            </a:solidFill>
          </a:ln>
        </p:spPr>
        <p:txBody>
          <a:bodyPr wrap="square" lIns="0" tIns="6794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535"/>
              </a:spcBef>
            </a:pPr>
            <a:r>
              <a:rPr dirty="0" sz="1100" b="1">
                <a:solidFill>
                  <a:srgbClr val="1C316F"/>
                </a:solidFill>
                <a:latin typeface="Calibri"/>
                <a:cs typeface="Calibri"/>
              </a:rPr>
              <a:t>Enfoque</a:t>
            </a:r>
            <a:r>
              <a:rPr dirty="0" sz="1100" spc="-25" b="1">
                <a:solidFill>
                  <a:srgbClr val="1C316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C316F"/>
                </a:solidFill>
                <a:latin typeface="Calibri"/>
                <a:cs typeface="Calibri"/>
              </a:rPr>
              <a:t>en</a:t>
            </a:r>
            <a:r>
              <a:rPr dirty="0" sz="1100" spc="-15" b="1">
                <a:solidFill>
                  <a:srgbClr val="1C316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C316F"/>
                </a:solidFill>
                <a:latin typeface="Calibri"/>
                <a:cs typeface="Calibri"/>
              </a:rPr>
              <a:t>claridad</a:t>
            </a:r>
            <a:endParaRPr sz="11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1190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Los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deben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ser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verificables,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consistentes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trazables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para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todas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las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partes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interesadas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del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proyecto.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48839" y="2907792"/>
            <a:ext cx="6675120" cy="713740"/>
          </a:xfrm>
          <a:prstGeom prst="rect">
            <a:avLst/>
          </a:prstGeom>
          <a:solidFill>
            <a:srgbClr val="F4F5F7"/>
          </a:solidFill>
          <a:ln w="6350">
            <a:solidFill>
              <a:srgbClr val="C9DCFB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540"/>
              </a:spcBef>
            </a:pPr>
            <a:r>
              <a:rPr dirty="0" sz="1100" b="1">
                <a:solidFill>
                  <a:srgbClr val="1C316F"/>
                </a:solidFill>
                <a:latin typeface="Calibri"/>
                <a:cs typeface="Calibri"/>
              </a:rPr>
              <a:t>Uso</a:t>
            </a:r>
            <a:r>
              <a:rPr dirty="0" sz="1100" spc="-15" b="1">
                <a:solidFill>
                  <a:srgbClr val="1C316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C316F"/>
                </a:solidFill>
                <a:latin typeface="Calibri"/>
                <a:cs typeface="Calibri"/>
              </a:rPr>
              <a:t>en</a:t>
            </a:r>
            <a:r>
              <a:rPr dirty="0" sz="1100" spc="-15" b="1">
                <a:solidFill>
                  <a:srgbClr val="1C316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C316F"/>
                </a:solidFill>
                <a:latin typeface="Calibri"/>
                <a:cs typeface="Calibri"/>
              </a:rPr>
              <a:t>la</a:t>
            </a:r>
            <a:r>
              <a:rPr dirty="0" sz="1100" spc="-5" b="1">
                <a:solidFill>
                  <a:srgbClr val="1C316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C316F"/>
                </a:solidFill>
                <a:latin typeface="Calibri"/>
                <a:cs typeface="Calibri"/>
              </a:rPr>
              <a:t>práctica</a:t>
            </a:r>
            <a:endParaRPr sz="1100">
              <a:latin typeface="Calibri"/>
              <a:cs typeface="Calibri"/>
            </a:endParaRPr>
          </a:p>
          <a:p>
            <a:pPr marL="228600" marR="248920">
              <a:lnSpc>
                <a:spcPct val="100000"/>
              </a:lnSpc>
              <a:spcBef>
                <a:spcPts val="615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Base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para</a:t>
            </a:r>
            <a:r>
              <a:rPr dirty="0" sz="950" spc="-4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contratos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control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cambios.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 la industria, las plantillas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derivadas</a:t>
            </a:r>
            <a:r>
              <a:rPr dirty="0" sz="950" spc="-4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IEEE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830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alinean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equipos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producto,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QA</a:t>
            </a:r>
            <a:r>
              <a:rPr dirty="0" sz="95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negocio.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48839" y="3712464"/>
            <a:ext cx="6675120" cy="713740"/>
          </a:xfrm>
          <a:custGeom>
            <a:avLst/>
            <a:gdLst/>
            <a:ahLst/>
            <a:cxnLst/>
            <a:rect l="l" t="t" r="r" b="b"/>
            <a:pathLst>
              <a:path w="6675120" h="713739">
                <a:moveTo>
                  <a:pt x="6675119" y="0"/>
                </a:moveTo>
                <a:lnTo>
                  <a:pt x="0" y="0"/>
                </a:lnTo>
                <a:lnTo>
                  <a:pt x="0" y="713232"/>
                </a:lnTo>
                <a:lnTo>
                  <a:pt x="6675119" y="713232"/>
                </a:lnTo>
                <a:lnTo>
                  <a:pt x="66751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148839" y="3712464"/>
            <a:ext cx="6675120" cy="713740"/>
          </a:xfrm>
          <a:prstGeom prst="rect">
            <a:avLst/>
          </a:prstGeom>
          <a:ln w="6350">
            <a:solidFill>
              <a:srgbClr val="C9DCFB"/>
            </a:solidFill>
          </a:ln>
        </p:spPr>
        <p:txBody>
          <a:bodyPr wrap="square" lIns="0" tIns="6858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540"/>
              </a:spcBef>
            </a:pPr>
            <a:r>
              <a:rPr dirty="0" sz="1100" b="1">
                <a:solidFill>
                  <a:srgbClr val="1C316F"/>
                </a:solidFill>
                <a:latin typeface="Calibri"/>
                <a:cs typeface="Calibri"/>
              </a:rPr>
              <a:t>Beneficio</a:t>
            </a:r>
            <a:r>
              <a:rPr dirty="0" sz="1100" spc="-35" b="1">
                <a:solidFill>
                  <a:srgbClr val="1C316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C316F"/>
                </a:solidFill>
                <a:latin typeface="Calibri"/>
                <a:cs typeface="Calibri"/>
              </a:rPr>
              <a:t>clave</a:t>
            </a:r>
            <a:endParaRPr sz="1100">
              <a:latin typeface="Calibri"/>
              <a:cs typeface="Calibri"/>
            </a:endParaRPr>
          </a:p>
          <a:p>
            <a:pPr marL="228600" marR="231140">
              <a:lnSpc>
                <a:spcPct val="100000"/>
              </a:lnSpc>
              <a:spcBef>
                <a:spcPts val="620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Reduce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ambigüedades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fases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posteriores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del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ciclo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vida,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actuando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como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contrato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técnico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entre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analistas,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desarrolladores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clientes.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292097"/>
            <a:ext cx="9156700" cy="3858260"/>
            <a:chOff x="-6350" y="1292097"/>
            <a:chExt cx="9156700" cy="3858260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4320" y="1298447"/>
              <a:ext cx="2743200" cy="548640"/>
            </a:xfrm>
            <a:custGeom>
              <a:avLst/>
              <a:gdLst/>
              <a:ahLst/>
              <a:cxnLst/>
              <a:rect l="l" t="t" r="r" b="b"/>
              <a:pathLst>
                <a:path w="2743200" h="548639">
                  <a:moveTo>
                    <a:pt x="0" y="548639"/>
                  </a:moveTo>
                  <a:lnTo>
                    <a:pt x="2743200" y="548639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700">
              <a:solidFill>
                <a:srgbClr val="0D1F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53059" y="744982"/>
            <a:ext cx="8300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ISO/IEC/IEEE 12207</a:t>
            </a:r>
            <a:r>
              <a:rPr dirty="0" sz="18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la</a:t>
            </a:r>
            <a:r>
              <a:rPr dirty="0" sz="18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r>
              <a:rPr dirty="0" sz="18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del</a:t>
            </a:r>
            <a:r>
              <a:rPr dirty="0" sz="18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software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970" y="1292097"/>
            <a:ext cx="2755900" cy="561340"/>
          </a:xfrm>
          <a:prstGeom prst="rect">
            <a:avLst/>
          </a:prstGeom>
          <a:solidFill>
            <a:srgbClr val="0D1F4E"/>
          </a:solidFill>
        </p:spPr>
        <p:txBody>
          <a:bodyPr wrap="square" lIns="0" tIns="279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endParaRPr sz="1100">
              <a:latin typeface="Times New Roman"/>
              <a:cs typeface="Times New Roman"/>
            </a:endParaRPr>
          </a:p>
          <a:p>
            <a:pPr marL="815975">
              <a:lnSpc>
                <a:spcPct val="100000"/>
              </a:lnSpc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Objeto</a:t>
            </a:r>
            <a:r>
              <a:rPr dirty="0" sz="11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 norma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4320" y="1847088"/>
            <a:ext cx="2743200" cy="1929764"/>
          </a:xfrm>
          <a:custGeom>
            <a:avLst/>
            <a:gdLst/>
            <a:ahLst/>
            <a:cxnLst/>
            <a:rect l="l" t="t" r="r" b="b"/>
            <a:pathLst>
              <a:path w="2743200" h="1929764">
                <a:moveTo>
                  <a:pt x="2743200" y="0"/>
                </a:moveTo>
                <a:lnTo>
                  <a:pt x="0" y="0"/>
                </a:lnTo>
                <a:lnTo>
                  <a:pt x="0" y="1929384"/>
                </a:lnTo>
                <a:lnTo>
                  <a:pt x="2743200" y="1929384"/>
                </a:lnTo>
                <a:lnTo>
                  <a:pt x="2743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74320" y="1847088"/>
            <a:ext cx="2743200" cy="1929764"/>
          </a:xfrm>
          <a:prstGeom prst="rect">
            <a:avLst/>
          </a:prstGeom>
          <a:ln w="12700">
            <a:solidFill>
              <a:srgbClr val="C9DCFB"/>
            </a:solidFill>
          </a:ln>
        </p:spPr>
        <p:txBody>
          <a:bodyPr wrap="square" lIns="0" tIns="111125" rIns="0" bIns="0" rtlCol="0" vert="horz">
            <a:spAutoFit/>
          </a:bodyPr>
          <a:lstStyle/>
          <a:p>
            <a:pPr marL="228600" marR="360680">
              <a:lnSpc>
                <a:spcPct val="100000"/>
              </a:lnSpc>
              <a:spcBef>
                <a:spcPts val="87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Define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los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procesos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ciclo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vida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del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software: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adquisición,</a:t>
            </a:r>
            <a:r>
              <a:rPr dirty="0" sz="1050" spc="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suministro,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desarrollo,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operación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mantenimiento.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00400" y="1298447"/>
            <a:ext cx="2743200" cy="548640"/>
          </a:xfrm>
          <a:custGeom>
            <a:avLst/>
            <a:gdLst/>
            <a:ahLst/>
            <a:cxnLst/>
            <a:rect l="l" t="t" r="r" b="b"/>
            <a:pathLst>
              <a:path w="2743200" h="548639">
                <a:moveTo>
                  <a:pt x="0" y="548639"/>
                </a:moveTo>
                <a:lnTo>
                  <a:pt x="2743200" y="548639"/>
                </a:lnTo>
                <a:lnTo>
                  <a:pt x="2743200" y="0"/>
                </a:lnTo>
                <a:lnTo>
                  <a:pt x="0" y="0"/>
                </a:lnTo>
                <a:lnTo>
                  <a:pt x="0" y="548639"/>
                </a:lnTo>
                <a:close/>
              </a:path>
            </a:pathLst>
          </a:custGeom>
          <a:ln w="12700">
            <a:solidFill>
              <a:srgbClr val="1C316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194050" y="1292097"/>
            <a:ext cx="2755900" cy="561340"/>
          </a:xfrm>
          <a:prstGeom prst="rect">
            <a:avLst/>
          </a:prstGeom>
          <a:solidFill>
            <a:srgbClr val="1C316F"/>
          </a:solidFill>
        </p:spPr>
        <p:txBody>
          <a:bodyPr wrap="square" lIns="0" tIns="279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endParaRPr sz="1100">
              <a:latin typeface="Times New Roman"/>
              <a:cs typeface="Times New Roman"/>
            </a:endParaRPr>
          </a:p>
          <a:p>
            <a:pPr marL="786130">
              <a:lnSpc>
                <a:spcPct val="100000"/>
              </a:lnSpc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Relación</a:t>
            </a:r>
            <a:r>
              <a:rPr dirty="0" sz="11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dirty="0" sz="11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00400" y="1847088"/>
            <a:ext cx="2743200" cy="1929764"/>
          </a:xfrm>
          <a:custGeom>
            <a:avLst/>
            <a:gdLst/>
            <a:ahLst/>
            <a:cxnLst/>
            <a:rect l="l" t="t" r="r" b="b"/>
            <a:pathLst>
              <a:path w="2743200" h="1929764">
                <a:moveTo>
                  <a:pt x="2743200" y="0"/>
                </a:moveTo>
                <a:lnTo>
                  <a:pt x="0" y="0"/>
                </a:lnTo>
                <a:lnTo>
                  <a:pt x="0" y="1929384"/>
                </a:lnTo>
                <a:lnTo>
                  <a:pt x="2743200" y="1929384"/>
                </a:lnTo>
                <a:lnTo>
                  <a:pt x="2743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200400" y="1847088"/>
            <a:ext cx="2743200" cy="1929764"/>
          </a:xfrm>
          <a:prstGeom prst="rect">
            <a:avLst/>
          </a:prstGeom>
          <a:ln w="12700">
            <a:solidFill>
              <a:srgbClr val="C9DCFB"/>
            </a:solidFill>
          </a:ln>
        </p:spPr>
        <p:txBody>
          <a:bodyPr wrap="square" lIns="0" tIns="111125" rIns="0" bIns="0" rtlCol="0" vert="horz">
            <a:spAutoFit/>
          </a:bodyPr>
          <a:lstStyle/>
          <a:p>
            <a:pPr marL="229235" marR="248285">
              <a:lnSpc>
                <a:spcPct val="100000"/>
              </a:lnSpc>
              <a:spcBef>
                <a:spcPts val="87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Incluye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procesos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verificación,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validación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aseguramiento</a:t>
            </a:r>
            <a:r>
              <a:rPr dirty="0" sz="10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calidad 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del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software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 lo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largo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 todo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ciclo</a:t>
            </a:r>
            <a:r>
              <a:rPr dirty="0" sz="10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de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vida.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26479" y="1298447"/>
            <a:ext cx="2743200" cy="548640"/>
          </a:xfrm>
          <a:custGeom>
            <a:avLst/>
            <a:gdLst/>
            <a:ahLst/>
            <a:cxnLst/>
            <a:rect l="l" t="t" r="r" b="b"/>
            <a:pathLst>
              <a:path w="2743200" h="548639">
                <a:moveTo>
                  <a:pt x="0" y="548639"/>
                </a:moveTo>
                <a:lnTo>
                  <a:pt x="2743200" y="548639"/>
                </a:lnTo>
                <a:lnTo>
                  <a:pt x="2743200" y="0"/>
                </a:lnTo>
                <a:lnTo>
                  <a:pt x="0" y="0"/>
                </a:lnTo>
                <a:lnTo>
                  <a:pt x="0" y="548639"/>
                </a:lnTo>
                <a:close/>
              </a:path>
            </a:pathLst>
          </a:custGeom>
          <a:ln w="12700">
            <a:solidFill>
              <a:srgbClr val="1A6B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120129" y="1292097"/>
            <a:ext cx="2755900" cy="561340"/>
          </a:xfrm>
          <a:prstGeom prst="rect">
            <a:avLst/>
          </a:prstGeom>
          <a:solidFill>
            <a:srgbClr val="1A6B53"/>
          </a:solidFill>
        </p:spPr>
        <p:txBody>
          <a:bodyPr wrap="square" lIns="0" tIns="279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endParaRPr sz="1100">
              <a:latin typeface="Times New Roman"/>
              <a:cs typeface="Times New Roman"/>
            </a:endParaRPr>
          </a:p>
          <a:p>
            <a:pPr marL="882650">
              <a:lnSpc>
                <a:spcPct val="100000"/>
              </a:lnSpc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Visión</a:t>
            </a:r>
            <a:r>
              <a:rPr dirty="0" sz="11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gestión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26479" y="1847088"/>
            <a:ext cx="2743200" cy="1929764"/>
          </a:xfrm>
          <a:custGeom>
            <a:avLst/>
            <a:gdLst/>
            <a:ahLst/>
            <a:cxnLst/>
            <a:rect l="l" t="t" r="r" b="b"/>
            <a:pathLst>
              <a:path w="2743200" h="1929764">
                <a:moveTo>
                  <a:pt x="2743200" y="0"/>
                </a:moveTo>
                <a:lnTo>
                  <a:pt x="0" y="0"/>
                </a:lnTo>
                <a:lnTo>
                  <a:pt x="0" y="1929384"/>
                </a:lnTo>
                <a:lnTo>
                  <a:pt x="2743200" y="1929384"/>
                </a:lnTo>
                <a:lnTo>
                  <a:pt x="2743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126479" y="1847088"/>
            <a:ext cx="2743200" cy="1929764"/>
          </a:xfrm>
          <a:prstGeom prst="rect">
            <a:avLst/>
          </a:prstGeom>
          <a:ln w="12700">
            <a:solidFill>
              <a:srgbClr val="C9DCFB"/>
            </a:solidFill>
          </a:ln>
        </p:spPr>
        <p:txBody>
          <a:bodyPr wrap="square" lIns="0" tIns="111125" rIns="0" bIns="0" rtlCol="0" vert="horz">
            <a:spAutoFit/>
          </a:bodyPr>
          <a:lstStyle/>
          <a:p>
            <a:pPr marL="229235" marR="290195">
              <a:lnSpc>
                <a:spcPct val="100000"/>
              </a:lnSpc>
              <a:spcBef>
                <a:spcPts val="87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Similar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ISO 9001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pero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orientada</a:t>
            </a:r>
            <a:r>
              <a:rPr dirty="0" sz="1050" spc="-50">
                <a:solidFill>
                  <a:srgbClr val="2C3D50"/>
                </a:solidFill>
                <a:latin typeface="Calibri"/>
                <a:cs typeface="Calibri"/>
              </a:rPr>
              <a:t> a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 software.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Muchas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empresas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combinan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CMMI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para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estructurar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su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ciclo 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de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vida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métricas.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4320" y="4110583"/>
            <a:ext cx="8595360" cy="475615"/>
          </a:xfrm>
          <a:custGeom>
            <a:avLst/>
            <a:gdLst/>
            <a:ahLst/>
            <a:cxnLst/>
            <a:rect l="l" t="t" r="r" b="b"/>
            <a:pathLst>
              <a:path w="8595360" h="475614">
                <a:moveTo>
                  <a:pt x="0" y="475487"/>
                </a:moveTo>
                <a:lnTo>
                  <a:pt x="8595360" y="475487"/>
                </a:lnTo>
                <a:lnTo>
                  <a:pt x="8595360" y="0"/>
                </a:lnTo>
                <a:lnTo>
                  <a:pt x="0" y="0"/>
                </a:lnTo>
                <a:lnTo>
                  <a:pt x="0" y="475487"/>
                </a:lnTo>
                <a:close/>
              </a:path>
            </a:pathLst>
          </a:custGeom>
          <a:ln w="12700">
            <a:solidFill>
              <a:srgbClr val="0D1F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67970" y="4104233"/>
            <a:ext cx="8608060" cy="488315"/>
          </a:xfrm>
          <a:prstGeom prst="rect">
            <a:avLst/>
          </a:prstGeom>
          <a:solidFill>
            <a:srgbClr val="0D1F4E"/>
          </a:solidFill>
        </p:spPr>
        <p:txBody>
          <a:bodyPr wrap="square" lIns="0" tIns="86360" rIns="0" bIns="0" rtlCol="0" vert="horz">
            <a:spAutoFit/>
          </a:bodyPr>
          <a:lstStyle/>
          <a:p>
            <a:pPr marL="3982085" marR="342265" indent="-3634104">
              <a:lnSpc>
                <a:spcPct val="100000"/>
              </a:lnSpc>
              <a:spcBef>
                <a:spcPts val="680"/>
              </a:spcBef>
            </a:pP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ISO/IEC</a:t>
            </a:r>
            <a:r>
              <a:rPr dirty="0" sz="9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12207</a:t>
            </a:r>
            <a:r>
              <a:rPr dirty="0" sz="900" spc="-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dirty="0" sz="9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dirty="0" sz="9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actividades</a:t>
            </a:r>
            <a:r>
              <a:rPr dirty="0" sz="9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análisis,</a:t>
            </a:r>
            <a:r>
              <a:rPr dirty="0" sz="900" spc="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diseño,</a:t>
            </a:r>
            <a:r>
              <a:rPr dirty="0" sz="9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FFFFFF"/>
                </a:solidFill>
                <a:latin typeface="Calibri"/>
                <a:cs typeface="Calibri"/>
              </a:rPr>
              <a:t>construcción,</a:t>
            </a:r>
            <a:r>
              <a:rPr dirty="0" sz="900" spc="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FFFFFF"/>
                </a:solidFill>
                <a:latin typeface="Calibri"/>
                <a:cs typeface="Calibri"/>
              </a:rPr>
              <a:t>integración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pruebas</a:t>
            </a:r>
            <a:r>
              <a:rPr dirty="0" sz="9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productos</a:t>
            </a:r>
            <a:r>
              <a:rPr dirty="0" sz="9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dirty="0" sz="9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nuevos</a:t>
            </a:r>
            <a:r>
              <a:rPr dirty="0" sz="900" spc="4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900" spc="-10" i="1">
                <a:solidFill>
                  <a:srgbClr val="FFFFFF"/>
                </a:solidFill>
                <a:latin typeface="Calibri"/>
                <a:cs typeface="Calibri"/>
              </a:rPr>
              <a:t> modificados</a:t>
            </a:r>
            <a:r>
              <a:rPr dirty="0" sz="900" spc="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FFFFFF"/>
                </a:solidFill>
                <a:latin typeface="Calibri"/>
                <a:cs typeface="Calibri"/>
              </a:rPr>
              <a:t>cumpliendo </a:t>
            </a:r>
            <a:r>
              <a:rPr dirty="0" sz="900" i="1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dirty="0" sz="900" spc="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FFFFFF"/>
                </a:solidFill>
                <a:latin typeface="Calibri"/>
                <a:cs typeface="Calibri"/>
              </a:rPr>
              <a:t>requerimientos</a:t>
            </a:r>
            <a:r>
              <a:rPr dirty="0" sz="900" spc="50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FFFFFF"/>
                </a:solidFill>
                <a:latin typeface="Calibri"/>
                <a:cs typeface="Calibri"/>
              </a:rPr>
              <a:t>especificados.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288922"/>
            <a:ext cx="9156700" cy="3861435"/>
            <a:chOff x="-6350" y="1288922"/>
            <a:chExt cx="9156700" cy="3861435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759" y="1298447"/>
              <a:ext cx="1508760" cy="567055"/>
            </a:xfrm>
            <a:custGeom>
              <a:avLst/>
              <a:gdLst/>
              <a:ahLst/>
              <a:cxnLst/>
              <a:rect l="l" t="t" r="r" b="b"/>
              <a:pathLst>
                <a:path w="1508760" h="567055">
                  <a:moveTo>
                    <a:pt x="1435608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493775"/>
                  </a:lnTo>
                  <a:lnTo>
                    <a:pt x="5748" y="522243"/>
                  </a:lnTo>
                  <a:lnTo>
                    <a:pt x="21426" y="545496"/>
                  </a:lnTo>
                  <a:lnTo>
                    <a:pt x="44678" y="561177"/>
                  </a:lnTo>
                  <a:lnTo>
                    <a:pt x="73152" y="566927"/>
                  </a:lnTo>
                  <a:lnTo>
                    <a:pt x="1435608" y="566927"/>
                  </a:lnTo>
                  <a:lnTo>
                    <a:pt x="1464075" y="561177"/>
                  </a:lnTo>
                  <a:lnTo>
                    <a:pt x="1487328" y="545496"/>
                  </a:lnTo>
                  <a:lnTo>
                    <a:pt x="1503009" y="522243"/>
                  </a:lnTo>
                  <a:lnTo>
                    <a:pt x="1508760" y="493775"/>
                  </a:lnTo>
                  <a:lnTo>
                    <a:pt x="1508760" y="73151"/>
                  </a:lnTo>
                  <a:lnTo>
                    <a:pt x="1503009" y="44684"/>
                  </a:lnTo>
                  <a:lnTo>
                    <a:pt x="1487328" y="21431"/>
                  </a:lnTo>
                  <a:lnTo>
                    <a:pt x="1464075" y="5750"/>
                  </a:lnTo>
                  <a:lnTo>
                    <a:pt x="1435608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65759" y="1298447"/>
              <a:ext cx="1508760" cy="567055"/>
            </a:xfrm>
            <a:custGeom>
              <a:avLst/>
              <a:gdLst/>
              <a:ahLst/>
              <a:cxnLst/>
              <a:rect l="l" t="t" r="r" b="b"/>
              <a:pathLst>
                <a:path w="1508760" h="567055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1435608" y="0"/>
                  </a:lnTo>
                  <a:lnTo>
                    <a:pt x="1464075" y="5750"/>
                  </a:lnTo>
                  <a:lnTo>
                    <a:pt x="1487328" y="21431"/>
                  </a:lnTo>
                  <a:lnTo>
                    <a:pt x="1503009" y="44684"/>
                  </a:lnTo>
                  <a:lnTo>
                    <a:pt x="1508760" y="73151"/>
                  </a:lnTo>
                  <a:lnTo>
                    <a:pt x="1508760" y="493775"/>
                  </a:lnTo>
                  <a:lnTo>
                    <a:pt x="1503009" y="522243"/>
                  </a:lnTo>
                  <a:lnTo>
                    <a:pt x="1487328" y="545496"/>
                  </a:lnTo>
                  <a:lnTo>
                    <a:pt x="1464075" y="561177"/>
                  </a:lnTo>
                  <a:lnTo>
                    <a:pt x="1435608" y="566927"/>
                  </a:lnTo>
                  <a:lnTo>
                    <a:pt x="73152" y="566927"/>
                  </a:lnTo>
                  <a:lnTo>
                    <a:pt x="44678" y="561177"/>
                  </a:lnTo>
                  <a:lnTo>
                    <a:pt x="21426" y="545496"/>
                  </a:lnTo>
                  <a:lnTo>
                    <a:pt x="5748" y="522243"/>
                  </a:lnTo>
                  <a:lnTo>
                    <a:pt x="0" y="493775"/>
                  </a:lnTo>
                  <a:lnTo>
                    <a:pt x="0" y="73151"/>
                  </a:lnTo>
                  <a:close/>
                </a:path>
              </a:pathLst>
            </a:custGeom>
            <a:ln w="1905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53059" y="744982"/>
            <a:ext cx="4669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Modelos</a:t>
            </a:r>
            <a:r>
              <a:rPr dirty="0" sz="1800" spc="-5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mejora</a:t>
            </a:r>
            <a:r>
              <a:rPr dirty="0" sz="18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procesos</a:t>
            </a:r>
            <a:r>
              <a:rPr dirty="0" sz="18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(SPI)</a:t>
            </a:r>
            <a:r>
              <a:rPr dirty="0" sz="1800" spc="-5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 requisitos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9436" y="1476882"/>
            <a:ext cx="38163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0" b="1">
                <a:solidFill>
                  <a:srgbClr val="FFFFFF"/>
                </a:solidFill>
                <a:latin typeface="Calibri"/>
                <a:cs typeface="Calibri"/>
              </a:rPr>
              <a:t>CMMI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29586" y="1288922"/>
            <a:ext cx="1527810" cy="586105"/>
            <a:chOff x="2029586" y="1288922"/>
            <a:chExt cx="1527810" cy="586105"/>
          </a:xfrm>
        </p:grpSpPr>
        <p:sp>
          <p:nvSpPr>
            <p:cNvPr id="11" name="object 11"/>
            <p:cNvSpPr/>
            <p:nvPr/>
          </p:nvSpPr>
          <p:spPr>
            <a:xfrm>
              <a:off x="2039111" y="1298447"/>
              <a:ext cx="1508760" cy="567055"/>
            </a:xfrm>
            <a:custGeom>
              <a:avLst/>
              <a:gdLst/>
              <a:ahLst/>
              <a:cxnLst/>
              <a:rect l="l" t="t" r="r" b="b"/>
              <a:pathLst>
                <a:path w="1508760" h="567055">
                  <a:moveTo>
                    <a:pt x="143560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93775"/>
                  </a:lnTo>
                  <a:lnTo>
                    <a:pt x="5750" y="522243"/>
                  </a:lnTo>
                  <a:lnTo>
                    <a:pt x="21431" y="545496"/>
                  </a:lnTo>
                  <a:lnTo>
                    <a:pt x="44684" y="561177"/>
                  </a:lnTo>
                  <a:lnTo>
                    <a:pt x="73151" y="566927"/>
                  </a:lnTo>
                  <a:lnTo>
                    <a:pt x="1435608" y="566927"/>
                  </a:lnTo>
                  <a:lnTo>
                    <a:pt x="1464075" y="561177"/>
                  </a:lnTo>
                  <a:lnTo>
                    <a:pt x="1487328" y="545496"/>
                  </a:lnTo>
                  <a:lnTo>
                    <a:pt x="1503009" y="522243"/>
                  </a:lnTo>
                  <a:lnTo>
                    <a:pt x="1508760" y="493775"/>
                  </a:lnTo>
                  <a:lnTo>
                    <a:pt x="1508760" y="73151"/>
                  </a:lnTo>
                  <a:lnTo>
                    <a:pt x="1503009" y="44684"/>
                  </a:lnTo>
                  <a:lnTo>
                    <a:pt x="1487328" y="21431"/>
                  </a:lnTo>
                  <a:lnTo>
                    <a:pt x="1464075" y="5750"/>
                  </a:lnTo>
                  <a:lnTo>
                    <a:pt x="1435608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039111" y="1298447"/>
              <a:ext cx="1508760" cy="567055"/>
            </a:xfrm>
            <a:custGeom>
              <a:avLst/>
              <a:gdLst/>
              <a:ahLst/>
              <a:cxnLst/>
              <a:rect l="l" t="t" r="r" b="b"/>
              <a:pathLst>
                <a:path w="1508760" h="56705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435608" y="0"/>
                  </a:lnTo>
                  <a:lnTo>
                    <a:pt x="1464075" y="5750"/>
                  </a:lnTo>
                  <a:lnTo>
                    <a:pt x="1487328" y="21431"/>
                  </a:lnTo>
                  <a:lnTo>
                    <a:pt x="1503009" y="44684"/>
                  </a:lnTo>
                  <a:lnTo>
                    <a:pt x="1508760" y="73151"/>
                  </a:lnTo>
                  <a:lnTo>
                    <a:pt x="1508760" y="493775"/>
                  </a:lnTo>
                  <a:lnTo>
                    <a:pt x="1503009" y="522243"/>
                  </a:lnTo>
                  <a:lnTo>
                    <a:pt x="1487328" y="545496"/>
                  </a:lnTo>
                  <a:lnTo>
                    <a:pt x="1464075" y="561177"/>
                  </a:lnTo>
                  <a:lnTo>
                    <a:pt x="1435608" y="566927"/>
                  </a:lnTo>
                  <a:lnTo>
                    <a:pt x="73151" y="566927"/>
                  </a:lnTo>
                  <a:lnTo>
                    <a:pt x="44684" y="561177"/>
                  </a:lnTo>
                  <a:lnTo>
                    <a:pt x="21431" y="545496"/>
                  </a:lnTo>
                  <a:lnTo>
                    <a:pt x="5750" y="522243"/>
                  </a:lnTo>
                  <a:lnTo>
                    <a:pt x="0" y="493775"/>
                  </a:lnTo>
                  <a:lnTo>
                    <a:pt x="0" y="73151"/>
                  </a:lnTo>
                  <a:close/>
                </a:path>
              </a:pathLst>
            </a:custGeom>
            <a:ln w="1905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465958" y="1476882"/>
            <a:ext cx="6553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MoProSoft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02939" y="1288922"/>
            <a:ext cx="1527810" cy="586105"/>
            <a:chOff x="3702939" y="1288922"/>
            <a:chExt cx="1527810" cy="586105"/>
          </a:xfrm>
        </p:grpSpPr>
        <p:sp>
          <p:nvSpPr>
            <p:cNvPr id="15" name="object 15"/>
            <p:cNvSpPr/>
            <p:nvPr/>
          </p:nvSpPr>
          <p:spPr>
            <a:xfrm>
              <a:off x="3712464" y="1298447"/>
              <a:ext cx="1508760" cy="567055"/>
            </a:xfrm>
            <a:custGeom>
              <a:avLst/>
              <a:gdLst/>
              <a:ahLst/>
              <a:cxnLst/>
              <a:rect l="l" t="t" r="r" b="b"/>
              <a:pathLst>
                <a:path w="1508760" h="567055">
                  <a:moveTo>
                    <a:pt x="143560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93775"/>
                  </a:lnTo>
                  <a:lnTo>
                    <a:pt x="5750" y="522243"/>
                  </a:lnTo>
                  <a:lnTo>
                    <a:pt x="21431" y="545496"/>
                  </a:lnTo>
                  <a:lnTo>
                    <a:pt x="44684" y="561177"/>
                  </a:lnTo>
                  <a:lnTo>
                    <a:pt x="73151" y="566927"/>
                  </a:lnTo>
                  <a:lnTo>
                    <a:pt x="1435608" y="566927"/>
                  </a:lnTo>
                  <a:lnTo>
                    <a:pt x="1464075" y="561177"/>
                  </a:lnTo>
                  <a:lnTo>
                    <a:pt x="1487328" y="545496"/>
                  </a:lnTo>
                  <a:lnTo>
                    <a:pt x="1503009" y="522243"/>
                  </a:lnTo>
                  <a:lnTo>
                    <a:pt x="1508760" y="493775"/>
                  </a:lnTo>
                  <a:lnTo>
                    <a:pt x="1508760" y="73151"/>
                  </a:lnTo>
                  <a:lnTo>
                    <a:pt x="1503009" y="44684"/>
                  </a:lnTo>
                  <a:lnTo>
                    <a:pt x="1487328" y="21431"/>
                  </a:lnTo>
                  <a:lnTo>
                    <a:pt x="1464075" y="5750"/>
                  </a:lnTo>
                  <a:lnTo>
                    <a:pt x="1435608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712464" y="1298447"/>
              <a:ext cx="1508760" cy="567055"/>
            </a:xfrm>
            <a:custGeom>
              <a:avLst/>
              <a:gdLst/>
              <a:ahLst/>
              <a:cxnLst/>
              <a:rect l="l" t="t" r="r" b="b"/>
              <a:pathLst>
                <a:path w="1508760" h="56705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435608" y="0"/>
                  </a:lnTo>
                  <a:lnTo>
                    <a:pt x="1464075" y="5750"/>
                  </a:lnTo>
                  <a:lnTo>
                    <a:pt x="1487328" y="21431"/>
                  </a:lnTo>
                  <a:lnTo>
                    <a:pt x="1503009" y="44684"/>
                  </a:lnTo>
                  <a:lnTo>
                    <a:pt x="1508760" y="73151"/>
                  </a:lnTo>
                  <a:lnTo>
                    <a:pt x="1508760" y="493775"/>
                  </a:lnTo>
                  <a:lnTo>
                    <a:pt x="1503009" y="522243"/>
                  </a:lnTo>
                  <a:lnTo>
                    <a:pt x="1487328" y="545496"/>
                  </a:lnTo>
                  <a:lnTo>
                    <a:pt x="1464075" y="561177"/>
                  </a:lnTo>
                  <a:lnTo>
                    <a:pt x="1435608" y="566927"/>
                  </a:lnTo>
                  <a:lnTo>
                    <a:pt x="73151" y="566927"/>
                  </a:lnTo>
                  <a:lnTo>
                    <a:pt x="44684" y="561177"/>
                  </a:lnTo>
                  <a:lnTo>
                    <a:pt x="21431" y="545496"/>
                  </a:lnTo>
                  <a:lnTo>
                    <a:pt x="5750" y="522243"/>
                  </a:lnTo>
                  <a:lnTo>
                    <a:pt x="0" y="493775"/>
                  </a:lnTo>
                  <a:lnTo>
                    <a:pt x="0" y="73151"/>
                  </a:lnTo>
                  <a:close/>
                </a:path>
              </a:pathLst>
            </a:custGeom>
            <a:ln w="1905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096892" y="1476882"/>
            <a:ext cx="74168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Competisoft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76290" y="1288922"/>
            <a:ext cx="1527810" cy="586105"/>
            <a:chOff x="5376290" y="1288922"/>
            <a:chExt cx="1527810" cy="586105"/>
          </a:xfrm>
        </p:grpSpPr>
        <p:sp>
          <p:nvSpPr>
            <p:cNvPr id="19" name="object 19"/>
            <p:cNvSpPr/>
            <p:nvPr/>
          </p:nvSpPr>
          <p:spPr>
            <a:xfrm>
              <a:off x="5385815" y="1298447"/>
              <a:ext cx="1508760" cy="567055"/>
            </a:xfrm>
            <a:custGeom>
              <a:avLst/>
              <a:gdLst/>
              <a:ahLst/>
              <a:cxnLst/>
              <a:rect l="l" t="t" r="r" b="b"/>
              <a:pathLst>
                <a:path w="1508759" h="567055">
                  <a:moveTo>
                    <a:pt x="143560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93775"/>
                  </a:lnTo>
                  <a:lnTo>
                    <a:pt x="5750" y="522243"/>
                  </a:lnTo>
                  <a:lnTo>
                    <a:pt x="21431" y="545496"/>
                  </a:lnTo>
                  <a:lnTo>
                    <a:pt x="44684" y="561177"/>
                  </a:lnTo>
                  <a:lnTo>
                    <a:pt x="73151" y="566927"/>
                  </a:lnTo>
                  <a:lnTo>
                    <a:pt x="1435608" y="566927"/>
                  </a:lnTo>
                  <a:lnTo>
                    <a:pt x="1464075" y="561177"/>
                  </a:lnTo>
                  <a:lnTo>
                    <a:pt x="1487328" y="545496"/>
                  </a:lnTo>
                  <a:lnTo>
                    <a:pt x="1503009" y="522243"/>
                  </a:lnTo>
                  <a:lnTo>
                    <a:pt x="1508760" y="493775"/>
                  </a:lnTo>
                  <a:lnTo>
                    <a:pt x="1508760" y="73151"/>
                  </a:lnTo>
                  <a:lnTo>
                    <a:pt x="1503009" y="44684"/>
                  </a:lnTo>
                  <a:lnTo>
                    <a:pt x="1487328" y="21431"/>
                  </a:lnTo>
                  <a:lnTo>
                    <a:pt x="1464075" y="5750"/>
                  </a:lnTo>
                  <a:lnTo>
                    <a:pt x="1435608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385815" y="1298447"/>
              <a:ext cx="1508760" cy="567055"/>
            </a:xfrm>
            <a:custGeom>
              <a:avLst/>
              <a:gdLst/>
              <a:ahLst/>
              <a:cxnLst/>
              <a:rect l="l" t="t" r="r" b="b"/>
              <a:pathLst>
                <a:path w="1508759" h="56705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435608" y="0"/>
                  </a:lnTo>
                  <a:lnTo>
                    <a:pt x="1464075" y="5750"/>
                  </a:lnTo>
                  <a:lnTo>
                    <a:pt x="1487328" y="21431"/>
                  </a:lnTo>
                  <a:lnTo>
                    <a:pt x="1503009" y="44684"/>
                  </a:lnTo>
                  <a:lnTo>
                    <a:pt x="1508760" y="73151"/>
                  </a:lnTo>
                  <a:lnTo>
                    <a:pt x="1508760" y="493775"/>
                  </a:lnTo>
                  <a:lnTo>
                    <a:pt x="1503009" y="522243"/>
                  </a:lnTo>
                  <a:lnTo>
                    <a:pt x="1487328" y="545496"/>
                  </a:lnTo>
                  <a:lnTo>
                    <a:pt x="1464075" y="561177"/>
                  </a:lnTo>
                  <a:lnTo>
                    <a:pt x="1435608" y="566927"/>
                  </a:lnTo>
                  <a:lnTo>
                    <a:pt x="73151" y="566927"/>
                  </a:lnTo>
                  <a:lnTo>
                    <a:pt x="44684" y="561177"/>
                  </a:lnTo>
                  <a:lnTo>
                    <a:pt x="21431" y="545496"/>
                  </a:lnTo>
                  <a:lnTo>
                    <a:pt x="5750" y="522243"/>
                  </a:lnTo>
                  <a:lnTo>
                    <a:pt x="0" y="493775"/>
                  </a:lnTo>
                  <a:lnTo>
                    <a:pt x="0" y="73151"/>
                  </a:lnTo>
                  <a:close/>
                </a:path>
              </a:pathLst>
            </a:custGeom>
            <a:ln w="1905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913882" y="1476882"/>
            <a:ext cx="454659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MPS.Br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49643" y="1288922"/>
            <a:ext cx="1527810" cy="586105"/>
            <a:chOff x="7049643" y="1288922"/>
            <a:chExt cx="1527810" cy="586105"/>
          </a:xfrm>
        </p:grpSpPr>
        <p:sp>
          <p:nvSpPr>
            <p:cNvPr id="23" name="object 23"/>
            <p:cNvSpPr/>
            <p:nvPr/>
          </p:nvSpPr>
          <p:spPr>
            <a:xfrm>
              <a:off x="7059168" y="1298447"/>
              <a:ext cx="1508760" cy="567055"/>
            </a:xfrm>
            <a:custGeom>
              <a:avLst/>
              <a:gdLst/>
              <a:ahLst/>
              <a:cxnLst/>
              <a:rect l="l" t="t" r="r" b="b"/>
              <a:pathLst>
                <a:path w="1508759" h="567055">
                  <a:moveTo>
                    <a:pt x="143560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93775"/>
                  </a:lnTo>
                  <a:lnTo>
                    <a:pt x="5750" y="522243"/>
                  </a:lnTo>
                  <a:lnTo>
                    <a:pt x="21431" y="545496"/>
                  </a:lnTo>
                  <a:lnTo>
                    <a:pt x="44684" y="561177"/>
                  </a:lnTo>
                  <a:lnTo>
                    <a:pt x="73151" y="566927"/>
                  </a:lnTo>
                  <a:lnTo>
                    <a:pt x="1435607" y="566927"/>
                  </a:lnTo>
                  <a:lnTo>
                    <a:pt x="1464075" y="561177"/>
                  </a:lnTo>
                  <a:lnTo>
                    <a:pt x="1487328" y="545496"/>
                  </a:lnTo>
                  <a:lnTo>
                    <a:pt x="1503009" y="522243"/>
                  </a:lnTo>
                  <a:lnTo>
                    <a:pt x="1508759" y="493775"/>
                  </a:lnTo>
                  <a:lnTo>
                    <a:pt x="1508759" y="73151"/>
                  </a:lnTo>
                  <a:lnTo>
                    <a:pt x="1503009" y="44684"/>
                  </a:lnTo>
                  <a:lnTo>
                    <a:pt x="1487328" y="21431"/>
                  </a:lnTo>
                  <a:lnTo>
                    <a:pt x="1464075" y="5750"/>
                  </a:lnTo>
                  <a:lnTo>
                    <a:pt x="1435607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059168" y="1298447"/>
              <a:ext cx="1508760" cy="567055"/>
            </a:xfrm>
            <a:custGeom>
              <a:avLst/>
              <a:gdLst/>
              <a:ahLst/>
              <a:cxnLst/>
              <a:rect l="l" t="t" r="r" b="b"/>
              <a:pathLst>
                <a:path w="1508759" h="56705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435607" y="0"/>
                  </a:lnTo>
                  <a:lnTo>
                    <a:pt x="1464075" y="5750"/>
                  </a:lnTo>
                  <a:lnTo>
                    <a:pt x="1487328" y="21431"/>
                  </a:lnTo>
                  <a:lnTo>
                    <a:pt x="1503009" y="44684"/>
                  </a:lnTo>
                  <a:lnTo>
                    <a:pt x="1508759" y="73151"/>
                  </a:lnTo>
                  <a:lnTo>
                    <a:pt x="1508759" y="493775"/>
                  </a:lnTo>
                  <a:lnTo>
                    <a:pt x="1503009" y="522243"/>
                  </a:lnTo>
                  <a:lnTo>
                    <a:pt x="1487328" y="545496"/>
                  </a:lnTo>
                  <a:lnTo>
                    <a:pt x="1464075" y="561177"/>
                  </a:lnTo>
                  <a:lnTo>
                    <a:pt x="1435607" y="566927"/>
                  </a:lnTo>
                  <a:lnTo>
                    <a:pt x="73151" y="566927"/>
                  </a:lnTo>
                  <a:lnTo>
                    <a:pt x="44684" y="561177"/>
                  </a:lnTo>
                  <a:lnTo>
                    <a:pt x="21431" y="545496"/>
                  </a:lnTo>
                  <a:lnTo>
                    <a:pt x="5750" y="522243"/>
                  </a:lnTo>
                  <a:lnTo>
                    <a:pt x="0" y="493775"/>
                  </a:lnTo>
                  <a:lnTo>
                    <a:pt x="0" y="73151"/>
                  </a:lnTo>
                  <a:close/>
                </a:path>
              </a:pathLst>
            </a:custGeom>
            <a:ln w="1905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578090" y="1476882"/>
            <a:ext cx="4724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11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FFFFFF"/>
                </a:solidFill>
                <a:latin typeface="Calibri"/>
                <a:cs typeface="Calibri"/>
              </a:rPr>
              <a:t>Mark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3690" y="1987042"/>
            <a:ext cx="67945" cy="2555240"/>
            <a:chOff x="313690" y="1987042"/>
            <a:chExt cx="67945" cy="2555240"/>
          </a:xfrm>
        </p:grpSpPr>
        <p:sp>
          <p:nvSpPr>
            <p:cNvPr id="27" name="object 27"/>
            <p:cNvSpPr/>
            <p:nvPr/>
          </p:nvSpPr>
          <p:spPr>
            <a:xfrm>
              <a:off x="320040" y="1993392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5">
                  <a:moveTo>
                    <a:pt x="54864" y="0"/>
                  </a:moveTo>
                  <a:lnTo>
                    <a:pt x="0" y="0"/>
                  </a:lnTo>
                  <a:lnTo>
                    <a:pt x="0" y="566928"/>
                  </a:lnTo>
                  <a:lnTo>
                    <a:pt x="54864" y="566928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20040" y="1993392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5">
                  <a:moveTo>
                    <a:pt x="0" y="566928"/>
                  </a:moveTo>
                  <a:lnTo>
                    <a:pt x="54864" y="566928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20040" y="2651760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5">
                  <a:moveTo>
                    <a:pt x="5486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54864" y="56692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20040" y="2651760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5">
                  <a:moveTo>
                    <a:pt x="0" y="566927"/>
                  </a:moveTo>
                  <a:lnTo>
                    <a:pt x="54864" y="566927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20040" y="3310128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4">
                  <a:moveTo>
                    <a:pt x="54864" y="0"/>
                  </a:moveTo>
                  <a:lnTo>
                    <a:pt x="0" y="0"/>
                  </a:lnTo>
                  <a:lnTo>
                    <a:pt x="0" y="566928"/>
                  </a:lnTo>
                  <a:lnTo>
                    <a:pt x="54864" y="566928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20040" y="3310128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4">
                  <a:moveTo>
                    <a:pt x="0" y="566928"/>
                  </a:moveTo>
                  <a:lnTo>
                    <a:pt x="54864" y="566928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0040" y="3968496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4">
                  <a:moveTo>
                    <a:pt x="5486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54864" y="56692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20040" y="3968496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4">
                  <a:moveTo>
                    <a:pt x="0" y="566927"/>
                  </a:moveTo>
                  <a:lnTo>
                    <a:pt x="54864" y="566927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581659" y="1940773"/>
            <a:ext cx="7869555" cy="25273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Importancia</a:t>
            </a:r>
            <a:r>
              <a:rPr dirty="0" sz="11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1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elegir</a:t>
            </a:r>
            <a:r>
              <a:rPr dirty="0" sz="11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0D1F4E"/>
                </a:solidFill>
                <a:latin typeface="Calibri"/>
                <a:cs typeface="Calibri"/>
              </a:rPr>
              <a:t>bien: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La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elección del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modelo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SPI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es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vital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importancia.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Un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modelo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inadecuado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puede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convertirse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un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problema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lugar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una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alternativa</a:t>
            </a:r>
            <a:r>
              <a:rPr dirty="0" sz="950" spc="-5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para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mejorar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(Merchán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Paredes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et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al.,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2017).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r>
              <a:rPr dirty="0" sz="11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como</a:t>
            </a:r>
            <a:r>
              <a:rPr dirty="0" sz="11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insumo</a:t>
            </a:r>
            <a:r>
              <a:rPr dirty="0" sz="11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clave: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Todos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los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modelos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SPI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—independientemente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su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enfoque—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exigen gestión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formal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como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condición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base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para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mejorar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los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procesos.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Capacidad</a:t>
            </a:r>
            <a:r>
              <a:rPr dirty="0" sz="1100" spc="-6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transversal: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Especificar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gestionar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forma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disciplinada</a:t>
            </a:r>
            <a:r>
              <a:rPr dirty="0" sz="950" spc="-4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es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un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requisito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transversal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cualquier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modelo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SPI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que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adopte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</a:t>
            </a:r>
            <a:r>
              <a:rPr dirty="0" sz="950" spc="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la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organización.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Riesgo</a:t>
            </a:r>
            <a:r>
              <a:rPr dirty="0" sz="11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1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mala</a:t>
            </a:r>
            <a:r>
              <a:rPr dirty="0" sz="1100" spc="-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elección: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Seleccionar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un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modelo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SPI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sin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considerar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el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tamaño,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recursos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madurez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la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empresa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puede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obstaculizar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la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mejora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desmotivar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al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equipo.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182369"/>
            <a:ext cx="9156700" cy="3967479"/>
            <a:chOff x="-6350" y="1182369"/>
            <a:chExt cx="9156700" cy="3967479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759" y="1298447"/>
              <a:ext cx="1920239" cy="777240"/>
            </a:xfrm>
            <a:custGeom>
              <a:avLst/>
              <a:gdLst/>
              <a:ahLst/>
              <a:cxnLst/>
              <a:rect l="l" t="t" r="r" b="b"/>
              <a:pathLst>
                <a:path w="1920239" h="777239">
                  <a:moveTo>
                    <a:pt x="1920239" y="0"/>
                  </a:moveTo>
                  <a:lnTo>
                    <a:pt x="0" y="0"/>
                  </a:lnTo>
                  <a:lnTo>
                    <a:pt x="0" y="777239"/>
                  </a:lnTo>
                  <a:lnTo>
                    <a:pt x="1920239" y="777239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0D1F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8991" y="118871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59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59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8991" y="118871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0" y="251459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60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20" y="251459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60" y="502919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59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53059" y="744982"/>
            <a:ext cx="48875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Modelo</a:t>
            </a:r>
            <a:r>
              <a:rPr dirty="0" sz="18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procedimental</a:t>
            </a:r>
            <a:r>
              <a:rPr dirty="0" sz="18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5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requisitos:</a:t>
            </a:r>
            <a:r>
              <a:rPr dirty="0" sz="18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visión</a:t>
            </a:r>
            <a:r>
              <a:rPr dirty="0" sz="18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general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759" y="1298447"/>
            <a:ext cx="1920239" cy="777240"/>
          </a:xfrm>
          <a:prstGeom prst="rect">
            <a:avLst/>
          </a:prstGeom>
          <a:ln w="12700">
            <a:solidFill>
              <a:srgbClr val="0D1F4E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8890">
              <a:lnSpc>
                <a:spcPts val="1585"/>
              </a:lnSpc>
              <a:spcBef>
                <a:spcPts val="185"/>
              </a:spcBef>
            </a:pPr>
            <a:r>
              <a:rPr dirty="0" sz="1400" spc="-50" b="1">
                <a:solidFill>
                  <a:srgbClr val="051237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  <a:p>
            <a:pPr algn="ctr" marL="1270">
              <a:lnSpc>
                <a:spcPts val="1225"/>
              </a:lnSpc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Contexto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1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Stakeholders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84857" y="1527175"/>
            <a:ext cx="232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C8A127"/>
                </a:solidFill>
                <a:latin typeface="Calibri"/>
                <a:cs typeface="Calibri"/>
              </a:rPr>
              <a:t>→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14600" y="1182369"/>
            <a:ext cx="1920239" cy="893444"/>
            <a:chOff x="2514600" y="1182369"/>
            <a:chExt cx="1920239" cy="893444"/>
          </a:xfrm>
        </p:grpSpPr>
        <p:sp>
          <p:nvSpPr>
            <p:cNvPr id="13" name="object 13"/>
            <p:cNvSpPr/>
            <p:nvPr/>
          </p:nvSpPr>
          <p:spPr>
            <a:xfrm>
              <a:off x="2514600" y="1298447"/>
              <a:ext cx="1920239" cy="777240"/>
            </a:xfrm>
            <a:custGeom>
              <a:avLst/>
              <a:gdLst/>
              <a:ahLst/>
              <a:cxnLst/>
              <a:rect l="l" t="t" r="r" b="b"/>
              <a:pathLst>
                <a:path w="1920239" h="777239">
                  <a:moveTo>
                    <a:pt x="1920239" y="0"/>
                  </a:moveTo>
                  <a:lnTo>
                    <a:pt x="0" y="0"/>
                  </a:lnTo>
                  <a:lnTo>
                    <a:pt x="0" y="777239"/>
                  </a:lnTo>
                  <a:lnTo>
                    <a:pt x="1920239" y="777239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227831" y="118871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59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59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19" y="251459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227831" y="118871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0" y="251459"/>
                  </a:moveTo>
                  <a:lnTo>
                    <a:pt x="4049" y="206243"/>
                  </a:lnTo>
                  <a:lnTo>
                    <a:pt x="15725" y="163693"/>
                  </a:lnTo>
                  <a:lnTo>
                    <a:pt x="34318" y="124516"/>
                  </a:lnTo>
                  <a:lnTo>
                    <a:pt x="59120" y="89422"/>
                  </a:lnTo>
                  <a:lnTo>
                    <a:pt x="89422" y="59120"/>
                  </a:lnTo>
                  <a:lnTo>
                    <a:pt x="124516" y="34318"/>
                  </a:lnTo>
                  <a:lnTo>
                    <a:pt x="163693" y="15725"/>
                  </a:lnTo>
                  <a:lnTo>
                    <a:pt x="206243" y="4049"/>
                  </a:lnTo>
                  <a:lnTo>
                    <a:pt x="251459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19" y="251459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59" y="502919"/>
                  </a:lnTo>
                  <a:lnTo>
                    <a:pt x="206243" y="498870"/>
                  </a:lnTo>
                  <a:lnTo>
                    <a:pt x="163693" y="487194"/>
                  </a:lnTo>
                  <a:lnTo>
                    <a:pt x="124516" y="468601"/>
                  </a:lnTo>
                  <a:lnTo>
                    <a:pt x="89422" y="443799"/>
                  </a:lnTo>
                  <a:lnTo>
                    <a:pt x="59120" y="413497"/>
                  </a:lnTo>
                  <a:lnTo>
                    <a:pt x="34318" y="378403"/>
                  </a:lnTo>
                  <a:lnTo>
                    <a:pt x="15725" y="339226"/>
                  </a:lnTo>
                  <a:lnTo>
                    <a:pt x="4049" y="296676"/>
                  </a:lnTo>
                  <a:lnTo>
                    <a:pt x="0" y="251459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514600" y="1298447"/>
            <a:ext cx="1920239" cy="777240"/>
          </a:xfrm>
          <a:prstGeom prst="rect">
            <a:avLst/>
          </a:prstGeom>
          <a:ln w="12700">
            <a:solidFill>
              <a:srgbClr val="1C316F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9525">
              <a:lnSpc>
                <a:spcPct val="100000"/>
              </a:lnSpc>
              <a:spcBef>
                <a:spcPts val="185"/>
              </a:spcBef>
            </a:pPr>
            <a:r>
              <a:rPr dirty="0" sz="1400" spc="-50" b="1">
                <a:solidFill>
                  <a:srgbClr val="051237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  <a:p>
            <a:pPr algn="ctr" marL="1905">
              <a:lnSpc>
                <a:spcPct val="100000"/>
              </a:lnSpc>
              <a:spcBef>
                <a:spcPts val="47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Educción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34078" y="1527175"/>
            <a:ext cx="232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C8A127"/>
                </a:solidFill>
                <a:latin typeface="Calibri"/>
                <a:cs typeface="Calibri"/>
              </a:rPr>
              <a:t>→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63440" y="1182369"/>
            <a:ext cx="1920239" cy="893444"/>
            <a:chOff x="4663440" y="1182369"/>
            <a:chExt cx="1920239" cy="893444"/>
          </a:xfrm>
        </p:grpSpPr>
        <p:sp>
          <p:nvSpPr>
            <p:cNvPr id="19" name="object 19"/>
            <p:cNvSpPr/>
            <p:nvPr/>
          </p:nvSpPr>
          <p:spPr>
            <a:xfrm>
              <a:off x="4663440" y="1298447"/>
              <a:ext cx="1920239" cy="777240"/>
            </a:xfrm>
            <a:custGeom>
              <a:avLst/>
              <a:gdLst/>
              <a:ahLst/>
              <a:cxnLst/>
              <a:rect l="l" t="t" r="r" b="b"/>
              <a:pathLst>
                <a:path w="1920240" h="777239">
                  <a:moveTo>
                    <a:pt x="1920239" y="0"/>
                  </a:moveTo>
                  <a:lnTo>
                    <a:pt x="0" y="0"/>
                  </a:lnTo>
                  <a:lnTo>
                    <a:pt x="0" y="777239"/>
                  </a:lnTo>
                  <a:lnTo>
                    <a:pt x="1920239" y="777239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1A5E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376672" y="118871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59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19" y="251459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376672" y="118871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0" y="251459"/>
                  </a:moveTo>
                  <a:lnTo>
                    <a:pt x="4049" y="206243"/>
                  </a:lnTo>
                  <a:lnTo>
                    <a:pt x="15725" y="163693"/>
                  </a:lnTo>
                  <a:lnTo>
                    <a:pt x="34318" y="124516"/>
                  </a:lnTo>
                  <a:lnTo>
                    <a:pt x="59120" y="89422"/>
                  </a:lnTo>
                  <a:lnTo>
                    <a:pt x="89422" y="59120"/>
                  </a:lnTo>
                  <a:lnTo>
                    <a:pt x="124516" y="34318"/>
                  </a:lnTo>
                  <a:lnTo>
                    <a:pt x="163693" y="15725"/>
                  </a:lnTo>
                  <a:lnTo>
                    <a:pt x="206243" y="4049"/>
                  </a:lnTo>
                  <a:lnTo>
                    <a:pt x="251460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19" y="251459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60" y="502919"/>
                  </a:lnTo>
                  <a:lnTo>
                    <a:pt x="206243" y="498870"/>
                  </a:lnTo>
                  <a:lnTo>
                    <a:pt x="163693" y="487194"/>
                  </a:lnTo>
                  <a:lnTo>
                    <a:pt x="124516" y="468601"/>
                  </a:lnTo>
                  <a:lnTo>
                    <a:pt x="89422" y="443799"/>
                  </a:lnTo>
                  <a:lnTo>
                    <a:pt x="59120" y="413497"/>
                  </a:lnTo>
                  <a:lnTo>
                    <a:pt x="34318" y="378403"/>
                  </a:lnTo>
                  <a:lnTo>
                    <a:pt x="15725" y="339226"/>
                  </a:lnTo>
                  <a:lnTo>
                    <a:pt x="4049" y="296676"/>
                  </a:lnTo>
                  <a:lnTo>
                    <a:pt x="0" y="251459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663440" y="1298447"/>
            <a:ext cx="1920239" cy="777240"/>
          </a:xfrm>
          <a:prstGeom prst="rect">
            <a:avLst/>
          </a:prstGeom>
          <a:ln w="12700">
            <a:solidFill>
              <a:srgbClr val="1A5E8F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0160">
              <a:lnSpc>
                <a:spcPct val="100000"/>
              </a:lnSpc>
              <a:spcBef>
                <a:spcPts val="185"/>
              </a:spcBef>
            </a:pPr>
            <a:r>
              <a:rPr dirty="0" sz="1400" spc="-50" b="1">
                <a:solidFill>
                  <a:srgbClr val="051237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 algn="ctr" marL="1905">
              <a:lnSpc>
                <a:spcPct val="100000"/>
              </a:lnSpc>
              <a:spcBef>
                <a:spcPts val="47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Elicitación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83171" y="1527175"/>
            <a:ext cx="2324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C8A127"/>
                </a:solidFill>
                <a:latin typeface="Calibri"/>
                <a:cs typeface="Calibri"/>
              </a:rPr>
              <a:t>→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812280" y="1182369"/>
            <a:ext cx="1920239" cy="893444"/>
            <a:chOff x="6812280" y="1182369"/>
            <a:chExt cx="1920239" cy="893444"/>
          </a:xfrm>
        </p:grpSpPr>
        <p:sp>
          <p:nvSpPr>
            <p:cNvPr id="25" name="object 25"/>
            <p:cNvSpPr/>
            <p:nvPr/>
          </p:nvSpPr>
          <p:spPr>
            <a:xfrm>
              <a:off x="6812280" y="1298447"/>
              <a:ext cx="1920239" cy="777240"/>
            </a:xfrm>
            <a:custGeom>
              <a:avLst/>
              <a:gdLst/>
              <a:ahLst/>
              <a:cxnLst/>
              <a:rect l="l" t="t" r="r" b="b"/>
              <a:pathLst>
                <a:path w="1920240" h="777239">
                  <a:moveTo>
                    <a:pt x="1920239" y="0"/>
                  </a:moveTo>
                  <a:lnTo>
                    <a:pt x="0" y="0"/>
                  </a:lnTo>
                  <a:lnTo>
                    <a:pt x="0" y="777239"/>
                  </a:lnTo>
                  <a:lnTo>
                    <a:pt x="1920239" y="777239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1A6B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525512" y="118871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60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59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60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59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525512" y="1188719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0" y="251459"/>
                  </a:moveTo>
                  <a:lnTo>
                    <a:pt x="4049" y="206243"/>
                  </a:lnTo>
                  <a:lnTo>
                    <a:pt x="15725" y="163693"/>
                  </a:lnTo>
                  <a:lnTo>
                    <a:pt x="34318" y="124516"/>
                  </a:lnTo>
                  <a:lnTo>
                    <a:pt x="59120" y="89422"/>
                  </a:lnTo>
                  <a:lnTo>
                    <a:pt x="89422" y="59120"/>
                  </a:lnTo>
                  <a:lnTo>
                    <a:pt x="124516" y="34318"/>
                  </a:lnTo>
                  <a:lnTo>
                    <a:pt x="163693" y="15725"/>
                  </a:lnTo>
                  <a:lnTo>
                    <a:pt x="206243" y="4049"/>
                  </a:lnTo>
                  <a:lnTo>
                    <a:pt x="251460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20" y="251459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60" y="502919"/>
                  </a:lnTo>
                  <a:lnTo>
                    <a:pt x="206243" y="498870"/>
                  </a:lnTo>
                  <a:lnTo>
                    <a:pt x="163693" y="487194"/>
                  </a:lnTo>
                  <a:lnTo>
                    <a:pt x="124516" y="468601"/>
                  </a:lnTo>
                  <a:lnTo>
                    <a:pt x="89422" y="443799"/>
                  </a:lnTo>
                  <a:lnTo>
                    <a:pt x="59120" y="413497"/>
                  </a:lnTo>
                  <a:lnTo>
                    <a:pt x="34318" y="378403"/>
                  </a:lnTo>
                  <a:lnTo>
                    <a:pt x="15725" y="339226"/>
                  </a:lnTo>
                  <a:lnTo>
                    <a:pt x="4049" y="296676"/>
                  </a:lnTo>
                  <a:lnTo>
                    <a:pt x="0" y="251459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6812280" y="1298447"/>
            <a:ext cx="1920239" cy="777240"/>
          </a:xfrm>
          <a:prstGeom prst="rect">
            <a:avLst/>
          </a:prstGeom>
          <a:ln w="12700">
            <a:solidFill>
              <a:srgbClr val="1A6B53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 marL="10795">
              <a:lnSpc>
                <a:spcPct val="100000"/>
              </a:lnSpc>
              <a:spcBef>
                <a:spcPts val="185"/>
              </a:spcBef>
            </a:pPr>
            <a:r>
              <a:rPr dirty="0" sz="1400" spc="-50" b="1">
                <a:solidFill>
                  <a:srgbClr val="051237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47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Especificación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13690" y="2261361"/>
            <a:ext cx="67945" cy="2555240"/>
            <a:chOff x="313690" y="2261361"/>
            <a:chExt cx="67945" cy="2555240"/>
          </a:xfrm>
        </p:grpSpPr>
        <p:sp>
          <p:nvSpPr>
            <p:cNvPr id="30" name="object 30"/>
            <p:cNvSpPr/>
            <p:nvPr/>
          </p:nvSpPr>
          <p:spPr>
            <a:xfrm>
              <a:off x="320040" y="2267711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5">
                  <a:moveTo>
                    <a:pt x="5486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54864" y="56692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20040" y="2267711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5">
                  <a:moveTo>
                    <a:pt x="0" y="566927"/>
                  </a:moveTo>
                  <a:lnTo>
                    <a:pt x="54864" y="566927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20040" y="2926079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4">
                  <a:moveTo>
                    <a:pt x="54864" y="0"/>
                  </a:moveTo>
                  <a:lnTo>
                    <a:pt x="0" y="0"/>
                  </a:lnTo>
                  <a:lnTo>
                    <a:pt x="0" y="566928"/>
                  </a:lnTo>
                  <a:lnTo>
                    <a:pt x="54864" y="566928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0040" y="2926079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4">
                  <a:moveTo>
                    <a:pt x="0" y="566928"/>
                  </a:moveTo>
                  <a:lnTo>
                    <a:pt x="54864" y="566928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20040" y="3584447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4">
                  <a:moveTo>
                    <a:pt x="54864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54864" y="56692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20040" y="3584447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4">
                  <a:moveTo>
                    <a:pt x="0" y="566927"/>
                  </a:moveTo>
                  <a:lnTo>
                    <a:pt x="54864" y="566927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66927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20040" y="4242816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4">
                  <a:moveTo>
                    <a:pt x="54864" y="0"/>
                  </a:moveTo>
                  <a:lnTo>
                    <a:pt x="0" y="0"/>
                  </a:lnTo>
                  <a:lnTo>
                    <a:pt x="0" y="566928"/>
                  </a:lnTo>
                  <a:lnTo>
                    <a:pt x="54864" y="566928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20040" y="4242816"/>
              <a:ext cx="55244" cy="567055"/>
            </a:xfrm>
            <a:custGeom>
              <a:avLst/>
              <a:gdLst/>
              <a:ahLst/>
              <a:cxnLst/>
              <a:rect l="l" t="t" r="r" b="b"/>
              <a:pathLst>
                <a:path w="55245" h="567054">
                  <a:moveTo>
                    <a:pt x="0" y="566928"/>
                  </a:moveTo>
                  <a:lnTo>
                    <a:pt x="54864" y="566928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66928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581659" y="2290699"/>
            <a:ext cx="6574790" cy="2451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Fase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 previa: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Definición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del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contexto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uso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los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stakeholders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(tabla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escenarios,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tabla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usuarios,</a:t>
            </a:r>
            <a:r>
              <a:rPr dirty="0" sz="950" spc="-4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acta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objetivos).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Enfoque</a:t>
            </a:r>
            <a:r>
              <a:rPr dirty="0" sz="11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secuencial: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Construcción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progresiva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instrumentos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 artefactos: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cuestionarios,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matrices,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actas</a:t>
            </a:r>
            <a:r>
              <a:rPr dirty="0" sz="95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entrevista, fichas.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Tres</a:t>
            </a:r>
            <a:r>
              <a:rPr dirty="0" sz="11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etapas</a:t>
            </a:r>
            <a:r>
              <a:rPr dirty="0" sz="11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clave: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Educción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(contraste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entrevistas)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→</a:t>
            </a:r>
            <a:r>
              <a:rPr dirty="0" sz="95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Elicitación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(análisis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 agrupación)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→</a:t>
            </a:r>
            <a:r>
              <a:rPr dirty="0" sz="95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Especificación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(catálogo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fichas).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Resultado</a:t>
            </a:r>
            <a:r>
              <a:rPr dirty="0" sz="11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final: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Catálogo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funcionales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código,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nombre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versión,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más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fichas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especificación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listas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para</a:t>
            </a:r>
            <a:r>
              <a:rPr dirty="0" sz="950" spc="-4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integrar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una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SRS</a:t>
            </a:r>
            <a:r>
              <a:rPr dirty="0" sz="950" spc="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IEEE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830.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273810"/>
            <a:ext cx="9156700" cy="3876040"/>
            <a:chOff x="-6350" y="1273810"/>
            <a:chExt cx="9156700" cy="3876040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4320" y="1280160"/>
              <a:ext cx="2743200" cy="640080"/>
            </a:xfrm>
            <a:custGeom>
              <a:avLst/>
              <a:gdLst/>
              <a:ahLst/>
              <a:cxnLst/>
              <a:rect l="l" t="t" r="r" b="b"/>
              <a:pathLst>
                <a:path w="2743200" h="640080">
                  <a:moveTo>
                    <a:pt x="0" y="640079"/>
                  </a:moveTo>
                  <a:lnTo>
                    <a:pt x="2743200" y="640079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640079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53059" y="744982"/>
            <a:ext cx="4859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Contexto</a:t>
            </a:r>
            <a:r>
              <a:rPr dirty="0" sz="18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uso</a:t>
            </a:r>
            <a:r>
              <a:rPr dirty="0" sz="18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y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stakeholders</a:t>
            </a:r>
            <a:r>
              <a:rPr dirty="0" sz="18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en</a:t>
            </a:r>
            <a:r>
              <a:rPr dirty="0" sz="18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la</a:t>
            </a:r>
            <a:r>
              <a:rPr dirty="0" sz="1800" spc="-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especificación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970" y="1273810"/>
            <a:ext cx="2755900" cy="652780"/>
          </a:xfrm>
          <a:prstGeom prst="rect">
            <a:avLst/>
          </a:prstGeom>
          <a:solidFill>
            <a:srgbClr val="C8A127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spc="-10" b="1">
                <a:solidFill>
                  <a:srgbClr val="051237"/>
                </a:solidFill>
                <a:latin typeface="Calibri"/>
                <a:cs typeface="Calibri"/>
              </a:rPr>
              <a:t>¿Para</a:t>
            </a:r>
            <a:r>
              <a:rPr dirty="0" sz="1400" spc="-50" b="1">
                <a:solidFill>
                  <a:srgbClr val="051237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051237"/>
                </a:solidFill>
                <a:latin typeface="Calibri"/>
                <a:cs typeface="Calibri"/>
              </a:rPr>
              <a:t>qué?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4320" y="1920239"/>
            <a:ext cx="2743200" cy="822960"/>
          </a:xfrm>
          <a:custGeom>
            <a:avLst/>
            <a:gdLst/>
            <a:ahLst/>
            <a:cxnLst/>
            <a:rect l="l" t="t" r="r" b="b"/>
            <a:pathLst>
              <a:path w="2743200" h="822960">
                <a:moveTo>
                  <a:pt x="2743200" y="0"/>
                </a:moveTo>
                <a:lnTo>
                  <a:pt x="0" y="0"/>
                </a:lnTo>
                <a:lnTo>
                  <a:pt x="0" y="822960"/>
                </a:lnTo>
                <a:lnTo>
                  <a:pt x="2743200" y="822960"/>
                </a:lnTo>
                <a:lnTo>
                  <a:pt x="2743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74320" y="1920239"/>
            <a:ext cx="2743200" cy="822960"/>
          </a:xfrm>
          <a:prstGeom prst="rect">
            <a:avLst/>
          </a:prstGeom>
          <a:ln w="12700">
            <a:solidFill>
              <a:srgbClr val="C9DCFB"/>
            </a:solidFill>
          </a:ln>
        </p:spPr>
        <p:txBody>
          <a:bodyPr wrap="square" lIns="0" tIns="1054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30"/>
              </a:spcBef>
            </a:pPr>
            <a:endParaRPr sz="1000">
              <a:latin typeface="Times New Roman"/>
              <a:cs typeface="Times New Roman"/>
            </a:endParaRPr>
          </a:p>
          <a:p>
            <a:pPr marL="182245" marR="648970">
              <a:lnSpc>
                <a:spcPct val="100000"/>
              </a:lnSpc>
            </a:pP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Objetivo</a:t>
            </a:r>
            <a:r>
              <a:rPr dirty="0" sz="100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00" spc="-10">
                <a:solidFill>
                  <a:srgbClr val="2C3D50"/>
                </a:solidFill>
                <a:latin typeface="Calibri"/>
                <a:cs typeface="Calibri"/>
              </a:rPr>
              <a:t> propósito</a:t>
            </a:r>
            <a:r>
              <a:rPr dirty="0" sz="100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100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software.</a:t>
            </a:r>
            <a:r>
              <a:rPr dirty="0" sz="100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Se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 formaliza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100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0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Acta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0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C3D50"/>
                </a:solidFill>
                <a:latin typeface="Calibri"/>
                <a:cs typeface="Calibri"/>
              </a:rPr>
              <a:t>Objetivos.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00400" y="1280160"/>
            <a:ext cx="2743200" cy="640080"/>
          </a:xfrm>
          <a:custGeom>
            <a:avLst/>
            <a:gdLst/>
            <a:ahLst/>
            <a:cxnLst/>
            <a:rect l="l" t="t" r="r" b="b"/>
            <a:pathLst>
              <a:path w="2743200" h="640080">
                <a:moveTo>
                  <a:pt x="0" y="640079"/>
                </a:moveTo>
                <a:lnTo>
                  <a:pt x="2743200" y="640079"/>
                </a:lnTo>
                <a:lnTo>
                  <a:pt x="2743200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ln w="12700">
            <a:solidFill>
              <a:srgbClr val="C8A1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194050" y="1273810"/>
            <a:ext cx="2755900" cy="652780"/>
          </a:xfrm>
          <a:prstGeom prst="rect">
            <a:avLst/>
          </a:prstGeom>
          <a:solidFill>
            <a:srgbClr val="C8A127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marL="632460">
              <a:lnSpc>
                <a:spcPct val="100000"/>
              </a:lnSpc>
            </a:pPr>
            <a:r>
              <a:rPr dirty="0" sz="1400" b="1">
                <a:solidFill>
                  <a:srgbClr val="051237"/>
                </a:solidFill>
                <a:latin typeface="Calibri"/>
                <a:cs typeface="Calibri"/>
              </a:rPr>
              <a:t>¿En</a:t>
            </a:r>
            <a:r>
              <a:rPr dirty="0" sz="1400" spc="-20" b="1">
                <a:solidFill>
                  <a:srgbClr val="051237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51237"/>
                </a:solidFill>
                <a:latin typeface="Calibri"/>
                <a:cs typeface="Calibri"/>
              </a:rPr>
              <a:t>qué</a:t>
            </a:r>
            <a:r>
              <a:rPr dirty="0" sz="1400" spc="-30" b="1">
                <a:solidFill>
                  <a:srgbClr val="051237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51237"/>
                </a:solidFill>
                <a:latin typeface="Calibri"/>
                <a:cs typeface="Calibri"/>
              </a:rPr>
              <a:t>escenarios?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00400" y="1920239"/>
            <a:ext cx="2743200" cy="822960"/>
          </a:xfrm>
          <a:custGeom>
            <a:avLst/>
            <a:gdLst/>
            <a:ahLst/>
            <a:cxnLst/>
            <a:rect l="l" t="t" r="r" b="b"/>
            <a:pathLst>
              <a:path w="2743200" h="822960">
                <a:moveTo>
                  <a:pt x="2743200" y="0"/>
                </a:moveTo>
                <a:lnTo>
                  <a:pt x="0" y="0"/>
                </a:lnTo>
                <a:lnTo>
                  <a:pt x="0" y="822960"/>
                </a:lnTo>
                <a:lnTo>
                  <a:pt x="2743200" y="822960"/>
                </a:lnTo>
                <a:lnTo>
                  <a:pt x="2743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200400" y="1920239"/>
            <a:ext cx="2743200" cy="822960"/>
          </a:xfrm>
          <a:prstGeom prst="rect">
            <a:avLst/>
          </a:prstGeom>
          <a:ln w="12700">
            <a:solidFill>
              <a:srgbClr val="C9DCFB"/>
            </a:solidFill>
          </a:ln>
        </p:spPr>
        <p:txBody>
          <a:bodyPr wrap="square" lIns="0" tIns="1054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30"/>
              </a:spcBef>
            </a:pPr>
            <a:endParaRPr sz="1000">
              <a:latin typeface="Times New Roman"/>
              <a:cs typeface="Times New Roman"/>
            </a:endParaRPr>
          </a:p>
          <a:p>
            <a:pPr marL="182880" marR="391795">
              <a:lnSpc>
                <a:spcPct val="100000"/>
              </a:lnSpc>
            </a:pPr>
            <a:r>
              <a:rPr dirty="0" sz="1000" spc="-10">
                <a:solidFill>
                  <a:srgbClr val="2C3D50"/>
                </a:solidFill>
                <a:latin typeface="Calibri"/>
                <a:cs typeface="Calibri"/>
              </a:rPr>
              <a:t>Contextos</a:t>
            </a:r>
            <a:r>
              <a:rPr dirty="0" sz="100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0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uso:</a:t>
            </a:r>
            <a:r>
              <a:rPr dirty="0" sz="100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tabla</a:t>
            </a:r>
            <a:r>
              <a:rPr dirty="0" sz="100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 </a:t>
            </a:r>
            <a:r>
              <a:rPr dirty="0" sz="1000" spc="-10">
                <a:solidFill>
                  <a:srgbClr val="2C3D50"/>
                </a:solidFill>
                <a:latin typeface="Calibri"/>
                <a:cs typeface="Calibri"/>
              </a:rPr>
              <a:t>escenarios</a:t>
            </a:r>
            <a:r>
              <a:rPr dirty="0" sz="100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con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 código,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nombre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C3D50"/>
                </a:solidFill>
                <a:latin typeface="Calibri"/>
                <a:cs typeface="Calibri"/>
              </a:rPr>
              <a:t>descripción.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26479" y="1280160"/>
            <a:ext cx="2743200" cy="640080"/>
          </a:xfrm>
          <a:custGeom>
            <a:avLst/>
            <a:gdLst/>
            <a:ahLst/>
            <a:cxnLst/>
            <a:rect l="l" t="t" r="r" b="b"/>
            <a:pathLst>
              <a:path w="2743200" h="640080">
                <a:moveTo>
                  <a:pt x="0" y="640079"/>
                </a:moveTo>
                <a:lnTo>
                  <a:pt x="2743200" y="640079"/>
                </a:lnTo>
                <a:lnTo>
                  <a:pt x="2743200" y="0"/>
                </a:lnTo>
                <a:lnTo>
                  <a:pt x="0" y="0"/>
                </a:lnTo>
                <a:lnTo>
                  <a:pt x="0" y="640079"/>
                </a:lnTo>
                <a:close/>
              </a:path>
            </a:pathLst>
          </a:custGeom>
          <a:ln w="12700">
            <a:solidFill>
              <a:srgbClr val="C8A1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120129" y="1273810"/>
            <a:ext cx="2755900" cy="652780"/>
          </a:xfrm>
          <a:prstGeom prst="rect">
            <a:avLst/>
          </a:prstGeom>
          <a:solidFill>
            <a:srgbClr val="C8A127"/>
          </a:solidFill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spc="-10" b="1">
                <a:solidFill>
                  <a:srgbClr val="051237"/>
                </a:solidFill>
                <a:latin typeface="Calibri"/>
                <a:cs typeface="Calibri"/>
              </a:rPr>
              <a:t>¿Quiénes?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26479" y="1920239"/>
            <a:ext cx="2743200" cy="822960"/>
          </a:xfrm>
          <a:custGeom>
            <a:avLst/>
            <a:gdLst/>
            <a:ahLst/>
            <a:cxnLst/>
            <a:rect l="l" t="t" r="r" b="b"/>
            <a:pathLst>
              <a:path w="2743200" h="822960">
                <a:moveTo>
                  <a:pt x="2743200" y="0"/>
                </a:moveTo>
                <a:lnTo>
                  <a:pt x="0" y="0"/>
                </a:lnTo>
                <a:lnTo>
                  <a:pt x="0" y="822960"/>
                </a:lnTo>
                <a:lnTo>
                  <a:pt x="2743200" y="822960"/>
                </a:lnTo>
                <a:lnTo>
                  <a:pt x="2743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126479" y="1920239"/>
            <a:ext cx="2743200" cy="822960"/>
          </a:xfrm>
          <a:prstGeom prst="rect">
            <a:avLst/>
          </a:prstGeom>
          <a:ln w="12700">
            <a:solidFill>
              <a:srgbClr val="C9DCFB"/>
            </a:solidFill>
          </a:ln>
        </p:spPr>
        <p:txBody>
          <a:bodyPr wrap="square" lIns="0" tIns="1054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30"/>
              </a:spcBef>
            </a:pPr>
            <a:endParaRPr sz="1000">
              <a:latin typeface="Times New Roman"/>
              <a:cs typeface="Times New Roman"/>
            </a:endParaRPr>
          </a:p>
          <a:p>
            <a:pPr marL="183515" marR="531495">
              <a:lnSpc>
                <a:spcPct val="100000"/>
              </a:lnSpc>
            </a:pP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Roles</a:t>
            </a:r>
            <a:r>
              <a:rPr dirty="0" sz="100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usuario:</a:t>
            </a:r>
            <a:r>
              <a:rPr dirty="0" sz="100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tabla</a:t>
            </a:r>
            <a:r>
              <a:rPr dirty="0" sz="100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0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usuarios</a:t>
            </a:r>
            <a:r>
              <a:rPr dirty="0" sz="100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con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 código,</a:t>
            </a:r>
            <a:r>
              <a:rPr dirty="0" sz="100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rol</a:t>
            </a:r>
            <a:r>
              <a:rPr dirty="0" sz="100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0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uso</a:t>
            </a:r>
            <a:r>
              <a:rPr dirty="0" sz="100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C3D50"/>
                </a:solidFill>
                <a:latin typeface="Calibri"/>
                <a:cs typeface="Calibri"/>
              </a:rPr>
              <a:t>específico</a:t>
            </a:r>
            <a:r>
              <a:rPr dirty="0" sz="100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1000" spc="-10">
                <a:solidFill>
                  <a:srgbClr val="2C3D50"/>
                </a:solidFill>
                <a:latin typeface="Calibri"/>
                <a:cs typeface="Calibri"/>
              </a:rPr>
              <a:t> sistema.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8779" y="2946272"/>
            <a:ext cx="200278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Clasificación de</a:t>
            </a:r>
            <a:r>
              <a:rPr dirty="0" sz="13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1F4E"/>
                </a:solidFill>
                <a:latin typeface="Calibri"/>
                <a:cs typeface="Calibri"/>
              </a:rPr>
              <a:t>Stakeholders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16865" y="3270377"/>
            <a:ext cx="8327390" cy="1529715"/>
            <a:chOff x="316865" y="3270377"/>
            <a:chExt cx="8327390" cy="1529715"/>
          </a:xfrm>
        </p:grpSpPr>
        <p:sp>
          <p:nvSpPr>
            <p:cNvPr id="21" name="object 21"/>
            <p:cNvSpPr/>
            <p:nvPr/>
          </p:nvSpPr>
          <p:spPr>
            <a:xfrm>
              <a:off x="320040" y="3273615"/>
              <a:ext cx="4160520" cy="278130"/>
            </a:xfrm>
            <a:custGeom>
              <a:avLst/>
              <a:gdLst/>
              <a:ahLst/>
              <a:cxnLst/>
              <a:rect l="l" t="t" r="r" b="b"/>
              <a:pathLst>
                <a:path w="4160520" h="278129">
                  <a:moveTo>
                    <a:pt x="4160520" y="0"/>
                  </a:moveTo>
                  <a:lnTo>
                    <a:pt x="0" y="0"/>
                  </a:lnTo>
                  <a:lnTo>
                    <a:pt x="0" y="277939"/>
                  </a:lnTo>
                  <a:lnTo>
                    <a:pt x="4160520" y="277939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0D1F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80560" y="3273615"/>
              <a:ext cx="4160520" cy="278130"/>
            </a:xfrm>
            <a:custGeom>
              <a:avLst/>
              <a:gdLst/>
              <a:ahLst/>
              <a:cxnLst/>
              <a:rect l="l" t="t" r="r" b="b"/>
              <a:pathLst>
                <a:path w="4160520" h="278129">
                  <a:moveTo>
                    <a:pt x="4160520" y="0"/>
                  </a:moveTo>
                  <a:lnTo>
                    <a:pt x="0" y="0"/>
                  </a:lnTo>
                  <a:lnTo>
                    <a:pt x="0" y="277939"/>
                  </a:lnTo>
                  <a:lnTo>
                    <a:pt x="4160520" y="277939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16865" y="3270377"/>
              <a:ext cx="8327390" cy="1529715"/>
            </a:xfrm>
            <a:custGeom>
              <a:avLst/>
              <a:gdLst/>
              <a:ahLst/>
              <a:cxnLst/>
              <a:rect l="l" t="t" r="r" b="b"/>
              <a:pathLst>
                <a:path w="8327390" h="1529714">
                  <a:moveTo>
                    <a:pt x="4163695" y="0"/>
                  </a:moveTo>
                  <a:lnTo>
                    <a:pt x="4163695" y="1529588"/>
                  </a:lnTo>
                </a:path>
                <a:path w="8327390" h="1529714">
                  <a:moveTo>
                    <a:pt x="0" y="281178"/>
                  </a:moveTo>
                  <a:lnTo>
                    <a:pt x="8327389" y="281178"/>
                  </a:lnTo>
                </a:path>
                <a:path w="8327390" h="1529714">
                  <a:moveTo>
                    <a:pt x="0" y="559054"/>
                  </a:moveTo>
                  <a:lnTo>
                    <a:pt x="8327389" y="559054"/>
                  </a:lnTo>
                </a:path>
                <a:path w="8327390" h="1529714">
                  <a:moveTo>
                    <a:pt x="0" y="836993"/>
                  </a:moveTo>
                  <a:lnTo>
                    <a:pt x="8327389" y="836993"/>
                  </a:lnTo>
                </a:path>
                <a:path w="8327390" h="1529714">
                  <a:moveTo>
                    <a:pt x="0" y="1114933"/>
                  </a:moveTo>
                  <a:lnTo>
                    <a:pt x="8327389" y="1114933"/>
                  </a:lnTo>
                </a:path>
                <a:path w="8327390" h="1529714">
                  <a:moveTo>
                    <a:pt x="3175" y="0"/>
                  </a:moveTo>
                  <a:lnTo>
                    <a:pt x="3175" y="1529588"/>
                  </a:lnTo>
                </a:path>
                <a:path w="8327390" h="1529714">
                  <a:moveTo>
                    <a:pt x="8324214" y="0"/>
                  </a:moveTo>
                  <a:lnTo>
                    <a:pt x="8324214" y="1529588"/>
                  </a:lnTo>
                </a:path>
                <a:path w="8327390" h="1529714">
                  <a:moveTo>
                    <a:pt x="0" y="3175"/>
                  </a:moveTo>
                  <a:lnTo>
                    <a:pt x="8327389" y="3175"/>
                  </a:lnTo>
                </a:path>
                <a:path w="8327390" h="1529714">
                  <a:moveTo>
                    <a:pt x="0" y="1526413"/>
                  </a:moveTo>
                  <a:lnTo>
                    <a:pt x="8327389" y="1526413"/>
                  </a:lnTo>
                </a:path>
              </a:pathLst>
            </a:custGeom>
            <a:ln w="63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865757" y="3298316"/>
            <a:ext cx="106807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Institución</a:t>
            </a:r>
            <a:r>
              <a:rPr dirty="0" sz="1050" spc="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Usuaria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008623" y="3298316"/>
            <a:ext cx="11049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Equipo</a:t>
            </a:r>
            <a:r>
              <a:rPr dirty="0" sz="10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Proyecto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8779" y="3576015"/>
            <a:ext cx="1457960" cy="187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Director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médico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/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Gerente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59934" y="3576015"/>
            <a:ext cx="927100" cy="187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Jefe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 </a:t>
            </a:r>
            <a:r>
              <a:rPr dirty="0" sz="1050" spc="-10">
                <a:latin typeface="Calibri"/>
                <a:cs typeface="Calibri"/>
              </a:rPr>
              <a:t>proyecto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8779" y="3854602"/>
            <a:ext cx="9086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Jefe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</a:t>
            </a:r>
            <a:r>
              <a:rPr dirty="0" sz="1050" spc="-10">
                <a:latin typeface="Calibri"/>
                <a:cs typeface="Calibri"/>
              </a:rPr>
              <a:t> sistemas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59934" y="3854602"/>
            <a:ext cx="118808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Analista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requisitos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8779" y="4132579"/>
            <a:ext cx="11417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Coordinador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 spc="-20">
                <a:latin typeface="Calibri"/>
                <a:cs typeface="Calibri"/>
              </a:rPr>
              <a:t>área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59934" y="4132579"/>
            <a:ext cx="127952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Arquitecto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software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8779" y="4410557"/>
            <a:ext cx="19538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Responsable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delegado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del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proyecto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559934" y="4410557"/>
            <a:ext cx="5988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latin typeface="Calibri"/>
                <a:cs typeface="Calibri"/>
              </a:rPr>
              <a:t>Equipo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 spc="-25">
                <a:latin typeface="Calibri"/>
                <a:cs typeface="Calibri"/>
              </a:rPr>
              <a:t>QA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4821681"/>
            <a:ext cx="9156700" cy="328295"/>
            <a:chOff x="-6350" y="4821681"/>
            <a:chExt cx="9156700" cy="328295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53059" y="744982"/>
            <a:ext cx="3314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Educción</a:t>
            </a:r>
            <a:r>
              <a:rPr dirty="0" sz="1800" spc="-7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8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elicitación</a:t>
            </a:r>
            <a:r>
              <a:rPr dirty="0" sz="18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7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4320" y="1280160"/>
            <a:ext cx="4160520" cy="4572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</a:ln>
        </p:spPr>
        <p:txBody>
          <a:bodyPr wrap="square" lIns="0" tIns="1187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Educción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00" y="2431440"/>
            <a:ext cx="3206115" cy="107886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5"/>
              </a:spcBef>
              <a:buChar char="•"/>
              <a:tabLst>
                <a:tab pos="354965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Contraste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usuarios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escenarios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identificados.</a:t>
            </a:r>
            <a:endParaRPr sz="10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Char char="•"/>
              <a:tabLst>
                <a:tab pos="354965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Planificación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entrevistas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por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tipo de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usuario.</a:t>
            </a:r>
            <a:endParaRPr sz="10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5"/>
              </a:spcBef>
              <a:buChar char="•"/>
              <a:tabLst>
                <a:tab pos="354965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Un</a:t>
            </a:r>
            <a:r>
              <a:rPr dirty="0" sz="10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cuestionario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por</a:t>
            </a:r>
            <a:r>
              <a:rPr dirty="0" sz="10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cada tipo</a:t>
            </a:r>
            <a:r>
              <a:rPr dirty="0" sz="10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usuario.</a:t>
            </a:r>
            <a:endParaRPr sz="10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Char char="•"/>
              <a:tabLst>
                <a:tab pos="354965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Resumen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validación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actas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entrevista.</a:t>
            </a:r>
            <a:endParaRPr sz="10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Char char="•"/>
              <a:tabLst>
                <a:tab pos="354965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Matrices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 contraste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como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instrumentos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apoyo.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9159" y="1280160"/>
            <a:ext cx="4160520" cy="457200"/>
          </a:xfrm>
          <a:prstGeom prst="rect">
            <a:avLst/>
          </a:prstGeom>
          <a:solidFill>
            <a:srgbClr val="1C316F"/>
          </a:solidFill>
          <a:ln w="12700">
            <a:solidFill>
              <a:srgbClr val="1C316F"/>
            </a:solidFill>
          </a:ln>
        </p:spPr>
        <p:txBody>
          <a:bodyPr wrap="square" lIns="0" tIns="1187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Elicitación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9975" y="2431440"/>
            <a:ext cx="3176905" cy="107886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95"/>
              </a:spcBef>
              <a:buChar char="•"/>
              <a:tabLst>
                <a:tab pos="355600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Análisis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rastreo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actas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entrevista.</a:t>
            </a:r>
            <a:endParaRPr sz="10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95"/>
              </a:spcBef>
              <a:buChar char="•"/>
              <a:tabLst>
                <a:tab pos="355600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Agrupación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características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por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funcionalidad.</a:t>
            </a:r>
            <a:endParaRPr sz="10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05"/>
              </a:spcBef>
              <a:buChar char="•"/>
              <a:tabLst>
                <a:tab pos="355600" algn="l"/>
              </a:tabLst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Caracterización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por</a:t>
            </a:r>
            <a:r>
              <a:rPr dirty="0" sz="10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escenarios</a:t>
            </a:r>
            <a:r>
              <a:rPr dirty="0" sz="10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despliegue.</a:t>
            </a:r>
            <a:endParaRPr sz="10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00"/>
              </a:spcBef>
              <a:buChar char="•"/>
              <a:tabLst>
                <a:tab pos="355600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Resolución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ambigüedades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conflictos.</a:t>
            </a:r>
            <a:endParaRPr sz="10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95"/>
              </a:spcBef>
              <a:buChar char="•"/>
              <a:tabLst>
                <a:tab pos="355600" algn="l"/>
              </a:tabLst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Posibles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nuevas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entrevistas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si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hay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incomprensiones.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6257" y="4657445"/>
            <a:ext cx="503110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"Para</a:t>
            </a:r>
            <a:r>
              <a:rPr dirty="0" sz="750" spc="-2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elaborar</a:t>
            </a:r>
            <a:r>
              <a:rPr dirty="0" sz="750" spc="2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las</a:t>
            </a:r>
            <a:r>
              <a:rPr dirty="0" sz="750" spc="-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spc="-10" i="1">
                <a:solidFill>
                  <a:srgbClr val="6B7180"/>
                </a:solidFill>
                <a:latin typeface="Calibri"/>
                <a:cs typeface="Calibri"/>
              </a:rPr>
              <a:t>entrevistas,</a:t>
            </a:r>
            <a:r>
              <a:rPr dirty="0" sz="750" spc="-2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es</a:t>
            </a:r>
            <a:r>
              <a:rPr dirty="0" sz="750" spc="-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necesario</a:t>
            </a:r>
            <a:r>
              <a:rPr dirty="0" sz="750" spc="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spc="-10" i="1">
                <a:solidFill>
                  <a:srgbClr val="6B7180"/>
                </a:solidFill>
                <a:latin typeface="Calibri"/>
                <a:cs typeface="Calibri"/>
              </a:rPr>
              <a:t>desarrollar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 un cuestionario</a:t>
            </a:r>
            <a:r>
              <a:rPr dirty="0" sz="750" spc="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por cada tipo</a:t>
            </a:r>
            <a:r>
              <a:rPr dirty="0" sz="750" spc="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de usuario."</a:t>
            </a:r>
            <a:r>
              <a:rPr dirty="0" sz="750" spc="2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—</a:t>
            </a:r>
            <a:r>
              <a:rPr dirty="0" sz="750" spc="-2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spc="-10" i="1">
                <a:solidFill>
                  <a:srgbClr val="6B7180"/>
                </a:solidFill>
                <a:latin typeface="Calibri"/>
                <a:cs typeface="Calibri"/>
              </a:rPr>
              <a:t>Cornejo-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Aparicio</a:t>
            </a:r>
            <a:r>
              <a:rPr dirty="0" sz="750" spc="2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et</a:t>
            </a:r>
            <a:r>
              <a:rPr dirty="0" sz="750" spc="-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6B7180"/>
                </a:solidFill>
                <a:latin typeface="Calibri"/>
                <a:cs typeface="Calibri"/>
              </a:rPr>
              <a:t>al.,</a:t>
            </a:r>
            <a:r>
              <a:rPr dirty="0" sz="750" spc="-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750" spc="-20" i="1">
                <a:solidFill>
                  <a:srgbClr val="6B7180"/>
                </a:solidFill>
                <a:latin typeface="Calibri"/>
                <a:cs typeface="Calibri"/>
              </a:rPr>
              <a:t>2020</a:t>
            </a:r>
            <a:endParaRPr sz="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3660394"/>
            <a:ext cx="9156700" cy="1489710"/>
            <a:chOff x="-6350" y="3660394"/>
            <a:chExt cx="9156700" cy="1489710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20040" y="3666744"/>
              <a:ext cx="55244" cy="228600"/>
            </a:xfrm>
            <a:custGeom>
              <a:avLst/>
              <a:gdLst/>
              <a:ahLst/>
              <a:cxnLst/>
              <a:rect l="l" t="t" r="r" b="b"/>
              <a:pathLst>
                <a:path w="55245" h="228600">
                  <a:moveTo>
                    <a:pt x="54864" y="0"/>
                  </a:moveTo>
                  <a:lnTo>
                    <a:pt x="0" y="0"/>
                  </a:lnTo>
                  <a:lnTo>
                    <a:pt x="0" y="228599"/>
                  </a:lnTo>
                  <a:lnTo>
                    <a:pt x="54864" y="228599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0040" y="3666744"/>
              <a:ext cx="55244" cy="228600"/>
            </a:xfrm>
            <a:custGeom>
              <a:avLst/>
              <a:gdLst/>
              <a:ahLst/>
              <a:cxnLst/>
              <a:rect l="l" t="t" r="r" b="b"/>
              <a:pathLst>
                <a:path w="55245" h="228600">
                  <a:moveTo>
                    <a:pt x="0" y="228599"/>
                  </a:moveTo>
                  <a:lnTo>
                    <a:pt x="54864" y="228599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228599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0040" y="4014216"/>
              <a:ext cx="55244" cy="228600"/>
            </a:xfrm>
            <a:custGeom>
              <a:avLst/>
              <a:gdLst/>
              <a:ahLst/>
              <a:cxnLst/>
              <a:rect l="l" t="t" r="r" b="b"/>
              <a:pathLst>
                <a:path w="55245" h="228600">
                  <a:moveTo>
                    <a:pt x="54864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54864" y="22860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0040" y="4014216"/>
              <a:ext cx="55244" cy="228600"/>
            </a:xfrm>
            <a:custGeom>
              <a:avLst/>
              <a:gdLst/>
              <a:ahLst/>
              <a:cxnLst/>
              <a:rect l="l" t="t" r="r" b="b"/>
              <a:pathLst>
                <a:path w="55245" h="228600">
                  <a:moveTo>
                    <a:pt x="0" y="228600"/>
                  </a:moveTo>
                  <a:lnTo>
                    <a:pt x="54864" y="22860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0040" y="4361688"/>
              <a:ext cx="55244" cy="228600"/>
            </a:xfrm>
            <a:custGeom>
              <a:avLst/>
              <a:gdLst/>
              <a:ahLst/>
              <a:cxnLst/>
              <a:rect l="l" t="t" r="r" b="b"/>
              <a:pathLst>
                <a:path w="55245" h="228600">
                  <a:moveTo>
                    <a:pt x="54864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54864" y="22860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0040" y="4361688"/>
              <a:ext cx="55244" cy="228600"/>
            </a:xfrm>
            <a:custGeom>
              <a:avLst/>
              <a:gdLst/>
              <a:ahLst/>
              <a:cxnLst/>
              <a:rect l="l" t="t" r="r" b="b"/>
              <a:pathLst>
                <a:path w="55245" h="228600">
                  <a:moveTo>
                    <a:pt x="0" y="228600"/>
                  </a:moveTo>
                  <a:lnTo>
                    <a:pt x="54864" y="22860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53059" y="744982"/>
            <a:ext cx="4769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Especificación</a:t>
            </a:r>
            <a:r>
              <a:rPr dirty="0" sz="1800" spc="-7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8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catálogo</a:t>
            </a:r>
            <a:r>
              <a:rPr dirty="0" sz="1800" spc="-5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8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r>
              <a:rPr dirty="0" sz="1800" spc="-7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funcionales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98779" y="1326845"/>
            <a:ext cx="43000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Catálogo de Requisitos Funcionales (ejemplo genérico)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16865" y="1642745"/>
          <a:ext cx="5203190" cy="1828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/>
                <a:gridCol w="3108960"/>
                <a:gridCol w="914400"/>
              </a:tblGrid>
              <a:tr h="3041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Código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Nombre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Versión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0D1F4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RF01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Registrar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usuario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Iniciar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sesión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RF02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Gestionar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escenarios</a:t>
                      </a:r>
                      <a:r>
                        <a:rPr dirty="0" sz="10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uso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RF03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Registrar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cita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Transacción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RF04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Consultar</a:t>
                      </a:r>
                      <a:r>
                        <a:rPr dirty="0" sz="1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historial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RF05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Generar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reportes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657469" y="1334465"/>
            <a:ext cx="182054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Ficha</a:t>
            </a:r>
            <a:r>
              <a:rPr dirty="0" sz="1100" spc="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100" spc="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Especificación (RF01)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574665" y="1642745"/>
          <a:ext cx="3420110" cy="1828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160"/>
                <a:gridCol w="2057400"/>
              </a:tblGrid>
              <a:tr h="30416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Campo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1C316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Descripción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1C316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Precondición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Usuario</a:t>
                      </a:r>
                      <a:r>
                        <a:rPr dirty="0" sz="9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existe</a:t>
                      </a:r>
                      <a:r>
                        <a:rPr dirty="0" sz="9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sistema.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Poscondición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Sesión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iniciada;</a:t>
                      </a:r>
                      <a:r>
                        <a:rPr dirty="0" sz="95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estado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Activo.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Flujo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principal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Seleccionar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Validar</a:t>
                      </a:r>
                      <a:r>
                        <a:rPr dirty="0" sz="9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Confirmar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Flujo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alternativo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Error: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datos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inválidos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→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Reintentar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Versión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1.0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581659" y="3680205"/>
            <a:ext cx="5694045" cy="8585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Versionamiento:</a:t>
            </a:r>
            <a:r>
              <a:rPr dirty="0" sz="9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actualización</a:t>
            </a:r>
            <a:r>
              <a:rPr dirty="0" sz="950" spc="-5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progresiva</a:t>
            </a:r>
            <a:r>
              <a:rPr dirty="0" sz="950" spc="-5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según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nuevas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clarificaciones.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Las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fichas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se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convierten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el puente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directo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hacia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casos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uso,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historias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usuario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pruebas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aceptación.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"Al</a:t>
            </a:r>
            <a:r>
              <a:rPr dirty="0" sz="850" spc="1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terminar</a:t>
            </a:r>
            <a:r>
              <a:rPr dirty="0" sz="850" spc="-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la</a:t>
            </a:r>
            <a:r>
              <a:rPr dirty="0" sz="850" spc="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6B7180"/>
                </a:solidFill>
                <a:latin typeface="Calibri"/>
                <a:cs typeface="Calibri"/>
              </a:rPr>
              <a:t>caracterización</a:t>
            </a:r>
            <a:r>
              <a:rPr dirty="0" sz="850" spc="-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de</a:t>
            </a:r>
            <a:r>
              <a:rPr dirty="0" sz="850" spc="-10" i="1">
                <a:solidFill>
                  <a:srgbClr val="6B7180"/>
                </a:solidFill>
                <a:latin typeface="Calibri"/>
                <a:cs typeface="Calibri"/>
              </a:rPr>
              <a:t> escenarios,</a:t>
            </a:r>
            <a:r>
              <a:rPr dirty="0" sz="850" spc="-3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se</a:t>
            </a:r>
            <a:r>
              <a:rPr dirty="0" sz="850" spc="-1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identifican</a:t>
            </a:r>
            <a:r>
              <a:rPr dirty="0" sz="850" spc="-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claramente</a:t>
            </a:r>
            <a:r>
              <a:rPr dirty="0" sz="850" spc="-2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los</a:t>
            </a:r>
            <a:r>
              <a:rPr dirty="0" sz="850" spc="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6B7180"/>
                </a:solidFill>
                <a:latin typeface="Calibri"/>
                <a:cs typeface="Calibri"/>
              </a:rPr>
              <a:t>requisitos</a:t>
            </a:r>
            <a:r>
              <a:rPr dirty="0" sz="850" spc="-2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funcionales."</a:t>
            </a:r>
            <a:r>
              <a:rPr dirty="0" sz="850" spc="3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—</a:t>
            </a:r>
            <a:r>
              <a:rPr dirty="0" sz="850" spc="1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spc="-10" i="1">
                <a:solidFill>
                  <a:srgbClr val="6B7180"/>
                </a:solidFill>
                <a:latin typeface="Calibri"/>
                <a:cs typeface="Calibri"/>
              </a:rPr>
              <a:t>Cornejo-</a:t>
            </a: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Aparicio</a:t>
            </a:r>
            <a:r>
              <a:rPr dirty="0" sz="850" spc="-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et</a:t>
            </a:r>
            <a:r>
              <a:rPr dirty="0" sz="850" spc="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i="1">
                <a:solidFill>
                  <a:srgbClr val="6B7180"/>
                </a:solidFill>
                <a:latin typeface="Calibri"/>
                <a:cs typeface="Calibri"/>
              </a:rPr>
              <a:t>al.,</a:t>
            </a:r>
            <a:r>
              <a:rPr dirty="0" sz="850" spc="1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850" spc="-20" i="1">
                <a:solidFill>
                  <a:srgbClr val="6B7180"/>
                </a:solidFill>
                <a:latin typeface="Calibri"/>
                <a:cs typeface="Calibri"/>
              </a:rPr>
              <a:t>2020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2810001"/>
            <a:ext cx="9156700" cy="2339975"/>
            <a:chOff x="-6350" y="2810001"/>
            <a:chExt cx="9156700" cy="2339975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60119" y="2816351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297180" y="0"/>
                  </a:moveTo>
                  <a:lnTo>
                    <a:pt x="248977" y="3890"/>
                  </a:lnTo>
                  <a:lnTo>
                    <a:pt x="203250" y="15154"/>
                  </a:lnTo>
                  <a:lnTo>
                    <a:pt x="160611" y="33179"/>
                  </a:lnTo>
                  <a:lnTo>
                    <a:pt x="121671" y="57351"/>
                  </a:lnTo>
                  <a:lnTo>
                    <a:pt x="87044" y="87058"/>
                  </a:lnTo>
                  <a:lnTo>
                    <a:pt x="57340" y="121688"/>
                  </a:lnTo>
                  <a:lnTo>
                    <a:pt x="33171" y="160628"/>
                  </a:lnTo>
                  <a:lnTo>
                    <a:pt x="15150" y="203265"/>
                  </a:lnTo>
                  <a:lnTo>
                    <a:pt x="3889" y="248986"/>
                  </a:lnTo>
                  <a:lnTo>
                    <a:pt x="0" y="297180"/>
                  </a:lnTo>
                  <a:lnTo>
                    <a:pt x="3889" y="345373"/>
                  </a:lnTo>
                  <a:lnTo>
                    <a:pt x="15150" y="391094"/>
                  </a:lnTo>
                  <a:lnTo>
                    <a:pt x="33171" y="433731"/>
                  </a:lnTo>
                  <a:lnTo>
                    <a:pt x="57340" y="472671"/>
                  </a:lnTo>
                  <a:lnTo>
                    <a:pt x="87044" y="507301"/>
                  </a:lnTo>
                  <a:lnTo>
                    <a:pt x="121671" y="537008"/>
                  </a:lnTo>
                  <a:lnTo>
                    <a:pt x="160611" y="561180"/>
                  </a:lnTo>
                  <a:lnTo>
                    <a:pt x="203250" y="579205"/>
                  </a:lnTo>
                  <a:lnTo>
                    <a:pt x="248977" y="590469"/>
                  </a:lnTo>
                  <a:lnTo>
                    <a:pt x="297180" y="594360"/>
                  </a:lnTo>
                  <a:lnTo>
                    <a:pt x="345373" y="590469"/>
                  </a:lnTo>
                  <a:lnTo>
                    <a:pt x="391094" y="579205"/>
                  </a:lnTo>
                  <a:lnTo>
                    <a:pt x="433731" y="561180"/>
                  </a:lnTo>
                  <a:lnTo>
                    <a:pt x="472671" y="537008"/>
                  </a:lnTo>
                  <a:lnTo>
                    <a:pt x="507301" y="507301"/>
                  </a:lnTo>
                  <a:lnTo>
                    <a:pt x="537008" y="472671"/>
                  </a:lnTo>
                  <a:lnTo>
                    <a:pt x="561180" y="433731"/>
                  </a:lnTo>
                  <a:lnTo>
                    <a:pt x="579205" y="391094"/>
                  </a:lnTo>
                  <a:lnTo>
                    <a:pt x="590469" y="345373"/>
                  </a:lnTo>
                  <a:lnTo>
                    <a:pt x="594360" y="297180"/>
                  </a:lnTo>
                  <a:lnTo>
                    <a:pt x="590469" y="248986"/>
                  </a:lnTo>
                  <a:lnTo>
                    <a:pt x="579205" y="203265"/>
                  </a:lnTo>
                  <a:lnTo>
                    <a:pt x="561180" y="160628"/>
                  </a:lnTo>
                  <a:lnTo>
                    <a:pt x="537008" y="121688"/>
                  </a:lnTo>
                  <a:lnTo>
                    <a:pt x="507301" y="87058"/>
                  </a:lnTo>
                  <a:lnTo>
                    <a:pt x="472671" y="57351"/>
                  </a:lnTo>
                  <a:lnTo>
                    <a:pt x="433731" y="33179"/>
                  </a:lnTo>
                  <a:lnTo>
                    <a:pt x="391094" y="15154"/>
                  </a:lnTo>
                  <a:lnTo>
                    <a:pt x="345373" y="3890"/>
                  </a:lnTo>
                  <a:lnTo>
                    <a:pt x="297180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60119" y="2816351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0" y="297180"/>
                  </a:moveTo>
                  <a:lnTo>
                    <a:pt x="3889" y="248986"/>
                  </a:lnTo>
                  <a:lnTo>
                    <a:pt x="15150" y="203265"/>
                  </a:lnTo>
                  <a:lnTo>
                    <a:pt x="33171" y="160628"/>
                  </a:lnTo>
                  <a:lnTo>
                    <a:pt x="57340" y="121688"/>
                  </a:lnTo>
                  <a:lnTo>
                    <a:pt x="87044" y="87058"/>
                  </a:lnTo>
                  <a:lnTo>
                    <a:pt x="121671" y="57351"/>
                  </a:lnTo>
                  <a:lnTo>
                    <a:pt x="160611" y="33179"/>
                  </a:lnTo>
                  <a:lnTo>
                    <a:pt x="203250" y="15154"/>
                  </a:lnTo>
                  <a:lnTo>
                    <a:pt x="248977" y="3890"/>
                  </a:lnTo>
                  <a:lnTo>
                    <a:pt x="297180" y="0"/>
                  </a:lnTo>
                  <a:lnTo>
                    <a:pt x="345373" y="3890"/>
                  </a:lnTo>
                  <a:lnTo>
                    <a:pt x="391094" y="15154"/>
                  </a:lnTo>
                  <a:lnTo>
                    <a:pt x="433731" y="33179"/>
                  </a:lnTo>
                  <a:lnTo>
                    <a:pt x="472671" y="57351"/>
                  </a:lnTo>
                  <a:lnTo>
                    <a:pt x="507301" y="87058"/>
                  </a:lnTo>
                  <a:lnTo>
                    <a:pt x="537008" y="121688"/>
                  </a:lnTo>
                  <a:lnTo>
                    <a:pt x="561180" y="160628"/>
                  </a:lnTo>
                  <a:lnTo>
                    <a:pt x="579205" y="203265"/>
                  </a:lnTo>
                  <a:lnTo>
                    <a:pt x="590469" y="248986"/>
                  </a:lnTo>
                  <a:lnTo>
                    <a:pt x="594360" y="297180"/>
                  </a:lnTo>
                  <a:lnTo>
                    <a:pt x="590469" y="345373"/>
                  </a:lnTo>
                  <a:lnTo>
                    <a:pt x="579205" y="391094"/>
                  </a:lnTo>
                  <a:lnTo>
                    <a:pt x="561180" y="433731"/>
                  </a:lnTo>
                  <a:lnTo>
                    <a:pt x="537008" y="472671"/>
                  </a:lnTo>
                  <a:lnTo>
                    <a:pt x="507301" y="507301"/>
                  </a:lnTo>
                  <a:lnTo>
                    <a:pt x="472671" y="537008"/>
                  </a:lnTo>
                  <a:lnTo>
                    <a:pt x="433731" y="561180"/>
                  </a:lnTo>
                  <a:lnTo>
                    <a:pt x="391094" y="579205"/>
                  </a:lnTo>
                  <a:lnTo>
                    <a:pt x="345373" y="590469"/>
                  </a:lnTo>
                  <a:lnTo>
                    <a:pt x="297180" y="594360"/>
                  </a:lnTo>
                  <a:lnTo>
                    <a:pt x="248977" y="590469"/>
                  </a:lnTo>
                  <a:lnTo>
                    <a:pt x="203250" y="579205"/>
                  </a:lnTo>
                  <a:lnTo>
                    <a:pt x="160611" y="561180"/>
                  </a:lnTo>
                  <a:lnTo>
                    <a:pt x="121671" y="537008"/>
                  </a:lnTo>
                  <a:lnTo>
                    <a:pt x="87044" y="507301"/>
                  </a:lnTo>
                  <a:lnTo>
                    <a:pt x="57340" y="472671"/>
                  </a:lnTo>
                  <a:lnTo>
                    <a:pt x="33171" y="433731"/>
                  </a:lnTo>
                  <a:lnTo>
                    <a:pt x="15150" y="391094"/>
                  </a:lnTo>
                  <a:lnTo>
                    <a:pt x="3889" y="345373"/>
                  </a:lnTo>
                  <a:lnTo>
                    <a:pt x="0" y="297180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53059" y="744982"/>
            <a:ext cx="4925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Requisitos,</a:t>
            </a:r>
            <a:r>
              <a:rPr dirty="0" sz="1800" spc="-5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métricas</a:t>
            </a:r>
            <a:r>
              <a:rPr dirty="0" sz="18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mejora</a:t>
            </a:r>
            <a:r>
              <a:rPr dirty="0" sz="18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continua</a:t>
            </a:r>
            <a:r>
              <a:rPr dirty="0" sz="18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8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la</a:t>
            </a:r>
            <a:r>
              <a:rPr dirty="0" sz="18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4320" y="1298447"/>
            <a:ext cx="1965960" cy="1005840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831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5"/>
              </a:spcBef>
            </a:pPr>
            <a:endParaRPr sz="1050">
              <a:latin typeface="Times New Roman"/>
              <a:cs typeface="Times New Roman"/>
            </a:endParaRPr>
          </a:p>
          <a:p>
            <a:pPr marL="385445">
              <a:lnSpc>
                <a:spcPct val="100000"/>
              </a:lnSpc>
            </a:pP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Densidad</a:t>
            </a:r>
            <a:r>
              <a:rPr dirty="0" sz="105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defectos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05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Defectos</a:t>
            </a:r>
            <a:r>
              <a:rPr dirty="0" sz="900" spc="-30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por</a:t>
            </a:r>
            <a:r>
              <a:rPr dirty="0" sz="900" spc="-15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KLOC</a:t>
            </a:r>
            <a:r>
              <a:rPr dirty="0" sz="900" spc="-30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o</a:t>
            </a:r>
            <a:r>
              <a:rPr dirty="0" sz="900" spc="-20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por</a:t>
            </a:r>
            <a:r>
              <a:rPr dirty="0" sz="900" spc="-15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spc="-25" i="1">
                <a:solidFill>
                  <a:srgbClr val="C8A127"/>
                </a:solidFill>
                <a:latin typeface="Calibri"/>
                <a:cs typeface="Calibri"/>
              </a:rPr>
              <a:t>FP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50592" y="1298447"/>
            <a:ext cx="1965960" cy="1005840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831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 marL="1270">
              <a:lnSpc>
                <a:spcPct val="100000"/>
              </a:lnSpc>
            </a:pP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Costo</a:t>
            </a:r>
            <a:r>
              <a:rPr dirty="0" sz="10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0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%</a:t>
            </a:r>
            <a:r>
              <a:rPr dirty="0" sz="900" spc="-25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costo</a:t>
            </a:r>
            <a:r>
              <a:rPr dirty="0" sz="900" spc="-10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real</a:t>
            </a:r>
            <a:r>
              <a:rPr dirty="0" sz="900" spc="-25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del</a:t>
            </a:r>
            <a:r>
              <a:rPr dirty="0" sz="900" spc="-15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C8A127"/>
                </a:solidFill>
                <a:latin typeface="Calibri"/>
                <a:cs typeface="Calibri"/>
              </a:rPr>
              <a:t>proyecto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26864" y="1298447"/>
            <a:ext cx="1965960" cy="1005840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831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 marL="1905">
              <a:lnSpc>
                <a:spcPct val="100000"/>
              </a:lnSpc>
            </a:pP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Variación</a:t>
            </a:r>
            <a:r>
              <a:rPr dirty="0" sz="105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costo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05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</a:pP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Real</a:t>
            </a:r>
            <a:r>
              <a:rPr dirty="0" sz="900" spc="-25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vs</a:t>
            </a:r>
            <a:r>
              <a:rPr dirty="0" sz="900" spc="-15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C8A127"/>
                </a:solidFill>
                <a:latin typeface="Calibri"/>
                <a:cs typeface="Calibri"/>
              </a:rPr>
              <a:t>planificado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03135" y="1298447"/>
            <a:ext cx="1965960" cy="1005840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831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5"/>
              </a:spcBef>
            </a:pPr>
            <a:endParaRPr sz="1050">
              <a:latin typeface="Times New Roman"/>
              <a:cs typeface="Times New Roman"/>
            </a:endParaRPr>
          </a:p>
          <a:p>
            <a:pPr marL="452120">
              <a:lnSpc>
                <a:spcPct val="100000"/>
              </a:lnSpc>
            </a:pP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Satisfacción</a:t>
            </a:r>
            <a:r>
              <a:rPr dirty="0" sz="1050" spc="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FFFFFF"/>
                </a:solidFill>
                <a:latin typeface="Calibri"/>
                <a:cs typeface="Calibri"/>
              </a:rPr>
              <a:t>cliente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050">
              <a:latin typeface="Calibri"/>
              <a:cs typeface="Calibri"/>
            </a:endParaRPr>
          </a:p>
          <a:p>
            <a:pPr marL="487045">
              <a:lnSpc>
                <a:spcPct val="100000"/>
              </a:lnSpc>
            </a:pP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%</a:t>
            </a:r>
            <a:r>
              <a:rPr dirty="0" sz="900" spc="-30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C8A127"/>
                </a:solidFill>
                <a:latin typeface="Calibri"/>
                <a:cs typeface="Calibri"/>
              </a:rPr>
              <a:t>clientes</a:t>
            </a:r>
            <a:r>
              <a:rPr dirty="0" sz="900" spc="-25" i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C8A127"/>
                </a:solidFill>
                <a:latin typeface="Calibri"/>
                <a:cs typeface="Calibri"/>
              </a:rPr>
              <a:t>satisfechos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8779" y="2498217"/>
            <a:ext cx="16236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Ciclo</a:t>
            </a:r>
            <a:r>
              <a:rPr dirty="0" sz="12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Mejora</a:t>
            </a:r>
            <a:r>
              <a:rPr dirty="0" sz="12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Continua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99184" y="2982849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051237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7970" y="3404361"/>
            <a:ext cx="1978660" cy="424180"/>
          </a:xfrm>
          <a:prstGeom prst="rect">
            <a:avLst/>
          </a:prstGeom>
          <a:solidFill>
            <a:srgbClr val="1C316F"/>
          </a:solidFill>
          <a:ln w="3175">
            <a:solidFill>
              <a:srgbClr val="1C316F"/>
            </a:solidFill>
          </a:ln>
        </p:spPr>
        <p:txBody>
          <a:bodyPr wrap="square" lIns="0" tIns="1206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Medir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092" y="4091127"/>
            <a:ext cx="16338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33985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Contar</a:t>
            </a:r>
            <a:r>
              <a:rPr dirty="0" sz="900" spc="-5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defectos</a:t>
            </a:r>
            <a:r>
              <a:rPr dirty="0" sz="900" spc="-4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atribuibles</a:t>
            </a:r>
            <a:r>
              <a:rPr dirty="0" sz="90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34485E"/>
                </a:solidFill>
                <a:latin typeface="Calibri"/>
                <a:cs typeface="Calibri"/>
              </a:rPr>
              <a:t>a</a:t>
            </a:r>
            <a:r>
              <a:rPr dirty="0" sz="900" spc="50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requisitos y</a:t>
            </a:r>
            <a:r>
              <a:rPr dirty="0" sz="90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el</a:t>
            </a:r>
            <a:r>
              <a:rPr dirty="0" sz="90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costo</a:t>
            </a:r>
            <a:r>
              <a:rPr dirty="0" sz="900" spc="-5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0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4485E"/>
                </a:solidFill>
                <a:latin typeface="Calibri"/>
                <a:cs typeface="Calibri"/>
              </a:rPr>
              <a:t>corrección.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30042" y="2810001"/>
            <a:ext cx="607060" cy="607060"/>
            <a:chOff x="3130042" y="2810001"/>
            <a:chExt cx="607060" cy="607060"/>
          </a:xfrm>
        </p:grpSpPr>
        <p:sp>
          <p:nvSpPr>
            <p:cNvPr id="18" name="object 18"/>
            <p:cNvSpPr/>
            <p:nvPr/>
          </p:nvSpPr>
          <p:spPr>
            <a:xfrm>
              <a:off x="3136392" y="2816351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297180" y="0"/>
                  </a:moveTo>
                  <a:lnTo>
                    <a:pt x="248986" y="3890"/>
                  </a:lnTo>
                  <a:lnTo>
                    <a:pt x="203265" y="15154"/>
                  </a:lnTo>
                  <a:lnTo>
                    <a:pt x="160628" y="33179"/>
                  </a:lnTo>
                  <a:lnTo>
                    <a:pt x="121688" y="57351"/>
                  </a:lnTo>
                  <a:lnTo>
                    <a:pt x="87058" y="87058"/>
                  </a:lnTo>
                  <a:lnTo>
                    <a:pt x="57351" y="121688"/>
                  </a:lnTo>
                  <a:lnTo>
                    <a:pt x="33179" y="160628"/>
                  </a:lnTo>
                  <a:lnTo>
                    <a:pt x="15154" y="203265"/>
                  </a:lnTo>
                  <a:lnTo>
                    <a:pt x="3890" y="248986"/>
                  </a:lnTo>
                  <a:lnTo>
                    <a:pt x="0" y="297180"/>
                  </a:lnTo>
                  <a:lnTo>
                    <a:pt x="3890" y="345373"/>
                  </a:lnTo>
                  <a:lnTo>
                    <a:pt x="15154" y="391094"/>
                  </a:lnTo>
                  <a:lnTo>
                    <a:pt x="33179" y="433731"/>
                  </a:lnTo>
                  <a:lnTo>
                    <a:pt x="57351" y="472671"/>
                  </a:lnTo>
                  <a:lnTo>
                    <a:pt x="87058" y="507301"/>
                  </a:lnTo>
                  <a:lnTo>
                    <a:pt x="121688" y="537008"/>
                  </a:lnTo>
                  <a:lnTo>
                    <a:pt x="160628" y="561180"/>
                  </a:lnTo>
                  <a:lnTo>
                    <a:pt x="203265" y="579205"/>
                  </a:lnTo>
                  <a:lnTo>
                    <a:pt x="248986" y="590469"/>
                  </a:lnTo>
                  <a:lnTo>
                    <a:pt x="297180" y="594360"/>
                  </a:lnTo>
                  <a:lnTo>
                    <a:pt x="345373" y="590469"/>
                  </a:lnTo>
                  <a:lnTo>
                    <a:pt x="391094" y="579205"/>
                  </a:lnTo>
                  <a:lnTo>
                    <a:pt x="433731" y="561180"/>
                  </a:lnTo>
                  <a:lnTo>
                    <a:pt x="472671" y="537008"/>
                  </a:lnTo>
                  <a:lnTo>
                    <a:pt x="507301" y="507301"/>
                  </a:lnTo>
                  <a:lnTo>
                    <a:pt x="537008" y="472671"/>
                  </a:lnTo>
                  <a:lnTo>
                    <a:pt x="561180" y="433731"/>
                  </a:lnTo>
                  <a:lnTo>
                    <a:pt x="579205" y="391094"/>
                  </a:lnTo>
                  <a:lnTo>
                    <a:pt x="590469" y="345373"/>
                  </a:lnTo>
                  <a:lnTo>
                    <a:pt x="594359" y="297180"/>
                  </a:lnTo>
                  <a:lnTo>
                    <a:pt x="590469" y="248986"/>
                  </a:lnTo>
                  <a:lnTo>
                    <a:pt x="579205" y="203265"/>
                  </a:lnTo>
                  <a:lnTo>
                    <a:pt x="561180" y="160628"/>
                  </a:lnTo>
                  <a:lnTo>
                    <a:pt x="537008" y="121688"/>
                  </a:lnTo>
                  <a:lnTo>
                    <a:pt x="507301" y="87058"/>
                  </a:lnTo>
                  <a:lnTo>
                    <a:pt x="472671" y="57351"/>
                  </a:lnTo>
                  <a:lnTo>
                    <a:pt x="433731" y="33179"/>
                  </a:lnTo>
                  <a:lnTo>
                    <a:pt x="391094" y="15154"/>
                  </a:lnTo>
                  <a:lnTo>
                    <a:pt x="345373" y="3890"/>
                  </a:lnTo>
                  <a:lnTo>
                    <a:pt x="297180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136392" y="2816351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0" y="297180"/>
                  </a:moveTo>
                  <a:lnTo>
                    <a:pt x="3890" y="248986"/>
                  </a:lnTo>
                  <a:lnTo>
                    <a:pt x="15154" y="203265"/>
                  </a:lnTo>
                  <a:lnTo>
                    <a:pt x="33179" y="160628"/>
                  </a:lnTo>
                  <a:lnTo>
                    <a:pt x="57351" y="121688"/>
                  </a:lnTo>
                  <a:lnTo>
                    <a:pt x="87058" y="87058"/>
                  </a:lnTo>
                  <a:lnTo>
                    <a:pt x="121688" y="57351"/>
                  </a:lnTo>
                  <a:lnTo>
                    <a:pt x="160628" y="33179"/>
                  </a:lnTo>
                  <a:lnTo>
                    <a:pt x="203265" y="15154"/>
                  </a:lnTo>
                  <a:lnTo>
                    <a:pt x="248986" y="3890"/>
                  </a:lnTo>
                  <a:lnTo>
                    <a:pt x="297180" y="0"/>
                  </a:lnTo>
                  <a:lnTo>
                    <a:pt x="345373" y="3890"/>
                  </a:lnTo>
                  <a:lnTo>
                    <a:pt x="391094" y="15154"/>
                  </a:lnTo>
                  <a:lnTo>
                    <a:pt x="433731" y="33179"/>
                  </a:lnTo>
                  <a:lnTo>
                    <a:pt x="472671" y="57351"/>
                  </a:lnTo>
                  <a:lnTo>
                    <a:pt x="507301" y="87058"/>
                  </a:lnTo>
                  <a:lnTo>
                    <a:pt x="537008" y="121688"/>
                  </a:lnTo>
                  <a:lnTo>
                    <a:pt x="561180" y="160628"/>
                  </a:lnTo>
                  <a:lnTo>
                    <a:pt x="579205" y="203265"/>
                  </a:lnTo>
                  <a:lnTo>
                    <a:pt x="590469" y="248986"/>
                  </a:lnTo>
                  <a:lnTo>
                    <a:pt x="594359" y="297180"/>
                  </a:lnTo>
                  <a:lnTo>
                    <a:pt x="590469" y="345373"/>
                  </a:lnTo>
                  <a:lnTo>
                    <a:pt x="579205" y="391094"/>
                  </a:lnTo>
                  <a:lnTo>
                    <a:pt x="561180" y="433731"/>
                  </a:lnTo>
                  <a:lnTo>
                    <a:pt x="537008" y="472671"/>
                  </a:lnTo>
                  <a:lnTo>
                    <a:pt x="507301" y="507301"/>
                  </a:lnTo>
                  <a:lnTo>
                    <a:pt x="472671" y="537008"/>
                  </a:lnTo>
                  <a:lnTo>
                    <a:pt x="433731" y="561180"/>
                  </a:lnTo>
                  <a:lnTo>
                    <a:pt x="391094" y="579205"/>
                  </a:lnTo>
                  <a:lnTo>
                    <a:pt x="345373" y="590469"/>
                  </a:lnTo>
                  <a:lnTo>
                    <a:pt x="297180" y="594360"/>
                  </a:lnTo>
                  <a:lnTo>
                    <a:pt x="248986" y="590469"/>
                  </a:lnTo>
                  <a:lnTo>
                    <a:pt x="203265" y="579205"/>
                  </a:lnTo>
                  <a:lnTo>
                    <a:pt x="160628" y="561180"/>
                  </a:lnTo>
                  <a:lnTo>
                    <a:pt x="121688" y="537008"/>
                  </a:lnTo>
                  <a:lnTo>
                    <a:pt x="87058" y="507301"/>
                  </a:lnTo>
                  <a:lnTo>
                    <a:pt x="57351" y="472671"/>
                  </a:lnTo>
                  <a:lnTo>
                    <a:pt x="33179" y="433731"/>
                  </a:lnTo>
                  <a:lnTo>
                    <a:pt x="15154" y="391094"/>
                  </a:lnTo>
                  <a:lnTo>
                    <a:pt x="3890" y="345373"/>
                  </a:lnTo>
                  <a:lnTo>
                    <a:pt x="0" y="297180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375786" y="2982849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051237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44242" y="3404361"/>
            <a:ext cx="1978660" cy="424180"/>
          </a:xfrm>
          <a:prstGeom prst="rect">
            <a:avLst/>
          </a:prstGeom>
          <a:solidFill>
            <a:srgbClr val="1C316F"/>
          </a:solidFill>
          <a:ln w="3175">
            <a:solidFill>
              <a:srgbClr val="1C316F"/>
            </a:solidFill>
          </a:ln>
        </p:spPr>
        <p:txBody>
          <a:bodyPr wrap="square" lIns="0" tIns="1206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Analizar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62554" y="4091127"/>
            <a:ext cx="1588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2545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Identificar</a:t>
            </a:r>
            <a:r>
              <a:rPr dirty="0" sz="90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90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con</a:t>
            </a:r>
            <a:r>
              <a:rPr dirty="0" sz="900" spc="-5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34485E"/>
                </a:solidFill>
                <a:latin typeface="Calibri"/>
                <a:cs typeface="Calibri"/>
              </a:rPr>
              <a:t>mayor</a:t>
            </a:r>
            <a:r>
              <a:rPr dirty="0" sz="900" spc="50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densidad</a:t>
            </a:r>
            <a:r>
              <a:rPr dirty="0" sz="90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0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defectos</a:t>
            </a:r>
            <a:r>
              <a:rPr dirty="0" sz="90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o</a:t>
            </a:r>
            <a:r>
              <a:rPr dirty="0" sz="90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4485E"/>
                </a:solidFill>
                <a:latin typeface="Calibri"/>
                <a:cs typeface="Calibri"/>
              </a:rPr>
              <a:t>retrabajo.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306314" y="2810001"/>
            <a:ext cx="607060" cy="607060"/>
            <a:chOff x="5306314" y="2810001"/>
            <a:chExt cx="607060" cy="607060"/>
          </a:xfrm>
        </p:grpSpPr>
        <p:sp>
          <p:nvSpPr>
            <p:cNvPr id="24" name="object 24"/>
            <p:cNvSpPr/>
            <p:nvPr/>
          </p:nvSpPr>
          <p:spPr>
            <a:xfrm>
              <a:off x="5312664" y="2816351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297180" y="0"/>
                  </a:moveTo>
                  <a:lnTo>
                    <a:pt x="248986" y="3890"/>
                  </a:lnTo>
                  <a:lnTo>
                    <a:pt x="203265" y="15154"/>
                  </a:lnTo>
                  <a:lnTo>
                    <a:pt x="160628" y="33179"/>
                  </a:lnTo>
                  <a:lnTo>
                    <a:pt x="121688" y="57351"/>
                  </a:lnTo>
                  <a:lnTo>
                    <a:pt x="87058" y="87058"/>
                  </a:lnTo>
                  <a:lnTo>
                    <a:pt x="57351" y="121688"/>
                  </a:lnTo>
                  <a:lnTo>
                    <a:pt x="33179" y="160628"/>
                  </a:lnTo>
                  <a:lnTo>
                    <a:pt x="15154" y="203265"/>
                  </a:lnTo>
                  <a:lnTo>
                    <a:pt x="3890" y="248986"/>
                  </a:lnTo>
                  <a:lnTo>
                    <a:pt x="0" y="297180"/>
                  </a:lnTo>
                  <a:lnTo>
                    <a:pt x="3890" y="345373"/>
                  </a:lnTo>
                  <a:lnTo>
                    <a:pt x="15154" y="391094"/>
                  </a:lnTo>
                  <a:lnTo>
                    <a:pt x="33179" y="433731"/>
                  </a:lnTo>
                  <a:lnTo>
                    <a:pt x="57351" y="472671"/>
                  </a:lnTo>
                  <a:lnTo>
                    <a:pt x="87058" y="507301"/>
                  </a:lnTo>
                  <a:lnTo>
                    <a:pt x="121688" y="537008"/>
                  </a:lnTo>
                  <a:lnTo>
                    <a:pt x="160628" y="561180"/>
                  </a:lnTo>
                  <a:lnTo>
                    <a:pt x="203265" y="579205"/>
                  </a:lnTo>
                  <a:lnTo>
                    <a:pt x="248986" y="590469"/>
                  </a:lnTo>
                  <a:lnTo>
                    <a:pt x="297180" y="594360"/>
                  </a:lnTo>
                  <a:lnTo>
                    <a:pt x="345373" y="590469"/>
                  </a:lnTo>
                  <a:lnTo>
                    <a:pt x="391094" y="579205"/>
                  </a:lnTo>
                  <a:lnTo>
                    <a:pt x="433731" y="561180"/>
                  </a:lnTo>
                  <a:lnTo>
                    <a:pt x="472671" y="537008"/>
                  </a:lnTo>
                  <a:lnTo>
                    <a:pt x="507301" y="507301"/>
                  </a:lnTo>
                  <a:lnTo>
                    <a:pt x="537008" y="472671"/>
                  </a:lnTo>
                  <a:lnTo>
                    <a:pt x="561180" y="433731"/>
                  </a:lnTo>
                  <a:lnTo>
                    <a:pt x="579205" y="391094"/>
                  </a:lnTo>
                  <a:lnTo>
                    <a:pt x="590469" y="345373"/>
                  </a:lnTo>
                  <a:lnTo>
                    <a:pt x="594360" y="297180"/>
                  </a:lnTo>
                  <a:lnTo>
                    <a:pt x="590469" y="248986"/>
                  </a:lnTo>
                  <a:lnTo>
                    <a:pt x="579205" y="203265"/>
                  </a:lnTo>
                  <a:lnTo>
                    <a:pt x="561180" y="160628"/>
                  </a:lnTo>
                  <a:lnTo>
                    <a:pt x="537008" y="121688"/>
                  </a:lnTo>
                  <a:lnTo>
                    <a:pt x="507301" y="87058"/>
                  </a:lnTo>
                  <a:lnTo>
                    <a:pt x="472671" y="57351"/>
                  </a:lnTo>
                  <a:lnTo>
                    <a:pt x="433731" y="33179"/>
                  </a:lnTo>
                  <a:lnTo>
                    <a:pt x="391094" y="15154"/>
                  </a:lnTo>
                  <a:lnTo>
                    <a:pt x="345373" y="3890"/>
                  </a:lnTo>
                  <a:lnTo>
                    <a:pt x="297180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312664" y="2816351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0" y="297180"/>
                  </a:moveTo>
                  <a:lnTo>
                    <a:pt x="3890" y="248986"/>
                  </a:lnTo>
                  <a:lnTo>
                    <a:pt x="15154" y="203265"/>
                  </a:lnTo>
                  <a:lnTo>
                    <a:pt x="33179" y="160628"/>
                  </a:lnTo>
                  <a:lnTo>
                    <a:pt x="57351" y="121688"/>
                  </a:lnTo>
                  <a:lnTo>
                    <a:pt x="87058" y="87058"/>
                  </a:lnTo>
                  <a:lnTo>
                    <a:pt x="121688" y="57351"/>
                  </a:lnTo>
                  <a:lnTo>
                    <a:pt x="160628" y="33179"/>
                  </a:lnTo>
                  <a:lnTo>
                    <a:pt x="203265" y="15154"/>
                  </a:lnTo>
                  <a:lnTo>
                    <a:pt x="248986" y="3890"/>
                  </a:lnTo>
                  <a:lnTo>
                    <a:pt x="297180" y="0"/>
                  </a:lnTo>
                  <a:lnTo>
                    <a:pt x="345373" y="3890"/>
                  </a:lnTo>
                  <a:lnTo>
                    <a:pt x="391094" y="15154"/>
                  </a:lnTo>
                  <a:lnTo>
                    <a:pt x="433731" y="33179"/>
                  </a:lnTo>
                  <a:lnTo>
                    <a:pt x="472671" y="57351"/>
                  </a:lnTo>
                  <a:lnTo>
                    <a:pt x="507301" y="87058"/>
                  </a:lnTo>
                  <a:lnTo>
                    <a:pt x="537008" y="121688"/>
                  </a:lnTo>
                  <a:lnTo>
                    <a:pt x="561180" y="160628"/>
                  </a:lnTo>
                  <a:lnTo>
                    <a:pt x="579205" y="203265"/>
                  </a:lnTo>
                  <a:lnTo>
                    <a:pt x="590469" y="248986"/>
                  </a:lnTo>
                  <a:lnTo>
                    <a:pt x="594360" y="297180"/>
                  </a:lnTo>
                  <a:lnTo>
                    <a:pt x="590469" y="345373"/>
                  </a:lnTo>
                  <a:lnTo>
                    <a:pt x="579205" y="391094"/>
                  </a:lnTo>
                  <a:lnTo>
                    <a:pt x="561180" y="433731"/>
                  </a:lnTo>
                  <a:lnTo>
                    <a:pt x="537008" y="472671"/>
                  </a:lnTo>
                  <a:lnTo>
                    <a:pt x="507301" y="507301"/>
                  </a:lnTo>
                  <a:lnTo>
                    <a:pt x="472671" y="537008"/>
                  </a:lnTo>
                  <a:lnTo>
                    <a:pt x="433731" y="561180"/>
                  </a:lnTo>
                  <a:lnTo>
                    <a:pt x="391094" y="579205"/>
                  </a:lnTo>
                  <a:lnTo>
                    <a:pt x="345373" y="590469"/>
                  </a:lnTo>
                  <a:lnTo>
                    <a:pt x="297180" y="594360"/>
                  </a:lnTo>
                  <a:lnTo>
                    <a:pt x="248986" y="590469"/>
                  </a:lnTo>
                  <a:lnTo>
                    <a:pt x="203265" y="579205"/>
                  </a:lnTo>
                  <a:lnTo>
                    <a:pt x="160628" y="561180"/>
                  </a:lnTo>
                  <a:lnTo>
                    <a:pt x="121688" y="537008"/>
                  </a:lnTo>
                  <a:lnTo>
                    <a:pt x="87058" y="507301"/>
                  </a:lnTo>
                  <a:lnTo>
                    <a:pt x="57351" y="472671"/>
                  </a:lnTo>
                  <a:lnTo>
                    <a:pt x="33179" y="433731"/>
                  </a:lnTo>
                  <a:lnTo>
                    <a:pt x="15154" y="391094"/>
                  </a:lnTo>
                  <a:lnTo>
                    <a:pt x="3890" y="345373"/>
                  </a:lnTo>
                  <a:lnTo>
                    <a:pt x="0" y="297180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5552313" y="2982849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051237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20514" y="3404361"/>
            <a:ext cx="1978660" cy="424180"/>
          </a:xfrm>
          <a:prstGeom prst="rect">
            <a:avLst/>
          </a:prstGeom>
          <a:solidFill>
            <a:srgbClr val="1C316F"/>
          </a:solidFill>
          <a:ln w="3175">
            <a:solidFill>
              <a:srgbClr val="1C316F"/>
            </a:solidFill>
          </a:ln>
        </p:spPr>
        <p:txBody>
          <a:bodyPr wrap="square" lIns="0" tIns="12065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95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Ajustar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09184" y="4022547"/>
            <a:ext cx="144716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Mejorar</a:t>
            </a:r>
            <a:r>
              <a:rPr dirty="0" sz="90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plantillas,</a:t>
            </a:r>
            <a:r>
              <a:rPr dirty="0" sz="90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4485E"/>
                </a:solidFill>
                <a:latin typeface="Calibri"/>
                <a:cs typeface="Calibri"/>
              </a:rPr>
              <a:t>revisiones</a:t>
            </a:r>
            <a:r>
              <a:rPr dirty="0" sz="90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00" spc="50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checklists</a:t>
            </a:r>
            <a:r>
              <a:rPr dirty="0" sz="90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del</a:t>
            </a:r>
            <a:r>
              <a:rPr dirty="0" sz="90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proceso</a:t>
            </a:r>
            <a:r>
              <a:rPr dirty="0" sz="900" spc="-4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00" spc="50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4485E"/>
                </a:solidFill>
                <a:latin typeface="Calibri"/>
                <a:cs typeface="Calibri"/>
              </a:rPr>
              <a:t>especificación.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482585" y="2810001"/>
            <a:ext cx="607060" cy="607060"/>
            <a:chOff x="7482585" y="2810001"/>
            <a:chExt cx="607060" cy="607060"/>
          </a:xfrm>
        </p:grpSpPr>
        <p:sp>
          <p:nvSpPr>
            <p:cNvPr id="30" name="object 30"/>
            <p:cNvSpPr/>
            <p:nvPr/>
          </p:nvSpPr>
          <p:spPr>
            <a:xfrm>
              <a:off x="7488935" y="2816351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297180" y="0"/>
                  </a:moveTo>
                  <a:lnTo>
                    <a:pt x="248986" y="3890"/>
                  </a:lnTo>
                  <a:lnTo>
                    <a:pt x="203265" y="15154"/>
                  </a:lnTo>
                  <a:lnTo>
                    <a:pt x="160628" y="33179"/>
                  </a:lnTo>
                  <a:lnTo>
                    <a:pt x="121688" y="57351"/>
                  </a:lnTo>
                  <a:lnTo>
                    <a:pt x="87058" y="87058"/>
                  </a:lnTo>
                  <a:lnTo>
                    <a:pt x="57351" y="121688"/>
                  </a:lnTo>
                  <a:lnTo>
                    <a:pt x="33179" y="160628"/>
                  </a:lnTo>
                  <a:lnTo>
                    <a:pt x="15154" y="203265"/>
                  </a:lnTo>
                  <a:lnTo>
                    <a:pt x="3890" y="248986"/>
                  </a:lnTo>
                  <a:lnTo>
                    <a:pt x="0" y="297180"/>
                  </a:lnTo>
                  <a:lnTo>
                    <a:pt x="3890" y="345373"/>
                  </a:lnTo>
                  <a:lnTo>
                    <a:pt x="15154" y="391094"/>
                  </a:lnTo>
                  <a:lnTo>
                    <a:pt x="33179" y="433731"/>
                  </a:lnTo>
                  <a:lnTo>
                    <a:pt x="57351" y="472671"/>
                  </a:lnTo>
                  <a:lnTo>
                    <a:pt x="87058" y="507301"/>
                  </a:lnTo>
                  <a:lnTo>
                    <a:pt x="121688" y="537008"/>
                  </a:lnTo>
                  <a:lnTo>
                    <a:pt x="160628" y="561180"/>
                  </a:lnTo>
                  <a:lnTo>
                    <a:pt x="203265" y="579205"/>
                  </a:lnTo>
                  <a:lnTo>
                    <a:pt x="248986" y="590469"/>
                  </a:lnTo>
                  <a:lnTo>
                    <a:pt x="297180" y="594360"/>
                  </a:lnTo>
                  <a:lnTo>
                    <a:pt x="345373" y="590469"/>
                  </a:lnTo>
                  <a:lnTo>
                    <a:pt x="391094" y="579205"/>
                  </a:lnTo>
                  <a:lnTo>
                    <a:pt x="433731" y="561180"/>
                  </a:lnTo>
                  <a:lnTo>
                    <a:pt x="472671" y="537008"/>
                  </a:lnTo>
                  <a:lnTo>
                    <a:pt x="507301" y="507301"/>
                  </a:lnTo>
                  <a:lnTo>
                    <a:pt x="537008" y="472671"/>
                  </a:lnTo>
                  <a:lnTo>
                    <a:pt x="561180" y="433731"/>
                  </a:lnTo>
                  <a:lnTo>
                    <a:pt x="579205" y="391094"/>
                  </a:lnTo>
                  <a:lnTo>
                    <a:pt x="590469" y="345373"/>
                  </a:lnTo>
                  <a:lnTo>
                    <a:pt x="594360" y="297180"/>
                  </a:lnTo>
                  <a:lnTo>
                    <a:pt x="590469" y="248986"/>
                  </a:lnTo>
                  <a:lnTo>
                    <a:pt x="579205" y="203265"/>
                  </a:lnTo>
                  <a:lnTo>
                    <a:pt x="561180" y="160628"/>
                  </a:lnTo>
                  <a:lnTo>
                    <a:pt x="537008" y="121688"/>
                  </a:lnTo>
                  <a:lnTo>
                    <a:pt x="507301" y="87058"/>
                  </a:lnTo>
                  <a:lnTo>
                    <a:pt x="472671" y="57351"/>
                  </a:lnTo>
                  <a:lnTo>
                    <a:pt x="433731" y="33179"/>
                  </a:lnTo>
                  <a:lnTo>
                    <a:pt x="391094" y="15154"/>
                  </a:lnTo>
                  <a:lnTo>
                    <a:pt x="345373" y="3890"/>
                  </a:lnTo>
                  <a:lnTo>
                    <a:pt x="297180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488935" y="2816351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0" y="297180"/>
                  </a:moveTo>
                  <a:lnTo>
                    <a:pt x="3890" y="248986"/>
                  </a:lnTo>
                  <a:lnTo>
                    <a:pt x="15154" y="203265"/>
                  </a:lnTo>
                  <a:lnTo>
                    <a:pt x="33179" y="160628"/>
                  </a:lnTo>
                  <a:lnTo>
                    <a:pt x="57351" y="121688"/>
                  </a:lnTo>
                  <a:lnTo>
                    <a:pt x="87058" y="87058"/>
                  </a:lnTo>
                  <a:lnTo>
                    <a:pt x="121688" y="57351"/>
                  </a:lnTo>
                  <a:lnTo>
                    <a:pt x="160628" y="33179"/>
                  </a:lnTo>
                  <a:lnTo>
                    <a:pt x="203265" y="15154"/>
                  </a:lnTo>
                  <a:lnTo>
                    <a:pt x="248986" y="3890"/>
                  </a:lnTo>
                  <a:lnTo>
                    <a:pt x="297180" y="0"/>
                  </a:lnTo>
                  <a:lnTo>
                    <a:pt x="345373" y="3890"/>
                  </a:lnTo>
                  <a:lnTo>
                    <a:pt x="391094" y="15154"/>
                  </a:lnTo>
                  <a:lnTo>
                    <a:pt x="433731" y="33179"/>
                  </a:lnTo>
                  <a:lnTo>
                    <a:pt x="472671" y="57351"/>
                  </a:lnTo>
                  <a:lnTo>
                    <a:pt x="507301" y="87058"/>
                  </a:lnTo>
                  <a:lnTo>
                    <a:pt x="537008" y="121688"/>
                  </a:lnTo>
                  <a:lnTo>
                    <a:pt x="561180" y="160628"/>
                  </a:lnTo>
                  <a:lnTo>
                    <a:pt x="579205" y="203265"/>
                  </a:lnTo>
                  <a:lnTo>
                    <a:pt x="590469" y="248986"/>
                  </a:lnTo>
                  <a:lnTo>
                    <a:pt x="594360" y="297180"/>
                  </a:lnTo>
                  <a:lnTo>
                    <a:pt x="590469" y="345373"/>
                  </a:lnTo>
                  <a:lnTo>
                    <a:pt x="579205" y="391094"/>
                  </a:lnTo>
                  <a:lnTo>
                    <a:pt x="561180" y="433731"/>
                  </a:lnTo>
                  <a:lnTo>
                    <a:pt x="537008" y="472671"/>
                  </a:lnTo>
                  <a:lnTo>
                    <a:pt x="507301" y="507301"/>
                  </a:lnTo>
                  <a:lnTo>
                    <a:pt x="472671" y="537008"/>
                  </a:lnTo>
                  <a:lnTo>
                    <a:pt x="433731" y="561180"/>
                  </a:lnTo>
                  <a:lnTo>
                    <a:pt x="391094" y="579205"/>
                  </a:lnTo>
                  <a:lnTo>
                    <a:pt x="345373" y="590469"/>
                  </a:lnTo>
                  <a:lnTo>
                    <a:pt x="297180" y="594360"/>
                  </a:lnTo>
                  <a:lnTo>
                    <a:pt x="248986" y="590469"/>
                  </a:lnTo>
                  <a:lnTo>
                    <a:pt x="203265" y="579205"/>
                  </a:lnTo>
                  <a:lnTo>
                    <a:pt x="160628" y="561180"/>
                  </a:lnTo>
                  <a:lnTo>
                    <a:pt x="121688" y="537008"/>
                  </a:lnTo>
                  <a:lnTo>
                    <a:pt x="87058" y="507301"/>
                  </a:lnTo>
                  <a:lnTo>
                    <a:pt x="57351" y="472671"/>
                  </a:lnTo>
                  <a:lnTo>
                    <a:pt x="33179" y="433731"/>
                  </a:lnTo>
                  <a:lnTo>
                    <a:pt x="15154" y="391094"/>
                  </a:lnTo>
                  <a:lnTo>
                    <a:pt x="3890" y="345373"/>
                  </a:lnTo>
                  <a:lnTo>
                    <a:pt x="0" y="297180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7728966" y="2982849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051237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6796785" y="3404361"/>
            <a:ext cx="1978660" cy="424180"/>
          </a:xfrm>
          <a:prstGeom prst="rect">
            <a:avLst/>
          </a:prstGeom>
          <a:solidFill>
            <a:srgbClr val="1C316F"/>
          </a:solidFill>
          <a:ln w="3175">
            <a:solidFill>
              <a:srgbClr val="1C316F"/>
            </a:solidFill>
          </a:ln>
        </p:spPr>
        <p:txBody>
          <a:bodyPr wrap="square" lIns="0" tIns="120650" rIns="0" bIns="0" rtlCol="0" vert="horz">
            <a:spAutoFit/>
          </a:bodyPr>
          <a:lstStyle/>
          <a:p>
            <a:pPr marL="523875">
              <a:lnSpc>
                <a:spcPct val="100000"/>
              </a:lnSpc>
              <a:spcBef>
                <a:spcPts val="95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Institucionalizar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070852" y="4022547"/>
            <a:ext cx="14795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Integrar</a:t>
            </a:r>
            <a:r>
              <a:rPr dirty="0" sz="90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en</a:t>
            </a:r>
            <a:r>
              <a:rPr dirty="0" sz="90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CMMI,</a:t>
            </a:r>
            <a:r>
              <a:rPr dirty="0" sz="9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TSP/PSP</a:t>
            </a:r>
            <a:r>
              <a:rPr dirty="0" sz="90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o</a:t>
            </a:r>
            <a:r>
              <a:rPr dirty="0" sz="90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34485E"/>
                </a:solidFill>
                <a:latin typeface="Calibri"/>
                <a:cs typeface="Calibri"/>
              </a:rPr>
              <a:t>el</a:t>
            </a:r>
            <a:r>
              <a:rPr dirty="0" sz="900" spc="50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modelo</a:t>
            </a:r>
            <a:r>
              <a:rPr dirty="0" sz="9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SPI</a:t>
            </a:r>
            <a:r>
              <a:rPr dirty="0" sz="90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adoptado</a:t>
            </a:r>
            <a:r>
              <a:rPr dirty="0" sz="90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34485E"/>
                </a:solidFill>
                <a:latin typeface="Calibri"/>
                <a:cs typeface="Calibri"/>
              </a:rPr>
              <a:t>por</a:t>
            </a:r>
            <a:r>
              <a:rPr dirty="0" sz="90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34485E"/>
                </a:solidFill>
                <a:latin typeface="Calibri"/>
                <a:cs typeface="Calibri"/>
              </a:rPr>
              <a:t>la</a:t>
            </a:r>
            <a:r>
              <a:rPr dirty="0" sz="900" spc="50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34485E"/>
                </a:solidFill>
                <a:latin typeface="Calibri"/>
                <a:cs typeface="Calibri"/>
              </a:rPr>
              <a:t>organización.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567"/>
            <a:ext cx="4271432" cy="55729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531" rIns="0" bIns="0" rtlCol="0" vert="horz">
            <a:spAutoFit/>
          </a:bodyPr>
          <a:lstStyle/>
          <a:p>
            <a:pPr marL="1494155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003366"/>
                </a:solidFill>
              </a:rPr>
              <a:t>Métricas </a:t>
            </a:r>
            <a:r>
              <a:rPr dirty="0" sz="1500">
                <a:solidFill>
                  <a:srgbClr val="003366"/>
                </a:solidFill>
              </a:rPr>
              <a:t>de</a:t>
            </a:r>
            <a:r>
              <a:rPr dirty="0" sz="1500" spc="-50">
                <a:solidFill>
                  <a:srgbClr val="003366"/>
                </a:solidFill>
              </a:rPr>
              <a:t> </a:t>
            </a:r>
            <a:r>
              <a:rPr dirty="0" sz="1500" spc="-10">
                <a:solidFill>
                  <a:srgbClr val="003366"/>
                </a:solidFill>
              </a:rPr>
              <a:t>Calidad:</a:t>
            </a:r>
            <a:r>
              <a:rPr dirty="0" sz="1500" spc="-40">
                <a:solidFill>
                  <a:srgbClr val="003366"/>
                </a:solidFill>
              </a:rPr>
              <a:t> </a:t>
            </a:r>
            <a:r>
              <a:rPr dirty="0" sz="1500" spc="-20">
                <a:solidFill>
                  <a:srgbClr val="003366"/>
                </a:solidFill>
              </a:rPr>
              <a:t>Indicadores </a:t>
            </a:r>
            <a:r>
              <a:rPr dirty="0" sz="1500" spc="-10">
                <a:solidFill>
                  <a:srgbClr val="003366"/>
                </a:solidFill>
              </a:rPr>
              <a:t>Clave</a:t>
            </a:r>
            <a:r>
              <a:rPr dirty="0" sz="1500" spc="-40">
                <a:solidFill>
                  <a:srgbClr val="003366"/>
                </a:solidFill>
              </a:rPr>
              <a:t> </a:t>
            </a:r>
            <a:r>
              <a:rPr dirty="0" sz="1500" spc="-10">
                <a:solidFill>
                  <a:srgbClr val="003366"/>
                </a:solidFill>
              </a:rPr>
              <a:t>para</a:t>
            </a:r>
            <a:r>
              <a:rPr dirty="0" sz="1500" spc="-25">
                <a:solidFill>
                  <a:srgbClr val="003366"/>
                </a:solidFill>
              </a:rPr>
              <a:t> </a:t>
            </a:r>
            <a:r>
              <a:rPr dirty="0" sz="1500">
                <a:solidFill>
                  <a:srgbClr val="003366"/>
                </a:solidFill>
              </a:rPr>
              <a:t>la</a:t>
            </a:r>
            <a:r>
              <a:rPr dirty="0" sz="1500" spc="-65">
                <a:solidFill>
                  <a:srgbClr val="003366"/>
                </a:solidFill>
              </a:rPr>
              <a:t> </a:t>
            </a:r>
            <a:r>
              <a:rPr dirty="0" sz="1500" spc="-45">
                <a:solidFill>
                  <a:srgbClr val="003366"/>
                </a:solidFill>
              </a:rPr>
              <a:t>Toma</a:t>
            </a:r>
            <a:r>
              <a:rPr dirty="0" sz="1500" spc="-25">
                <a:solidFill>
                  <a:srgbClr val="003366"/>
                </a:solidFill>
              </a:rPr>
              <a:t> </a:t>
            </a:r>
            <a:r>
              <a:rPr dirty="0" sz="1500">
                <a:solidFill>
                  <a:srgbClr val="003366"/>
                </a:solidFill>
              </a:rPr>
              <a:t>de</a:t>
            </a:r>
            <a:r>
              <a:rPr dirty="0" sz="1500" spc="-55">
                <a:solidFill>
                  <a:srgbClr val="003366"/>
                </a:solidFill>
              </a:rPr>
              <a:t> </a:t>
            </a:r>
            <a:r>
              <a:rPr dirty="0" sz="1500" spc="-10">
                <a:solidFill>
                  <a:srgbClr val="003366"/>
                </a:solidFill>
              </a:rPr>
              <a:t>Decisiones</a:t>
            </a:r>
            <a:endParaRPr sz="15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4785" marR="5715" indent="-172720">
              <a:lnSpc>
                <a:spcPct val="107500"/>
              </a:lnSpc>
              <a:spcBef>
                <a:spcPts val="100"/>
              </a:spcBef>
              <a:buChar char="▪"/>
              <a:tabLst>
                <a:tab pos="184785" algn="l"/>
              </a:tabLst>
            </a:pPr>
            <a:r>
              <a:rPr dirty="0"/>
              <a:t>PCC</a:t>
            </a:r>
            <a:r>
              <a:rPr dirty="0" spc="60"/>
              <a:t> </a:t>
            </a:r>
            <a:r>
              <a:rPr dirty="0"/>
              <a:t>–</a:t>
            </a:r>
            <a:r>
              <a:rPr dirty="0" spc="70"/>
              <a:t> </a:t>
            </a:r>
            <a:r>
              <a:rPr dirty="0"/>
              <a:t>Porcentaje</a:t>
            </a:r>
            <a:r>
              <a:rPr dirty="0" spc="55"/>
              <a:t> </a:t>
            </a:r>
            <a:r>
              <a:rPr dirty="0"/>
              <a:t>de</a:t>
            </a:r>
            <a:r>
              <a:rPr dirty="0" spc="70"/>
              <a:t> </a:t>
            </a:r>
            <a:r>
              <a:rPr dirty="0"/>
              <a:t>Costo</a:t>
            </a:r>
            <a:r>
              <a:rPr dirty="0" spc="70"/>
              <a:t> </a:t>
            </a:r>
            <a:r>
              <a:rPr dirty="0"/>
              <a:t>de</a:t>
            </a:r>
            <a:r>
              <a:rPr dirty="0" spc="70"/>
              <a:t> </a:t>
            </a:r>
            <a:r>
              <a:rPr dirty="0"/>
              <a:t>Calidad:</a:t>
            </a:r>
            <a:r>
              <a:rPr dirty="0" spc="70"/>
              <a:t> </a:t>
            </a:r>
            <a:r>
              <a:rPr dirty="0"/>
              <a:t>PCC</a:t>
            </a:r>
            <a:r>
              <a:rPr dirty="0" spc="60"/>
              <a:t> </a:t>
            </a:r>
            <a:r>
              <a:rPr dirty="0"/>
              <a:t>=</a:t>
            </a:r>
            <a:r>
              <a:rPr dirty="0" spc="70"/>
              <a:t> </a:t>
            </a:r>
            <a:r>
              <a:rPr dirty="0"/>
              <a:t>(Costo</a:t>
            </a:r>
            <a:r>
              <a:rPr dirty="0" spc="75"/>
              <a:t> </a:t>
            </a:r>
            <a:r>
              <a:rPr dirty="0"/>
              <a:t>de</a:t>
            </a:r>
            <a:r>
              <a:rPr dirty="0" spc="65"/>
              <a:t> </a:t>
            </a:r>
            <a:r>
              <a:rPr dirty="0"/>
              <a:t>Calidad</a:t>
            </a:r>
            <a:r>
              <a:rPr dirty="0" spc="65"/>
              <a:t> </a:t>
            </a:r>
            <a:r>
              <a:rPr dirty="0"/>
              <a:t>/</a:t>
            </a:r>
            <a:r>
              <a:rPr dirty="0" spc="75"/>
              <a:t> </a:t>
            </a:r>
            <a:r>
              <a:rPr dirty="0"/>
              <a:t>Costo</a:t>
            </a:r>
            <a:r>
              <a:rPr dirty="0" spc="70"/>
              <a:t> </a:t>
            </a:r>
            <a:r>
              <a:rPr dirty="0"/>
              <a:t>Real</a:t>
            </a:r>
            <a:r>
              <a:rPr dirty="0" spc="70"/>
              <a:t> </a:t>
            </a:r>
            <a:r>
              <a:rPr dirty="0"/>
              <a:t>del</a:t>
            </a:r>
            <a:r>
              <a:rPr dirty="0" spc="70"/>
              <a:t> </a:t>
            </a:r>
            <a:r>
              <a:rPr dirty="0"/>
              <a:t>Proyecto)</a:t>
            </a:r>
            <a:r>
              <a:rPr dirty="0" spc="70"/>
              <a:t> </a:t>
            </a:r>
            <a:r>
              <a:rPr dirty="0"/>
              <a:t>×</a:t>
            </a:r>
            <a:r>
              <a:rPr dirty="0" spc="65"/>
              <a:t> </a:t>
            </a:r>
            <a:r>
              <a:rPr dirty="0"/>
              <a:t>100.</a:t>
            </a:r>
            <a:r>
              <a:rPr dirty="0" spc="75"/>
              <a:t> </a:t>
            </a:r>
            <a:r>
              <a:rPr dirty="0"/>
              <a:t>Incluye</a:t>
            </a:r>
            <a:r>
              <a:rPr dirty="0" spc="75"/>
              <a:t> </a:t>
            </a:r>
            <a:r>
              <a:rPr dirty="0"/>
              <a:t>costo</a:t>
            </a:r>
            <a:r>
              <a:rPr dirty="0" spc="70"/>
              <a:t> </a:t>
            </a:r>
            <a:r>
              <a:rPr dirty="0"/>
              <a:t>de</a:t>
            </a:r>
            <a:r>
              <a:rPr dirty="0" spc="70"/>
              <a:t> </a:t>
            </a:r>
            <a:r>
              <a:rPr dirty="0"/>
              <a:t>conformidad</a:t>
            </a:r>
            <a:r>
              <a:rPr dirty="0" spc="70"/>
              <a:t> </a:t>
            </a:r>
            <a:r>
              <a:rPr dirty="0" spc="-50"/>
              <a:t>+ </a:t>
            </a:r>
            <a:r>
              <a:rPr dirty="0"/>
              <a:t>costo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no</a:t>
            </a:r>
            <a:r>
              <a:rPr dirty="0" spc="-25"/>
              <a:t> </a:t>
            </a:r>
            <a:r>
              <a:rPr dirty="0" spc="-10"/>
              <a:t>conformidad.</a:t>
            </a:r>
          </a:p>
          <a:p>
            <a:pPr marL="184785" marR="7620" indent="-172720">
              <a:lnSpc>
                <a:spcPct val="106700"/>
              </a:lnSpc>
              <a:spcBef>
                <a:spcPts val="200"/>
              </a:spcBef>
              <a:buChar char="▪"/>
              <a:tabLst>
                <a:tab pos="184785" algn="l"/>
              </a:tabLst>
            </a:pPr>
            <a:r>
              <a:rPr dirty="0"/>
              <a:t>CDP</a:t>
            </a:r>
            <a:r>
              <a:rPr dirty="0" spc="-5"/>
              <a:t> </a:t>
            </a:r>
            <a:r>
              <a:rPr dirty="0"/>
              <a:t>–</a:t>
            </a:r>
            <a:r>
              <a:rPr dirty="0" spc="-5"/>
              <a:t> </a:t>
            </a:r>
            <a:r>
              <a:rPr dirty="0"/>
              <a:t>Cantidad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Defectos</a:t>
            </a:r>
            <a:r>
              <a:rPr dirty="0" spc="-5"/>
              <a:t> </a:t>
            </a:r>
            <a:r>
              <a:rPr dirty="0"/>
              <a:t>por </a:t>
            </a:r>
            <a:r>
              <a:rPr dirty="0" spc="-10"/>
              <a:t>Proyecto:</a:t>
            </a:r>
            <a:r>
              <a:rPr dirty="0" spc="-5"/>
              <a:t> </a:t>
            </a:r>
            <a:r>
              <a:rPr dirty="0"/>
              <a:t>CDP =</a:t>
            </a:r>
            <a:r>
              <a:rPr dirty="0" spc="-20"/>
              <a:t> </a:t>
            </a:r>
            <a:r>
              <a:rPr dirty="0"/>
              <a:t>Σ(DE).</a:t>
            </a:r>
            <a:r>
              <a:rPr dirty="0" spc="-10"/>
              <a:t> </a:t>
            </a:r>
            <a:r>
              <a:rPr dirty="0"/>
              <a:t>Sumatoria</a:t>
            </a:r>
            <a:r>
              <a:rPr dirty="0" spc="-15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defectos</a:t>
            </a:r>
            <a:r>
              <a:rPr dirty="0"/>
              <a:t> en</a:t>
            </a:r>
            <a:r>
              <a:rPr dirty="0" spc="-5"/>
              <a:t> </a:t>
            </a:r>
            <a:r>
              <a:rPr dirty="0"/>
              <a:t>todas</a:t>
            </a:r>
            <a:r>
              <a:rPr dirty="0" spc="-5"/>
              <a:t> </a:t>
            </a:r>
            <a:r>
              <a:rPr dirty="0"/>
              <a:t>las</a:t>
            </a:r>
            <a:r>
              <a:rPr dirty="0" spc="-10"/>
              <a:t> </a:t>
            </a:r>
            <a:r>
              <a:rPr dirty="0"/>
              <a:t>fases</a:t>
            </a:r>
            <a:r>
              <a:rPr dirty="0" spc="-5"/>
              <a:t> </a:t>
            </a:r>
            <a:r>
              <a:rPr dirty="0"/>
              <a:t>del ciclo</a:t>
            </a:r>
            <a:r>
              <a:rPr dirty="0" spc="5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/>
              <a:t>vida;</a:t>
            </a:r>
            <a:r>
              <a:rPr dirty="0" spc="-15"/>
              <a:t> </a:t>
            </a:r>
            <a:r>
              <a:rPr dirty="0"/>
              <a:t>detectar</a:t>
            </a:r>
            <a:r>
              <a:rPr dirty="0" spc="-15"/>
              <a:t> </a:t>
            </a:r>
            <a:r>
              <a:rPr dirty="0" spc="-10"/>
              <a:t>defectos temprano</a:t>
            </a:r>
            <a:r>
              <a:rPr dirty="0" spc="-20"/>
              <a:t> </a:t>
            </a:r>
            <a:r>
              <a:rPr dirty="0"/>
              <a:t>reduce significativamente el retrabajo</a:t>
            </a:r>
            <a:r>
              <a:rPr dirty="0" spc="-10"/>
              <a:t>.</a:t>
            </a:r>
          </a:p>
          <a:p>
            <a:pPr marL="185420" indent="-172720">
              <a:lnSpc>
                <a:spcPct val="100000"/>
              </a:lnSpc>
              <a:spcBef>
                <a:spcPts val="300"/>
              </a:spcBef>
              <a:buChar char="▪"/>
              <a:tabLst>
                <a:tab pos="185420" algn="l"/>
              </a:tabLst>
            </a:pPr>
            <a:r>
              <a:rPr dirty="0"/>
              <a:t>PVC</a:t>
            </a:r>
            <a:r>
              <a:rPr dirty="0" spc="-25"/>
              <a:t> </a:t>
            </a:r>
            <a:r>
              <a:rPr dirty="0"/>
              <a:t>–</a:t>
            </a:r>
            <a:r>
              <a:rPr dirty="0" spc="-5"/>
              <a:t> </a:t>
            </a:r>
            <a:r>
              <a:rPr dirty="0" spc="-10"/>
              <a:t>Porcentaje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Variación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Costo:</a:t>
            </a:r>
            <a:r>
              <a:rPr dirty="0" spc="5"/>
              <a:t> </a:t>
            </a:r>
            <a:r>
              <a:rPr dirty="0"/>
              <a:t>PVC = (1 − CR/CP) × 100. Mide la desviación del costo real frente a la línea base (positivo = ahorro; negativo = sobrecosto).</a:t>
            </a:r>
          </a:p>
          <a:p>
            <a:pPr marL="185420" indent="-172720">
              <a:lnSpc>
                <a:spcPct val="100000"/>
              </a:lnSpc>
              <a:spcBef>
                <a:spcPts val="305"/>
              </a:spcBef>
              <a:buChar char="▪"/>
              <a:tabLst>
                <a:tab pos="185420" algn="l"/>
              </a:tabLst>
            </a:pPr>
            <a:r>
              <a:rPr dirty="0"/>
              <a:t>PCS</a:t>
            </a:r>
            <a:r>
              <a:rPr dirty="0" spc="-10"/>
              <a:t> </a:t>
            </a:r>
            <a:r>
              <a:rPr dirty="0"/>
              <a:t>–</a:t>
            </a:r>
            <a:r>
              <a:rPr dirty="0" spc="-5"/>
              <a:t> </a:t>
            </a:r>
            <a:r>
              <a:rPr dirty="0" spc="-10"/>
              <a:t>Porcentaje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Clientes</a:t>
            </a:r>
            <a:r>
              <a:rPr dirty="0" spc="-20"/>
              <a:t> </a:t>
            </a:r>
            <a:r>
              <a:rPr dirty="0" spc="-10"/>
              <a:t>Satisfechos:</a:t>
            </a:r>
            <a:r>
              <a:rPr dirty="0" spc="-15"/>
              <a:t> </a:t>
            </a:r>
            <a:r>
              <a:rPr dirty="0"/>
              <a:t>PCS</a:t>
            </a:r>
            <a:r>
              <a:rPr dirty="0" spc="-10"/>
              <a:t> </a:t>
            </a:r>
            <a:r>
              <a:rPr dirty="0"/>
              <a:t>=</a:t>
            </a:r>
            <a:r>
              <a:rPr dirty="0" spc="-5"/>
              <a:t> </a:t>
            </a:r>
            <a:r>
              <a:rPr dirty="0" spc="-20"/>
              <a:t>(Total</a:t>
            </a:r>
            <a:r>
              <a:rPr dirty="0" spc="-25"/>
              <a:t> </a:t>
            </a:r>
            <a:r>
              <a:rPr dirty="0"/>
              <a:t>Clientes</a:t>
            </a:r>
            <a:r>
              <a:rPr dirty="0" spc="-15"/>
              <a:t> </a:t>
            </a:r>
            <a:r>
              <a:rPr dirty="0"/>
              <a:t>−</a:t>
            </a:r>
            <a:r>
              <a:rPr dirty="0" spc="-5"/>
              <a:t> </a:t>
            </a:r>
            <a:r>
              <a:rPr dirty="0"/>
              <a:t>Clientes</a:t>
            </a:r>
            <a:r>
              <a:rPr dirty="0" spc="-25"/>
              <a:t> </a:t>
            </a:r>
            <a:r>
              <a:rPr dirty="0"/>
              <a:t>con </a:t>
            </a:r>
            <a:r>
              <a:rPr dirty="0" spc="-10"/>
              <a:t>Inconformidad)</a:t>
            </a:r>
            <a:r>
              <a:rPr dirty="0" spc="-40"/>
              <a:t> </a:t>
            </a:r>
            <a:r>
              <a:rPr dirty="0"/>
              <a:t>/</a:t>
            </a:r>
            <a:r>
              <a:rPr dirty="0" spc="-15"/>
              <a:t> </a:t>
            </a:r>
            <a:r>
              <a:rPr dirty="0" spc="-20"/>
              <a:t>Total</a:t>
            </a:r>
            <a:r>
              <a:rPr dirty="0" spc="-10"/>
              <a:t> </a:t>
            </a:r>
            <a:r>
              <a:rPr dirty="0"/>
              <a:t>Clientes</a:t>
            </a:r>
            <a:r>
              <a:rPr dirty="0" spc="-25"/>
              <a:t> </a:t>
            </a:r>
            <a:r>
              <a:rPr dirty="0"/>
              <a:t>×</a:t>
            </a:r>
            <a:r>
              <a:rPr dirty="0" spc="-10"/>
              <a:t> </a:t>
            </a:r>
            <a:r>
              <a:rPr dirty="0" spc="-20"/>
              <a:t>100.</a:t>
            </a:r>
          </a:p>
          <a:p>
            <a:pPr marL="184785" marR="6350" indent="-172720">
              <a:lnSpc>
                <a:spcPct val="106700"/>
              </a:lnSpc>
              <a:spcBef>
                <a:spcPts val="215"/>
              </a:spcBef>
              <a:buChar char="▪"/>
              <a:tabLst>
                <a:tab pos="184785" algn="l"/>
              </a:tabLst>
            </a:pPr>
            <a:r>
              <a:rPr dirty="0"/>
              <a:t>La</a:t>
            </a:r>
            <a:r>
              <a:rPr dirty="0" spc="-10"/>
              <a:t> </a:t>
            </a:r>
            <a:r>
              <a:rPr dirty="0"/>
              <a:t>pirámide PSP → TSP</a:t>
            </a:r>
            <a:r>
              <a:rPr dirty="0" spc="-15"/>
              <a:t> </a:t>
            </a:r>
            <a:r>
              <a:rPr dirty="0"/>
              <a:t>→ CMMI</a:t>
            </a:r>
            <a:r>
              <a:rPr dirty="0" spc="-10"/>
              <a:t> garantiza</a:t>
            </a:r>
            <a:r>
              <a:rPr dirty="0" spc="-5"/>
              <a:t> </a:t>
            </a:r>
            <a:r>
              <a:rPr dirty="0" spc="-10"/>
              <a:t>trazabilidad </a:t>
            </a:r>
            <a:r>
              <a:rPr dirty="0"/>
              <a:t>desde el</a:t>
            </a:r>
            <a:r>
              <a:rPr dirty="0" spc="-10"/>
              <a:t> </a:t>
            </a:r>
            <a:r>
              <a:rPr dirty="0"/>
              <a:t>trabajo</a:t>
            </a:r>
            <a:r>
              <a:rPr dirty="0" spc="5"/>
              <a:t> </a:t>
            </a:r>
            <a:r>
              <a:rPr dirty="0"/>
              <a:t>individual</a:t>
            </a:r>
            <a:r>
              <a:rPr dirty="0" spc="-15"/>
              <a:t> </a:t>
            </a:r>
            <a:r>
              <a:rPr dirty="0"/>
              <a:t>del ingeniero</a:t>
            </a:r>
            <a:r>
              <a:rPr dirty="0" spc="-5"/>
              <a:t> </a:t>
            </a:r>
            <a:r>
              <a:rPr dirty="0"/>
              <a:t>hasta</a:t>
            </a:r>
            <a:r>
              <a:rPr dirty="0" spc="-5"/>
              <a:t> </a:t>
            </a:r>
            <a:r>
              <a:rPr dirty="0"/>
              <a:t>los</a:t>
            </a:r>
            <a:r>
              <a:rPr dirty="0" spc="-5"/>
              <a:t> </a:t>
            </a:r>
            <a:r>
              <a:rPr dirty="0"/>
              <a:t>indicadores</a:t>
            </a:r>
            <a:r>
              <a:rPr dirty="0" spc="-10"/>
              <a:t> </a:t>
            </a:r>
            <a:r>
              <a:rPr dirty="0"/>
              <a:t>de</a:t>
            </a:r>
            <a:r>
              <a:rPr dirty="0" spc="-5"/>
              <a:t> </a:t>
            </a:r>
            <a:r>
              <a:rPr dirty="0"/>
              <a:t>negocio </a:t>
            </a:r>
            <a:r>
              <a:rPr dirty="0" spc="-25"/>
              <a:t>de </a:t>
            </a:r>
            <a:r>
              <a:rPr dirty="0"/>
              <a:t>la</a:t>
            </a:r>
            <a:r>
              <a:rPr dirty="0" spc="5"/>
              <a:t> </a:t>
            </a:r>
            <a:r>
              <a:rPr dirty="0" spc="-10"/>
              <a:t>dirección.</a:t>
            </a:r>
          </a:p>
          <a:p>
            <a:pPr>
              <a:lnSpc>
                <a:spcPct val="100000"/>
              </a:lnSpc>
              <a:spcBef>
                <a:spcPts val="475"/>
              </a:spcBef>
            </a:pPr>
          </a:p>
          <a:p>
            <a:pPr algn="just" marL="12700" marR="5080">
              <a:lnSpc>
                <a:spcPct val="107100"/>
              </a:lnSpc>
            </a:pPr>
            <a:r>
              <a:rPr dirty="0">
                <a:solidFill>
                  <a:srgbClr val="000000"/>
                </a:solidFill>
              </a:rPr>
              <a:t>Fenton</a:t>
            </a:r>
            <a:r>
              <a:rPr dirty="0" spc="1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y</a:t>
            </a:r>
            <a:r>
              <a:rPr dirty="0" spc="1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Bieman</a:t>
            </a:r>
            <a:r>
              <a:rPr dirty="0" spc="1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(2014)</a:t>
            </a:r>
            <a:r>
              <a:rPr dirty="0" spc="1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establecen</a:t>
            </a:r>
            <a:r>
              <a:rPr dirty="0" spc="1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que</a:t>
            </a:r>
            <a:r>
              <a:rPr dirty="0" spc="1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la</a:t>
            </a:r>
            <a:r>
              <a:rPr dirty="0" spc="1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calidad</a:t>
            </a:r>
            <a:r>
              <a:rPr dirty="0" spc="1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del</a:t>
            </a:r>
            <a:r>
              <a:rPr dirty="0" spc="1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software</a:t>
            </a:r>
            <a:r>
              <a:rPr dirty="0" spc="1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</a:t>
            </a:r>
            <a:r>
              <a:rPr dirty="0" spc="1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puede</a:t>
            </a:r>
            <a:r>
              <a:rPr dirty="0" spc="1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medir</a:t>
            </a:r>
            <a:r>
              <a:rPr dirty="0" spc="1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</a:t>
            </a:r>
            <a:r>
              <a:rPr dirty="0" spc="1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términos</a:t>
            </a:r>
            <a:r>
              <a:rPr dirty="0" spc="1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</a:t>
            </a:r>
            <a:r>
              <a:rPr dirty="0" spc="1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densidad</a:t>
            </a:r>
            <a:r>
              <a:rPr dirty="0" spc="1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</a:t>
            </a:r>
            <a:r>
              <a:rPr dirty="0" spc="1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defectos,</a:t>
            </a:r>
            <a:r>
              <a:rPr dirty="0" spc="1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pero</a:t>
            </a:r>
            <a:r>
              <a:rPr dirty="0" spc="165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este </a:t>
            </a:r>
            <a:r>
              <a:rPr dirty="0">
                <a:solidFill>
                  <a:srgbClr val="000000"/>
                </a:solidFill>
              </a:rPr>
              <a:t>enfoque</a:t>
            </a:r>
            <a:r>
              <a:rPr dirty="0" spc="1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es</a:t>
            </a:r>
            <a:r>
              <a:rPr dirty="0" spc="1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insuficiente</a:t>
            </a:r>
            <a:r>
              <a:rPr dirty="0" spc="1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si</a:t>
            </a:r>
            <a:r>
              <a:rPr dirty="0" spc="1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no</a:t>
            </a:r>
            <a:r>
              <a:rPr dirty="0" spc="1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</a:t>
            </a:r>
            <a:r>
              <a:rPr dirty="0" spc="1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complementa</a:t>
            </a:r>
            <a:r>
              <a:rPr dirty="0" spc="1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con</a:t>
            </a:r>
            <a:r>
              <a:rPr dirty="0" spc="16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métricas</a:t>
            </a:r>
            <a:r>
              <a:rPr dirty="0" spc="1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económicas</a:t>
            </a:r>
            <a:r>
              <a:rPr dirty="0" spc="1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como</a:t>
            </a:r>
            <a:r>
              <a:rPr dirty="0" spc="1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el</a:t>
            </a:r>
            <a:r>
              <a:rPr dirty="0" spc="1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costo</a:t>
            </a:r>
            <a:r>
              <a:rPr dirty="0" spc="1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</a:t>
            </a:r>
            <a:r>
              <a:rPr dirty="0" spc="1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calidad</a:t>
            </a:r>
            <a:r>
              <a:rPr dirty="0" spc="17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y</a:t>
            </a:r>
            <a:r>
              <a:rPr dirty="0" spc="1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la</a:t>
            </a:r>
            <a:r>
              <a:rPr dirty="0" spc="1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variación</a:t>
            </a:r>
            <a:r>
              <a:rPr dirty="0" spc="16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presupuestal.</a:t>
            </a:r>
            <a:r>
              <a:rPr dirty="0" spc="155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La </a:t>
            </a:r>
            <a:r>
              <a:rPr dirty="0">
                <a:solidFill>
                  <a:srgbClr val="000000"/>
                </a:solidFill>
              </a:rPr>
              <a:t>pirámide</a:t>
            </a:r>
            <a:r>
              <a:rPr dirty="0" spc="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</a:t>
            </a:r>
            <a:r>
              <a:rPr dirty="0" spc="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métricas</a:t>
            </a:r>
            <a:r>
              <a:rPr dirty="0" spc="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PSP</a:t>
            </a:r>
            <a:r>
              <a:rPr dirty="0" spc="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→</a:t>
            </a:r>
            <a:r>
              <a:rPr dirty="0" spc="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TSP</a:t>
            </a:r>
            <a:r>
              <a:rPr dirty="0" spc="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→</a:t>
            </a:r>
            <a:r>
              <a:rPr dirty="0" spc="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CMMI</a:t>
            </a:r>
            <a:r>
              <a:rPr dirty="0" spc="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garantiza</a:t>
            </a:r>
            <a:r>
              <a:rPr dirty="0" spc="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la</a:t>
            </a:r>
            <a:r>
              <a:rPr dirty="0" spc="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trazabilidad</a:t>
            </a:r>
            <a:r>
              <a:rPr dirty="0" spc="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desde</a:t>
            </a:r>
            <a:r>
              <a:rPr dirty="0" spc="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el</a:t>
            </a:r>
            <a:r>
              <a:rPr dirty="0" spc="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trabajo</a:t>
            </a:r>
            <a:r>
              <a:rPr dirty="0" spc="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individual</a:t>
            </a:r>
            <a:r>
              <a:rPr dirty="0" spc="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del</a:t>
            </a:r>
            <a:r>
              <a:rPr dirty="0" spc="4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ingeniero</a:t>
            </a:r>
            <a:r>
              <a:rPr dirty="0" spc="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hasta</a:t>
            </a:r>
            <a:r>
              <a:rPr dirty="0" spc="4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los</a:t>
            </a:r>
            <a:r>
              <a:rPr dirty="0" spc="5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indicadores</a:t>
            </a:r>
            <a:r>
              <a:rPr dirty="0" spc="5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de </a:t>
            </a:r>
            <a:r>
              <a:rPr dirty="0">
                <a:solidFill>
                  <a:srgbClr val="000000"/>
                </a:solidFill>
              </a:rPr>
              <a:t>negocio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que</a:t>
            </a:r>
            <a:r>
              <a:rPr dirty="0" spc="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interesan</a:t>
            </a:r>
            <a:r>
              <a:rPr dirty="0" spc="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 la</a:t>
            </a:r>
            <a:r>
              <a:rPr dirty="0" spc="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dirección.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El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uso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</a:t>
            </a:r>
            <a:r>
              <a:rPr dirty="0" spc="1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instrumentos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 recolección</a:t>
            </a:r>
            <a:r>
              <a:rPr dirty="0" spc="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estandarizados</a:t>
            </a:r>
            <a:r>
              <a:rPr dirty="0">
                <a:solidFill>
                  <a:srgbClr val="000000"/>
                </a:solidFill>
              </a:rPr>
              <a:t> (fichas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 </a:t>
            </a:r>
            <a:r>
              <a:rPr dirty="0" spc="-10">
                <a:solidFill>
                  <a:srgbClr val="000000"/>
                </a:solidFill>
              </a:rPr>
              <a:t>registro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 datos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y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cuestionarios </a:t>
            </a:r>
            <a:r>
              <a:rPr dirty="0">
                <a:solidFill>
                  <a:srgbClr val="000000"/>
                </a:solidFill>
              </a:rPr>
              <a:t>de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satisfacción)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es</a:t>
            </a:r>
            <a:r>
              <a:rPr dirty="0" spc="1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indispensable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para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que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estas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métricas</a:t>
            </a:r>
            <a:r>
              <a:rPr dirty="0" spc="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sean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comparables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entre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proyectos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y</a:t>
            </a:r>
            <a:r>
              <a:rPr dirty="0" spc="-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entre</a:t>
            </a:r>
            <a:r>
              <a:rPr dirty="0" spc="-2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periodos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de</a:t>
            </a:r>
            <a:r>
              <a:rPr dirty="0" spc="-1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tiempo.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4821681"/>
            <a:ext cx="9156700" cy="328295"/>
            <a:chOff x="-6350" y="4821681"/>
            <a:chExt cx="9156700" cy="328295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53059" y="744982"/>
            <a:ext cx="41389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Cierre</a:t>
            </a:r>
            <a:r>
              <a:rPr dirty="0" sz="18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8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proyección</a:t>
            </a:r>
            <a:r>
              <a:rPr dirty="0" sz="1800" spc="-5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a</a:t>
            </a:r>
            <a:r>
              <a:rPr dirty="0" sz="18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la</a:t>
            </a:r>
            <a:r>
              <a:rPr dirty="0" sz="18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práctica</a:t>
            </a:r>
            <a:r>
              <a:rPr dirty="0" sz="18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D1F4E"/>
                </a:solidFill>
                <a:latin typeface="Calibri"/>
                <a:cs typeface="Calibri"/>
              </a:rPr>
              <a:t>profesional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6031" y="1298447"/>
            <a:ext cx="4160520" cy="1554480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</a:pPr>
            <a:r>
              <a:rPr dirty="0" sz="1300" spc="-10" b="1">
                <a:solidFill>
                  <a:srgbClr val="C8A127"/>
                </a:solidFill>
                <a:latin typeface="Calibri"/>
                <a:cs typeface="Calibri"/>
              </a:rPr>
              <a:t>Síntesis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Calibri"/>
              <a:cs typeface="Calibri"/>
            </a:endParaRPr>
          </a:p>
          <a:p>
            <a:pPr marL="273685" marR="363855">
              <a:lnSpc>
                <a:spcPct val="100000"/>
              </a:lnSpc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IEEE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830,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ISO/IEC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12207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modelo</a:t>
            </a:r>
            <a:r>
              <a:rPr dirty="0" sz="10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procedimental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requisitos conforman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un conjunto</a:t>
            </a:r>
            <a:r>
              <a:rPr dirty="0" sz="10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integrado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calidad.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0871" y="1298447"/>
            <a:ext cx="4160520" cy="1554480"/>
          </a:xfrm>
          <a:prstGeom prst="rect">
            <a:avLst/>
          </a:prstGeom>
          <a:solidFill>
            <a:srgbClr val="1C316F"/>
          </a:solidFill>
          <a:ln w="19050">
            <a:solidFill>
              <a:srgbClr val="C8A127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</a:pPr>
            <a:r>
              <a:rPr dirty="0" sz="1300" spc="-10" b="1">
                <a:solidFill>
                  <a:srgbClr val="C8A127"/>
                </a:solidFill>
                <a:latin typeface="Calibri"/>
                <a:cs typeface="Calibri"/>
              </a:rPr>
              <a:t>Beneficios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Calibri"/>
              <a:cs typeface="Calibri"/>
            </a:endParaRPr>
          </a:p>
          <a:p>
            <a:pPr marL="274320" marR="605790">
              <a:lnSpc>
                <a:spcPct val="100000"/>
              </a:lnSpc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Menos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defectos,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mejor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trazabilidad,</a:t>
            </a:r>
            <a:r>
              <a:rPr dirty="0" sz="10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mayor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alineación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negocio</a:t>
            </a:r>
            <a:r>
              <a:rPr dirty="0" sz="10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reducción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costo de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calidad.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031" y="2990088"/>
            <a:ext cx="4160520" cy="1554480"/>
          </a:xfrm>
          <a:prstGeom prst="rect">
            <a:avLst/>
          </a:prstGeom>
          <a:solidFill>
            <a:srgbClr val="1A6B53"/>
          </a:solidFill>
          <a:ln w="19050">
            <a:solidFill>
              <a:srgbClr val="C8A127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  <a:spcBef>
                <a:spcPts val="5"/>
              </a:spcBef>
            </a:pPr>
            <a:r>
              <a:rPr dirty="0" sz="1300" spc="-10" b="1">
                <a:solidFill>
                  <a:srgbClr val="C8A127"/>
                </a:solidFill>
                <a:latin typeface="Calibri"/>
                <a:cs typeface="Calibri"/>
              </a:rPr>
              <a:t>Aplicabilidad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libri"/>
              <a:cs typeface="Calibri"/>
            </a:endParaRPr>
          </a:p>
          <a:p>
            <a:pPr marL="273685" marR="34544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Desde</a:t>
            </a:r>
            <a:r>
              <a:rPr dirty="0" sz="10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pymes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hasta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grandes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organizaciones</a:t>
            </a:r>
            <a:r>
              <a:rPr dirty="0" sz="10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globales: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startups,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bancos,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telecomunicaciones.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90871" y="2990088"/>
            <a:ext cx="4160520" cy="1554480"/>
          </a:xfrm>
          <a:prstGeom prst="rect">
            <a:avLst/>
          </a:prstGeom>
          <a:solidFill>
            <a:srgbClr val="6B1A1A"/>
          </a:solidFill>
          <a:ln w="19050">
            <a:solidFill>
              <a:srgbClr val="C8A127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  <a:spcBef>
                <a:spcPts val="5"/>
              </a:spcBef>
            </a:pP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Próximos</a:t>
            </a:r>
            <a:r>
              <a:rPr dirty="0" sz="1300" spc="-6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C8A127"/>
                </a:solidFill>
                <a:latin typeface="Calibri"/>
                <a:cs typeface="Calibri"/>
              </a:rPr>
              <a:t>pasos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libri"/>
              <a:cs typeface="Calibri"/>
            </a:endParaRPr>
          </a:p>
          <a:p>
            <a:pPr marL="274320" marR="455295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Profundizar</a:t>
            </a:r>
            <a:r>
              <a:rPr dirty="0" sz="10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plantillas,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herramientas</a:t>
            </a:r>
            <a:r>
              <a:rPr dirty="0" sz="10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requisitos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integradas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dirty="0" sz="10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modelos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SPI.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99552" y="3854907"/>
            <a:ext cx="352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9850"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r>
              <a:rPr dirty="0" sz="700" spc="500" b="1">
                <a:solidFill>
                  <a:srgbClr val="051237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2578607"/>
            <a:ext cx="9156700" cy="2571750"/>
            <a:chOff x="-6350" y="2578607"/>
            <a:chExt cx="9156700" cy="2571750"/>
          </a:xfrm>
        </p:grpSpPr>
        <p:sp>
          <p:nvSpPr>
            <p:cNvPr id="4" name="object 4"/>
            <p:cNvSpPr/>
            <p:nvPr/>
          </p:nvSpPr>
          <p:spPr>
            <a:xfrm>
              <a:off x="0" y="4846319"/>
              <a:ext cx="9144000" cy="297180"/>
            </a:xfrm>
            <a:custGeom>
              <a:avLst/>
              <a:gdLst/>
              <a:ahLst/>
              <a:cxnLst/>
              <a:rect l="l" t="t" r="r" b="b"/>
              <a:pathLst>
                <a:path w="9144000" h="297179">
                  <a:moveTo>
                    <a:pt x="9144000" y="0"/>
                  </a:moveTo>
                  <a:lnTo>
                    <a:pt x="0" y="0"/>
                  </a:lnTo>
                  <a:lnTo>
                    <a:pt x="0" y="297179"/>
                  </a:lnTo>
                  <a:lnTo>
                    <a:pt x="9144000" y="29717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46319"/>
              <a:ext cx="9144000" cy="297180"/>
            </a:xfrm>
            <a:custGeom>
              <a:avLst/>
              <a:gdLst/>
              <a:ahLst/>
              <a:cxnLst/>
              <a:rect l="l" t="t" r="r" b="b"/>
              <a:pathLst>
                <a:path w="9144000" h="297179">
                  <a:moveTo>
                    <a:pt x="0" y="297179"/>
                  </a:moveTo>
                  <a:lnTo>
                    <a:pt x="9144000" y="29717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43200" y="2584957"/>
              <a:ext cx="3657600" cy="55244"/>
            </a:xfrm>
            <a:custGeom>
              <a:avLst/>
              <a:gdLst/>
              <a:ahLst/>
              <a:cxnLst/>
              <a:rect l="l" t="t" r="r" b="b"/>
              <a:pathLst>
                <a:path w="3657600" h="55244">
                  <a:moveTo>
                    <a:pt x="365760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3657600" y="54863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43200" y="2584957"/>
              <a:ext cx="3657600" cy="55244"/>
            </a:xfrm>
            <a:custGeom>
              <a:avLst/>
              <a:gdLst/>
              <a:ahLst/>
              <a:cxnLst/>
              <a:rect l="l" t="t" r="r" b="b"/>
              <a:pathLst>
                <a:path w="3657600" h="55244">
                  <a:moveTo>
                    <a:pt x="0" y="54863"/>
                  </a:moveTo>
                  <a:lnTo>
                    <a:pt x="3657600" y="54863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98779" y="261315"/>
            <a:ext cx="87756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UNIMINUTO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631185" y="1866722"/>
            <a:ext cx="388239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C8A127"/>
                </a:solidFill>
              </a:rPr>
              <a:t>EJERCICIOS</a:t>
            </a:r>
            <a:r>
              <a:rPr dirty="0" sz="3200" spc="-110">
                <a:solidFill>
                  <a:srgbClr val="C8A127"/>
                </a:solidFill>
              </a:rPr>
              <a:t> </a:t>
            </a:r>
            <a:r>
              <a:rPr dirty="0" sz="3200" spc="-10">
                <a:solidFill>
                  <a:srgbClr val="C8A127"/>
                </a:solidFill>
              </a:rPr>
              <a:t>PRÁCTICOS</a:t>
            </a:r>
            <a:endParaRPr sz="3200"/>
          </a:p>
        </p:txBody>
      </p:sp>
      <p:sp>
        <p:nvSpPr>
          <p:cNvPr id="10" name="object 10"/>
          <p:cNvSpPr txBox="1"/>
          <p:nvPr/>
        </p:nvSpPr>
        <p:spPr>
          <a:xfrm>
            <a:off x="2803017" y="2688716"/>
            <a:ext cx="3544570" cy="692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1270">
              <a:lnSpc>
                <a:spcPct val="100000"/>
              </a:lnSpc>
              <a:spcBef>
                <a:spcPts val="95"/>
              </a:spcBef>
            </a:pPr>
            <a:r>
              <a:rPr dirty="0" sz="1600" spc="-10" i="1">
                <a:solidFill>
                  <a:srgbClr val="FFFFFF"/>
                </a:solidFill>
                <a:latin typeface="Calibri"/>
                <a:cs typeface="Calibri"/>
              </a:rPr>
              <a:t>Especificación</a:t>
            </a:r>
            <a:r>
              <a:rPr dirty="0" sz="16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6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FFFFFF"/>
                </a:solidFill>
                <a:latin typeface="Calibri"/>
                <a:cs typeface="Calibri"/>
              </a:rPr>
              <a:t>requisitos</a:t>
            </a:r>
            <a:r>
              <a:rPr dirty="0" sz="16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i="1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dirty="0" sz="16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 i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AACCFF"/>
                </a:solidFill>
                <a:latin typeface="Calibri"/>
                <a:cs typeface="Calibri"/>
              </a:rPr>
              <a:t>Estándares</a:t>
            </a:r>
            <a:r>
              <a:rPr dirty="0" sz="1100" spc="-40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ACCFF"/>
                </a:solidFill>
                <a:latin typeface="Calibri"/>
                <a:cs typeface="Calibri"/>
              </a:rPr>
              <a:t>y </a:t>
            </a:r>
            <a:r>
              <a:rPr dirty="0" sz="1100" spc="-10">
                <a:solidFill>
                  <a:srgbClr val="AACCFF"/>
                </a:solidFill>
                <a:latin typeface="Calibri"/>
                <a:cs typeface="Calibri"/>
              </a:rPr>
              <a:t>Métricas</a:t>
            </a:r>
            <a:r>
              <a:rPr dirty="0" sz="1100" spc="-45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ACCFF"/>
                </a:solidFill>
                <a:latin typeface="Calibri"/>
                <a:cs typeface="Calibri"/>
              </a:rPr>
              <a:t>de Calidad</a:t>
            </a:r>
            <a:r>
              <a:rPr dirty="0" sz="1100" spc="-10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ACCFF"/>
                </a:solidFill>
                <a:latin typeface="Calibri"/>
                <a:cs typeface="Calibri"/>
              </a:rPr>
              <a:t>en</a:t>
            </a:r>
            <a:r>
              <a:rPr dirty="0" sz="1100" spc="-15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ACCFF"/>
                </a:solidFill>
                <a:latin typeface="Calibri"/>
                <a:cs typeface="Calibri"/>
              </a:rPr>
              <a:t>el Desarrollo</a:t>
            </a:r>
            <a:r>
              <a:rPr dirty="0" sz="1100" spc="-40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ACCFF"/>
                </a:solidFill>
                <a:latin typeface="Calibri"/>
                <a:cs typeface="Calibri"/>
              </a:rPr>
              <a:t>de</a:t>
            </a:r>
            <a:r>
              <a:rPr dirty="0" sz="1100" spc="-5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AACCFF"/>
                </a:solidFill>
                <a:latin typeface="Calibri"/>
                <a:cs typeface="Calibri"/>
              </a:rPr>
              <a:t>Software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2691129"/>
            <a:ext cx="9156700" cy="2458720"/>
            <a:chOff x="-6350" y="2691129"/>
            <a:chExt cx="9156700" cy="2458720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4320" y="2697479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75" y="0"/>
                  </a:moveTo>
                  <a:lnTo>
                    <a:pt x="103188" y="7693"/>
                  </a:lnTo>
                  <a:lnTo>
                    <a:pt x="61771" y="29114"/>
                  </a:lnTo>
                  <a:lnTo>
                    <a:pt x="29110" y="61776"/>
                  </a:lnTo>
                  <a:lnTo>
                    <a:pt x="7691" y="103193"/>
                  </a:lnTo>
                  <a:lnTo>
                    <a:pt x="0" y="150875"/>
                  </a:lnTo>
                  <a:lnTo>
                    <a:pt x="7691" y="198558"/>
                  </a:lnTo>
                  <a:lnTo>
                    <a:pt x="29110" y="239975"/>
                  </a:lnTo>
                  <a:lnTo>
                    <a:pt x="61771" y="272637"/>
                  </a:lnTo>
                  <a:lnTo>
                    <a:pt x="103188" y="294058"/>
                  </a:lnTo>
                  <a:lnTo>
                    <a:pt x="150875" y="301751"/>
                  </a:lnTo>
                  <a:lnTo>
                    <a:pt x="198563" y="294058"/>
                  </a:lnTo>
                  <a:lnTo>
                    <a:pt x="239980" y="272637"/>
                  </a:lnTo>
                  <a:lnTo>
                    <a:pt x="272641" y="239975"/>
                  </a:lnTo>
                  <a:lnTo>
                    <a:pt x="294060" y="198558"/>
                  </a:lnTo>
                  <a:lnTo>
                    <a:pt x="301752" y="150875"/>
                  </a:lnTo>
                  <a:lnTo>
                    <a:pt x="294060" y="103193"/>
                  </a:lnTo>
                  <a:lnTo>
                    <a:pt x="272641" y="61776"/>
                  </a:lnTo>
                  <a:lnTo>
                    <a:pt x="239980" y="29114"/>
                  </a:lnTo>
                  <a:lnTo>
                    <a:pt x="198563" y="7693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4320" y="2697479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75"/>
                  </a:moveTo>
                  <a:lnTo>
                    <a:pt x="7691" y="103193"/>
                  </a:lnTo>
                  <a:lnTo>
                    <a:pt x="29110" y="61776"/>
                  </a:lnTo>
                  <a:lnTo>
                    <a:pt x="61771" y="29114"/>
                  </a:lnTo>
                  <a:lnTo>
                    <a:pt x="103188" y="7693"/>
                  </a:lnTo>
                  <a:lnTo>
                    <a:pt x="150875" y="0"/>
                  </a:lnTo>
                  <a:lnTo>
                    <a:pt x="198563" y="7693"/>
                  </a:lnTo>
                  <a:lnTo>
                    <a:pt x="239980" y="29114"/>
                  </a:lnTo>
                  <a:lnTo>
                    <a:pt x="272641" y="61776"/>
                  </a:lnTo>
                  <a:lnTo>
                    <a:pt x="294060" y="103193"/>
                  </a:lnTo>
                  <a:lnTo>
                    <a:pt x="301752" y="150875"/>
                  </a:lnTo>
                  <a:lnTo>
                    <a:pt x="294060" y="198558"/>
                  </a:lnTo>
                  <a:lnTo>
                    <a:pt x="272641" y="239975"/>
                  </a:lnTo>
                  <a:lnTo>
                    <a:pt x="239980" y="272637"/>
                  </a:lnTo>
                  <a:lnTo>
                    <a:pt x="198563" y="294058"/>
                  </a:lnTo>
                  <a:lnTo>
                    <a:pt x="150875" y="301751"/>
                  </a:lnTo>
                  <a:lnTo>
                    <a:pt x="103188" y="294058"/>
                  </a:lnTo>
                  <a:lnTo>
                    <a:pt x="61771" y="272637"/>
                  </a:lnTo>
                  <a:lnTo>
                    <a:pt x="29110" y="239975"/>
                  </a:lnTo>
                  <a:lnTo>
                    <a:pt x="7691" y="198558"/>
                  </a:lnTo>
                  <a:lnTo>
                    <a:pt x="0" y="150875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74320" y="658368"/>
            <a:ext cx="914400" cy="41148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</a:ln>
        </p:spPr>
        <p:txBody>
          <a:bodyPr wrap="square" lIns="0" tIns="1054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dirty="0" sz="1200" b="1">
                <a:solidFill>
                  <a:srgbClr val="C8A127"/>
                </a:solidFill>
                <a:latin typeface="Calibri"/>
                <a:cs typeface="Calibri"/>
              </a:rPr>
              <a:t>EJ.</a:t>
            </a:r>
            <a:r>
              <a:rPr dirty="0" sz="1200" spc="-2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C8A127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4874" y="732789"/>
            <a:ext cx="560895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0D1F4E"/>
                </a:solidFill>
                <a:latin typeface="Calibri"/>
                <a:cs typeface="Calibri"/>
              </a:rPr>
              <a:t>Aplicación</a:t>
            </a:r>
            <a:r>
              <a:rPr dirty="0" sz="14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1F4E"/>
                </a:solidFill>
                <a:latin typeface="Calibri"/>
                <a:cs typeface="Calibri"/>
              </a:rPr>
              <a:t>del</a:t>
            </a:r>
            <a:r>
              <a:rPr dirty="0" sz="14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1F4E"/>
                </a:solidFill>
                <a:latin typeface="Calibri"/>
                <a:cs typeface="Calibri"/>
              </a:rPr>
              <a:t>modelo</a:t>
            </a:r>
            <a:r>
              <a:rPr dirty="0" sz="14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D1F4E"/>
                </a:solidFill>
                <a:latin typeface="Calibri"/>
                <a:cs typeface="Calibri"/>
              </a:rPr>
              <a:t>procedimental</a:t>
            </a:r>
            <a:r>
              <a:rPr dirty="0" sz="14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1F4E"/>
                </a:solidFill>
                <a:latin typeface="Calibri"/>
                <a:cs typeface="Calibri"/>
              </a:rPr>
              <a:t>a</a:t>
            </a:r>
            <a:r>
              <a:rPr dirty="0" sz="14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1F4E"/>
                </a:solidFill>
                <a:latin typeface="Calibri"/>
                <a:cs typeface="Calibri"/>
              </a:rPr>
              <a:t>un</a:t>
            </a:r>
            <a:r>
              <a:rPr dirty="0" sz="14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1F4E"/>
                </a:solidFill>
                <a:latin typeface="Calibri"/>
                <a:cs typeface="Calibri"/>
              </a:rPr>
              <a:t>sistema</a:t>
            </a:r>
            <a:r>
              <a:rPr dirty="0" sz="14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4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1F4E"/>
                </a:solidFill>
                <a:latin typeface="Calibri"/>
                <a:cs typeface="Calibri"/>
              </a:rPr>
              <a:t>citas</a:t>
            </a:r>
            <a:r>
              <a:rPr dirty="0" sz="14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1F4E"/>
                </a:solidFill>
                <a:latin typeface="Calibri"/>
                <a:cs typeface="Calibri"/>
              </a:rPr>
              <a:t>médicas</a:t>
            </a:r>
            <a:r>
              <a:rPr dirty="0" sz="14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D1F4E"/>
                </a:solidFill>
                <a:latin typeface="Calibri"/>
                <a:cs typeface="Calibri"/>
              </a:rPr>
              <a:t>en</a:t>
            </a:r>
            <a:r>
              <a:rPr dirty="0" sz="14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D1F4E"/>
                </a:solidFill>
                <a:latin typeface="Calibri"/>
                <a:cs typeface="Calibri"/>
              </a:rPr>
              <a:t>línea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4320" y="1170432"/>
            <a:ext cx="8595360" cy="475615"/>
          </a:xfrm>
          <a:prstGeom prst="rect">
            <a:avLst/>
          </a:prstGeom>
          <a:solidFill>
            <a:srgbClr val="1C316F"/>
          </a:solidFill>
          <a:ln w="12700">
            <a:solidFill>
              <a:srgbClr val="1C316F"/>
            </a:solidFill>
          </a:ln>
        </p:spPr>
        <p:txBody>
          <a:bodyPr wrap="square" lIns="0" tIns="12763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5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ESCENARIO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779" y="1887169"/>
            <a:ext cx="8051800" cy="5073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Desarrollar</a:t>
            </a:r>
            <a:r>
              <a:rPr dirty="0" sz="1050" spc="-5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un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sistema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citas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médicas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línea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para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una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clínica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privada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que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permita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pacientes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agendar,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reprogramar</a:t>
            </a:r>
            <a:r>
              <a:rPr dirty="0" sz="1050" spc="-5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cancelar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citas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médicos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desde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web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o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móvil.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usará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escenarios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recepción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física,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portal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web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pacientes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módulo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interno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para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médicos.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Los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usuarios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principales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son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pacientes,</a:t>
            </a:r>
            <a:r>
              <a:rPr dirty="0" sz="10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recepcionistas,</a:t>
            </a:r>
            <a:r>
              <a:rPr dirty="0" sz="1050" spc="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médicos</a:t>
            </a:r>
            <a:r>
              <a:rPr dirty="0" sz="1050" spc="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administradores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agenda.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9882" y="2752725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51237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4540" y="2742692"/>
            <a:ext cx="46634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Contextualización: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Describir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para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qué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se</a:t>
            </a:r>
            <a:r>
              <a:rPr dirty="0" sz="10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usará,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qué</a:t>
            </a:r>
            <a:r>
              <a:rPr dirty="0" sz="10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escenarios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quiénes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lo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usarán.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7970" y="3102610"/>
            <a:ext cx="314960" cy="314960"/>
            <a:chOff x="267970" y="3102610"/>
            <a:chExt cx="314960" cy="314960"/>
          </a:xfrm>
        </p:grpSpPr>
        <p:sp>
          <p:nvSpPr>
            <p:cNvPr id="15" name="object 15"/>
            <p:cNvSpPr/>
            <p:nvPr/>
          </p:nvSpPr>
          <p:spPr>
            <a:xfrm>
              <a:off x="274320" y="31089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75" y="0"/>
                  </a:moveTo>
                  <a:lnTo>
                    <a:pt x="103188" y="7693"/>
                  </a:lnTo>
                  <a:lnTo>
                    <a:pt x="61771" y="29114"/>
                  </a:lnTo>
                  <a:lnTo>
                    <a:pt x="29110" y="61776"/>
                  </a:lnTo>
                  <a:lnTo>
                    <a:pt x="7691" y="103193"/>
                  </a:lnTo>
                  <a:lnTo>
                    <a:pt x="0" y="150875"/>
                  </a:lnTo>
                  <a:lnTo>
                    <a:pt x="7691" y="198558"/>
                  </a:lnTo>
                  <a:lnTo>
                    <a:pt x="29110" y="239975"/>
                  </a:lnTo>
                  <a:lnTo>
                    <a:pt x="61771" y="272637"/>
                  </a:lnTo>
                  <a:lnTo>
                    <a:pt x="103188" y="294058"/>
                  </a:lnTo>
                  <a:lnTo>
                    <a:pt x="150875" y="301751"/>
                  </a:lnTo>
                  <a:lnTo>
                    <a:pt x="198563" y="294058"/>
                  </a:lnTo>
                  <a:lnTo>
                    <a:pt x="239980" y="272637"/>
                  </a:lnTo>
                  <a:lnTo>
                    <a:pt x="272641" y="239975"/>
                  </a:lnTo>
                  <a:lnTo>
                    <a:pt x="294060" y="198558"/>
                  </a:lnTo>
                  <a:lnTo>
                    <a:pt x="301752" y="150875"/>
                  </a:lnTo>
                  <a:lnTo>
                    <a:pt x="294060" y="103193"/>
                  </a:lnTo>
                  <a:lnTo>
                    <a:pt x="272641" y="61776"/>
                  </a:lnTo>
                  <a:lnTo>
                    <a:pt x="239980" y="29114"/>
                  </a:lnTo>
                  <a:lnTo>
                    <a:pt x="198563" y="7693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4320" y="31089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75"/>
                  </a:moveTo>
                  <a:lnTo>
                    <a:pt x="7691" y="103193"/>
                  </a:lnTo>
                  <a:lnTo>
                    <a:pt x="29110" y="61776"/>
                  </a:lnTo>
                  <a:lnTo>
                    <a:pt x="61771" y="29114"/>
                  </a:lnTo>
                  <a:lnTo>
                    <a:pt x="103188" y="7693"/>
                  </a:lnTo>
                  <a:lnTo>
                    <a:pt x="150875" y="0"/>
                  </a:lnTo>
                  <a:lnTo>
                    <a:pt x="198563" y="7693"/>
                  </a:lnTo>
                  <a:lnTo>
                    <a:pt x="239980" y="29114"/>
                  </a:lnTo>
                  <a:lnTo>
                    <a:pt x="272641" y="61776"/>
                  </a:lnTo>
                  <a:lnTo>
                    <a:pt x="294060" y="103193"/>
                  </a:lnTo>
                  <a:lnTo>
                    <a:pt x="301752" y="150875"/>
                  </a:lnTo>
                  <a:lnTo>
                    <a:pt x="294060" y="198558"/>
                  </a:lnTo>
                  <a:lnTo>
                    <a:pt x="272641" y="239975"/>
                  </a:lnTo>
                  <a:lnTo>
                    <a:pt x="239980" y="272637"/>
                  </a:lnTo>
                  <a:lnTo>
                    <a:pt x="198563" y="294058"/>
                  </a:lnTo>
                  <a:lnTo>
                    <a:pt x="150875" y="301751"/>
                  </a:lnTo>
                  <a:lnTo>
                    <a:pt x="103188" y="294058"/>
                  </a:lnTo>
                  <a:lnTo>
                    <a:pt x="61771" y="272637"/>
                  </a:lnTo>
                  <a:lnTo>
                    <a:pt x="29110" y="239975"/>
                  </a:lnTo>
                  <a:lnTo>
                    <a:pt x="7691" y="198558"/>
                  </a:lnTo>
                  <a:lnTo>
                    <a:pt x="0" y="150875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79882" y="3164204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51237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4540" y="3154426"/>
            <a:ext cx="59588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Escenarios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usuarios: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Tabla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 escenarios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(código,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nombre,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descripción)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tabla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usuarios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(código,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rol,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uso).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7970" y="3514090"/>
            <a:ext cx="314960" cy="314960"/>
            <a:chOff x="267970" y="3514090"/>
            <a:chExt cx="314960" cy="314960"/>
          </a:xfrm>
        </p:grpSpPr>
        <p:sp>
          <p:nvSpPr>
            <p:cNvPr id="20" name="object 20"/>
            <p:cNvSpPr/>
            <p:nvPr/>
          </p:nvSpPr>
          <p:spPr>
            <a:xfrm>
              <a:off x="274320" y="352044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75" y="0"/>
                  </a:moveTo>
                  <a:lnTo>
                    <a:pt x="103188" y="7693"/>
                  </a:lnTo>
                  <a:lnTo>
                    <a:pt x="61771" y="29114"/>
                  </a:lnTo>
                  <a:lnTo>
                    <a:pt x="29110" y="61776"/>
                  </a:lnTo>
                  <a:lnTo>
                    <a:pt x="7691" y="103193"/>
                  </a:lnTo>
                  <a:lnTo>
                    <a:pt x="0" y="150876"/>
                  </a:lnTo>
                  <a:lnTo>
                    <a:pt x="7691" y="198558"/>
                  </a:lnTo>
                  <a:lnTo>
                    <a:pt x="29110" y="239975"/>
                  </a:lnTo>
                  <a:lnTo>
                    <a:pt x="61771" y="272637"/>
                  </a:lnTo>
                  <a:lnTo>
                    <a:pt x="103188" y="294058"/>
                  </a:lnTo>
                  <a:lnTo>
                    <a:pt x="150875" y="301752"/>
                  </a:lnTo>
                  <a:lnTo>
                    <a:pt x="198563" y="294058"/>
                  </a:lnTo>
                  <a:lnTo>
                    <a:pt x="239980" y="272637"/>
                  </a:lnTo>
                  <a:lnTo>
                    <a:pt x="272641" y="239975"/>
                  </a:lnTo>
                  <a:lnTo>
                    <a:pt x="294060" y="198558"/>
                  </a:lnTo>
                  <a:lnTo>
                    <a:pt x="301752" y="150876"/>
                  </a:lnTo>
                  <a:lnTo>
                    <a:pt x="294060" y="103193"/>
                  </a:lnTo>
                  <a:lnTo>
                    <a:pt x="272641" y="61776"/>
                  </a:lnTo>
                  <a:lnTo>
                    <a:pt x="239980" y="29114"/>
                  </a:lnTo>
                  <a:lnTo>
                    <a:pt x="198563" y="7693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4320" y="352044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76"/>
                  </a:moveTo>
                  <a:lnTo>
                    <a:pt x="7691" y="103193"/>
                  </a:lnTo>
                  <a:lnTo>
                    <a:pt x="29110" y="61776"/>
                  </a:lnTo>
                  <a:lnTo>
                    <a:pt x="61771" y="29114"/>
                  </a:lnTo>
                  <a:lnTo>
                    <a:pt x="103188" y="7693"/>
                  </a:lnTo>
                  <a:lnTo>
                    <a:pt x="150875" y="0"/>
                  </a:lnTo>
                  <a:lnTo>
                    <a:pt x="198563" y="7693"/>
                  </a:lnTo>
                  <a:lnTo>
                    <a:pt x="239980" y="29114"/>
                  </a:lnTo>
                  <a:lnTo>
                    <a:pt x="272641" y="61776"/>
                  </a:lnTo>
                  <a:lnTo>
                    <a:pt x="294060" y="103193"/>
                  </a:lnTo>
                  <a:lnTo>
                    <a:pt x="301752" y="150876"/>
                  </a:lnTo>
                  <a:lnTo>
                    <a:pt x="294060" y="198558"/>
                  </a:lnTo>
                  <a:lnTo>
                    <a:pt x="272641" y="239975"/>
                  </a:lnTo>
                  <a:lnTo>
                    <a:pt x="239980" y="272637"/>
                  </a:lnTo>
                  <a:lnTo>
                    <a:pt x="198563" y="294058"/>
                  </a:lnTo>
                  <a:lnTo>
                    <a:pt x="150875" y="301752"/>
                  </a:lnTo>
                  <a:lnTo>
                    <a:pt x="103188" y="294058"/>
                  </a:lnTo>
                  <a:lnTo>
                    <a:pt x="61771" y="272637"/>
                  </a:lnTo>
                  <a:lnTo>
                    <a:pt x="29110" y="239975"/>
                  </a:lnTo>
                  <a:lnTo>
                    <a:pt x="7691" y="198558"/>
                  </a:lnTo>
                  <a:lnTo>
                    <a:pt x="0" y="150876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79882" y="3575380"/>
            <a:ext cx="901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51237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4540" y="3565905"/>
            <a:ext cx="42405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Stakeholders: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Listar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actores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institución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usuaria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 del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equipo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proyecto.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67970" y="3925570"/>
            <a:ext cx="314960" cy="314960"/>
            <a:chOff x="267970" y="3925570"/>
            <a:chExt cx="314960" cy="314960"/>
          </a:xfrm>
        </p:grpSpPr>
        <p:sp>
          <p:nvSpPr>
            <p:cNvPr id="25" name="object 25"/>
            <p:cNvSpPr/>
            <p:nvPr/>
          </p:nvSpPr>
          <p:spPr>
            <a:xfrm>
              <a:off x="274320" y="393192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75" y="0"/>
                  </a:moveTo>
                  <a:lnTo>
                    <a:pt x="103188" y="7691"/>
                  </a:lnTo>
                  <a:lnTo>
                    <a:pt x="61771" y="29110"/>
                  </a:lnTo>
                  <a:lnTo>
                    <a:pt x="29110" y="61771"/>
                  </a:lnTo>
                  <a:lnTo>
                    <a:pt x="7691" y="103188"/>
                  </a:lnTo>
                  <a:lnTo>
                    <a:pt x="0" y="150875"/>
                  </a:lnTo>
                  <a:lnTo>
                    <a:pt x="7691" y="198563"/>
                  </a:lnTo>
                  <a:lnTo>
                    <a:pt x="29110" y="239980"/>
                  </a:lnTo>
                  <a:lnTo>
                    <a:pt x="61771" y="272641"/>
                  </a:lnTo>
                  <a:lnTo>
                    <a:pt x="103188" y="294060"/>
                  </a:lnTo>
                  <a:lnTo>
                    <a:pt x="150875" y="301751"/>
                  </a:lnTo>
                  <a:lnTo>
                    <a:pt x="198563" y="294060"/>
                  </a:lnTo>
                  <a:lnTo>
                    <a:pt x="239980" y="272641"/>
                  </a:lnTo>
                  <a:lnTo>
                    <a:pt x="272641" y="239980"/>
                  </a:lnTo>
                  <a:lnTo>
                    <a:pt x="294060" y="198563"/>
                  </a:lnTo>
                  <a:lnTo>
                    <a:pt x="301752" y="150875"/>
                  </a:lnTo>
                  <a:lnTo>
                    <a:pt x="294060" y="103188"/>
                  </a:lnTo>
                  <a:lnTo>
                    <a:pt x="272641" y="61771"/>
                  </a:lnTo>
                  <a:lnTo>
                    <a:pt x="239980" y="29110"/>
                  </a:lnTo>
                  <a:lnTo>
                    <a:pt x="198563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74320" y="393192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75"/>
                  </a:moveTo>
                  <a:lnTo>
                    <a:pt x="7691" y="103188"/>
                  </a:lnTo>
                  <a:lnTo>
                    <a:pt x="29110" y="61771"/>
                  </a:lnTo>
                  <a:lnTo>
                    <a:pt x="61771" y="29110"/>
                  </a:lnTo>
                  <a:lnTo>
                    <a:pt x="103188" y="7691"/>
                  </a:lnTo>
                  <a:lnTo>
                    <a:pt x="150875" y="0"/>
                  </a:lnTo>
                  <a:lnTo>
                    <a:pt x="198563" y="7691"/>
                  </a:lnTo>
                  <a:lnTo>
                    <a:pt x="239980" y="29110"/>
                  </a:lnTo>
                  <a:lnTo>
                    <a:pt x="272641" y="61771"/>
                  </a:lnTo>
                  <a:lnTo>
                    <a:pt x="294060" y="103188"/>
                  </a:lnTo>
                  <a:lnTo>
                    <a:pt x="301752" y="150875"/>
                  </a:lnTo>
                  <a:lnTo>
                    <a:pt x="294060" y="198563"/>
                  </a:lnTo>
                  <a:lnTo>
                    <a:pt x="272641" y="239980"/>
                  </a:lnTo>
                  <a:lnTo>
                    <a:pt x="239980" y="272641"/>
                  </a:lnTo>
                  <a:lnTo>
                    <a:pt x="198563" y="294060"/>
                  </a:lnTo>
                  <a:lnTo>
                    <a:pt x="150875" y="301751"/>
                  </a:lnTo>
                  <a:lnTo>
                    <a:pt x="103188" y="294060"/>
                  </a:lnTo>
                  <a:lnTo>
                    <a:pt x="61771" y="272641"/>
                  </a:lnTo>
                  <a:lnTo>
                    <a:pt x="29110" y="239980"/>
                  </a:lnTo>
                  <a:lnTo>
                    <a:pt x="7691" y="198563"/>
                  </a:lnTo>
                  <a:lnTo>
                    <a:pt x="0" y="150875"/>
                  </a:lnTo>
                  <a:close/>
                </a:path>
              </a:pathLst>
            </a:custGeom>
            <a:ln w="12699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379882" y="3987494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51237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4540" y="3977436"/>
            <a:ext cx="515874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Educción: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Mínimo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5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preguntas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para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entrevistar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un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tipo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usuario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+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breve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acta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con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hallazgos.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67970" y="4337050"/>
            <a:ext cx="314960" cy="314960"/>
            <a:chOff x="267970" y="4337050"/>
            <a:chExt cx="314960" cy="314960"/>
          </a:xfrm>
        </p:grpSpPr>
        <p:sp>
          <p:nvSpPr>
            <p:cNvPr id="30" name="object 30"/>
            <p:cNvSpPr/>
            <p:nvPr/>
          </p:nvSpPr>
          <p:spPr>
            <a:xfrm>
              <a:off x="274320" y="434340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75" y="0"/>
                  </a:moveTo>
                  <a:lnTo>
                    <a:pt x="103188" y="7691"/>
                  </a:lnTo>
                  <a:lnTo>
                    <a:pt x="61771" y="29110"/>
                  </a:lnTo>
                  <a:lnTo>
                    <a:pt x="29110" y="61771"/>
                  </a:lnTo>
                  <a:lnTo>
                    <a:pt x="7691" y="103188"/>
                  </a:lnTo>
                  <a:lnTo>
                    <a:pt x="0" y="150876"/>
                  </a:lnTo>
                  <a:lnTo>
                    <a:pt x="7691" y="198563"/>
                  </a:lnTo>
                  <a:lnTo>
                    <a:pt x="29110" y="239980"/>
                  </a:lnTo>
                  <a:lnTo>
                    <a:pt x="61771" y="272641"/>
                  </a:lnTo>
                  <a:lnTo>
                    <a:pt x="103188" y="294060"/>
                  </a:lnTo>
                  <a:lnTo>
                    <a:pt x="150875" y="301752"/>
                  </a:lnTo>
                  <a:lnTo>
                    <a:pt x="198563" y="294060"/>
                  </a:lnTo>
                  <a:lnTo>
                    <a:pt x="239980" y="272641"/>
                  </a:lnTo>
                  <a:lnTo>
                    <a:pt x="272641" y="239980"/>
                  </a:lnTo>
                  <a:lnTo>
                    <a:pt x="294060" y="198563"/>
                  </a:lnTo>
                  <a:lnTo>
                    <a:pt x="301752" y="150876"/>
                  </a:lnTo>
                  <a:lnTo>
                    <a:pt x="294060" y="103188"/>
                  </a:lnTo>
                  <a:lnTo>
                    <a:pt x="272641" y="61771"/>
                  </a:lnTo>
                  <a:lnTo>
                    <a:pt x="239980" y="29110"/>
                  </a:lnTo>
                  <a:lnTo>
                    <a:pt x="198563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74320" y="434340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76"/>
                  </a:moveTo>
                  <a:lnTo>
                    <a:pt x="7691" y="103188"/>
                  </a:lnTo>
                  <a:lnTo>
                    <a:pt x="29110" y="61771"/>
                  </a:lnTo>
                  <a:lnTo>
                    <a:pt x="61771" y="29110"/>
                  </a:lnTo>
                  <a:lnTo>
                    <a:pt x="103188" y="7691"/>
                  </a:lnTo>
                  <a:lnTo>
                    <a:pt x="150875" y="0"/>
                  </a:lnTo>
                  <a:lnTo>
                    <a:pt x="198563" y="7691"/>
                  </a:lnTo>
                  <a:lnTo>
                    <a:pt x="239980" y="29110"/>
                  </a:lnTo>
                  <a:lnTo>
                    <a:pt x="272641" y="61771"/>
                  </a:lnTo>
                  <a:lnTo>
                    <a:pt x="294060" y="103188"/>
                  </a:lnTo>
                  <a:lnTo>
                    <a:pt x="301752" y="150876"/>
                  </a:lnTo>
                  <a:lnTo>
                    <a:pt x="294060" y="198563"/>
                  </a:lnTo>
                  <a:lnTo>
                    <a:pt x="272641" y="239980"/>
                  </a:lnTo>
                  <a:lnTo>
                    <a:pt x="239980" y="272641"/>
                  </a:lnTo>
                  <a:lnTo>
                    <a:pt x="198563" y="294060"/>
                  </a:lnTo>
                  <a:lnTo>
                    <a:pt x="150875" y="301752"/>
                  </a:lnTo>
                  <a:lnTo>
                    <a:pt x="103188" y="294060"/>
                  </a:lnTo>
                  <a:lnTo>
                    <a:pt x="61771" y="272641"/>
                  </a:lnTo>
                  <a:lnTo>
                    <a:pt x="29110" y="239980"/>
                  </a:lnTo>
                  <a:lnTo>
                    <a:pt x="7691" y="198563"/>
                  </a:lnTo>
                  <a:lnTo>
                    <a:pt x="0" y="150876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79882" y="4398975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51237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764540" y="4389221"/>
            <a:ext cx="497078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Especificación: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Catálogo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con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al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menos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5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RF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(RF01–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RF05)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ficha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completa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para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uno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ellos.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3947033"/>
            <a:ext cx="9156700" cy="1203325"/>
            <a:chOff x="-6350" y="3947033"/>
            <a:chExt cx="9156700" cy="1203325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20040" y="3950208"/>
              <a:ext cx="4279900" cy="434340"/>
            </a:xfrm>
            <a:custGeom>
              <a:avLst/>
              <a:gdLst/>
              <a:ahLst/>
              <a:cxnLst/>
              <a:rect l="l" t="t" r="r" b="b"/>
              <a:pathLst>
                <a:path w="4279900" h="434339">
                  <a:moveTo>
                    <a:pt x="4279392" y="0"/>
                  </a:moveTo>
                  <a:lnTo>
                    <a:pt x="0" y="0"/>
                  </a:lnTo>
                  <a:lnTo>
                    <a:pt x="0" y="434340"/>
                  </a:lnTo>
                  <a:lnTo>
                    <a:pt x="4279392" y="434340"/>
                  </a:lnTo>
                  <a:lnTo>
                    <a:pt x="4279392" y="0"/>
                  </a:lnTo>
                  <a:close/>
                </a:path>
              </a:pathLst>
            </a:custGeom>
            <a:solidFill>
              <a:srgbClr val="0D1F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99432" y="3950208"/>
              <a:ext cx="4270375" cy="434340"/>
            </a:xfrm>
            <a:custGeom>
              <a:avLst/>
              <a:gdLst/>
              <a:ahLst/>
              <a:cxnLst/>
              <a:rect l="l" t="t" r="r" b="b"/>
              <a:pathLst>
                <a:path w="4270375" h="434339">
                  <a:moveTo>
                    <a:pt x="4270248" y="0"/>
                  </a:moveTo>
                  <a:lnTo>
                    <a:pt x="0" y="0"/>
                  </a:lnTo>
                  <a:lnTo>
                    <a:pt x="0" y="434340"/>
                  </a:lnTo>
                  <a:lnTo>
                    <a:pt x="4270248" y="434340"/>
                  </a:lnTo>
                  <a:lnTo>
                    <a:pt x="4270248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6865" y="3947033"/>
              <a:ext cx="8555990" cy="875030"/>
            </a:xfrm>
            <a:custGeom>
              <a:avLst/>
              <a:gdLst/>
              <a:ahLst/>
              <a:cxnLst/>
              <a:rect l="l" t="t" r="r" b="b"/>
              <a:pathLst>
                <a:path w="8555990" h="875029">
                  <a:moveTo>
                    <a:pt x="4282567" y="0"/>
                  </a:moveTo>
                  <a:lnTo>
                    <a:pt x="4282567" y="875029"/>
                  </a:lnTo>
                </a:path>
                <a:path w="8555990" h="875029">
                  <a:moveTo>
                    <a:pt x="0" y="437514"/>
                  </a:moveTo>
                  <a:lnTo>
                    <a:pt x="8555990" y="437514"/>
                  </a:lnTo>
                </a:path>
                <a:path w="8555990" h="875029">
                  <a:moveTo>
                    <a:pt x="3175" y="0"/>
                  </a:moveTo>
                  <a:lnTo>
                    <a:pt x="3175" y="875029"/>
                  </a:lnTo>
                </a:path>
                <a:path w="8555990" h="875029">
                  <a:moveTo>
                    <a:pt x="8552815" y="0"/>
                  </a:moveTo>
                  <a:lnTo>
                    <a:pt x="8552815" y="875029"/>
                  </a:lnTo>
                </a:path>
                <a:path w="8555990" h="875029">
                  <a:moveTo>
                    <a:pt x="0" y="3174"/>
                  </a:moveTo>
                  <a:lnTo>
                    <a:pt x="8555990" y="3174"/>
                  </a:lnTo>
                </a:path>
                <a:path w="8555990" h="875029">
                  <a:moveTo>
                    <a:pt x="0" y="871854"/>
                  </a:moveTo>
                  <a:lnTo>
                    <a:pt x="8555990" y="871854"/>
                  </a:lnTo>
                </a:path>
              </a:pathLst>
            </a:custGeom>
            <a:ln w="63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67970" y="652018"/>
            <a:ext cx="1292860" cy="424180"/>
          </a:xfrm>
          <a:prstGeom prst="rect">
            <a:avLst/>
          </a:prstGeom>
          <a:solidFill>
            <a:srgbClr val="2D7C31"/>
          </a:solidFill>
          <a:ln w="3175">
            <a:solidFill>
              <a:srgbClr val="2D7C31"/>
            </a:solidFill>
          </a:ln>
        </p:spPr>
        <p:txBody>
          <a:bodyPr wrap="square" lIns="0" tIns="119380" rIns="0" bIns="0" rtlCol="0" vert="horz">
            <a:spAutoFit/>
          </a:bodyPr>
          <a:lstStyle/>
          <a:p>
            <a:pPr marL="311150">
              <a:lnSpc>
                <a:spcPct val="100000"/>
              </a:lnSpc>
              <a:spcBef>
                <a:spcPts val="94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RESPUESTA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0633" y="741934"/>
            <a:ext cx="40036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Ejercicio</a:t>
            </a:r>
            <a:r>
              <a:rPr dirty="0" sz="1300" spc="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1</a:t>
            </a:r>
            <a:r>
              <a:rPr dirty="0" sz="13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—</a:t>
            </a:r>
            <a:r>
              <a:rPr dirty="0" sz="13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1F4E"/>
                </a:solidFill>
                <a:latin typeface="Calibri"/>
                <a:cs typeface="Calibri"/>
              </a:rPr>
              <a:t>Contextualización,</a:t>
            </a:r>
            <a:r>
              <a:rPr dirty="0" sz="1300" spc="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Escenarios</a:t>
            </a:r>
            <a:r>
              <a:rPr dirty="0" sz="1300" spc="-1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3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1F4E"/>
                </a:solidFill>
                <a:latin typeface="Calibri"/>
                <a:cs typeface="Calibri"/>
              </a:rPr>
              <a:t>Stakeholders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6865" y="2301113"/>
            <a:ext cx="4121150" cy="1457960"/>
            <a:chOff x="316865" y="2301113"/>
            <a:chExt cx="4121150" cy="1457960"/>
          </a:xfrm>
        </p:grpSpPr>
        <p:sp>
          <p:nvSpPr>
            <p:cNvPr id="12" name="object 12"/>
            <p:cNvSpPr/>
            <p:nvPr/>
          </p:nvSpPr>
          <p:spPr>
            <a:xfrm>
              <a:off x="320040" y="2304287"/>
              <a:ext cx="4114800" cy="308610"/>
            </a:xfrm>
            <a:custGeom>
              <a:avLst/>
              <a:gdLst/>
              <a:ahLst/>
              <a:cxnLst/>
              <a:rect l="l" t="t" r="r" b="b"/>
              <a:pathLst>
                <a:path w="4114800" h="308610">
                  <a:moveTo>
                    <a:pt x="4114800" y="0"/>
                  </a:moveTo>
                  <a:lnTo>
                    <a:pt x="2011680" y="0"/>
                  </a:lnTo>
                  <a:lnTo>
                    <a:pt x="640080" y="0"/>
                  </a:lnTo>
                  <a:lnTo>
                    <a:pt x="0" y="0"/>
                  </a:lnTo>
                  <a:lnTo>
                    <a:pt x="0" y="308610"/>
                  </a:lnTo>
                  <a:lnTo>
                    <a:pt x="640080" y="308610"/>
                  </a:lnTo>
                  <a:lnTo>
                    <a:pt x="2011680" y="308610"/>
                  </a:lnTo>
                  <a:lnTo>
                    <a:pt x="4114800" y="308610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0D1F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6865" y="2301113"/>
              <a:ext cx="4121150" cy="1457960"/>
            </a:xfrm>
            <a:custGeom>
              <a:avLst/>
              <a:gdLst/>
              <a:ahLst/>
              <a:cxnLst/>
              <a:rect l="l" t="t" r="r" b="b"/>
              <a:pathLst>
                <a:path w="4121150" h="1457960">
                  <a:moveTo>
                    <a:pt x="643254" y="0"/>
                  </a:moveTo>
                  <a:lnTo>
                    <a:pt x="643254" y="1457960"/>
                  </a:lnTo>
                </a:path>
                <a:path w="4121150" h="1457960">
                  <a:moveTo>
                    <a:pt x="2014855" y="0"/>
                  </a:moveTo>
                  <a:lnTo>
                    <a:pt x="2014855" y="1457960"/>
                  </a:lnTo>
                </a:path>
                <a:path w="4121150" h="1457960">
                  <a:moveTo>
                    <a:pt x="0" y="311785"/>
                  </a:moveTo>
                  <a:lnTo>
                    <a:pt x="4121150" y="311785"/>
                  </a:lnTo>
                </a:path>
                <a:path w="4121150" h="1457960">
                  <a:moveTo>
                    <a:pt x="0" y="692785"/>
                  </a:moveTo>
                  <a:lnTo>
                    <a:pt x="4121150" y="692785"/>
                  </a:lnTo>
                </a:path>
                <a:path w="4121150" h="1457960">
                  <a:moveTo>
                    <a:pt x="0" y="1073785"/>
                  </a:moveTo>
                  <a:lnTo>
                    <a:pt x="4121150" y="1073785"/>
                  </a:lnTo>
                </a:path>
                <a:path w="4121150" h="1457960">
                  <a:moveTo>
                    <a:pt x="3175" y="0"/>
                  </a:moveTo>
                  <a:lnTo>
                    <a:pt x="3175" y="1457960"/>
                  </a:lnTo>
                </a:path>
                <a:path w="4121150" h="1457960">
                  <a:moveTo>
                    <a:pt x="4117975" y="0"/>
                  </a:moveTo>
                  <a:lnTo>
                    <a:pt x="4117975" y="1457960"/>
                  </a:lnTo>
                </a:path>
                <a:path w="4121150" h="1457960">
                  <a:moveTo>
                    <a:pt x="0" y="3175"/>
                  </a:moveTo>
                  <a:lnTo>
                    <a:pt x="4121150" y="3175"/>
                  </a:lnTo>
                </a:path>
                <a:path w="4121150" h="1457960">
                  <a:moveTo>
                    <a:pt x="0" y="1454785"/>
                  </a:moveTo>
                  <a:lnTo>
                    <a:pt x="4121150" y="1454785"/>
                  </a:lnTo>
                </a:path>
              </a:pathLst>
            </a:custGeom>
            <a:ln w="63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20040" y="2304288"/>
          <a:ext cx="4191000" cy="1450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0080"/>
                <a:gridCol w="1371600"/>
                <a:gridCol w="2103120"/>
              </a:tblGrid>
              <a:tr h="30861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Código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Escenario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Descripción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0D1F4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E1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Portal</a:t>
                      </a:r>
                      <a:r>
                        <a:rPr dirty="0" sz="9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pacientes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794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Web/móvil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9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gestionar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citas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propias.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E2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Módulo</a:t>
                      </a:r>
                      <a:r>
                        <a:rPr dirty="0" sz="9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recepción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Gestión de</a:t>
                      </a:r>
                      <a:r>
                        <a:rPr dirty="0" sz="9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citas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presenciales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50">
                          <a:latin typeface="Calibri"/>
                          <a:cs typeface="Calibri"/>
                        </a:rPr>
                        <a:t>y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telefónicas.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25">
                          <a:latin typeface="Calibri"/>
                          <a:cs typeface="Calibri"/>
                        </a:rPr>
                        <a:t>E3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Panel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médico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403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Consulta</a:t>
                      </a:r>
                      <a:r>
                        <a:rPr dirty="0" sz="9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 agenda</a:t>
                      </a:r>
                      <a:r>
                        <a:rPr dirty="0" sz="9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9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confirmación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asistencia.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98779" y="1202182"/>
            <a:ext cx="7981950" cy="10172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Contextualización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170"/>
              </a:spcBef>
            </a:pP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0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sistema</a:t>
            </a:r>
            <a:r>
              <a:rPr dirty="0" sz="100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citas</a:t>
            </a:r>
            <a:r>
              <a:rPr dirty="0" sz="100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médicas</a:t>
            </a:r>
            <a:r>
              <a:rPr dirty="0" sz="100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100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línea</a:t>
            </a:r>
            <a:r>
              <a:rPr dirty="0" sz="100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permitirá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a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pacientes</a:t>
            </a:r>
            <a:r>
              <a:rPr dirty="0" sz="100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agendar,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reprogramar</a:t>
            </a:r>
            <a:r>
              <a:rPr dirty="0" sz="100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0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cancelar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citas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con</a:t>
            </a:r>
            <a:r>
              <a:rPr dirty="0" sz="100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médicos</a:t>
            </a:r>
            <a:r>
              <a:rPr dirty="0" sz="100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0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una</a:t>
            </a:r>
            <a:r>
              <a:rPr dirty="0" sz="100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clínica</a:t>
            </a:r>
            <a:r>
              <a:rPr dirty="0" sz="100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privada,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desde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web</a:t>
            </a:r>
            <a:r>
              <a:rPr dirty="0" sz="100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o</a:t>
            </a:r>
            <a:r>
              <a:rPr dirty="0" sz="100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móvil,</a:t>
            </a:r>
            <a:r>
              <a:rPr dirty="0" sz="100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 escenarios</a:t>
            </a:r>
            <a:r>
              <a:rPr dirty="0" sz="100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0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recepción,</a:t>
            </a:r>
            <a:r>
              <a:rPr dirty="0" sz="100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portal</a:t>
            </a:r>
            <a:r>
              <a:rPr dirty="0" sz="100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web</a:t>
            </a:r>
            <a:r>
              <a:rPr dirty="0" sz="100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0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pacientes</a:t>
            </a:r>
            <a:r>
              <a:rPr dirty="0" sz="100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0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panel</a:t>
            </a:r>
            <a:r>
              <a:rPr dirty="0" sz="100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100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C3D50"/>
                </a:solidFill>
                <a:latin typeface="Calibri"/>
                <a:cs typeface="Calibri"/>
              </a:rPr>
              <a:t>médico.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4356100" algn="l"/>
              </a:tabLst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Tabla</a:t>
            </a:r>
            <a:r>
              <a:rPr dirty="0" sz="11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 Escenarios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	Tabla</a:t>
            </a:r>
            <a:r>
              <a:rPr dirty="0" sz="11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 Usuarios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60265" y="2301113"/>
            <a:ext cx="4166870" cy="1240790"/>
            <a:chOff x="4660265" y="2301113"/>
            <a:chExt cx="4166870" cy="1240790"/>
          </a:xfrm>
        </p:grpSpPr>
        <p:sp>
          <p:nvSpPr>
            <p:cNvPr id="17" name="object 17"/>
            <p:cNvSpPr/>
            <p:nvPr/>
          </p:nvSpPr>
          <p:spPr>
            <a:xfrm>
              <a:off x="4663440" y="2304287"/>
              <a:ext cx="4160520" cy="308610"/>
            </a:xfrm>
            <a:custGeom>
              <a:avLst/>
              <a:gdLst/>
              <a:ahLst/>
              <a:cxnLst/>
              <a:rect l="l" t="t" r="r" b="b"/>
              <a:pathLst>
                <a:path w="4160520" h="308610">
                  <a:moveTo>
                    <a:pt x="4160520" y="0"/>
                  </a:moveTo>
                  <a:lnTo>
                    <a:pt x="1920240" y="0"/>
                  </a:lnTo>
                  <a:lnTo>
                    <a:pt x="731520" y="0"/>
                  </a:lnTo>
                  <a:lnTo>
                    <a:pt x="0" y="0"/>
                  </a:lnTo>
                  <a:lnTo>
                    <a:pt x="0" y="308610"/>
                  </a:lnTo>
                  <a:lnTo>
                    <a:pt x="731520" y="308610"/>
                  </a:lnTo>
                  <a:lnTo>
                    <a:pt x="1920240" y="308610"/>
                  </a:lnTo>
                  <a:lnTo>
                    <a:pt x="4160520" y="30861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660265" y="2301113"/>
              <a:ext cx="4166870" cy="1240790"/>
            </a:xfrm>
            <a:custGeom>
              <a:avLst/>
              <a:gdLst/>
              <a:ahLst/>
              <a:cxnLst/>
              <a:rect l="l" t="t" r="r" b="b"/>
              <a:pathLst>
                <a:path w="4166870" h="1240789">
                  <a:moveTo>
                    <a:pt x="734695" y="0"/>
                  </a:moveTo>
                  <a:lnTo>
                    <a:pt x="734695" y="1240790"/>
                  </a:lnTo>
                </a:path>
                <a:path w="4166870" h="1240789">
                  <a:moveTo>
                    <a:pt x="1923414" y="0"/>
                  </a:moveTo>
                  <a:lnTo>
                    <a:pt x="1923414" y="1240790"/>
                  </a:lnTo>
                </a:path>
                <a:path w="4166870" h="1240789">
                  <a:moveTo>
                    <a:pt x="0" y="311785"/>
                  </a:moveTo>
                  <a:lnTo>
                    <a:pt x="4166869" y="311785"/>
                  </a:lnTo>
                </a:path>
                <a:path w="4166870" h="1240789">
                  <a:moveTo>
                    <a:pt x="0" y="620394"/>
                  </a:moveTo>
                  <a:lnTo>
                    <a:pt x="4166869" y="620394"/>
                  </a:lnTo>
                </a:path>
                <a:path w="4166870" h="1240789">
                  <a:moveTo>
                    <a:pt x="0" y="929005"/>
                  </a:moveTo>
                  <a:lnTo>
                    <a:pt x="4166869" y="929005"/>
                  </a:lnTo>
                </a:path>
                <a:path w="4166870" h="1240789">
                  <a:moveTo>
                    <a:pt x="3175" y="0"/>
                  </a:moveTo>
                  <a:lnTo>
                    <a:pt x="3175" y="1240790"/>
                  </a:lnTo>
                </a:path>
                <a:path w="4166870" h="1240789">
                  <a:moveTo>
                    <a:pt x="4163694" y="0"/>
                  </a:moveTo>
                  <a:lnTo>
                    <a:pt x="4163694" y="1240790"/>
                  </a:lnTo>
                </a:path>
                <a:path w="4166870" h="1240789">
                  <a:moveTo>
                    <a:pt x="0" y="3175"/>
                  </a:moveTo>
                  <a:lnTo>
                    <a:pt x="4166869" y="3175"/>
                  </a:lnTo>
                </a:path>
                <a:path w="4166870" h="1240789">
                  <a:moveTo>
                    <a:pt x="0" y="1237615"/>
                  </a:moveTo>
                  <a:lnTo>
                    <a:pt x="4166869" y="1237615"/>
                  </a:lnTo>
                </a:path>
              </a:pathLst>
            </a:custGeom>
            <a:ln w="63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4663440" y="2304288"/>
          <a:ext cx="4236720" cy="1233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/>
                <a:gridCol w="1188720"/>
                <a:gridCol w="2240280"/>
              </a:tblGrid>
              <a:tr h="3086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Código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1C316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1C316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Uso</a:t>
                      </a:r>
                      <a:r>
                        <a:rPr dirty="0" sz="95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sistema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1C316F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U001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Paciente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Solicitar,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reprogramar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cancelar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citas.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U002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Recepcionista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Registrar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citas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gestionar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lista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espera.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U003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Médico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Revisar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agenda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registrar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atención.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98779" y="3672078"/>
            <a:ext cx="7810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Stakeholders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8779" y="3976827"/>
            <a:ext cx="96901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Institución</a:t>
            </a:r>
            <a:r>
              <a:rPr dirty="0" sz="95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Usuaria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78807" y="3976827"/>
            <a:ext cx="99885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Equipo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Proyecto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8779" y="4411167"/>
            <a:ext cx="267525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latin typeface="Calibri"/>
                <a:cs typeface="Calibri"/>
              </a:rPr>
              <a:t>Director</a:t>
            </a:r>
            <a:r>
              <a:rPr dirty="0" sz="950" spc="-2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médico, </a:t>
            </a:r>
            <a:r>
              <a:rPr dirty="0" sz="950" spc="-10">
                <a:latin typeface="Calibri"/>
                <a:cs typeface="Calibri"/>
              </a:rPr>
              <a:t>Coordinador</a:t>
            </a:r>
            <a:r>
              <a:rPr dirty="0" sz="950" spc="-4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atención</a:t>
            </a:r>
            <a:r>
              <a:rPr dirty="0" sz="950" spc="-1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al</a:t>
            </a:r>
            <a:r>
              <a:rPr dirty="0" sz="950" spc="-1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paciente,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50" spc="-10">
                <a:latin typeface="Calibri"/>
                <a:cs typeface="Calibri"/>
              </a:rPr>
              <a:t>Responsable</a:t>
            </a:r>
            <a:r>
              <a:rPr dirty="0" sz="950" spc="-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delegado</a:t>
            </a:r>
            <a:r>
              <a:rPr dirty="0" sz="950" spc="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del</a:t>
            </a:r>
            <a:r>
              <a:rPr dirty="0" sz="950" spc="-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proyecto.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78807" y="4411167"/>
            <a:ext cx="197167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>
                <a:latin typeface="Calibri"/>
                <a:cs typeface="Calibri"/>
              </a:rPr>
              <a:t>Jefe</a:t>
            </a:r>
            <a:r>
              <a:rPr dirty="0" sz="950" spc="-1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</a:t>
            </a:r>
            <a:r>
              <a:rPr dirty="0" sz="950" spc="-2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proyecto,</a:t>
            </a:r>
            <a:r>
              <a:rPr dirty="0" sz="950" spc="-35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Analista</a:t>
            </a:r>
            <a:r>
              <a:rPr dirty="0" sz="950" spc="-40">
                <a:latin typeface="Calibri"/>
                <a:cs typeface="Calibri"/>
              </a:rPr>
              <a:t> </a:t>
            </a:r>
            <a:r>
              <a:rPr dirty="0" sz="950">
                <a:latin typeface="Calibri"/>
                <a:cs typeface="Calibri"/>
              </a:rPr>
              <a:t>de</a:t>
            </a:r>
            <a:r>
              <a:rPr dirty="0" sz="950" spc="-20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requisitos,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50" spc="-10">
                <a:latin typeface="Calibri"/>
                <a:cs typeface="Calibri"/>
              </a:rPr>
              <a:t>Arquitecto</a:t>
            </a:r>
            <a:r>
              <a:rPr dirty="0" sz="950">
                <a:latin typeface="Calibri"/>
                <a:cs typeface="Calibri"/>
              </a:rPr>
              <a:t> de</a:t>
            </a:r>
            <a:r>
              <a:rPr dirty="0" sz="950" spc="15">
                <a:latin typeface="Calibri"/>
                <a:cs typeface="Calibri"/>
              </a:rPr>
              <a:t> </a:t>
            </a:r>
            <a:r>
              <a:rPr dirty="0" sz="950" spc="-10">
                <a:latin typeface="Calibri"/>
                <a:cs typeface="Calibri"/>
              </a:rPr>
              <a:t>software.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3336163"/>
            <a:ext cx="9156700" cy="1814195"/>
            <a:chOff x="-6350" y="3336163"/>
            <a:chExt cx="9156700" cy="1814195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16865" y="3339338"/>
              <a:ext cx="5035550" cy="1423670"/>
            </a:xfrm>
            <a:custGeom>
              <a:avLst/>
              <a:gdLst/>
              <a:ahLst/>
              <a:cxnLst/>
              <a:rect l="l" t="t" r="r" b="b"/>
              <a:pathLst>
                <a:path w="5035550" h="1423670">
                  <a:moveTo>
                    <a:pt x="1009015" y="0"/>
                  </a:moveTo>
                  <a:lnTo>
                    <a:pt x="1009015" y="1423644"/>
                  </a:lnTo>
                </a:path>
                <a:path w="5035550" h="1423670">
                  <a:moveTo>
                    <a:pt x="0" y="711809"/>
                  </a:moveTo>
                  <a:lnTo>
                    <a:pt x="5035550" y="711809"/>
                  </a:lnTo>
                </a:path>
                <a:path w="5035550" h="1423670">
                  <a:moveTo>
                    <a:pt x="3175" y="0"/>
                  </a:moveTo>
                  <a:lnTo>
                    <a:pt x="3175" y="1423644"/>
                  </a:lnTo>
                </a:path>
                <a:path w="5035550" h="1423670">
                  <a:moveTo>
                    <a:pt x="5032375" y="0"/>
                  </a:moveTo>
                  <a:lnTo>
                    <a:pt x="5032375" y="1423644"/>
                  </a:lnTo>
                </a:path>
                <a:path w="5035550" h="1423670">
                  <a:moveTo>
                    <a:pt x="0" y="3175"/>
                  </a:moveTo>
                  <a:lnTo>
                    <a:pt x="5035550" y="3175"/>
                  </a:lnTo>
                </a:path>
                <a:path w="5035550" h="1423670">
                  <a:moveTo>
                    <a:pt x="0" y="1420469"/>
                  </a:moveTo>
                  <a:lnTo>
                    <a:pt x="5035550" y="1420469"/>
                  </a:lnTo>
                </a:path>
              </a:pathLst>
            </a:custGeom>
            <a:ln w="63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67970" y="652018"/>
            <a:ext cx="1292860" cy="424180"/>
          </a:xfrm>
          <a:prstGeom prst="rect">
            <a:avLst/>
          </a:prstGeom>
          <a:solidFill>
            <a:srgbClr val="2D7C31"/>
          </a:solidFill>
          <a:ln w="3175">
            <a:solidFill>
              <a:srgbClr val="2D7C31"/>
            </a:solidFill>
          </a:ln>
        </p:spPr>
        <p:txBody>
          <a:bodyPr wrap="square" lIns="0" tIns="119380" rIns="0" bIns="0" rtlCol="0" vert="horz">
            <a:spAutoFit/>
          </a:bodyPr>
          <a:lstStyle/>
          <a:p>
            <a:pPr marL="311150">
              <a:lnSpc>
                <a:spcPct val="100000"/>
              </a:lnSpc>
              <a:spcBef>
                <a:spcPts val="94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RESPUESTA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0633" y="741934"/>
            <a:ext cx="26701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Ejercicio</a:t>
            </a:r>
            <a:r>
              <a:rPr dirty="0" sz="1300" spc="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1</a:t>
            </a:r>
            <a:r>
              <a:rPr dirty="0" sz="13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—</a:t>
            </a:r>
            <a:r>
              <a:rPr dirty="0" sz="13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Educción y</a:t>
            </a:r>
            <a:r>
              <a:rPr dirty="0" sz="13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1F4E"/>
                </a:solidFill>
                <a:latin typeface="Calibri"/>
                <a:cs typeface="Calibri"/>
              </a:rPr>
              <a:t>Especificación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779" y="1211326"/>
            <a:ext cx="257175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Educción</a:t>
            </a:r>
            <a:r>
              <a:rPr dirty="0" sz="11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—</a:t>
            </a:r>
            <a:r>
              <a:rPr dirty="0" sz="1100" spc="-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Preguntas</a:t>
            </a:r>
            <a:r>
              <a:rPr dirty="0" sz="11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clave</a:t>
            </a:r>
            <a:r>
              <a:rPr dirty="0" sz="11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(Recepcionista)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8779" y="1602181"/>
            <a:ext cx="3942715" cy="94043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0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P1: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¿Qué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información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mínima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necesita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registrar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para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agendar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una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cita?</a:t>
            </a:r>
            <a:endParaRPr sz="9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P2: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¿Cómo verifica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disponibilidad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del médico por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especialidad?</a:t>
            </a:r>
            <a:endParaRPr sz="9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P3: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¿Qué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ocurre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si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paciente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no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asiste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su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cita?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¿Se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genera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un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registro?</a:t>
            </a:r>
            <a:endParaRPr sz="9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P4: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¿Cómo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gestiona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actualmente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lista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espera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citas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duplicadas?</a:t>
            </a:r>
            <a:endParaRPr sz="9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P5: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¿Qué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tipo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notificaciones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envía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al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paciente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(correo,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SMS)?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74589" y="1211326"/>
            <a:ext cx="170815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Acta</a:t>
            </a:r>
            <a:r>
              <a:rPr dirty="0" sz="11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1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Entrevista</a:t>
            </a:r>
            <a:r>
              <a:rPr dirty="0" sz="11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(resumen)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94959" y="1481327"/>
            <a:ext cx="3474720" cy="1298575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1054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30"/>
              </a:spcBef>
            </a:pPr>
            <a:endParaRPr sz="950">
              <a:latin typeface="Times New Roman"/>
              <a:cs typeface="Times New Roman"/>
            </a:endParaRPr>
          </a:p>
          <a:p>
            <a:pPr marL="183515" marR="1938020">
              <a:lnSpc>
                <a:spcPct val="100000"/>
              </a:lnSpc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Entrevistada:</a:t>
            </a:r>
            <a:r>
              <a:rPr dirty="0" sz="950" spc="-5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Recepcionista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Hallazgos</a:t>
            </a:r>
            <a:r>
              <a:rPr dirty="0" sz="9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clave:</a:t>
            </a:r>
            <a:endParaRPr sz="950">
              <a:latin typeface="Calibri"/>
              <a:cs typeface="Calibri"/>
            </a:endParaRPr>
          </a:p>
          <a:p>
            <a:pPr marL="269240" indent="-85725">
              <a:lnSpc>
                <a:spcPct val="100000"/>
              </a:lnSpc>
              <a:buChar char="•"/>
              <a:tabLst>
                <a:tab pos="269240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Vista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única: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disponibilidad</a:t>
            </a:r>
            <a:r>
              <a:rPr dirty="0" sz="9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por médico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y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especialidad.</a:t>
            </a:r>
            <a:endParaRPr sz="950">
              <a:latin typeface="Calibri"/>
              <a:cs typeface="Calibri"/>
            </a:endParaRPr>
          </a:p>
          <a:p>
            <a:pPr marL="269240" indent="-85725">
              <a:lnSpc>
                <a:spcPct val="100000"/>
              </a:lnSpc>
              <a:buChar char="•"/>
              <a:tabLst>
                <a:tab pos="269240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Datos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mínimos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paciente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para</a:t>
            </a:r>
            <a:r>
              <a:rPr dirty="0" sz="9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registrar</a:t>
            </a:r>
            <a:r>
              <a:rPr dirty="0" sz="9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cita.</a:t>
            </a:r>
            <a:endParaRPr sz="950">
              <a:latin typeface="Calibri"/>
              <a:cs typeface="Calibri"/>
            </a:endParaRPr>
          </a:p>
          <a:p>
            <a:pPr marL="269240" indent="-85725">
              <a:lnSpc>
                <a:spcPct val="100000"/>
              </a:lnSpc>
              <a:buChar char="•"/>
              <a:tabLst>
                <a:tab pos="269240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Alerta</a:t>
            </a:r>
            <a:r>
              <a:rPr dirty="0" sz="9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automática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ante</a:t>
            </a:r>
            <a:r>
              <a:rPr dirty="0" sz="9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citas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duplicadas.</a:t>
            </a:r>
            <a:endParaRPr sz="950">
              <a:latin typeface="Calibri"/>
              <a:cs typeface="Calibri"/>
            </a:endParaRPr>
          </a:p>
          <a:p>
            <a:pPr marL="269240" indent="-85725">
              <a:lnSpc>
                <a:spcPct val="100000"/>
              </a:lnSpc>
              <a:buChar char="•"/>
              <a:tabLst>
                <a:tab pos="269240" algn="l"/>
              </a:tabLst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Listado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tiempo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real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pacientes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sala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espera.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8779" y="2951480"/>
            <a:ext cx="2066289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Catálogo</a:t>
            </a:r>
            <a:r>
              <a:rPr dirty="0" sz="11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1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r>
              <a:rPr dirty="0" sz="11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Funcionales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16865" y="3343528"/>
          <a:ext cx="5111750" cy="14382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8985"/>
                <a:gridCol w="4266565"/>
              </a:tblGrid>
              <a:tr h="23495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Código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Nombre</a:t>
                      </a:r>
                      <a:r>
                        <a:rPr dirty="0" sz="95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95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Requisito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0D1F4E"/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RF01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Registrar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cita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médica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248285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RF02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T w="6350">
                      <a:solidFill>
                        <a:srgbClr val="C9DCFB"/>
                      </a:solidFill>
                      <a:prstDash val="solid"/>
                    </a:lnT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Reprogramar</a:t>
                      </a:r>
                      <a:r>
                        <a:rPr dirty="0" sz="9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cita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médica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T w="6350">
                      <a:solidFill>
                        <a:srgbClr val="C9DCFB"/>
                      </a:solidFill>
                      <a:prstDash val="solid"/>
                    </a:lnT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RF03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Cancelar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cita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médica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RF04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Consultar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agenda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por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médico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RF05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9369">
                    <a:lnT w="6350">
                      <a:solidFill>
                        <a:srgbClr val="C9DCFB"/>
                      </a:solidFill>
                      <a:prstDash val="solid"/>
                    </a:lnT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3147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Gestionar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lista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espera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9369">
                    <a:lnT w="6350">
                      <a:solidFill>
                        <a:srgbClr val="C9DCFB"/>
                      </a:solidFill>
                      <a:prstDash val="solid"/>
                    </a:lnT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5391784" y="3057905"/>
            <a:ext cx="3481070" cy="1753235"/>
            <a:chOff x="5391784" y="3057905"/>
            <a:chExt cx="3481070" cy="1753235"/>
          </a:xfrm>
        </p:grpSpPr>
        <p:sp>
          <p:nvSpPr>
            <p:cNvPr id="16" name="object 16"/>
            <p:cNvSpPr/>
            <p:nvPr/>
          </p:nvSpPr>
          <p:spPr>
            <a:xfrm>
              <a:off x="5394960" y="3061080"/>
              <a:ext cx="3474720" cy="283845"/>
            </a:xfrm>
            <a:custGeom>
              <a:avLst/>
              <a:gdLst/>
              <a:ahLst/>
              <a:cxnLst/>
              <a:rect l="l" t="t" r="r" b="b"/>
              <a:pathLst>
                <a:path w="3474720" h="283845">
                  <a:moveTo>
                    <a:pt x="3474720" y="0"/>
                  </a:moveTo>
                  <a:lnTo>
                    <a:pt x="1280160" y="0"/>
                  </a:lnTo>
                  <a:lnTo>
                    <a:pt x="0" y="0"/>
                  </a:lnTo>
                  <a:lnTo>
                    <a:pt x="0" y="283464"/>
                  </a:lnTo>
                  <a:lnTo>
                    <a:pt x="1280160" y="283464"/>
                  </a:lnTo>
                  <a:lnTo>
                    <a:pt x="3474720" y="283464"/>
                  </a:lnTo>
                  <a:lnTo>
                    <a:pt x="3474720" y="0"/>
                  </a:lnTo>
                  <a:close/>
                </a:path>
              </a:pathLst>
            </a:custGeom>
            <a:solidFill>
              <a:srgbClr val="1C31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391784" y="3057905"/>
              <a:ext cx="3481070" cy="1753235"/>
            </a:xfrm>
            <a:custGeom>
              <a:avLst/>
              <a:gdLst/>
              <a:ahLst/>
              <a:cxnLst/>
              <a:rect l="l" t="t" r="r" b="b"/>
              <a:pathLst>
                <a:path w="3481070" h="1753235">
                  <a:moveTo>
                    <a:pt x="1283335" y="0"/>
                  </a:moveTo>
                  <a:lnTo>
                    <a:pt x="1283335" y="1752904"/>
                  </a:lnTo>
                </a:path>
                <a:path w="3481070" h="1753235">
                  <a:moveTo>
                    <a:pt x="0" y="286638"/>
                  </a:moveTo>
                  <a:lnTo>
                    <a:pt x="3481069" y="286638"/>
                  </a:lnTo>
                </a:path>
                <a:path w="3481070" h="1753235">
                  <a:moveTo>
                    <a:pt x="0" y="652399"/>
                  </a:moveTo>
                  <a:lnTo>
                    <a:pt x="3481069" y="652399"/>
                  </a:lnTo>
                </a:path>
                <a:path w="3481070" h="1753235">
                  <a:moveTo>
                    <a:pt x="0" y="1018209"/>
                  </a:moveTo>
                  <a:lnTo>
                    <a:pt x="3481069" y="1018209"/>
                  </a:lnTo>
                </a:path>
                <a:path w="3481070" h="1753235">
                  <a:moveTo>
                    <a:pt x="0" y="1383969"/>
                  </a:moveTo>
                  <a:lnTo>
                    <a:pt x="3481069" y="1383969"/>
                  </a:lnTo>
                </a:path>
                <a:path w="3481070" h="1753235">
                  <a:moveTo>
                    <a:pt x="3175" y="0"/>
                  </a:moveTo>
                  <a:lnTo>
                    <a:pt x="3175" y="1752904"/>
                  </a:lnTo>
                </a:path>
                <a:path w="3481070" h="1753235">
                  <a:moveTo>
                    <a:pt x="3477894" y="0"/>
                  </a:moveTo>
                  <a:lnTo>
                    <a:pt x="3477894" y="1752904"/>
                  </a:lnTo>
                </a:path>
                <a:path w="3481070" h="1753235">
                  <a:moveTo>
                    <a:pt x="0" y="3175"/>
                  </a:moveTo>
                  <a:lnTo>
                    <a:pt x="3481069" y="3175"/>
                  </a:lnTo>
                </a:path>
                <a:path w="3481070" h="1753235">
                  <a:moveTo>
                    <a:pt x="0" y="1749729"/>
                  </a:moveTo>
                  <a:lnTo>
                    <a:pt x="3481069" y="1749729"/>
                  </a:lnTo>
                </a:path>
              </a:pathLst>
            </a:custGeom>
            <a:ln w="6350">
              <a:solidFill>
                <a:srgbClr val="C9DC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474589" y="2831414"/>
            <a:ext cx="2051685" cy="4191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Ficha</a:t>
            </a:r>
            <a:r>
              <a:rPr dirty="0" sz="11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RF01</a:t>
            </a:r>
            <a:r>
              <a:rPr dirty="0" sz="11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—</a:t>
            </a:r>
            <a:r>
              <a:rPr dirty="0" sz="11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Registrar</a:t>
            </a:r>
            <a:r>
              <a:rPr dirty="0" sz="11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cita</a:t>
            </a:r>
            <a:r>
              <a:rPr dirty="0" sz="11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médica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1292225" algn="l"/>
              </a:tabLst>
            </a:pP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Campo</a:t>
            </a: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900" spc="-10" b="1">
                <a:solidFill>
                  <a:srgbClr val="FFFFFF"/>
                </a:solidFill>
                <a:latin typeface="Calibri"/>
                <a:cs typeface="Calibri"/>
              </a:rPr>
              <a:t>Detalle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474589" y="3370833"/>
            <a:ext cx="6311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Precondición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54748" y="3370833"/>
            <a:ext cx="18827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Paciente</a:t>
            </a:r>
            <a:r>
              <a:rPr dirty="0" sz="900" spc="-4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registrado;</a:t>
            </a:r>
            <a:r>
              <a:rPr dirty="0" sz="900" spc="-2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médico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con</a:t>
            </a:r>
            <a:r>
              <a:rPr dirty="0" sz="900" spc="-5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agenda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10">
                <a:latin typeface="Calibri"/>
                <a:cs typeface="Calibri"/>
              </a:rPr>
              <a:t>configurada.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74589" y="3736975"/>
            <a:ext cx="6400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Calibri"/>
                <a:cs typeface="Calibri"/>
              </a:rPr>
              <a:t>Poscondición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54748" y="3736975"/>
            <a:ext cx="14128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Cita</a:t>
            </a:r>
            <a:r>
              <a:rPr dirty="0" sz="900" spc="-3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con</a:t>
            </a:r>
            <a:r>
              <a:rPr dirty="0" sz="900" spc="-3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estado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'Programada';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confirmación</a:t>
            </a:r>
            <a:r>
              <a:rPr dirty="0" sz="900" spc="-5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enviada.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74589" y="4102709"/>
            <a:ext cx="6781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Flujo</a:t>
            </a:r>
            <a:r>
              <a:rPr dirty="0" sz="900" spc="-2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principal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54748" y="4102709"/>
            <a:ext cx="1939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Seleccionar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especialidad,</a:t>
            </a:r>
            <a:r>
              <a:rPr dirty="0" sz="900" spc="1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médico,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fecha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y</a:t>
            </a:r>
            <a:r>
              <a:rPr dirty="0" sz="900" spc="50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hora;</a:t>
            </a:r>
            <a:r>
              <a:rPr dirty="0" sz="900" spc="-20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confirmar.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74589" y="4468164"/>
            <a:ext cx="7842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Flujo</a:t>
            </a:r>
            <a:r>
              <a:rPr dirty="0" sz="900" spc="-3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alternativo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54748" y="4468164"/>
            <a:ext cx="16103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Sin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disponibilidad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→</a:t>
            </a:r>
            <a:r>
              <a:rPr dirty="0" sz="900" spc="-1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Sugerir </a:t>
            </a:r>
            <a:r>
              <a:rPr dirty="0" sz="900" spc="-20">
                <a:latin typeface="Calibri"/>
                <a:cs typeface="Calibri"/>
              </a:rPr>
              <a:t>fecha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00" spc="-10">
                <a:latin typeface="Calibri"/>
                <a:cs typeface="Calibri"/>
              </a:rPr>
              <a:t>alternativa.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4821681"/>
            <a:ext cx="9156700" cy="328295"/>
            <a:chOff x="-6350" y="4821681"/>
            <a:chExt cx="9156700" cy="328295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4320" y="4828032"/>
              <a:ext cx="8595360" cy="55244"/>
            </a:xfrm>
            <a:custGeom>
              <a:avLst/>
              <a:gdLst/>
              <a:ahLst/>
              <a:cxnLst/>
              <a:rect l="l" t="t" r="r" b="b"/>
              <a:pathLst>
                <a:path w="8595360" h="55245">
                  <a:moveTo>
                    <a:pt x="85953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595360" y="54863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4320" y="4828032"/>
              <a:ext cx="8595360" cy="55244"/>
            </a:xfrm>
            <a:custGeom>
              <a:avLst/>
              <a:gdLst/>
              <a:ahLst/>
              <a:cxnLst/>
              <a:rect l="l" t="t" r="r" b="b"/>
              <a:pathLst>
                <a:path w="8595360" h="55245">
                  <a:moveTo>
                    <a:pt x="0" y="54863"/>
                  </a:moveTo>
                  <a:lnTo>
                    <a:pt x="8595360" y="54863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53059" y="717549"/>
            <a:ext cx="30753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0D1F4E"/>
                </a:solidFill>
                <a:latin typeface="Calibri"/>
                <a:cs typeface="Calibri"/>
              </a:rPr>
              <a:t>Ejercicio</a:t>
            </a:r>
            <a:r>
              <a:rPr dirty="0" sz="16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D1F4E"/>
                </a:solidFill>
                <a:latin typeface="Calibri"/>
                <a:cs typeface="Calibri"/>
              </a:rPr>
              <a:t>1</a:t>
            </a:r>
            <a:r>
              <a:rPr dirty="0" sz="1600" spc="-1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D1F4E"/>
                </a:solidFill>
                <a:latin typeface="Calibri"/>
                <a:cs typeface="Calibri"/>
              </a:rPr>
              <a:t>—</a:t>
            </a:r>
            <a:r>
              <a:rPr dirty="0" sz="16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D1F4E"/>
                </a:solidFill>
                <a:latin typeface="Calibri"/>
                <a:cs typeface="Calibri"/>
              </a:rPr>
              <a:t>Criterios</a:t>
            </a:r>
            <a:r>
              <a:rPr dirty="0" sz="16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6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0D1F4E"/>
                </a:solidFill>
                <a:latin typeface="Calibri"/>
                <a:cs typeface="Calibri"/>
              </a:rPr>
              <a:t>evaluación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4320" y="1207008"/>
            <a:ext cx="805180" cy="622300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176530" rIns="0" bIns="0" rtlCol="0" vert="horz">
            <a:spAutoFit/>
          </a:bodyPr>
          <a:lstStyle/>
          <a:p>
            <a:pPr marL="226060">
              <a:lnSpc>
                <a:spcPct val="100000"/>
              </a:lnSpc>
              <a:spcBef>
                <a:spcPts val="1390"/>
              </a:spcBef>
            </a:pPr>
            <a:r>
              <a:rPr dirty="0" sz="1600" spc="-25" b="1">
                <a:solidFill>
                  <a:srgbClr val="C8A127"/>
                </a:solidFill>
                <a:latin typeface="Calibri"/>
                <a:cs typeface="Calibri"/>
              </a:rPr>
              <a:t>25%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8719" y="1207008"/>
            <a:ext cx="7680959" cy="622300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640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Claridad</a:t>
            </a:r>
            <a:r>
              <a:rPr dirty="0" sz="11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del</a:t>
            </a:r>
            <a:r>
              <a:rPr dirty="0" sz="11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contexto</a:t>
            </a:r>
            <a:r>
              <a:rPr dirty="0" sz="11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1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escenarios</a:t>
            </a:r>
            <a:endParaRPr sz="11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940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El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problema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está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bien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delimitado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los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escenarios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son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coherentes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el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dominio.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320" y="1938527"/>
            <a:ext cx="805180" cy="622300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176530" rIns="0" bIns="0" rtlCol="0" vert="horz">
            <a:spAutoFit/>
          </a:bodyPr>
          <a:lstStyle/>
          <a:p>
            <a:pPr marL="226060">
              <a:lnSpc>
                <a:spcPct val="100000"/>
              </a:lnSpc>
              <a:spcBef>
                <a:spcPts val="1390"/>
              </a:spcBef>
            </a:pPr>
            <a:r>
              <a:rPr dirty="0" sz="1600" spc="-25" b="1">
                <a:solidFill>
                  <a:srgbClr val="C8A127"/>
                </a:solidFill>
                <a:latin typeface="Calibri"/>
                <a:cs typeface="Calibri"/>
              </a:rPr>
              <a:t>20%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88719" y="1938527"/>
            <a:ext cx="7680959" cy="622300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645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Identificación</a:t>
            </a:r>
            <a:r>
              <a:rPr dirty="0" sz="11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1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 i="1">
                <a:solidFill>
                  <a:srgbClr val="0D1F4E"/>
                </a:solidFill>
                <a:latin typeface="Calibri"/>
                <a:cs typeface="Calibri"/>
              </a:rPr>
              <a:t>stakeholders</a:t>
            </a:r>
            <a:endParaRPr sz="11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935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Los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actores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clave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están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correctamente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clasificados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entre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institución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usuaria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equipo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proyecto.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4320" y="2670048"/>
            <a:ext cx="805180" cy="622300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177165" rIns="0" bIns="0" rtlCol="0" vert="horz">
            <a:spAutoFit/>
          </a:bodyPr>
          <a:lstStyle/>
          <a:p>
            <a:pPr marL="226060">
              <a:lnSpc>
                <a:spcPct val="100000"/>
              </a:lnSpc>
              <a:spcBef>
                <a:spcPts val="1395"/>
              </a:spcBef>
            </a:pPr>
            <a:r>
              <a:rPr dirty="0" sz="1600" spc="-25" b="1">
                <a:solidFill>
                  <a:srgbClr val="C8A127"/>
                </a:solidFill>
                <a:latin typeface="Calibri"/>
                <a:cs typeface="Calibri"/>
              </a:rPr>
              <a:t>20%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88719" y="2670048"/>
            <a:ext cx="7680959" cy="622300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645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r>
              <a:rPr dirty="0" sz="11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1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la</a:t>
            </a:r>
            <a:r>
              <a:rPr dirty="0" sz="11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educción</a:t>
            </a:r>
            <a:endParaRPr sz="11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935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Las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preguntas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el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acta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entrevista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reflejan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comprensión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real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del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proceso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negocio.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4320" y="3401567"/>
            <a:ext cx="805180" cy="622300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177165" rIns="0" bIns="0" rtlCol="0" vert="horz">
            <a:spAutoFit/>
          </a:bodyPr>
          <a:lstStyle/>
          <a:p>
            <a:pPr marL="226060">
              <a:lnSpc>
                <a:spcPct val="100000"/>
              </a:lnSpc>
              <a:spcBef>
                <a:spcPts val="1395"/>
              </a:spcBef>
            </a:pPr>
            <a:r>
              <a:rPr dirty="0" sz="1600" spc="-25" b="1">
                <a:solidFill>
                  <a:srgbClr val="C8A127"/>
                </a:solidFill>
                <a:latin typeface="Calibri"/>
                <a:cs typeface="Calibri"/>
              </a:rPr>
              <a:t>25%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8719" y="3401567"/>
            <a:ext cx="7680959" cy="622300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645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Rigor</a:t>
            </a:r>
            <a:r>
              <a:rPr dirty="0" sz="11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en</a:t>
            </a:r>
            <a:r>
              <a:rPr dirty="0" sz="11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la</a:t>
            </a:r>
            <a:r>
              <a:rPr dirty="0" sz="1100" spc="-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especificación</a:t>
            </a:r>
            <a:endParaRPr sz="11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940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Los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funcionales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son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claros,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consistentes y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trazables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al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contexto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definido.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4320" y="4133088"/>
            <a:ext cx="805180" cy="622300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177165" rIns="0" bIns="0" rtlCol="0" vert="horz">
            <a:spAutoFit/>
          </a:bodyPr>
          <a:lstStyle/>
          <a:p>
            <a:pPr marL="226060">
              <a:lnSpc>
                <a:spcPct val="100000"/>
              </a:lnSpc>
              <a:spcBef>
                <a:spcPts val="1395"/>
              </a:spcBef>
            </a:pPr>
            <a:r>
              <a:rPr dirty="0" sz="1600" spc="-25" b="1">
                <a:solidFill>
                  <a:srgbClr val="C8A127"/>
                </a:solidFill>
                <a:latin typeface="Calibri"/>
                <a:cs typeface="Calibri"/>
              </a:rPr>
              <a:t>10%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88719" y="4133088"/>
            <a:ext cx="7680959" cy="622300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8255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650"/>
              </a:spcBef>
            </a:pP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Presentación</a:t>
            </a:r>
            <a:r>
              <a:rPr dirty="0" sz="11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1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0D1F4E"/>
                </a:solidFill>
                <a:latin typeface="Calibri"/>
                <a:cs typeface="Calibri"/>
              </a:rPr>
              <a:t>estructura</a:t>
            </a:r>
            <a:endParaRPr sz="11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935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Uso correcto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 tablas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plantillas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inspiradas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el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modelo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procedimental.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3191382"/>
            <a:ext cx="9156700" cy="1958975"/>
            <a:chOff x="-6350" y="3191382"/>
            <a:chExt cx="9156700" cy="1958975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4320" y="3197732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75" y="0"/>
                  </a:moveTo>
                  <a:lnTo>
                    <a:pt x="103188" y="7693"/>
                  </a:lnTo>
                  <a:lnTo>
                    <a:pt x="61771" y="29114"/>
                  </a:lnTo>
                  <a:lnTo>
                    <a:pt x="29110" y="61776"/>
                  </a:lnTo>
                  <a:lnTo>
                    <a:pt x="7691" y="103193"/>
                  </a:lnTo>
                  <a:lnTo>
                    <a:pt x="0" y="150875"/>
                  </a:lnTo>
                  <a:lnTo>
                    <a:pt x="7691" y="198558"/>
                  </a:lnTo>
                  <a:lnTo>
                    <a:pt x="29110" y="239975"/>
                  </a:lnTo>
                  <a:lnTo>
                    <a:pt x="61771" y="272637"/>
                  </a:lnTo>
                  <a:lnTo>
                    <a:pt x="103188" y="294058"/>
                  </a:lnTo>
                  <a:lnTo>
                    <a:pt x="150875" y="301752"/>
                  </a:lnTo>
                  <a:lnTo>
                    <a:pt x="198563" y="294058"/>
                  </a:lnTo>
                  <a:lnTo>
                    <a:pt x="239980" y="272637"/>
                  </a:lnTo>
                  <a:lnTo>
                    <a:pt x="272641" y="239975"/>
                  </a:lnTo>
                  <a:lnTo>
                    <a:pt x="294060" y="198558"/>
                  </a:lnTo>
                  <a:lnTo>
                    <a:pt x="301752" y="150875"/>
                  </a:lnTo>
                  <a:lnTo>
                    <a:pt x="294060" y="103193"/>
                  </a:lnTo>
                  <a:lnTo>
                    <a:pt x="272641" y="61776"/>
                  </a:lnTo>
                  <a:lnTo>
                    <a:pt x="239980" y="29114"/>
                  </a:lnTo>
                  <a:lnTo>
                    <a:pt x="198563" y="7693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4320" y="3197732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75"/>
                  </a:moveTo>
                  <a:lnTo>
                    <a:pt x="7691" y="103193"/>
                  </a:lnTo>
                  <a:lnTo>
                    <a:pt x="29110" y="61776"/>
                  </a:lnTo>
                  <a:lnTo>
                    <a:pt x="61771" y="29114"/>
                  </a:lnTo>
                  <a:lnTo>
                    <a:pt x="103188" y="7693"/>
                  </a:lnTo>
                  <a:lnTo>
                    <a:pt x="150875" y="0"/>
                  </a:lnTo>
                  <a:lnTo>
                    <a:pt x="198563" y="7693"/>
                  </a:lnTo>
                  <a:lnTo>
                    <a:pt x="239980" y="29114"/>
                  </a:lnTo>
                  <a:lnTo>
                    <a:pt x="272641" y="61776"/>
                  </a:lnTo>
                  <a:lnTo>
                    <a:pt x="294060" y="103193"/>
                  </a:lnTo>
                  <a:lnTo>
                    <a:pt x="301752" y="150875"/>
                  </a:lnTo>
                  <a:lnTo>
                    <a:pt x="294060" y="198558"/>
                  </a:lnTo>
                  <a:lnTo>
                    <a:pt x="272641" y="239975"/>
                  </a:lnTo>
                  <a:lnTo>
                    <a:pt x="239980" y="272637"/>
                  </a:lnTo>
                  <a:lnTo>
                    <a:pt x="198563" y="294058"/>
                  </a:lnTo>
                  <a:lnTo>
                    <a:pt x="150875" y="301752"/>
                  </a:lnTo>
                  <a:lnTo>
                    <a:pt x="103188" y="294058"/>
                  </a:lnTo>
                  <a:lnTo>
                    <a:pt x="61771" y="272637"/>
                  </a:lnTo>
                  <a:lnTo>
                    <a:pt x="29110" y="239975"/>
                  </a:lnTo>
                  <a:lnTo>
                    <a:pt x="7691" y="198558"/>
                  </a:lnTo>
                  <a:lnTo>
                    <a:pt x="0" y="150875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74320" y="658368"/>
            <a:ext cx="914400" cy="41148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</a:ln>
        </p:spPr>
        <p:txBody>
          <a:bodyPr wrap="square" lIns="0" tIns="1054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dirty="0" sz="1200" b="1">
                <a:solidFill>
                  <a:srgbClr val="C8A127"/>
                </a:solidFill>
                <a:latin typeface="Calibri"/>
                <a:cs typeface="Calibri"/>
              </a:rPr>
              <a:t>EJ.</a:t>
            </a:r>
            <a:r>
              <a:rPr dirty="0" sz="1200" spc="-2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200" spc="-50" b="1">
                <a:solidFill>
                  <a:srgbClr val="C8A127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4874" y="741934"/>
            <a:ext cx="503174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0D1F4E"/>
                </a:solidFill>
                <a:latin typeface="Calibri"/>
                <a:cs typeface="Calibri"/>
              </a:rPr>
              <a:t>Trazabilidad</a:t>
            </a:r>
            <a:r>
              <a:rPr dirty="0" sz="13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entre</a:t>
            </a:r>
            <a:r>
              <a:rPr dirty="0" sz="13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r>
              <a:rPr dirty="0" sz="13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300" spc="-5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métricas</a:t>
            </a:r>
            <a:r>
              <a:rPr dirty="0" sz="13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300" spc="-5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r>
              <a:rPr dirty="0" sz="13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en</a:t>
            </a:r>
            <a:r>
              <a:rPr dirty="0" sz="1300" spc="-5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un</a:t>
            </a:r>
            <a:r>
              <a:rPr dirty="0" sz="13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proyecto </a:t>
            </a:r>
            <a:r>
              <a:rPr dirty="0" sz="1300" spc="-10" b="1">
                <a:solidFill>
                  <a:srgbClr val="0D1F4E"/>
                </a:solidFill>
                <a:latin typeface="Calibri"/>
                <a:cs typeface="Calibri"/>
              </a:rPr>
              <a:t>fintech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4320" y="1797430"/>
            <a:ext cx="8595360" cy="457200"/>
          </a:xfrm>
          <a:prstGeom prst="rect">
            <a:avLst/>
          </a:prstGeom>
          <a:solidFill>
            <a:srgbClr val="1C316F"/>
          </a:solidFill>
          <a:ln w="12700">
            <a:solidFill>
              <a:srgbClr val="1C316F"/>
            </a:solidFill>
          </a:ln>
        </p:spPr>
        <p:txBody>
          <a:bodyPr wrap="square" lIns="0" tIns="1282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ESCENARIO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pagos</a:t>
            </a:r>
            <a:r>
              <a:rPr dirty="0" sz="12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instantáneos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fintech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latinoamericana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9882" y="3253232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51237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540" y="3259073"/>
            <a:ext cx="34544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Seleccionar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5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requisitos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funcionales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críticos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sistema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2C3D50"/>
                </a:solidFill>
                <a:latin typeface="Calibri"/>
                <a:cs typeface="Calibri"/>
              </a:rPr>
              <a:t>fintech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7970" y="3597655"/>
            <a:ext cx="314960" cy="314960"/>
            <a:chOff x="267970" y="3597655"/>
            <a:chExt cx="314960" cy="314960"/>
          </a:xfrm>
        </p:grpSpPr>
        <p:sp>
          <p:nvSpPr>
            <p:cNvPr id="14" name="object 14"/>
            <p:cNvSpPr/>
            <p:nvPr/>
          </p:nvSpPr>
          <p:spPr>
            <a:xfrm>
              <a:off x="274320" y="360400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75" y="0"/>
                  </a:moveTo>
                  <a:lnTo>
                    <a:pt x="103188" y="7693"/>
                  </a:lnTo>
                  <a:lnTo>
                    <a:pt x="61771" y="29114"/>
                  </a:lnTo>
                  <a:lnTo>
                    <a:pt x="29110" y="61776"/>
                  </a:lnTo>
                  <a:lnTo>
                    <a:pt x="7691" y="103193"/>
                  </a:lnTo>
                  <a:lnTo>
                    <a:pt x="0" y="150876"/>
                  </a:lnTo>
                  <a:lnTo>
                    <a:pt x="7691" y="198561"/>
                  </a:lnTo>
                  <a:lnTo>
                    <a:pt x="29110" y="239984"/>
                  </a:lnTo>
                  <a:lnTo>
                    <a:pt x="61771" y="272653"/>
                  </a:lnTo>
                  <a:lnTo>
                    <a:pt x="103188" y="294081"/>
                  </a:lnTo>
                  <a:lnTo>
                    <a:pt x="150875" y="301777"/>
                  </a:lnTo>
                  <a:lnTo>
                    <a:pt x="198563" y="294081"/>
                  </a:lnTo>
                  <a:lnTo>
                    <a:pt x="239980" y="272653"/>
                  </a:lnTo>
                  <a:lnTo>
                    <a:pt x="272641" y="239984"/>
                  </a:lnTo>
                  <a:lnTo>
                    <a:pt x="294060" y="198561"/>
                  </a:lnTo>
                  <a:lnTo>
                    <a:pt x="301752" y="150876"/>
                  </a:lnTo>
                  <a:lnTo>
                    <a:pt x="294060" y="103193"/>
                  </a:lnTo>
                  <a:lnTo>
                    <a:pt x="272641" y="61776"/>
                  </a:lnTo>
                  <a:lnTo>
                    <a:pt x="239980" y="29114"/>
                  </a:lnTo>
                  <a:lnTo>
                    <a:pt x="198563" y="7693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4320" y="360400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76"/>
                  </a:moveTo>
                  <a:lnTo>
                    <a:pt x="7691" y="103193"/>
                  </a:lnTo>
                  <a:lnTo>
                    <a:pt x="29110" y="61776"/>
                  </a:lnTo>
                  <a:lnTo>
                    <a:pt x="61771" y="29114"/>
                  </a:lnTo>
                  <a:lnTo>
                    <a:pt x="103188" y="7693"/>
                  </a:lnTo>
                  <a:lnTo>
                    <a:pt x="150875" y="0"/>
                  </a:lnTo>
                  <a:lnTo>
                    <a:pt x="198563" y="7693"/>
                  </a:lnTo>
                  <a:lnTo>
                    <a:pt x="239980" y="29114"/>
                  </a:lnTo>
                  <a:lnTo>
                    <a:pt x="272641" y="61776"/>
                  </a:lnTo>
                  <a:lnTo>
                    <a:pt x="294060" y="103193"/>
                  </a:lnTo>
                  <a:lnTo>
                    <a:pt x="301752" y="150876"/>
                  </a:lnTo>
                  <a:lnTo>
                    <a:pt x="294060" y="198561"/>
                  </a:lnTo>
                  <a:lnTo>
                    <a:pt x="272641" y="239984"/>
                  </a:lnTo>
                  <a:lnTo>
                    <a:pt x="239980" y="272653"/>
                  </a:lnTo>
                  <a:lnTo>
                    <a:pt x="198563" y="294081"/>
                  </a:lnTo>
                  <a:lnTo>
                    <a:pt x="150875" y="301777"/>
                  </a:lnTo>
                  <a:lnTo>
                    <a:pt x="103188" y="294081"/>
                  </a:lnTo>
                  <a:lnTo>
                    <a:pt x="61771" y="272653"/>
                  </a:lnTo>
                  <a:lnTo>
                    <a:pt x="29110" y="239984"/>
                  </a:lnTo>
                  <a:lnTo>
                    <a:pt x="7691" y="198561"/>
                  </a:lnTo>
                  <a:lnTo>
                    <a:pt x="0" y="150876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79882" y="3652469"/>
            <a:ext cx="901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51237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67970" y="3984345"/>
            <a:ext cx="314960" cy="314960"/>
            <a:chOff x="267970" y="3984345"/>
            <a:chExt cx="314960" cy="314960"/>
          </a:xfrm>
        </p:grpSpPr>
        <p:sp>
          <p:nvSpPr>
            <p:cNvPr id="18" name="object 18"/>
            <p:cNvSpPr/>
            <p:nvPr/>
          </p:nvSpPr>
          <p:spPr>
            <a:xfrm>
              <a:off x="274320" y="399069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75" y="0"/>
                  </a:moveTo>
                  <a:lnTo>
                    <a:pt x="103188" y="7691"/>
                  </a:lnTo>
                  <a:lnTo>
                    <a:pt x="61771" y="29110"/>
                  </a:lnTo>
                  <a:lnTo>
                    <a:pt x="29110" y="61771"/>
                  </a:lnTo>
                  <a:lnTo>
                    <a:pt x="7691" y="103188"/>
                  </a:lnTo>
                  <a:lnTo>
                    <a:pt x="0" y="150875"/>
                  </a:lnTo>
                  <a:lnTo>
                    <a:pt x="7691" y="198563"/>
                  </a:lnTo>
                  <a:lnTo>
                    <a:pt x="29110" y="239980"/>
                  </a:lnTo>
                  <a:lnTo>
                    <a:pt x="61771" y="272641"/>
                  </a:lnTo>
                  <a:lnTo>
                    <a:pt x="103188" y="294060"/>
                  </a:lnTo>
                  <a:lnTo>
                    <a:pt x="150875" y="301751"/>
                  </a:lnTo>
                  <a:lnTo>
                    <a:pt x="198563" y="294060"/>
                  </a:lnTo>
                  <a:lnTo>
                    <a:pt x="239980" y="272641"/>
                  </a:lnTo>
                  <a:lnTo>
                    <a:pt x="272641" y="239980"/>
                  </a:lnTo>
                  <a:lnTo>
                    <a:pt x="294060" y="198563"/>
                  </a:lnTo>
                  <a:lnTo>
                    <a:pt x="301752" y="150875"/>
                  </a:lnTo>
                  <a:lnTo>
                    <a:pt x="294060" y="103188"/>
                  </a:lnTo>
                  <a:lnTo>
                    <a:pt x="272641" y="61771"/>
                  </a:lnTo>
                  <a:lnTo>
                    <a:pt x="239980" y="29110"/>
                  </a:lnTo>
                  <a:lnTo>
                    <a:pt x="198563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320" y="399069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75"/>
                  </a:moveTo>
                  <a:lnTo>
                    <a:pt x="7691" y="103188"/>
                  </a:lnTo>
                  <a:lnTo>
                    <a:pt x="29110" y="61771"/>
                  </a:lnTo>
                  <a:lnTo>
                    <a:pt x="61771" y="29110"/>
                  </a:lnTo>
                  <a:lnTo>
                    <a:pt x="103188" y="7691"/>
                  </a:lnTo>
                  <a:lnTo>
                    <a:pt x="150875" y="0"/>
                  </a:lnTo>
                  <a:lnTo>
                    <a:pt x="198563" y="7691"/>
                  </a:lnTo>
                  <a:lnTo>
                    <a:pt x="239980" y="29110"/>
                  </a:lnTo>
                  <a:lnTo>
                    <a:pt x="272641" y="61771"/>
                  </a:lnTo>
                  <a:lnTo>
                    <a:pt x="294060" y="103188"/>
                  </a:lnTo>
                  <a:lnTo>
                    <a:pt x="301752" y="150875"/>
                  </a:lnTo>
                  <a:lnTo>
                    <a:pt x="294060" y="198563"/>
                  </a:lnTo>
                  <a:lnTo>
                    <a:pt x="272641" y="239980"/>
                  </a:lnTo>
                  <a:lnTo>
                    <a:pt x="239980" y="272641"/>
                  </a:lnTo>
                  <a:lnTo>
                    <a:pt x="198563" y="294060"/>
                  </a:lnTo>
                  <a:lnTo>
                    <a:pt x="150875" y="301751"/>
                  </a:lnTo>
                  <a:lnTo>
                    <a:pt x="103188" y="294060"/>
                  </a:lnTo>
                  <a:lnTo>
                    <a:pt x="61771" y="272641"/>
                  </a:lnTo>
                  <a:lnTo>
                    <a:pt x="29110" y="239980"/>
                  </a:lnTo>
                  <a:lnTo>
                    <a:pt x="7691" y="198563"/>
                  </a:lnTo>
                  <a:lnTo>
                    <a:pt x="0" y="150875"/>
                  </a:lnTo>
                  <a:close/>
                </a:path>
              </a:pathLst>
            </a:custGeom>
            <a:ln w="12699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79882" y="4046321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51237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4540" y="3589146"/>
            <a:ext cx="7948295" cy="707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42164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Análisis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riesgos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requisitos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deficientes: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Para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cada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requisito,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describa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al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menos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un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posible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defecto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derivado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una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mala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especificación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(ambigüedad,</a:t>
            </a:r>
            <a:r>
              <a:rPr dirty="0" sz="1050" spc="-6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omisión,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inconsistencia).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Vincular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esos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defectos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métricas: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cantidad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defectos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proceso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desarrollo,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%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costo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calidad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(retrabajos,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correcciones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producción)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satisfacción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cliente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(%).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67970" y="4364482"/>
            <a:ext cx="314960" cy="314960"/>
            <a:chOff x="267970" y="4364482"/>
            <a:chExt cx="314960" cy="314960"/>
          </a:xfrm>
        </p:grpSpPr>
        <p:sp>
          <p:nvSpPr>
            <p:cNvPr id="23" name="object 23"/>
            <p:cNvSpPr/>
            <p:nvPr/>
          </p:nvSpPr>
          <p:spPr>
            <a:xfrm>
              <a:off x="274320" y="4370832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75" y="0"/>
                  </a:moveTo>
                  <a:lnTo>
                    <a:pt x="103188" y="7690"/>
                  </a:lnTo>
                  <a:lnTo>
                    <a:pt x="61771" y="29107"/>
                  </a:lnTo>
                  <a:lnTo>
                    <a:pt x="29110" y="61765"/>
                  </a:lnTo>
                  <a:lnTo>
                    <a:pt x="7691" y="103183"/>
                  </a:lnTo>
                  <a:lnTo>
                    <a:pt x="0" y="150876"/>
                  </a:lnTo>
                  <a:lnTo>
                    <a:pt x="7691" y="198563"/>
                  </a:lnTo>
                  <a:lnTo>
                    <a:pt x="29110" y="239980"/>
                  </a:lnTo>
                  <a:lnTo>
                    <a:pt x="61771" y="272641"/>
                  </a:lnTo>
                  <a:lnTo>
                    <a:pt x="103188" y="294060"/>
                  </a:lnTo>
                  <a:lnTo>
                    <a:pt x="150875" y="301752"/>
                  </a:lnTo>
                  <a:lnTo>
                    <a:pt x="198563" y="294060"/>
                  </a:lnTo>
                  <a:lnTo>
                    <a:pt x="239980" y="272641"/>
                  </a:lnTo>
                  <a:lnTo>
                    <a:pt x="272641" y="239980"/>
                  </a:lnTo>
                  <a:lnTo>
                    <a:pt x="294060" y="198563"/>
                  </a:lnTo>
                  <a:lnTo>
                    <a:pt x="301752" y="150876"/>
                  </a:lnTo>
                  <a:lnTo>
                    <a:pt x="294060" y="103183"/>
                  </a:lnTo>
                  <a:lnTo>
                    <a:pt x="272641" y="61765"/>
                  </a:lnTo>
                  <a:lnTo>
                    <a:pt x="239980" y="29107"/>
                  </a:lnTo>
                  <a:lnTo>
                    <a:pt x="198563" y="7690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4320" y="4370832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76"/>
                  </a:moveTo>
                  <a:lnTo>
                    <a:pt x="7691" y="103183"/>
                  </a:lnTo>
                  <a:lnTo>
                    <a:pt x="29110" y="61765"/>
                  </a:lnTo>
                  <a:lnTo>
                    <a:pt x="61771" y="29107"/>
                  </a:lnTo>
                  <a:lnTo>
                    <a:pt x="103188" y="7690"/>
                  </a:lnTo>
                  <a:lnTo>
                    <a:pt x="150875" y="0"/>
                  </a:lnTo>
                  <a:lnTo>
                    <a:pt x="198563" y="7690"/>
                  </a:lnTo>
                  <a:lnTo>
                    <a:pt x="239980" y="29107"/>
                  </a:lnTo>
                  <a:lnTo>
                    <a:pt x="272641" y="61765"/>
                  </a:lnTo>
                  <a:lnTo>
                    <a:pt x="294060" y="103183"/>
                  </a:lnTo>
                  <a:lnTo>
                    <a:pt x="301752" y="150876"/>
                  </a:lnTo>
                  <a:lnTo>
                    <a:pt x="294060" y="198563"/>
                  </a:lnTo>
                  <a:lnTo>
                    <a:pt x="272641" y="239980"/>
                  </a:lnTo>
                  <a:lnTo>
                    <a:pt x="239980" y="272641"/>
                  </a:lnTo>
                  <a:lnTo>
                    <a:pt x="198563" y="294060"/>
                  </a:lnTo>
                  <a:lnTo>
                    <a:pt x="150875" y="301752"/>
                  </a:lnTo>
                  <a:lnTo>
                    <a:pt x="103188" y="294060"/>
                  </a:lnTo>
                  <a:lnTo>
                    <a:pt x="61771" y="272641"/>
                  </a:lnTo>
                  <a:lnTo>
                    <a:pt x="29110" y="239980"/>
                  </a:lnTo>
                  <a:lnTo>
                    <a:pt x="7691" y="198563"/>
                  </a:lnTo>
                  <a:lnTo>
                    <a:pt x="0" y="150876"/>
                  </a:lnTo>
                  <a:close/>
                </a:path>
              </a:pathLst>
            </a:custGeom>
            <a:ln w="12699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79882" y="4420006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51237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64540" y="4409338"/>
            <a:ext cx="59162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Proponer</a:t>
            </a:r>
            <a:r>
              <a:rPr dirty="0" sz="1050" spc="-5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al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menos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3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acciones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mejora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proceso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especificación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alineadas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CMMI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o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ISO/IEC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12207.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6659" y="1325372"/>
            <a:ext cx="8360409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solidFill>
                  <a:srgbClr val="2C3D50"/>
                </a:solidFill>
                <a:latin typeface="Calibri"/>
                <a:cs typeface="Calibri"/>
              </a:rPr>
              <a:t>Objetivo</a:t>
            </a:r>
            <a:r>
              <a:rPr dirty="0" sz="1050" spc="-45" b="1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0" b="1">
                <a:solidFill>
                  <a:srgbClr val="2C3D50"/>
                </a:solidFill>
                <a:latin typeface="Calibri"/>
                <a:cs typeface="Calibri"/>
              </a:rPr>
              <a:t> aprendizaje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:</a:t>
            </a:r>
            <a:r>
              <a:rPr dirty="0" sz="1050" spc="-5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Analizar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cómo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calidad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especificación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requisitos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impacta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 métricas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calidad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proyecto,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integrando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conceptos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de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costo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 calidad,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defectos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satisfacción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 del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cliente.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8779" y="2378710"/>
            <a:ext cx="8187690" cy="756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604" marR="5080">
              <a:lnSpc>
                <a:spcPct val="100000"/>
              </a:lnSpc>
              <a:spcBef>
                <a:spcPts val="105"/>
              </a:spcBef>
            </a:pPr>
            <a:r>
              <a:rPr dirty="0" sz="1050" spc="-10" b="1">
                <a:solidFill>
                  <a:srgbClr val="2C3D50"/>
                </a:solidFill>
                <a:latin typeface="Calibri"/>
                <a:cs typeface="Calibri"/>
              </a:rPr>
              <a:t>Contexto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: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Suponga</a:t>
            </a:r>
            <a:r>
              <a:rPr dirty="0" sz="10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un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proyecto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para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desarrollar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una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aplicación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móvil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pagos</a:t>
            </a:r>
            <a:r>
              <a:rPr dirty="0" sz="10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instantáneos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para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una fintech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latinoamericana.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Describa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brevemente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el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objetivo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sistema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sus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principales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usuarios.</a:t>
            </a:r>
            <a:endParaRPr sz="1050">
              <a:latin typeface="Calibri"/>
              <a:cs typeface="Calibri"/>
            </a:endParaRPr>
          </a:p>
          <a:p>
            <a:pPr marL="12700" marR="92710">
              <a:lnSpc>
                <a:spcPct val="100000"/>
              </a:lnSpc>
              <a:spcBef>
                <a:spcPts val="70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Sistema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que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permite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usuarios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enviar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recibir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dinero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entre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cuentas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bancarias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billeteras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digitales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segundos. Usuarios: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clientes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finales,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comercios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afiliados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equipo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antifraude.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4821681"/>
            <a:ext cx="9156700" cy="328295"/>
            <a:chOff x="-6350" y="4821681"/>
            <a:chExt cx="9156700" cy="328295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67970" y="652018"/>
            <a:ext cx="1292860" cy="424180"/>
          </a:xfrm>
          <a:prstGeom prst="rect">
            <a:avLst/>
          </a:prstGeom>
          <a:solidFill>
            <a:srgbClr val="2D7C31"/>
          </a:solidFill>
          <a:ln w="3175">
            <a:solidFill>
              <a:srgbClr val="2D7C31"/>
            </a:solidFill>
          </a:ln>
        </p:spPr>
        <p:txBody>
          <a:bodyPr wrap="square" lIns="0" tIns="119380" rIns="0" bIns="0" rtlCol="0" vert="horz">
            <a:spAutoFit/>
          </a:bodyPr>
          <a:lstStyle/>
          <a:p>
            <a:pPr marL="311150">
              <a:lnSpc>
                <a:spcPct val="100000"/>
              </a:lnSpc>
              <a:spcBef>
                <a:spcPts val="94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RESPUESTA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70633" y="741934"/>
            <a:ext cx="43935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Ejercicio 2</a:t>
            </a:r>
            <a:r>
              <a:rPr dirty="0" sz="13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—</a:t>
            </a:r>
            <a:r>
              <a:rPr dirty="0" sz="13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r>
              <a:rPr dirty="0" sz="13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críticos</a:t>
            </a:r>
            <a:r>
              <a:rPr dirty="0" sz="1300" spc="-1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3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riesgos</a:t>
            </a:r>
            <a:r>
              <a:rPr dirty="0" sz="13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3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mala</a:t>
            </a:r>
            <a:r>
              <a:rPr dirty="0" sz="13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1F4E"/>
                </a:solidFill>
                <a:latin typeface="Calibri"/>
                <a:cs typeface="Calibri"/>
              </a:rPr>
              <a:t>especificación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71145" y="1167257"/>
          <a:ext cx="8677910" cy="3517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1520"/>
                <a:gridCol w="2926080"/>
                <a:gridCol w="4937759"/>
              </a:tblGrid>
              <a:tr h="5861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Código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Requisito</a:t>
                      </a:r>
                      <a:r>
                        <a:rPr dirty="0" sz="95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funcional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0D1F4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Riesgo</a:t>
                      </a:r>
                      <a:r>
                        <a:rPr dirty="0" sz="95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mala 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especificación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0D1F4E"/>
                    </a:solidFill>
                  </a:tcPr>
                </a:tc>
              </a:tr>
              <a:tr h="5861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RF01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Registrar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usuario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9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validación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identidad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7716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Omisión: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especificar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qué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datos</a:t>
                      </a:r>
                      <a:r>
                        <a:rPr dirty="0" sz="9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identidad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validan</a:t>
                      </a:r>
                      <a:r>
                        <a:rPr dirty="0" sz="9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generar</a:t>
                      </a:r>
                      <a:r>
                        <a:rPr dirty="0" sz="9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registros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duplicados</a:t>
                      </a:r>
                      <a:r>
                        <a:rPr dirty="0" sz="9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50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fraudulentos.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5861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RF02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Vincular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cuenta</a:t>
                      </a:r>
                      <a:r>
                        <a:rPr dirty="0" sz="9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bancaria</a:t>
                      </a:r>
                      <a:r>
                        <a:rPr dirty="0" sz="9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(integración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9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banco)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Ambigüedad: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Sin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precisar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manejo</a:t>
                      </a:r>
                      <a:r>
                        <a:rPr dirty="0" sz="9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errores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conexión,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vinculación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quedar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en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estado</a:t>
                      </a:r>
                      <a:r>
                        <a:rPr dirty="0" sz="9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inconsistente.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RF03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Realizar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pago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P2P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entre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usuarios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registrados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413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Inconsistencia: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Sin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detallar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flujo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error</a:t>
                      </a:r>
                      <a:r>
                        <a:rPr dirty="0" sz="9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transferencia,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pueden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generar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pagos duplicados.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5861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RF04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Consultar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historial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transacciones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(fecha/monto)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Omisión: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especificar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filtros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rango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genera consultas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lentas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resultados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incorrectos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en</a:t>
                      </a:r>
                      <a:endParaRPr sz="95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950" spc="-10">
                          <a:latin typeface="Calibri"/>
                          <a:cs typeface="Calibri"/>
                        </a:rPr>
                        <a:t>producción.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 spc="-20">
                          <a:latin typeface="Calibri"/>
                          <a:cs typeface="Calibri"/>
                        </a:rPr>
                        <a:t>RF05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Bloquear</a:t>
                      </a:r>
                      <a:r>
                        <a:rPr dirty="0" sz="95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cuenta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ante</a:t>
                      </a:r>
                      <a:r>
                        <a:rPr dirty="0" sz="9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sospecha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fraude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311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950">
                          <a:latin typeface="Calibri"/>
                          <a:cs typeface="Calibri"/>
                        </a:rPr>
                        <a:t>Ambigüedad:</a:t>
                      </a:r>
                      <a:r>
                        <a:rPr dirty="0" sz="95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Sin</a:t>
                      </a:r>
                      <a:r>
                        <a:rPr dirty="0" sz="9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definir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quién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puede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bloquear</a:t>
                      </a:r>
                      <a:r>
                        <a:rPr dirty="0" sz="9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(usuario,</a:t>
                      </a:r>
                      <a:r>
                        <a:rPr dirty="0" sz="9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sistema,</a:t>
                      </a:r>
                      <a:r>
                        <a:rPr dirty="0" sz="9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antifraude),</a:t>
                      </a:r>
                      <a:r>
                        <a:rPr dirty="0" sz="9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 producen </a:t>
                      </a:r>
                      <a:r>
                        <a:rPr dirty="0" sz="950">
                          <a:latin typeface="Calibri"/>
                          <a:cs typeface="Calibri"/>
                        </a:rPr>
                        <a:t>bloqueos</a:t>
                      </a:r>
                      <a:r>
                        <a:rPr dirty="0" sz="9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50" spc="-10">
                          <a:latin typeface="Calibri"/>
                          <a:cs typeface="Calibri"/>
                        </a:rPr>
                        <a:t>indebidos.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B="0" marT="38735">
                    <a:lnL w="6350">
                      <a:solidFill>
                        <a:srgbClr val="C9DCFB"/>
                      </a:solidFill>
                      <a:prstDash val="solid"/>
                    </a:lnL>
                    <a:lnR w="6350">
                      <a:solidFill>
                        <a:srgbClr val="C9DCFB"/>
                      </a:solidFill>
                      <a:prstDash val="solid"/>
                    </a:lnR>
                    <a:lnT w="6350">
                      <a:solidFill>
                        <a:srgbClr val="C9DCFB"/>
                      </a:solidFill>
                      <a:prstDash val="solid"/>
                    </a:lnT>
                    <a:lnB w="6350">
                      <a:solidFill>
                        <a:srgbClr val="C9DCFB"/>
                      </a:solidFill>
                      <a:prstDash val="solid"/>
                    </a:lnB>
                    <a:solidFill>
                      <a:srgbClr val="FFFFFF">
                        <a:alpha val="90194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1502410"/>
            <a:ext cx="9156700" cy="3647440"/>
            <a:chOff x="-6350" y="1502410"/>
            <a:chExt cx="9156700" cy="3647440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4320" y="1508760"/>
              <a:ext cx="2743200" cy="411480"/>
            </a:xfrm>
            <a:custGeom>
              <a:avLst/>
              <a:gdLst/>
              <a:ahLst/>
              <a:cxnLst/>
              <a:rect l="l" t="t" r="r" b="b"/>
              <a:pathLst>
                <a:path w="2743200" h="411480">
                  <a:moveTo>
                    <a:pt x="0" y="411479"/>
                  </a:moveTo>
                  <a:lnTo>
                    <a:pt x="2743200" y="411479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12699">
              <a:solidFill>
                <a:srgbClr val="0D1F4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67970" y="652018"/>
            <a:ext cx="1292860" cy="424180"/>
          </a:xfrm>
          <a:prstGeom prst="rect">
            <a:avLst/>
          </a:prstGeom>
          <a:solidFill>
            <a:srgbClr val="2D7C31"/>
          </a:solidFill>
          <a:ln w="3175">
            <a:solidFill>
              <a:srgbClr val="2D7C31"/>
            </a:solidFill>
          </a:ln>
        </p:spPr>
        <p:txBody>
          <a:bodyPr wrap="square" lIns="0" tIns="119380" rIns="0" bIns="0" rtlCol="0" vert="horz">
            <a:spAutoFit/>
          </a:bodyPr>
          <a:lstStyle/>
          <a:p>
            <a:pPr marL="311150">
              <a:lnSpc>
                <a:spcPct val="100000"/>
              </a:lnSpc>
              <a:spcBef>
                <a:spcPts val="94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RESPUESTA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0633" y="741934"/>
            <a:ext cx="38176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Ejercicio</a:t>
            </a:r>
            <a:r>
              <a:rPr dirty="0" sz="1300" spc="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2</a:t>
            </a:r>
            <a:r>
              <a:rPr dirty="0" sz="13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—</a:t>
            </a:r>
            <a:r>
              <a:rPr dirty="0" sz="13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Impacto</a:t>
            </a:r>
            <a:r>
              <a:rPr dirty="0" sz="13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en</a:t>
            </a:r>
            <a:r>
              <a:rPr dirty="0" sz="13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métricas</a:t>
            </a:r>
            <a:r>
              <a:rPr dirty="0" sz="1300" spc="-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y</a:t>
            </a:r>
            <a:r>
              <a:rPr dirty="0" sz="13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acciones</a:t>
            </a:r>
            <a:r>
              <a:rPr dirty="0" sz="1300" spc="-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30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D1F4E"/>
                </a:solidFill>
                <a:latin typeface="Calibri"/>
                <a:cs typeface="Calibri"/>
              </a:rPr>
              <a:t>mejora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779" y="1203705"/>
            <a:ext cx="19939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Impacto</a:t>
            </a:r>
            <a:r>
              <a:rPr dirty="0" sz="12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en</a:t>
            </a:r>
            <a:r>
              <a:rPr dirty="0" sz="12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métricas</a:t>
            </a:r>
            <a:r>
              <a:rPr dirty="0" sz="12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970" y="1502410"/>
            <a:ext cx="2755900" cy="424180"/>
          </a:xfrm>
          <a:prstGeom prst="rect">
            <a:avLst/>
          </a:prstGeom>
          <a:solidFill>
            <a:srgbClr val="0D1F4E"/>
          </a:solidFill>
        </p:spPr>
        <p:txBody>
          <a:bodyPr wrap="square" lIns="0" tIns="128270" rIns="0" bIns="0" rtlCol="0" vert="horz">
            <a:spAutoFit/>
          </a:bodyPr>
          <a:lstStyle/>
          <a:p>
            <a:pPr marL="821055">
              <a:lnSpc>
                <a:spcPct val="100000"/>
              </a:lnSpc>
              <a:spcBef>
                <a:spcPts val="1010"/>
              </a:spcBef>
            </a:pP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Cantidad</a:t>
            </a:r>
            <a:r>
              <a:rPr dirty="0" sz="10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defectos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320" y="1920239"/>
            <a:ext cx="2743200" cy="914400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182245" marR="228600">
              <a:lnSpc>
                <a:spcPct val="100000"/>
              </a:lnSpc>
              <a:spcBef>
                <a:spcPts val="590"/>
              </a:spcBef>
            </a:pP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Ambigüedades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RF03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RF05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se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traducen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 más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defectos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funcionales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detectados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 pruebas y</a:t>
            </a:r>
            <a:r>
              <a:rPr dirty="0" sz="950" spc="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producción,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aumentando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950" spc="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densidad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defectos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proyecto.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00400" y="1508760"/>
            <a:ext cx="2743200" cy="411480"/>
          </a:xfrm>
          <a:custGeom>
            <a:avLst/>
            <a:gdLst/>
            <a:ahLst/>
            <a:cxnLst/>
            <a:rect l="l" t="t" r="r" b="b"/>
            <a:pathLst>
              <a:path w="2743200" h="411480">
                <a:moveTo>
                  <a:pt x="0" y="411479"/>
                </a:moveTo>
                <a:lnTo>
                  <a:pt x="2743200" y="411479"/>
                </a:lnTo>
                <a:lnTo>
                  <a:pt x="2743200" y="0"/>
                </a:lnTo>
                <a:lnTo>
                  <a:pt x="0" y="0"/>
                </a:lnTo>
                <a:lnTo>
                  <a:pt x="0" y="411479"/>
                </a:lnTo>
                <a:close/>
              </a:path>
            </a:pathLst>
          </a:custGeom>
          <a:ln w="12699">
            <a:solidFill>
              <a:srgbClr val="1C316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194050" y="1502410"/>
            <a:ext cx="2755900" cy="424180"/>
          </a:xfrm>
          <a:prstGeom prst="rect">
            <a:avLst/>
          </a:prstGeom>
          <a:solidFill>
            <a:srgbClr val="1C316F"/>
          </a:solidFill>
        </p:spPr>
        <p:txBody>
          <a:bodyPr wrap="square" lIns="0" tIns="128270" rIns="0" bIns="0" rtlCol="0" vert="horz">
            <a:spAutoFit/>
          </a:bodyPr>
          <a:lstStyle/>
          <a:p>
            <a:pPr marL="845819">
              <a:lnSpc>
                <a:spcPct val="100000"/>
              </a:lnSpc>
              <a:spcBef>
                <a:spcPts val="1010"/>
              </a:spcBef>
            </a:pP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Costo</a:t>
            </a:r>
            <a:r>
              <a:rPr dirty="0" sz="10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10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Calibri"/>
                <a:cs typeface="Calibri"/>
              </a:rPr>
              <a:t>(%)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00400" y="1920239"/>
            <a:ext cx="2743200" cy="914400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182880" marR="228600">
              <a:lnSpc>
                <a:spcPct val="100000"/>
              </a:lnSpc>
              <a:spcBef>
                <a:spcPts val="590"/>
              </a:spcBef>
            </a:pP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Retrabajos,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correcciones</a:t>
            </a:r>
            <a:r>
              <a:rPr dirty="0" sz="950" spc="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urgentes</a:t>
            </a:r>
            <a:r>
              <a:rPr dirty="0" sz="950" spc="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compensaciones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 a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clientes</a:t>
            </a:r>
            <a:r>
              <a:rPr dirty="0" sz="950" spc="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elevan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el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porcentaje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costo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calidad</a:t>
            </a:r>
            <a:r>
              <a:rPr dirty="0" sz="9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respecto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al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costo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real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del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proyecto.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26479" y="1508760"/>
            <a:ext cx="2743200" cy="411480"/>
          </a:xfrm>
          <a:custGeom>
            <a:avLst/>
            <a:gdLst/>
            <a:ahLst/>
            <a:cxnLst/>
            <a:rect l="l" t="t" r="r" b="b"/>
            <a:pathLst>
              <a:path w="2743200" h="411480">
                <a:moveTo>
                  <a:pt x="0" y="411479"/>
                </a:moveTo>
                <a:lnTo>
                  <a:pt x="2743200" y="411479"/>
                </a:lnTo>
                <a:lnTo>
                  <a:pt x="2743200" y="0"/>
                </a:lnTo>
                <a:lnTo>
                  <a:pt x="0" y="0"/>
                </a:lnTo>
                <a:lnTo>
                  <a:pt x="0" y="411479"/>
                </a:lnTo>
                <a:close/>
              </a:path>
            </a:pathLst>
          </a:custGeom>
          <a:ln w="12699">
            <a:solidFill>
              <a:srgbClr val="1A6B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120129" y="1502410"/>
            <a:ext cx="2755900" cy="424180"/>
          </a:xfrm>
          <a:prstGeom prst="rect">
            <a:avLst/>
          </a:prstGeom>
          <a:solidFill>
            <a:srgbClr val="1A6B53"/>
          </a:solidFill>
        </p:spPr>
        <p:txBody>
          <a:bodyPr wrap="square" lIns="0" tIns="128270" rIns="0" bIns="0" rtlCol="0" vert="horz">
            <a:spAutoFit/>
          </a:bodyPr>
          <a:lstStyle/>
          <a:p>
            <a:pPr marL="678180">
              <a:lnSpc>
                <a:spcPct val="100000"/>
              </a:lnSpc>
              <a:spcBef>
                <a:spcPts val="1010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Satisfacción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 del</a:t>
            </a:r>
            <a:r>
              <a:rPr dirty="0" sz="10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cliente </a:t>
            </a:r>
            <a:r>
              <a:rPr dirty="0" sz="1000" spc="-25" b="1">
                <a:solidFill>
                  <a:srgbClr val="FFFFFF"/>
                </a:solidFill>
                <a:latin typeface="Calibri"/>
                <a:cs typeface="Calibri"/>
              </a:rPr>
              <a:t>(%)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26479" y="1920239"/>
            <a:ext cx="2743200" cy="914400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183515" marR="490220">
              <a:lnSpc>
                <a:spcPct val="100000"/>
              </a:lnSpc>
              <a:spcBef>
                <a:spcPts val="590"/>
              </a:spcBef>
            </a:pP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Errores</a:t>
            </a:r>
            <a:r>
              <a:rPr dirty="0" sz="9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9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pagos</a:t>
            </a:r>
            <a:r>
              <a:rPr dirty="0" sz="9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o</a:t>
            </a:r>
            <a:r>
              <a:rPr dirty="0" sz="9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bloqueos</a:t>
            </a:r>
            <a:r>
              <a:rPr dirty="0" sz="9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injustificados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reducen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directamente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el %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clientes satisfechos,</a:t>
            </a:r>
            <a:r>
              <a:rPr dirty="0" sz="950" spc="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afectando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950" spc="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reputación</a:t>
            </a:r>
            <a:r>
              <a:rPr dirty="0" sz="9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950" spc="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950" spc="-10" i="1">
                <a:solidFill>
                  <a:srgbClr val="2C3D50"/>
                </a:solidFill>
                <a:latin typeface="Calibri"/>
                <a:cs typeface="Calibri"/>
              </a:rPr>
              <a:t>fintech</a:t>
            </a:r>
            <a:r>
              <a:rPr dirty="0" sz="950" spc="-10">
                <a:solidFill>
                  <a:srgbClr val="2C3D50"/>
                </a:solidFill>
                <a:latin typeface="Calibri"/>
                <a:cs typeface="Calibri"/>
              </a:rPr>
              <a:t>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8779" y="2978276"/>
            <a:ext cx="3140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Acciones</a:t>
            </a:r>
            <a:r>
              <a:rPr dirty="0" sz="12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mejora</a:t>
            </a:r>
            <a:r>
              <a:rPr dirty="0" sz="12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del</a:t>
            </a:r>
            <a:r>
              <a:rPr dirty="0" sz="12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proceso</a:t>
            </a:r>
            <a:r>
              <a:rPr dirty="0" sz="12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0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especificación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7970" y="3367785"/>
            <a:ext cx="314960" cy="314960"/>
            <a:chOff x="267970" y="3367785"/>
            <a:chExt cx="314960" cy="314960"/>
          </a:xfrm>
        </p:grpSpPr>
        <p:sp>
          <p:nvSpPr>
            <p:cNvPr id="20" name="object 20"/>
            <p:cNvSpPr/>
            <p:nvPr/>
          </p:nvSpPr>
          <p:spPr>
            <a:xfrm>
              <a:off x="274320" y="337413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75" y="0"/>
                  </a:moveTo>
                  <a:lnTo>
                    <a:pt x="103188" y="7693"/>
                  </a:lnTo>
                  <a:lnTo>
                    <a:pt x="61771" y="29114"/>
                  </a:lnTo>
                  <a:lnTo>
                    <a:pt x="29110" y="61776"/>
                  </a:lnTo>
                  <a:lnTo>
                    <a:pt x="7691" y="103193"/>
                  </a:lnTo>
                  <a:lnTo>
                    <a:pt x="0" y="150875"/>
                  </a:lnTo>
                  <a:lnTo>
                    <a:pt x="7691" y="198558"/>
                  </a:lnTo>
                  <a:lnTo>
                    <a:pt x="29110" y="239975"/>
                  </a:lnTo>
                  <a:lnTo>
                    <a:pt x="61771" y="272637"/>
                  </a:lnTo>
                  <a:lnTo>
                    <a:pt x="103188" y="294058"/>
                  </a:lnTo>
                  <a:lnTo>
                    <a:pt x="150875" y="301751"/>
                  </a:lnTo>
                  <a:lnTo>
                    <a:pt x="198563" y="294058"/>
                  </a:lnTo>
                  <a:lnTo>
                    <a:pt x="239980" y="272637"/>
                  </a:lnTo>
                  <a:lnTo>
                    <a:pt x="272641" y="239975"/>
                  </a:lnTo>
                  <a:lnTo>
                    <a:pt x="294060" y="198558"/>
                  </a:lnTo>
                  <a:lnTo>
                    <a:pt x="301752" y="150875"/>
                  </a:lnTo>
                  <a:lnTo>
                    <a:pt x="294060" y="103193"/>
                  </a:lnTo>
                  <a:lnTo>
                    <a:pt x="272641" y="61776"/>
                  </a:lnTo>
                  <a:lnTo>
                    <a:pt x="239980" y="29114"/>
                  </a:lnTo>
                  <a:lnTo>
                    <a:pt x="198563" y="7693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4320" y="3374135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75"/>
                  </a:moveTo>
                  <a:lnTo>
                    <a:pt x="7691" y="103193"/>
                  </a:lnTo>
                  <a:lnTo>
                    <a:pt x="29110" y="61776"/>
                  </a:lnTo>
                  <a:lnTo>
                    <a:pt x="61771" y="29114"/>
                  </a:lnTo>
                  <a:lnTo>
                    <a:pt x="103188" y="7693"/>
                  </a:lnTo>
                  <a:lnTo>
                    <a:pt x="150875" y="0"/>
                  </a:lnTo>
                  <a:lnTo>
                    <a:pt x="198563" y="7693"/>
                  </a:lnTo>
                  <a:lnTo>
                    <a:pt x="239980" y="29114"/>
                  </a:lnTo>
                  <a:lnTo>
                    <a:pt x="272641" y="61776"/>
                  </a:lnTo>
                  <a:lnTo>
                    <a:pt x="294060" y="103193"/>
                  </a:lnTo>
                  <a:lnTo>
                    <a:pt x="301752" y="150875"/>
                  </a:lnTo>
                  <a:lnTo>
                    <a:pt x="294060" y="198558"/>
                  </a:lnTo>
                  <a:lnTo>
                    <a:pt x="272641" y="239975"/>
                  </a:lnTo>
                  <a:lnTo>
                    <a:pt x="239980" y="272637"/>
                  </a:lnTo>
                  <a:lnTo>
                    <a:pt x="198563" y="294058"/>
                  </a:lnTo>
                  <a:lnTo>
                    <a:pt x="150875" y="301751"/>
                  </a:lnTo>
                  <a:lnTo>
                    <a:pt x="103188" y="294058"/>
                  </a:lnTo>
                  <a:lnTo>
                    <a:pt x="61771" y="272637"/>
                  </a:lnTo>
                  <a:lnTo>
                    <a:pt x="29110" y="239975"/>
                  </a:lnTo>
                  <a:lnTo>
                    <a:pt x="7691" y="198558"/>
                  </a:lnTo>
                  <a:lnTo>
                    <a:pt x="0" y="150875"/>
                  </a:lnTo>
                  <a:close/>
                </a:path>
              </a:pathLst>
            </a:custGeom>
            <a:ln w="127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79882" y="3429380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51237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4540" y="3311162"/>
            <a:ext cx="8140700" cy="52578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Ficha</a:t>
            </a:r>
            <a:r>
              <a:rPr dirty="0" sz="1050" spc="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050" spc="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D1F4E"/>
                </a:solidFill>
                <a:latin typeface="Calibri"/>
                <a:cs typeface="Calibri"/>
              </a:rPr>
              <a:t>especificación</a:t>
            </a:r>
            <a:r>
              <a:rPr dirty="0" sz="1050" spc="-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D1F4E"/>
                </a:solidFill>
                <a:latin typeface="Calibri"/>
                <a:cs typeface="Calibri"/>
              </a:rPr>
              <a:t>estructurada: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185"/>
              </a:spcBef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Definir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una</a:t>
            </a:r>
            <a:r>
              <a:rPr dirty="0" sz="95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plantilla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ficha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especificación</a:t>
            </a:r>
            <a:r>
              <a:rPr dirty="0" sz="950" spc="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95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similar a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la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propuesta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por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Cornejo-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Aparicio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et</a:t>
            </a:r>
            <a:r>
              <a:rPr dirty="0" sz="950" spc="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al.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(precondiciones,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poscondiciones,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flujos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alternativos)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para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 todos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los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críticos.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67970" y="3888994"/>
            <a:ext cx="314960" cy="314960"/>
            <a:chOff x="267970" y="3888994"/>
            <a:chExt cx="314960" cy="314960"/>
          </a:xfrm>
        </p:grpSpPr>
        <p:sp>
          <p:nvSpPr>
            <p:cNvPr id="25" name="object 25"/>
            <p:cNvSpPr/>
            <p:nvPr/>
          </p:nvSpPr>
          <p:spPr>
            <a:xfrm>
              <a:off x="274320" y="3895344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75" y="0"/>
                  </a:moveTo>
                  <a:lnTo>
                    <a:pt x="103188" y="7691"/>
                  </a:lnTo>
                  <a:lnTo>
                    <a:pt x="61771" y="29110"/>
                  </a:lnTo>
                  <a:lnTo>
                    <a:pt x="29110" y="61771"/>
                  </a:lnTo>
                  <a:lnTo>
                    <a:pt x="7691" y="103188"/>
                  </a:lnTo>
                  <a:lnTo>
                    <a:pt x="0" y="150875"/>
                  </a:lnTo>
                  <a:lnTo>
                    <a:pt x="7691" y="198563"/>
                  </a:lnTo>
                  <a:lnTo>
                    <a:pt x="29110" y="239980"/>
                  </a:lnTo>
                  <a:lnTo>
                    <a:pt x="61771" y="272641"/>
                  </a:lnTo>
                  <a:lnTo>
                    <a:pt x="103188" y="294060"/>
                  </a:lnTo>
                  <a:lnTo>
                    <a:pt x="150875" y="301751"/>
                  </a:lnTo>
                  <a:lnTo>
                    <a:pt x="198563" y="294060"/>
                  </a:lnTo>
                  <a:lnTo>
                    <a:pt x="239980" y="272641"/>
                  </a:lnTo>
                  <a:lnTo>
                    <a:pt x="272641" y="239980"/>
                  </a:lnTo>
                  <a:lnTo>
                    <a:pt x="294060" y="198563"/>
                  </a:lnTo>
                  <a:lnTo>
                    <a:pt x="301752" y="150875"/>
                  </a:lnTo>
                  <a:lnTo>
                    <a:pt x="294060" y="103188"/>
                  </a:lnTo>
                  <a:lnTo>
                    <a:pt x="272641" y="61771"/>
                  </a:lnTo>
                  <a:lnTo>
                    <a:pt x="239980" y="29110"/>
                  </a:lnTo>
                  <a:lnTo>
                    <a:pt x="198563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74320" y="3895344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75"/>
                  </a:moveTo>
                  <a:lnTo>
                    <a:pt x="7691" y="103188"/>
                  </a:lnTo>
                  <a:lnTo>
                    <a:pt x="29110" y="61771"/>
                  </a:lnTo>
                  <a:lnTo>
                    <a:pt x="61771" y="29110"/>
                  </a:lnTo>
                  <a:lnTo>
                    <a:pt x="103188" y="7691"/>
                  </a:lnTo>
                  <a:lnTo>
                    <a:pt x="150875" y="0"/>
                  </a:lnTo>
                  <a:lnTo>
                    <a:pt x="198563" y="7691"/>
                  </a:lnTo>
                  <a:lnTo>
                    <a:pt x="239980" y="29110"/>
                  </a:lnTo>
                  <a:lnTo>
                    <a:pt x="272641" y="61771"/>
                  </a:lnTo>
                  <a:lnTo>
                    <a:pt x="294060" y="103188"/>
                  </a:lnTo>
                  <a:lnTo>
                    <a:pt x="301752" y="150875"/>
                  </a:lnTo>
                  <a:lnTo>
                    <a:pt x="294060" y="198563"/>
                  </a:lnTo>
                  <a:lnTo>
                    <a:pt x="272641" y="239980"/>
                  </a:lnTo>
                  <a:lnTo>
                    <a:pt x="239980" y="272641"/>
                  </a:lnTo>
                  <a:lnTo>
                    <a:pt x="198563" y="294060"/>
                  </a:lnTo>
                  <a:lnTo>
                    <a:pt x="150875" y="301751"/>
                  </a:lnTo>
                  <a:lnTo>
                    <a:pt x="103188" y="294060"/>
                  </a:lnTo>
                  <a:lnTo>
                    <a:pt x="61771" y="272641"/>
                  </a:lnTo>
                  <a:lnTo>
                    <a:pt x="29110" y="239980"/>
                  </a:lnTo>
                  <a:lnTo>
                    <a:pt x="7691" y="198563"/>
                  </a:lnTo>
                  <a:lnTo>
                    <a:pt x="0" y="150875"/>
                  </a:lnTo>
                  <a:close/>
                </a:path>
              </a:pathLst>
            </a:custGeom>
            <a:ln w="12699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379882" y="3950919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51237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67970" y="4410202"/>
            <a:ext cx="314960" cy="314960"/>
            <a:chOff x="267970" y="4410202"/>
            <a:chExt cx="314960" cy="314960"/>
          </a:xfrm>
        </p:grpSpPr>
        <p:sp>
          <p:nvSpPr>
            <p:cNvPr id="29" name="object 29"/>
            <p:cNvSpPr/>
            <p:nvPr/>
          </p:nvSpPr>
          <p:spPr>
            <a:xfrm>
              <a:off x="274320" y="4416552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75" y="0"/>
                  </a:moveTo>
                  <a:lnTo>
                    <a:pt x="103188" y="7691"/>
                  </a:lnTo>
                  <a:lnTo>
                    <a:pt x="61771" y="29110"/>
                  </a:lnTo>
                  <a:lnTo>
                    <a:pt x="29110" y="61771"/>
                  </a:lnTo>
                  <a:lnTo>
                    <a:pt x="7691" y="103188"/>
                  </a:lnTo>
                  <a:lnTo>
                    <a:pt x="0" y="150876"/>
                  </a:lnTo>
                  <a:lnTo>
                    <a:pt x="7691" y="198563"/>
                  </a:lnTo>
                  <a:lnTo>
                    <a:pt x="29110" y="239980"/>
                  </a:lnTo>
                  <a:lnTo>
                    <a:pt x="61771" y="272641"/>
                  </a:lnTo>
                  <a:lnTo>
                    <a:pt x="103188" y="294060"/>
                  </a:lnTo>
                  <a:lnTo>
                    <a:pt x="150875" y="301752"/>
                  </a:lnTo>
                  <a:lnTo>
                    <a:pt x="198563" y="294060"/>
                  </a:lnTo>
                  <a:lnTo>
                    <a:pt x="239980" y="272641"/>
                  </a:lnTo>
                  <a:lnTo>
                    <a:pt x="272641" y="239980"/>
                  </a:lnTo>
                  <a:lnTo>
                    <a:pt x="294060" y="198563"/>
                  </a:lnTo>
                  <a:lnTo>
                    <a:pt x="301752" y="150876"/>
                  </a:lnTo>
                  <a:lnTo>
                    <a:pt x="294060" y="103188"/>
                  </a:lnTo>
                  <a:lnTo>
                    <a:pt x="272641" y="61771"/>
                  </a:lnTo>
                  <a:lnTo>
                    <a:pt x="239980" y="29110"/>
                  </a:lnTo>
                  <a:lnTo>
                    <a:pt x="198563" y="7691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74320" y="4416552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76"/>
                  </a:moveTo>
                  <a:lnTo>
                    <a:pt x="7691" y="103188"/>
                  </a:lnTo>
                  <a:lnTo>
                    <a:pt x="29110" y="61771"/>
                  </a:lnTo>
                  <a:lnTo>
                    <a:pt x="61771" y="29110"/>
                  </a:lnTo>
                  <a:lnTo>
                    <a:pt x="103188" y="7691"/>
                  </a:lnTo>
                  <a:lnTo>
                    <a:pt x="150875" y="0"/>
                  </a:lnTo>
                  <a:lnTo>
                    <a:pt x="198563" y="7691"/>
                  </a:lnTo>
                  <a:lnTo>
                    <a:pt x="239980" y="29110"/>
                  </a:lnTo>
                  <a:lnTo>
                    <a:pt x="272641" y="61771"/>
                  </a:lnTo>
                  <a:lnTo>
                    <a:pt x="294060" y="103188"/>
                  </a:lnTo>
                  <a:lnTo>
                    <a:pt x="301752" y="150876"/>
                  </a:lnTo>
                  <a:lnTo>
                    <a:pt x="294060" y="198563"/>
                  </a:lnTo>
                  <a:lnTo>
                    <a:pt x="272641" y="239980"/>
                  </a:lnTo>
                  <a:lnTo>
                    <a:pt x="239980" y="272641"/>
                  </a:lnTo>
                  <a:lnTo>
                    <a:pt x="198563" y="294060"/>
                  </a:lnTo>
                  <a:lnTo>
                    <a:pt x="150875" y="301752"/>
                  </a:lnTo>
                  <a:lnTo>
                    <a:pt x="103188" y="294060"/>
                  </a:lnTo>
                  <a:lnTo>
                    <a:pt x="61771" y="272641"/>
                  </a:lnTo>
                  <a:lnTo>
                    <a:pt x="29110" y="239980"/>
                  </a:lnTo>
                  <a:lnTo>
                    <a:pt x="7691" y="198563"/>
                  </a:lnTo>
                  <a:lnTo>
                    <a:pt x="0" y="150876"/>
                  </a:lnTo>
                  <a:close/>
                </a:path>
              </a:pathLst>
            </a:custGeom>
            <a:ln w="12699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379882" y="4472127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solidFill>
                  <a:srgbClr val="051237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764540" y="3904284"/>
            <a:ext cx="8163559" cy="922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145"/>
              </a:lnSpc>
              <a:spcBef>
                <a:spcPts val="105"/>
              </a:spcBef>
            </a:pP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Revisiones</a:t>
            </a:r>
            <a:r>
              <a:rPr dirty="0" sz="1050" spc="-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05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pares</a:t>
            </a:r>
            <a:r>
              <a:rPr dirty="0" sz="105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+</a:t>
            </a:r>
            <a:r>
              <a:rPr dirty="0" sz="1050" spc="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b="1" i="1">
                <a:solidFill>
                  <a:srgbClr val="0D1F4E"/>
                </a:solidFill>
                <a:latin typeface="Calibri"/>
                <a:cs typeface="Calibri"/>
              </a:rPr>
              <a:t>checklist</a:t>
            </a:r>
            <a:r>
              <a:rPr dirty="0" sz="1050" spc="-25" b="1" i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(CMMI</a:t>
            </a:r>
            <a:r>
              <a:rPr dirty="0" sz="1050" spc="-4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nivel</a:t>
            </a:r>
            <a:r>
              <a:rPr dirty="0" sz="105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2–</a:t>
            </a:r>
            <a:r>
              <a:rPr dirty="0" sz="1050" spc="-25" b="1">
                <a:solidFill>
                  <a:srgbClr val="0D1F4E"/>
                </a:solidFill>
                <a:latin typeface="Calibri"/>
                <a:cs typeface="Calibri"/>
              </a:rPr>
              <a:t>3):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025"/>
              </a:lnSpc>
            </a:pP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Incorporar</a:t>
            </a:r>
            <a:r>
              <a:rPr dirty="0" sz="950" spc="-4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revisiones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pares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 checklists de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(inspirados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las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“checklist de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diseño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pruebas”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usadas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CMMI/TSP)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antes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congelar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la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SRS, alineadas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ISO/IEC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12207.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ts val="1195"/>
              </a:lnSpc>
              <a:spcBef>
                <a:spcPts val="330"/>
              </a:spcBef>
            </a:pP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Métricas</a:t>
            </a:r>
            <a:r>
              <a:rPr dirty="0" sz="105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05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trazabilidad</a:t>
            </a:r>
            <a:r>
              <a:rPr dirty="0" sz="105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05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D1F4E"/>
                </a:solidFill>
                <a:latin typeface="Calibri"/>
                <a:cs typeface="Calibri"/>
              </a:rPr>
              <a:t>defectos: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075"/>
              </a:lnSpc>
            </a:pP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Medir</a:t>
            </a:r>
            <a:r>
              <a:rPr dirty="0" sz="95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sistemáticamente</a:t>
            </a:r>
            <a:r>
              <a:rPr dirty="0" sz="950" spc="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defectos</a:t>
            </a:r>
            <a:r>
              <a:rPr dirty="0" sz="95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atribuibles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el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costo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asociado,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integrando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estos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indicadores</a:t>
            </a:r>
            <a:r>
              <a:rPr dirty="0" sz="950" spc="-4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en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un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proceso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mejora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continua</a:t>
            </a:r>
            <a:r>
              <a:rPr dirty="0" sz="95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alineado</a:t>
            </a:r>
            <a:r>
              <a:rPr dirty="0" sz="95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con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CMMI</a:t>
            </a:r>
            <a:r>
              <a:rPr dirty="0" sz="95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nivel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2–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3</a:t>
            </a:r>
            <a:r>
              <a:rPr dirty="0" sz="95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e</a:t>
            </a:r>
            <a:r>
              <a:rPr dirty="0" sz="95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34485E"/>
                </a:solidFill>
                <a:latin typeface="Calibri"/>
                <a:cs typeface="Calibri"/>
              </a:rPr>
              <a:t>ISO/IEC</a:t>
            </a:r>
            <a:r>
              <a:rPr dirty="0" sz="95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34485E"/>
                </a:solidFill>
                <a:latin typeface="Calibri"/>
                <a:cs typeface="Calibri"/>
              </a:rPr>
              <a:t>12207.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4821681"/>
            <a:ext cx="9156700" cy="328295"/>
            <a:chOff x="-6350" y="4821681"/>
            <a:chExt cx="9156700" cy="328295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53059" y="717549"/>
            <a:ext cx="30753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0D1F4E"/>
                </a:solidFill>
                <a:latin typeface="Calibri"/>
                <a:cs typeface="Calibri"/>
              </a:rPr>
              <a:t>Ejercicio</a:t>
            </a:r>
            <a:r>
              <a:rPr dirty="0" sz="16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D1F4E"/>
                </a:solidFill>
                <a:latin typeface="Calibri"/>
                <a:cs typeface="Calibri"/>
              </a:rPr>
              <a:t>2</a:t>
            </a:r>
            <a:r>
              <a:rPr dirty="0" sz="1600" spc="-1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D1F4E"/>
                </a:solidFill>
                <a:latin typeface="Calibri"/>
                <a:cs typeface="Calibri"/>
              </a:rPr>
              <a:t>—</a:t>
            </a:r>
            <a:r>
              <a:rPr dirty="0" sz="16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D1F4E"/>
                </a:solidFill>
                <a:latin typeface="Calibri"/>
                <a:cs typeface="Calibri"/>
              </a:rPr>
              <a:t>Criterios</a:t>
            </a:r>
            <a:r>
              <a:rPr dirty="0" sz="16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6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0D1F4E"/>
                </a:solidFill>
                <a:latin typeface="Calibri"/>
                <a:cs typeface="Calibri"/>
              </a:rPr>
              <a:t>evaluación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4320" y="1207008"/>
            <a:ext cx="805180" cy="749935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222885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755"/>
              </a:spcBef>
            </a:pPr>
            <a:r>
              <a:rPr dirty="0" sz="1800" spc="-25" b="1">
                <a:solidFill>
                  <a:srgbClr val="C8A127"/>
                </a:solidFill>
                <a:latin typeface="Calibri"/>
                <a:cs typeface="Calibri"/>
              </a:rPr>
              <a:t>20%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8719" y="1207008"/>
            <a:ext cx="7680959" cy="749935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795"/>
              </a:spcBef>
            </a:pP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Identificación</a:t>
            </a:r>
            <a:r>
              <a:rPr dirty="0" sz="1200" spc="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00" spc="3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requisitos</a:t>
            </a:r>
            <a:r>
              <a:rPr dirty="0" sz="1200" spc="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críticos</a:t>
            </a:r>
            <a:endParaRPr sz="12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1280"/>
              </a:spcBef>
            </a:pPr>
            <a:r>
              <a:rPr dirty="0" sz="1000" spc="-10">
                <a:solidFill>
                  <a:srgbClr val="34485E"/>
                </a:solidFill>
                <a:latin typeface="Calibri"/>
                <a:cs typeface="Calibri"/>
              </a:rPr>
              <a:t>Requisitos</a:t>
            </a:r>
            <a:r>
              <a:rPr dirty="0" sz="100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bien</a:t>
            </a:r>
            <a:r>
              <a:rPr dirty="0" sz="100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elegidos</a:t>
            </a:r>
            <a:r>
              <a:rPr dirty="0" sz="1000" spc="-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100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4485E"/>
                </a:solidFill>
                <a:latin typeface="Calibri"/>
                <a:cs typeface="Calibri"/>
              </a:rPr>
              <a:t>relevantes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para</a:t>
            </a:r>
            <a:r>
              <a:rPr dirty="0" sz="10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el</a:t>
            </a:r>
            <a:r>
              <a:rPr dirty="0" sz="10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dominio fintech (pagos,</a:t>
            </a:r>
            <a:r>
              <a:rPr dirty="0" sz="100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fraude,</a:t>
            </a:r>
            <a:r>
              <a:rPr dirty="0" sz="100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4485E"/>
                </a:solidFill>
                <a:latin typeface="Calibri"/>
                <a:cs typeface="Calibri"/>
              </a:rPr>
              <a:t>identidad).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4320" y="2075688"/>
            <a:ext cx="805180" cy="749935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222885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755"/>
              </a:spcBef>
            </a:pPr>
            <a:r>
              <a:rPr dirty="0" sz="1800" spc="-25" b="1">
                <a:solidFill>
                  <a:srgbClr val="C8A127"/>
                </a:solidFill>
                <a:latin typeface="Calibri"/>
                <a:cs typeface="Calibri"/>
              </a:rPr>
              <a:t>30%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8719" y="2075688"/>
            <a:ext cx="7680959" cy="749935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10096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795"/>
              </a:spcBef>
            </a:pP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Profundidad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del</a:t>
            </a:r>
            <a:r>
              <a:rPr dirty="0" sz="1200" spc="1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análisis</a:t>
            </a:r>
            <a:r>
              <a:rPr dirty="0" sz="1200" spc="-1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00" spc="-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riesgos</a:t>
            </a:r>
            <a:endParaRPr sz="12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1280"/>
              </a:spcBef>
            </a:pP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Conexión</a:t>
            </a:r>
            <a:r>
              <a:rPr dirty="0" sz="100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clara</a:t>
            </a:r>
            <a:r>
              <a:rPr dirty="0" sz="100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100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específica</a:t>
            </a:r>
            <a:r>
              <a:rPr dirty="0" sz="1000" spc="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entre</a:t>
            </a:r>
            <a:r>
              <a:rPr dirty="0" sz="100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mala </a:t>
            </a:r>
            <a:r>
              <a:rPr dirty="0" sz="1000" spc="-10">
                <a:solidFill>
                  <a:srgbClr val="34485E"/>
                </a:solidFill>
                <a:latin typeface="Calibri"/>
                <a:cs typeface="Calibri"/>
              </a:rPr>
              <a:t>especificación</a:t>
            </a:r>
            <a:r>
              <a:rPr dirty="0" sz="1000" spc="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4485E"/>
                </a:solidFill>
                <a:latin typeface="Calibri"/>
                <a:cs typeface="Calibri"/>
              </a:rPr>
              <a:t>(ambigüedad/omisión/inconsistencia)</a:t>
            </a:r>
            <a:r>
              <a:rPr dirty="0" sz="1000" spc="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1000" spc="-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tipo de</a:t>
            </a:r>
            <a:r>
              <a:rPr dirty="0" sz="100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4485E"/>
                </a:solidFill>
                <a:latin typeface="Calibri"/>
                <a:cs typeface="Calibri"/>
              </a:rPr>
              <a:t>defecto.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320" y="2944367"/>
            <a:ext cx="805180" cy="749935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222885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755"/>
              </a:spcBef>
            </a:pPr>
            <a:r>
              <a:rPr dirty="0" sz="1800" spc="-25" b="1">
                <a:solidFill>
                  <a:srgbClr val="C8A127"/>
                </a:solidFill>
                <a:latin typeface="Calibri"/>
                <a:cs typeface="Calibri"/>
              </a:rPr>
              <a:t>30%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88719" y="2944367"/>
            <a:ext cx="7680959" cy="749935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800"/>
              </a:spcBef>
            </a:pP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Vinculación</a:t>
            </a:r>
            <a:r>
              <a:rPr dirty="0" sz="1200" spc="-3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con</a:t>
            </a:r>
            <a:r>
              <a:rPr dirty="0" sz="1200" spc="-2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métricas</a:t>
            </a:r>
            <a:r>
              <a:rPr dirty="0" sz="12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00" spc="-4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endParaRPr sz="12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1275"/>
              </a:spcBef>
            </a:pP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Relación</a:t>
            </a:r>
            <a:r>
              <a:rPr dirty="0" sz="10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explícita</a:t>
            </a:r>
            <a:r>
              <a:rPr dirty="0" sz="100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con</a:t>
            </a:r>
            <a:r>
              <a:rPr dirty="0" sz="100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indicadores:</a:t>
            </a:r>
            <a:r>
              <a:rPr dirty="0" sz="100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costo</a:t>
            </a:r>
            <a:r>
              <a:rPr dirty="0" sz="100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10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calidad,</a:t>
            </a:r>
            <a:r>
              <a:rPr dirty="0" sz="100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4485E"/>
                </a:solidFill>
                <a:latin typeface="Calibri"/>
                <a:cs typeface="Calibri"/>
              </a:rPr>
              <a:t>cantidad</a:t>
            </a:r>
            <a:r>
              <a:rPr dirty="0" sz="1000" spc="-3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de</a:t>
            </a:r>
            <a:r>
              <a:rPr dirty="0" sz="10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defectos y</a:t>
            </a:r>
            <a:r>
              <a:rPr dirty="0" sz="100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4485E"/>
                </a:solidFill>
                <a:latin typeface="Calibri"/>
                <a:cs typeface="Calibri"/>
              </a:rPr>
              <a:t>satisfacción</a:t>
            </a:r>
            <a:r>
              <a:rPr dirty="0" sz="1000" spc="-1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del</a:t>
            </a:r>
            <a:r>
              <a:rPr dirty="0" sz="10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4485E"/>
                </a:solidFill>
                <a:latin typeface="Calibri"/>
                <a:cs typeface="Calibri"/>
              </a:rPr>
              <a:t>cliente.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4320" y="3813047"/>
            <a:ext cx="805180" cy="749935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223520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760"/>
              </a:spcBef>
            </a:pPr>
            <a:r>
              <a:rPr dirty="0" sz="1800" spc="-25" b="1">
                <a:solidFill>
                  <a:srgbClr val="C8A127"/>
                </a:solidFill>
                <a:latin typeface="Calibri"/>
                <a:cs typeface="Calibri"/>
              </a:rPr>
              <a:t>20%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88719" y="3813047"/>
            <a:ext cx="7680959" cy="749935"/>
          </a:xfrm>
          <a:prstGeom prst="rect">
            <a:avLst/>
          </a:prstGeom>
          <a:solidFill>
            <a:srgbClr val="F4F5F7"/>
          </a:solidFill>
          <a:ln w="12700">
            <a:solidFill>
              <a:srgbClr val="C9DCFB"/>
            </a:solidFill>
          </a:ln>
        </p:spPr>
        <p:txBody>
          <a:bodyPr wrap="square" lIns="0" tIns="101600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800"/>
              </a:spcBef>
            </a:pP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Calidad</a:t>
            </a:r>
            <a:r>
              <a:rPr dirty="0" sz="1200" spc="-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las</a:t>
            </a:r>
            <a:r>
              <a:rPr dirty="0" sz="1200" spc="-5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propuestas</a:t>
            </a:r>
            <a:r>
              <a:rPr dirty="0" sz="1200" spc="-20" b="1">
                <a:solidFill>
                  <a:srgbClr val="0D1F4E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0D1F4E"/>
                </a:solidFill>
                <a:latin typeface="Calibri"/>
                <a:cs typeface="Calibri"/>
              </a:rPr>
              <a:t>de</a:t>
            </a:r>
            <a:r>
              <a:rPr dirty="0" sz="1200" spc="-10" b="1">
                <a:solidFill>
                  <a:srgbClr val="0D1F4E"/>
                </a:solidFill>
                <a:latin typeface="Calibri"/>
                <a:cs typeface="Calibri"/>
              </a:rPr>
              <a:t> mejora</a:t>
            </a:r>
            <a:endParaRPr sz="12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1280"/>
              </a:spcBef>
            </a:pP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Acciones</a:t>
            </a:r>
            <a:r>
              <a:rPr dirty="0" sz="10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4485E"/>
                </a:solidFill>
                <a:latin typeface="Calibri"/>
                <a:cs typeface="Calibri"/>
              </a:rPr>
              <a:t>realistas</a:t>
            </a:r>
            <a:r>
              <a:rPr dirty="0" sz="100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y</a:t>
            </a:r>
            <a:r>
              <a:rPr dirty="0" sz="100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alineadas</a:t>
            </a:r>
            <a:r>
              <a:rPr dirty="0" sz="1000" spc="-4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con</a:t>
            </a:r>
            <a:r>
              <a:rPr dirty="0" sz="10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CMMI,</a:t>
            </a:r>
            <a:r>
              <a:rPr dirty="0" sz="10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ISO/IEC</a:t>
            </a:r>
            <a:r>
              <a:rPr dirty="0" sz="10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12207</a:t>
            </a:r>
            <a:r>
              <a:rPr dirty="0" sz="1000" spc="1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u</a:t>
            </a:r>
            <a:r>
              <a:rPr dirty="0" sz="10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otro</a:t>
            </a:r>
            <a:r>
              <a:rPr dirty="0" sz="1000" spc="-3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modelo</a:t>
            </a:r>
            <a:r>
              <a:rPr dirty="0" sz="1000" spc="-20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34485E"/>
                </a:solidFill>
                <a:latin typeface="Calibri"/>
                <a:cs typeface="Calibri"/>
              </a:rPr>
              <a:t>SPI</a:t>
            </a:r>
            <a:r>
              <a:rPr dirty="0" sz="1000" spc="-25">
                <a:solidFill>
                  <a:srgbClr val="34485E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34485E"/>
                </a:solidFill>
                <a:latin typeface="Calibri"/>
                <a:cs typeface="Calibri"/>
              </a:rPr>
              <a:t>reconocido.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350" y="0"/>
            <a:ext cx="9156700" cy="4834890"/>
            <a:chOff x="-6350" y="0"/>
            <a:chExt cx="9156700" cy="4834890"/>
          </a:xfrm>
        </p:grpSpPr>
        <p:sp>
          <p:nvSpPr>
            <p:cNvPr id="4" name="object 4"/>
            <p:cNvSpPr/>
            <p:nvPr/>
          </p:nvSpPr>
          <p:spPr>
            <a:xfrm>
              <a:off x="0" y="594359"/>
              <a:ext cx="9144000" cy="4234180"/>
            </a:xfrm>
            <a:custGeom>
              <a:avLst/>
              <a:gdLst/>
              <a:ahLst/>
              <a:cxnLst/>
              <a:rect l="l" t="t" r="r" b="b"/>
              <a:pathLst>
                <a:path w="9144000" h="4234180">
                  <a:moveTo>
                    <a:pt x="9144000" y="0"/>
                  </a:moveTo>
                  <a:lnTo>
                    <a:pt x="0" y="0"/>
                  </a:lnTo>
                  <a:lnTo>
                    <a:pt x="0" y="4233672"/>
                  </a:lnTo>
                  <a:lnTo>
                    <a:pt x="9144000" y="423367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594359"/>
              <a:ext cx="9144000" cy="4234180"/>
            </a:xfrm>
            <a:custGeom>
              <a:avLst/>
              <a:gdLst/>
              <a:ahLst/>
              <a:cxnLst/>
              <a:rect l="l" t="t" r="r" b="b"/>
              <a:pathLst>
                <a:path w="9144000" h="4234180">
                  <a:moveTo>
                    <a:pt x="0" y="4233672"/>
                  </a:moveTo>
                  <a:lnTo>
                    <a:pt x="9144000" y="423367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2336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3999" cy="5943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138159" y="73152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388620" y="0"/>
                  </a:move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20"/>
                  </a:lnTo>
                  <a:lnTo>
                    <a:pt x="3027" y="437367"/>
                  </a:lnTo>
                  <a:lnTo>
                    <a:pt x="11868" y="484308"/>
                  </a:lnTo>
                  <a:lnTo>
                    <a:pt x="26158" y="529078"/>
                  </a:lnTo>
                  <a:lnTo>
                    <a:pt x="45532" y="571312"/>
                  </a:lnTo>
                  <a:lnTo>
                    <a:pt x="69627" y="610647"/>
                  </a:lnTo>
                  <a:lnTo>
                    <a:pt x="98078" y="646718"/>
                  </a:lnTo>
                  <a:lnTo>
                    <a:pt x="130521" y="679161"/>
                  </a:lnTo>
                  <a:lnTo>
                    <a:pt x="166592" y="707612"/>
                  </a:lnTo>
                  <a:lnTo>
                    <a:pt x="205927" y="731707"/>
                  </a:lnTo>
                  <a:lnTo>
                    <a:pt x="248161" y="751081"/>
                  </a:lnTo>
                  <a:lnTo>
                    <a:pt x="292931" y="765371"/>
                  </a:lnTo>
                  <a:lnTo>
                    <a:pt x="339872" y="774212"/>
                  </a:lnTo>
                  <a:lnTo>
                    <a:pt x="388620" y="777239"/>
                  </a:lnTo>
                  <a:lnTo>
                    <a:pt x="437367" y="774212"/>
                  </a:lnTo>
                  <a:lnTo>
                    <a:pt x="484308" y="765371"/>
                  </a:lnTo>
                  <a:lnTo>
                    <a:pt x="529078" y="751081"/>
                  </a:lnTo>
                  <a:lnTo>
                    <a:pt x="571312" y="731707"/>
                  </a:lnTo>
                  <a:lnTo>
                    <a:pt x="610647" y="707612"/>
                  </a:lnTo>
                  <a:lnTo>
                    <a:pt x="646718" y="679161"/>
                  </a:lnTo>
                  <a:lnTo>
                    <a:pt x="679161" y="646718"/>
                  </a:lnTo>
                  <a:lnTo>
                    <a:pt x="707612" y="610647"/>
                  </a:lnTo>
                  <a:lnTo>
                    <a:pt x="731707" y="571312"/>
                  </a:lnTo>
                  <a:lnTo>
                    <a:pt x="751081" y="529078"/>
                  </a:lnTo>
                  <a:lnTo>
                    <a:pt x="765371" y="484308"/>
                  </a:lnTo>
                  <a:lnTo>
                    <a:pt x="774212" y="437367"/>
                  </a:lnTo>
                  <a:lnTo>
                    <a:pt x="777240" y="388620"/>
                  </a:lnTo>
                  <a:lnTo>
                    <a:pt x="774212" y="339872"/>
                  </a:lnTo>
                  <a:lnTo>
                    <a:pt x="765371" y="292931"/>
                  </a:lnTo>
                  <a:lnTo>
                    <a:pt x="751081" y="248161"/>
                  </a:lnTo>
                  <a:lnTo>
                    <a:pt x="731707" y="205927"/>
                  </a:lnTo>
                  <a:lnTo>
                    <a:pt x="707612" y="166592"/>
                  </a:lnTo>
                  <a:lnTo>
                    <a:pt x="679161" y="130521"/>
                  </a:lnTo>
                  <a:lnTo>
                    <a:pt x="646718" y="98078"/>
                  </a:lnTo>
                  <a:lnTo>
                    <a:pt x="610647" y="69627"/>
                  </a:lnTo>
                  <a:lnTo>
                    <a:pt x="571312" y="45532"/>
                  </a:lnTo>
                  <a:lnTo>
                    <a:pt x="529078" y="26158"/>
                  </a:lnTo>
                  <a:lnTo>
                    <a:pt x="484308" y="11868"/>
                  </a:lnTo>
                  <a:lnTo>
                    <a:pt x="437367" y="3027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138159" y="73152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0" y="388620"/>
                  </a:moveTo>
                  <a:lnTo>
                    <a:pt x="3027" y="339872"/>
                  </a:lnTo>
                  <a:lnTo>
                    <a:pt x="11868" y="292931"/>
                  </a:lnTo>
                  <a:lnTo>
                    <a:pt x="26158" y="248161"/>
                  </a:lnTo>
                  <a:lnTo>
                    <a:pt x="45532" y="205927"/>
                  </a:lnTo>
                  <a:lnTo>
                    <a:pt x="69627" y="166592"/>
                  </a:lnTo>
                  <a:lnTo>
                    <a:pt x="98078" y="130521"/>
                  </a:lnTo>
                  <a:lnTo>
                    <a:pt x="130521" y="98078"/>
                  </a:lnTo>
                  <a:lnTo>
                    <a:pt x="166592" y="69627"/>
                  </a:lnTo>
                  <a:lnTo>
                    <a:pt x="205927" y="45532"/>
                  </a:lnTo>
                  <a:lnTo>
                    <a:pt x="248161" y="26158"/>
                  </a:lnTo>
                  <a:lnTo>
                    <a:pt x="292931" y="11868"/>
                  </a:lnTo>
                  <a:lnTo>
                    <a:pt x="339872" y="3027"/>
                  </a:lnTo>
                  <a:lnTo>
                    <a:pt x="388620" y="0"/>
                  </a:lnTo>
                  <a:lnTo>
                    <a:pt x="437367" y="3027"/>
                  </a:lnTo>
                  <a:lnTo>
                    <a:pt x="484308" y="11868"/>
                  </a:lnTo>
                  <a:lnTo>
                    <a:pt x="529078" y="26158"/>
                  </a:lnTo>
                  <a:lnTo>
                    <a:pt x="571312" y="45532"/>
                  </a:lnTo>
                  <a:lnTo>
                    <a:pt x="610647" y="69627"/>
                  </a:lnTo>
                  <a:lnTo>
                    <a:pt x="646718" y="98078"/>
                  </a:lnTo>
                  <a:lnTo>
                    <a:pt x="679161" y="130521"/>
                  </a:lnTo>
                  <a:lnTo>
                    <a:pt x="707612" y="166592"/>
                  </a:lnTo>
                  <a:lnTo>
                    <a:pt x="731707" y="205927"/>
                  </a:lnTo>
                  <a:lnTo>
                    <a:pt x="751081" y="248161"/>
                  </a:lnTo>
                  <a:lnTo>
                    <a:pt x="765371" y="292931"/>
                  </a:lnTo>
                  <a:lnTo>
                    <a:pt x="774212" y="339872"/>
                  </a:lnTo>
                  <a:lnTo>
                    <a:pt x="777240" y="388620"/>
                  </a:lnTo>
                  <a:lnTo>
                    <a:pt x="774212" y="437367"/>
                  </a:lnTo>
                  <a:lnTo>
                    <a:pt x="765371" y="484308"/>
                  </a:lnTo>
                  <a:lnTo>
                    <a:pt x="751081" y="529078"/>
                  </a:lnTo>
                  <a:lnTo>
                    <a:pt x="731707" y="571312"/>
                  </a:lnTo>
                  <a:lnTo>
                    <a:pt x="707612" y="610647"/>
                  </a:lnTo>
                  <a:lnTo>
                    <a:pt x="679161" y="646718"/>
                  </a:lnTo>
                  <a:lnTo>
                    <a:pt x="646718" y="679161"/>
                  </a:lnTo>
                  <a:lnTo>
                    <a:pt x="610647" y="707612"/>
                  </a:lnTo>
                  <a:lnTo>
                    <a:pt x="571312" y="731707"/>
                  </a:lnTo>
                  <a:lnTo>
                    <a:pt x="529078" y="751081"/>
                  </a:lnTo>
                  <a:lnTo>
                    <a:pt x="484308" y="765371"/>
                  </a:lnTo>
                  <a:lnTo>
                    <a:pt x="437367" y="774212"/>
                  </a:lnTo>
                  <a:lnTo>
                    <a:pt x="388620" y="777239"/>
                  </a:lnTo>
                  <a:lnTo>
                    <a:pt x="339872" y="774212"/>
                  </a:lnTo>
                  <a:lnTo>
                    <a:pt x="292931" y="765371"/>
                  </a:lnTo>
                  <a:lnTo>
                    <a:pt x="248161" y="751081"/>
                  </a:lnTo>
                  <a:lnTo>
                    <a:pt x="205927" y="731707"/>
                  </a:lnTo>
                  <a:lnTo>
                    <a:pt x="166592" y="707612"/>
                  </a:lnTo>
                  <a:lnTo>
                    <a:pt x="130521" y="679161"/>
                  </a:lnTo>
                  <a:lnTo>
                    <a:pt x="98078" y="646718"/>
                  </a:lnTo>
                  <a:lnTo>
                    <a:pt x="69627" y="610647"/>
                  </a:lnTo>
                  <a:lnTo>
                    <a:pt x="45532" y="571312"/>
                  </a:lnTo>
                  <a:lnTo>
                    <a:pt x="26158" y="529078"/>
                  </a:lnTo>
                  <a:lnTo>
                    <a:pt x="11868" y="484308"/>
                  </a:lnTo>
                  <a:lnTo>
                    <a:pt x="3027" y="437367"/>
                  </a:lnTo>
                  <a:lnTo>
                    <a:pt x="0" y="388620"/>
                  </a:lnTo>
                  <a:close/>
                </a:path>
              </a:pathLst>
            </a:custGeom>
            <a:ln w="25400">
              <a:solidFill>
                <a:srgbClr val="B885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-6350" y="1365250"/>
            <a:ext cx="9156700" cy="3784600"/>
            <a:chOff x="-6350" y="1365250"/>
            <a:chExt cx="9156700" cy="3784600"/>
          </a:xfrm>
        </p:grpSpPr>
        <p:sp>
          <p:nvSpPr>
            <p:cNvPr id="11" name="object 11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74320" y="1371600"/>
              <a:ext cx="64135" cy="347980"/>
            </a:xfrm>
            <a:custGeom>
              <a:avLst/>
              <a:gdLst/>
              <a:ahLst/>
              <a:cxnLst/>
              <a:rect l="l" t="t" r="r" b="b"/>
              <a:pathLst>
                <a:path w="64135" h="347980">
                  <a:moveTo>
                    <a:pt x="64007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64007" y="347472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74320" y="1371600"/>
              <a:ext cx="64135" cy="347980"/>
            </a:xfrm>
            <a:custGeom>
              <a:avLst/>
              <a:gdLst/>
              <a:ahLst/>
              <a:cxnLst/>
              <a:rect l="l" t="t" r="r" b="b"/>
              <a:pathLst>
                <a:path w="64135" h="347980">
                  <a:moveTo>
                    <a:pt x="0" y="347472"/>
                  </a:moveTo>
                  <a:lnTo>
                    <a:pt x="64007" y="347472"/>
                  </a:lnTo>
                  <a:lnTo>
                    <a:pt x="64007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4320" y="1956816"/>
              <a:ext cx="64135" cy="347980"/>
            </a:xfrm>
            <a:custGeom>
              <a:avLst/>
              <a:gdLst/>
              <a:ahLst/>
              <a:cxnLst/>
              <a:rect l="l" t="t" r="r" b="b"/>
              <a:pathLst>
                <a:path w="64135" h="347980">
                  <a:moveTo>
                    <a:pt x="64007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64007" y="347472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74320" y="1956816"/>
              <a:ext cx="64135" cy="347980"/>
            </a:xfrm>
            <a:custGeom>
              <a:avLst/>
              <a:gdLst/>
              <a:ahLst/>
              <a:cxnLst/>
              <a:rect l="l" t="t" r="r" b="b"/>
              <a:pathLst>
                <a:path w="64135" h="347980">
                  <a:moveTo>
                    <a:pt x="0" y="347472"/>
                  </a:moveTo>
                  <a:lnTo>
                    <a:pt x="64007" y="347472"/>
                  </a:lnTo>
                  <a:lnTo>
                    <a:pt x="64007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12700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4320" y="2542032"/>
              <a:ext cx="64135" cy="347980"/>
            </a:xfrm>
            <a:custGeom>
              <a:avLst/>
              <a:gdLst/>
              <a:ahLst/>
              <a:cxnLst/>
              <a:rect l="l" t="t" r="r" b="b"/>
              <a:pathLst>
                <a:path w="64135" h="347980">
                  <a:moveTo>
                    <a:pt x="64007" y="0"/>
                  </a:moveTo>
                  <a:lnTo>
                    <a:pt x="0" y="0"/>
                  </a:lnTo>
                  <a:lnTo>
                    <a:pt x="0" y="347471"/>
                  </a:lnTo>
                  <a:lnTo>
                    <a:pt x="64007" y="347471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4320" y="2542032"/>
              <a:ext cx="64135" cy="347980"/>
            </a:xfrm>
            <a:custGeom>
              <a:avLst/>
              <a:gdLst/>
              <a:ahLst/>
              <a:cxnLst/>
              <a:rect l="l" t="t" r="r" b="b"/>
              <a:pathLst>
                <a:path w="64135" h="347980">
                  <a:moveTo>
                    <a:pt x="0" y="347471"/>
                  </a:moveTo>
                  <a:lnTo>
                    <a:pt x="64007" y="347471"/>
                  </a:lnTo>
                  <a:lnTo>
                    <a:pt x="64007" y="0"/>
                  </a:lnTo>
                  <a:lnTo>
                    <a:pt x="0" y="0"/>
                  </a:lnTo>
                  <a:lnTo>
                    <a:pt x="0" y="347471"/>
                  </a:lnTo>
                  <a:close/>
                </a:path>
              </a:pathLst>
            </a:custGeom>
            <a:ln w="12699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4320" y="3127248"/>
              <a:ext cx="64135" cy="347980"/>
            </a:xfrm>
            <a:custGeom>
              <a:avLst/>
              <a:gdLst/>
              <a:ahLst/>
              <a:cxnLst/>
              <a:rect l="l" t="t" r="r" b="b"/>
              <a:pathLst>
                <a:path w="64135" h="347979">
                  <a:moveTo>
                    <a:pt x="64007" y="0"/>
                  </a:moveTo>
                  <a:lnTo>
                    <a:pt x="0" y="0"/>
                  </a:lnTo>
                  <a:lnTo>
                    <a:pt x="0" y="347471"/>
                  </a:lnTo>
                  <a:lnTo>
                    <a:pt x="64007" y="347471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74320" y="3127248"/>
              <a:ext cx="64135" cy="347980"/>
            </a:xfrm>
            <a:custGeom>
              <a:avLst/>
              <a:gdLst/>
              <a:ahLst/>
              <a:cxnLst/>
              <a:rect l="l" t="t" r="r" b="b"/>
              <a:pathLst>
                <a:path w="64135" h="347979">
                  <a:moveTo>
                    <a:pt x="0" y="347471"/>
                  </a:moveTo>
                  <a:lnTo>
                    <a:pt x="64007" y="347471"/>
                  </a:lnTo>
                  <a:lnTo>
                    <a:pt x="64007" y="0"/>
                  </a:lnTo>
                  <a:lnTo>
                    <a:pt x="0" y="0"/>
                  </a:lnTo>
                  <a:lnTo>
                    <a:pt x="0" y="347471"/>
                  </a:lnTo>
                  <a:close/>
                </a:path>
              </a:pathLst>
            </a:custGeom>
            <a:ln w="12699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4320" y="3712464"/>
              <a:ext cx="64135" cy="347980"/>
            </a:xfrm>
            <a:custGeom>
              <a:avLst/>
              <a:gdLst/>
              <a:ahLst/>
              <a:cxnLst/>
              <a:rect l="l" t="t" r="r" b="b"/>
              <a:pathLst>
                <a:path w="64135" h="347979">
                  <a:moveTo>
                    <a:pt x="64007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64007" y="347472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4320" y="3712464"/>
              <a:ext cx="64135" cy="347980"/>
            </a:xfrm>
            <a:custGeom>
              <a:avLst/>
              <a:gdLst/>
              <a:ahLst/>
              <a:cxnLst/>
              <a:rect l="l" t="t" r="r" b="b"/>
              <a:pathLst>
                <a:path w="64135" h="347979">
                  <a:moveTo>
                    <a:pt x="0" y="347472"/>
                  </a:moveTo>
                  <a:lnTo>
                    <a:pt x="64007" y="347472"/>
                  </a:lnTo>
                  <a:lnTo>
                    <a:pt x="64007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12699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4320" y="4297679"/>
              <a:ext cx="64135" cy="347980"/>
            </a:xfrm>
            <a:custGeom>
              <a:avLst/>
              <a:gdLst/>
              <a:ahLst/>
              <a:cxnLst/>
              <a:rect l="l" t="t" r="r" b="b"/>
              <a:pathLst>
                <a:path w="64135" h="347979">
                  <a:moveTo>
                    <a:pt x="64007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64007" y="347472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8A1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4320" y="4297679"/>
              <a:ext cx="64135" cy="347980"/>
            </a:xfrm>
            <a:custGeom>
              <a:avLst/>
              <a:gdLst/>
              <a:ahLst/>
              <a:cxnLst/>
              <a:rect l="l" t="t" r="r" b="b"/>
              <a:pathLst>
                <a:path w="64135" h="347979">
                  <a:moveTo>
                    <a:pt x="0" y="347472"/>
                  </a:moveTo>
                  <a:lnTo>
                    <a:pt x="64007" y="347472"/>
                  </a:lnTo>
                  <a:lnTo>
                    <a:pt x="64007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12699">
              <a:solidFill>
                <a:srgbClr val="C8A1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Conclusiones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54227" y="1425702"/>
            <a:ext cx="674941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especificación de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requisitos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 el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primer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más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importante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mecanismo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preventivo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calidad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desarrollo</a:t>
            </a:r>
            <a:r>
              <a:rPr dirty="0" sz="1050" spc="-4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software.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4227" y="2011172"/>
            <a:ext cx="79108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IEEE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830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ISO/IEC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12207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proveen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marco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normativo;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modelo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procedimental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provee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cómo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operacional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para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obtener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requisitos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funcionales.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4227" y="2596388"/>
            <a:ext cx="70059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Todos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los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modelos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SPI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(CMMI,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MoProSoft,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Competisoft,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MPS.Br)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exigen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gestión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formal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requisitos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como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capacidad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transversal.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4227" y="3181858"/>
            <a:ext cx="62852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Requisitos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deficientes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incrementan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densidad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defectos,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costo de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calidad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reducen</a:t>
            </a:r>
            <a:r>
              <a:rPr dirty="0" sz="1050" spc="-3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satisfacción del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cliente.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4227" y="3767124"/>
            <a:ext cx="629602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ciclo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medir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→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analizar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→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ajustar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→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institucionalizar</a:t>
            </a:r>
            <a:r>
              <a:rPr dirty="0" sz="1050" spc="-3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cierra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loop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 mejora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continua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partir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de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la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especificación.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4227" y="4352645"/>
            <a:ext cx="59817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El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reto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profesional</a:t>
            </a:r>
            <a:r>
              <a:rPr dirty="0" sz="1050" spc="-2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 adaptar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estos</a:t>
            </a:r>
            <a:r>
              <a:rPr dirty="0" sz="1050" spc="-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marcos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a contextos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reales</a:t>
            </a:r>
            <a:r>
              <a:rPr dirty="0" sz="1050" spc="-1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manteniendo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el equilibrio</a:t>
            </a:r>
            <a:r>
              <a:rPr dirty="0" sz="1050" spc="-45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entre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rigor</a:t>
            </a:r>
            <a:r>
              <a:rPr dirty="0" sz="1050" spc="-20">
                <a:solidFill>
                  <a:srgbClr val="2C3D5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C3D50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2C3D50"/>
                </a:solidFill>
                <a:latin typeface="Calibri"/>
                <a:cs typeface="Calibri"/>
              </a:rPr>
              <a:t> agilidad.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8256" y="367995"/>
            <a:ext cx="25971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dirty="0" sz="5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5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4821681"/>
            <a:ext cx="9156700" cy="328295"/>
            <a:chOff x="-6350" y="4821681"/>
            <a:chExt cx="9156700" cy="328295"/>
          </a:xfrm>
        </p:grpSpPr>
        <p:sp>
          <p:nvSpPr>
            <p:cNvPr id="4" name="object 4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9144000" y="0"/>
                  </a:moveTo>
                  <a:lnTo>
                    <a:pt x="0" y="0"/>
                  </a:lnTo>
                  <a:lnTo>
                    <a:pt x="0" y="315467"/>
                  </a:lnTo>
                  <a:lnTo>
                    <a:pt x="9144000" y="3154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28031"/>
              <a:ext cx="9144000" cy="315595"/>
            </a:xfrm>
            <a:custGeom>
              <a:avLst/>
              <a:gdLst/>
              <a:ahLst/>
              <a:cxnLst/>
              <a:rect l="l" t="t" r="r" b="b"/>
              <a:pathLst>
                <a:path w="9144000" h="315595">
                  <a:moveTo>
                    <a:pt x="0" y="315467"/>
                  </a:moveTo>
                  <a:lnTo>
                    <a:pt x="9144000" y="31546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467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53059" y="744982"/>
            <a:ext cx="8500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D1F4E"/>
                </a:solidFill>
                <a:latin typeface="Calibri"/>
                <a:cs typeface="Calibri"/>
              </a:rPr>
              <a:t>Complemento: RNF, criterios de aceptación, trazabilidad y puntos de control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6031" y="1298447"/>
            <a:ext cx="4160520" cy="1554480"/>
          </a:xfrm>
          <a:prstGeom prst="rect">
            <a:avLst/>
          </a:prstGeom>
          <a:solidFill>
            <a:srgbClr val="0D1F4E"/>
          </a:solidFill>
          <a:ln w="19050">
            <a:solidFill>
              <a:srgbClr val="C8A127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</a:pP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Requisitos no funcionales (RNF)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Calibri"/>
              <a:cs typeface="Calibri"/>
            </a:endParaRPr>
          </a:p>
          <a:p>
            <a:pPr marL="273685" marR="363855">
              <a:lnSpc>
                <a:spcPct val="100000"/>
              </a:lnSpc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Atributos de calidad medibles y verificables. Ej.: el 95 % de las consultas de agenda responde en menos de 2 s; disponibilidad mensual ≥ 99,5 %. Se clasifican con ISO/IEC 25010.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0871" y="1298447"/>
            <a:ext cx="4160520" cy="1554480"/>
          </a:xfrm>
          <a:prstGeom prst="rect">
            <a:avLst/>
          </a:prstGeom>
          <a:solidFill>
            <a:srgbClr val="1C316F"/>
          </a:solidFill>
          <a:ln w="19050">
            <a:solidFill>
              <a:srgbClr val="C8A127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</a:pP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Criterios de aceptación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Calibri"/>
              <a:cs typeface="Calibri"/>
            </a:endParaRPr>
          </a:p>
          <a:p>
            <a:pPr marL="274320" marR="605790">
              <a:lnSpc>
                <a:spcPct val="100000"/>
              </a:lnSpc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Condiciones verificables por requisito (Dado – Cuando – Entonces). Ej.: dado un horario libre, cuando el paciente confirma, entonces la cita queda “Programada” y se envía el correo.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031" y="2990088"/>
            <a:ext cx="4160520" cy="1554480"/>
          </a:xfrm>
          <a:prstGeom prst="rect">
            <a:avLst/>
          </a:prstGeom>
          <a:solidFill>
            <a:srgbClr val="1A6B53"/>
          </a:solidFill>
          <a:ln w="19050">
            <a:solidFill>
              <a:srgbClr val="C8A127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  <a:spcBef>
                <a:spcPts val="5"/>
              </a:spcBef>
            </a:pP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Trazabilidad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libri"/>
              <a:cs typeface="Calibri"/>
            </a:endParaRPr>
          </a:p>
          <a:p>
            <a:pPr marL="273685" marR="34544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Matriz requisito → caso de uso → caso de prueba → métrica. Cada requisito debe tener al menos un caso de prueba y un responsable; así se detectan requisitos sin verificar.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90871" y="2990088"/>
            <a:ext cx="4160520" cy="1554480"/>
          </a:xfrm>
          <a:prstGeom prst="rect">
            <a:avLst/>
          </a:prstGeom>
          <a:solidFill>
            <a:srgbClr val="6B1A1A"/>
          </a:solidFill>
          <a:ln w="19050">
            <a:solidFill>
              <a:srgbClr val="C8A127"/>
            </a:solidFill>
          </a:ln>
        </p:spPr>
        <p:txBody>
          <a:bodyPr wrap="square" lIns="0" tIns="203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  <a:spcBef>
                <a:spcPts val="5"/>
              </a:spcBef>
            </a:pP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Puntos de control de calidad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libri"/>
              <a:cs typeface="Calibri"/>
            </a:endParaRPr>
          </a:p>
          <a:p>
            <a:pPr marL="274320" marR="455295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Revisión de requisitos con checklist, revisión de diseño, pruebas de aceptación y retrospectiva. Se apoyan en los procesos de verificación y validación de ISO/IEC/IEEE 12207.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567"/>
            <a:ext cx="4271432" cy="55729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531" rIns="0" bIns="0" rtlCol="0" vert="horz">
            <a:spAutoFit/>
          </a:bodyPr>
          <a:lstStyle/>
          <a:p>
            <a:pPr marL="1494155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003366"/>
                </a:solidFill>
              </a:rPr>
              <a:t>Referencias (APA)</a:t>
            </a:r>
            <a:endParaRPr sz="150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4785" marR="5715" indent="-172720">
              <a:lnSpc>
                <a:spcPct val="107500"/>
              </a:lnSpc>
              <a:spcBef>
                <a:spcPts val="100"/>
              </a:spcBef>
              <a:buChar char="▪"/>
              <a:tabLst>
                <a:tab pos="184785" algn="l"/>
              </a:tabLst>
            </a:pPr>
            <a:r>
              <a:rPr dirty="0"/>
              <a:t>Bermón Angarita, L. (2021). Aplicación del proceso personal de software en cursos de ingeniería de software. </a:t>
            </a:r>
            <a:r>
              <a:rPr dirty="0" i="1"/>
              <a:t>Revista Ibérica de Sistemas e Tecnologias de Informação</a:t>
            </a:r>
            <a:r>
              <a:rPr dirty="0"/>
              <a:t>, (E43), 501–516.</a:t>
            </a:r>
          </a:p>
          <a:p>
            <a:pPr marL="184785" marR="7620" indent="-172720">
              <a:lnSpc>
                <a:spcPct val="106700"/>
              </a:lnSpc>
              <a:spcBef>
                <a:spcPts val="200"/>
              </a:spcBef>
              <a:buChar char="▪"/>
              <a:tabLst>
                <a:tab pos="184785" algn="l"/>
              </a:tabLst>
            </a:pPr>
            <a:r>
              <a:rPr dirty="0"/>
              <a:t>Cornejo-Aparicio, V., Flores-Silva, S., Bedregal-Alpaca, N., &amp; Tupacyupanqui-Jaen, D. (2020). Modelo procedimental para la especificación de requisitos funcionales en la construcción de software. </a:t>
            </a:r>
            <a:r>
              <a:rPr dirty="0" i="1"/>
              <a:t>Revista Ibérica de Sistemas e Tecnologias de Informação</a:t>
            </a:r>
            <a:r>
              <a:rPr dirty="0"/>
              <a:t>, (E26), 571–586.</a:t>
            </a:r>
          </a:p>
          <a:p>
            <a:pPr marL="185420" indent="-172720">
              <a:lnSpc>
                <a:spcPct val="100000"/>
              </a:lnSpc>
              <a:spcBef>
                <a:spcPts val="300"/>
              </a:spcBef>
              <a:buChar char="▪"/>
              <a:tabLst>
                <a:tab pos="185420" algn="l"/>
              </a:tabLst>
            </a:pPr>
            <a:r>
              <a:rPr dirty="0"/>
              <a:t>Espejo Chavarría, A., Bayona Oré, S., &amp; Pastor, C. (2016). Aseguramiento de la calidad en el proceso de desarrollo de software utilizando CMMI, TSP y PSP. </a:t>
            </a:r>
            <a:r>
              <a:rPr dirty="0" i="1"/>
              <a:t>Revista Ibérica de Sistemas e Tecnologias de Informação</a:t>
            </a:r>
            <a:r>
              <a:rPr dirty="0"/>
              <a:t>, (20), 62–77. https://doi.org/10.17013/risti.20.62-77</a:t>
            </a:r>
          </a:p>
          <a:p>
            <a:pPr marL="185420" indent="-172720">
              <a:lnSpc>
                <a:spcPct val="100000"/>
              </a:lnSpc>
              <a:spcBef>
                <a:spcPts val="305"/>
              </a:spcBef>
              <a:buChar char="▪"/>
              <a:tabLst>
                <a:tab pos="185420" algn="l"/>
              </a:tabLst>
            </a:pPr>
            <a:r>
              <a:rPr dirty="0"/>
              <a:t>Fenton, N., &amp; Bieman, J. (2014). </a:t>
            </a:r>
            <a:r>
              <a:rPr dirty="0" i="1"/>
              <a:t>Software metrics: A rigorous and practical approach</a:t>
            </a:r>
            <a:r>
              <a:rPr dirty="0"/>
              <a:t> (3.ª ed.). CRC Press.</a:t>
            </a:r>
          </a:p>
          <a:p>
            <a:pPr marL="184785" marR="6350" indent="-172720">
              <a:lnSpc>
                <a:spcPct val="106700"/>
              </a:lnSpc>
              <a:spcBef>
                <a:spcPts val="215"/>
              </a:spcBef>
              <a:buChar char="▪"/>
              <a:tabLst>
                <a:tab pos="184785" algn="l"/>
              </a:tabLst>
            </a:pPr>
            <a:r>
              <a:rPr dirty="0"/>
              <a:t>IEEE. (1998). </a:t>
            </a:r>
            <a:r>
              <a:rPr dirty="0" i="1"/>
              <a:t>IEEE recommended practice for software requirements specifications</a:t>
            </a:r>
            <a:r>
              <a:rPr dirty="0"/>
              <a:t> (IEEE Std 830-1998).</a:t>
            </a:r>
          </a:p>
          <a:p>
            <a:pPr marL="184785" marR="5715" indent="-172720">
              <a:lnSpc>
                <a:spcPct val="107500"/>
              </a:lnSpc>
              <a:spcBef>
                <a:spcPts val="100"/>
              </a:spcBef>
              <a:buChar char="▪"/>
              <a:tabLst>
                <a:tab pos="184785" algn="l"/>
              </a:tabLst>
            </a:pPr>
            <a:r>
              <a:rPr dirty="0"/>
              <a:t>ISO/IEC/IEEE. (2017). </a:t>
            </a:r>
            <a:r>
              <a:rPr dirty="0" i="1"/>
              <a:t>Systems and software engineering — Software life cycle processes</a:t>
            </a:r>
            <a:r>
              <a:rPr dirty="0"/>
              <a:t> (ISO/IEC/IEEE 12207:2017).</a:t>
            </a:r>
          </a:p>
          <a:p>
            <a:pPr marL="184785" marR="5715" indent="-172720">
              <a:lnSpc>
                <a:spcPct val="107500"/>
              </a:lnSpc>
              <a:spcBef>
                <a:spcPts val="100"/>
              </a:spcBef>
              <a:buChar char="▪"/>
              <a:tabLst>
                <a:tab pos="184785" algn="l"/>
              </a:tabLst>
            </a:pPr>
            <a:r>
              <a:rPr dirty="0"/>
              <a:t>ISO/IEC/IEEE. (2018). </a:t>
            </a:r>
            <a:r>
              <a:rPr dirty="0" i="1"/>
              <a:t>Systems and software engineering — Life cycle processes — Requirements engineering</a:t>
            </a:r>
            <a:r>
              <a:rPr dirty="0"/>
              <a:t> (ISO/IEC/IEEE 29148:2018).</a:t>
            </a:r>
          </a:p>
          <a:p>
            <a:pPr marL="184785" marR="5715" indent="-172720">
              <a:lnSpc>
                <a:spcPct val="107500"/>
              </a:lnSpc>
              <a:spcBef>
                <a:spcPts val="100"/>
              </a:spcBef>
              <a:buChar char="▪"/>
              <a:tabLst>
                <a:tab pos="184785" algn="l"/>
              </a:tabLst>
            </a:pPr>
            <a:r>
              <a:rPr dirty="0"/>
              <a:t>Merchán Paredes, L., Villa Benavides, L. B., &amp; Sánchez Sánchez, N. J. (2017). Guía de recomendación para la selección de un modelo de calidad para la mejora de procesos de software (SPI). </a:t>
            </a:r>
            <a:r>
              <a:rPr dirty="0" i="1"/>
              <a:t>Revista Ciencias Estratégicas, 25</a:t>
            </a:r>
            <a:r>
              <a:rPr dirty="0"/>
              <a:t>(37), 25–51.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99552" y="3854907"/>
            <a:ext cx="35242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9850"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051237"/>
                </a:solidFill>
                <a:latin typeface="Calibri"/>
                <a:cs typeface="Calibri"/>
              </a:rPr>
              <a:t>ALTA</a:t>
            </a:r>
            <a:r>
              <a:rPr dirty="0" sz="700" spc="500" b="1">
                <a:solidFill>
                  <a:srgbClr val="051237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051237"/>
                </a:solidFill>
                <a:latin typeface="Calibri"/>
                <a:cs typeface="Calibri"/>
              </a:rPr>
              <a:t>CALIDAD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6350" y="4839969"/>
            <a:ext cx="9156700" cy="309880"/>
            <a:chOff x="-6350" y="4839969"/>
            <a:chExt cx="9156700" cy="309880"/>
          </a:xfrm>
        </p:grpSpPr>
        <p:sp>
          <p:nvSpPr>
            <p:cNvPr id="4" name="object 4"/>
            <p:cNvSpPr/>
            <p:nvPr/>
          </p:nvSpPr>
          <p:spPr>
            <a:xfrm>
              <a:off x="0" y="4846319"/>
              <a:ext cx="9144000" cy="297180"/>
            </a:xfrm>
            <a:custGeom>
              <a:avLst/>
              <a:gdLst/>
              <a:ahLst/>
              <a:cxnLst/>
              <a:rect l="l" t="t" r="r" b="b"/>
              <a:pathLst>
                <a:path w="9144000" h="297179">
                  <a:moveTo>
                    <a:pt x="9144000" y="0"/>
                  </a:moveTo>
                  <a:lnTo>
                    <a:pt x="0" y="0"/>
                  </a:lnTo>
                  <a:lnTo>
                    <a:pt x="0" y="297179"/>
                  </a:lnTo>
                  <a:lnTo>
                    <a:pt x="9144000" y="29717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512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4846319"/>
              <a:ext cx="9144000" cy="297180"/>
            </a:xfrm>
            <a:custGeom>
              <a:avLst/>
              <a:gdLst/>
              <a:ahLst/>
              <a:cxnLst/>
              <a:rect l="l" t="t" r="r" b="b"/>
              <a:pathLst>
                <a:path w="9144000" h="297179">
                  <a:moveTo>
                    <a:pt x="0" y="297179"/>
                  </a:moveTo>
                  <a:lnTo>
                    <a:pt x="9144000" y="297179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297179"/>
                  </a:lnTo>
                  <a:close/>
                </a:path>
              </a:pathLst>
            </a:custGeom>
            <a:ln w="12700">
              <a:solidFill>
                <a:srgbClr val="0512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98779" y="261315"/>
            <a:ext cx="877569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FFFFFF"/>
                </a:solidFill>
                <a:latin typeface="Calibri"/>
                <a:cs typeface="Calibri"/>
              </a:rPr>
              <a:t>UNIMINUTO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0"/>
              </a:lnSpc>
            </a:pPr>
            <a:r>
              <a:rPr dirty="0" spc="-10"/>
              <a:t>UNIMINUTO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8779" y="609980"/>
            <a:ext cx="193357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i="1">
                <a:solidFill>
                  <a:srgbClr val="AACCFF"/>
                </a:solidFill>
                <a:latin typeface="Calibri"/>
                <a:cs typeface="Calibri"/>
              </a:rPr>
              <a:t>Dirección</a:t>
            </a:r>
            <a:r>
              <a:rPr dirty="0" sz="750" spc="5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AACCFF"/>
                </a:solidFill>
                <a:latin typeface="Calibri"/>
                <a:cs typeface="Calibri"/>
              </a:rPr>
              <a:t>de</a:t>
            </a:r>
            <a:r>
              <a:rPr dirty="0" sz="750" spc="-5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AACCFF"/>
                </a:solidFill>
                <a:latin typeface="Calibri"/>
                <a:cs typeface="Calibri"/>
              </a:rPr>
              <a:t>Calidad</a:t>
            </a:r>
            <a:r>
              <a:rPr dirty="0" sz="750" spc="5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AACCFF"/>
                </a:solidFill>
                <a:latin typeface="Calibri"/>
                <a:cs typeface="Calibri"/>
              </a:rPr>
              <a:t>en</a:t>
            </a:r>
            <a:r>
              <a:rPr dirty="0" sz="750" spc="-10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750" i="1">
                <a:solidFill>
                  <a:srgbClr val="AACCFF"/>
                </a:solidFill>
                <a:latin typeface="Calibri"/>
                <a:cs typeface="Calibri"/>
              </a:rPr>
              <a:t>el </a:t>
            </a:r>
            <a:r>
              <a:rPr dirty="0" sz="750" spc="-10" i="1">
                <a:solidFill>
                  <a:srgbClr val="AACCFF"/>
                </a:solidFill>
                <a:latin typeface="Calibri"/>
                <a:cs typeface="Calibri"/>
              </a:rPr>
              <a:t>Desarrollo</a:t>
            </a:r>
            <a:r>
              <a:rPr dirty="0" sz="750" i="1">
                <a:solidFill>
                  <a:srgbClr val="AACCFF"/>
                </a:solidFill>
                <a:latin typeface="Calibri"/>
                <a:cs typeface="Calibri"/>
              </a:rPr>
              <a:t> de</a:t>
            </a:r>
            <a:r>
              <a:rPr dirty="0" sz="750" spc="-5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750" spc="-10" i="1">
                <a:solidFill>
                  <a:srgbClr val="AACCFF"/>
                </a:solidFill>
                <a:latin typeface="Calibri"/>
                <a:cs typeface="Calibri"/>
              </a:rPr>
              <a:t>Software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35940" y="1705482"/>
            <a:ext cx="50653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</a:rPr>
              <a:t>Especificación</a:t>
            </a:r>
            <a:r>
              <a:rPr dirty="0" sz="2400" spc="-80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de</a:t>
            </a:r>
            <a:r>
              <a:rPr dirty="0" sz="2400" spc="-50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requisitos</a:t>
            </a:r>
            <a:r>
              <a:rPr dirty="0" sz="2400" spc="-35">
                <a:solidFill>
                  <a:srgbClr val="FFFFFF"/>
                </a:solidFill>
              </a:rPr>
              <a:t> </a:t>
            </a:r>
            <a:r>
              <a:rPr dirty="0" sz="2400">
                <a:solidFill>
                  <a:srgbClr val="FFFFFF"/>
                </a:solidFill>
              </a:rPr>
              <a:t>de</a:t>
            </a:r>
            <a:r>
              <a:rPr dirty="0" sz="2400" spc="-50">
                <a:solidFill>
                  <a:srgbClr val="FFFFFF"/>
                </a:solidFill>
              </a:rPr>
              <a:t> </a:t>
            </a:r>
            <a:r>
              <a:rPr dirty="0" sz="2400" spc="-10">
                <a:solidFill>
                  <a:srgbClr val="FFFFFF"/>
                </a:solidFill>
              </a:rPr>
              <a:t>software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535940" y="2402205"/>
            <a:ext cx="16351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C8A127"/>
                </a:solidFill>
                <a:latin typeface="Calibri"/>
                <a:cs typeface="Calibri"/>
              </a:rPr>
              <a:t>Muchas</a:t>
            </a:r>
            <a:r>
              <a:rPr dirty="0" sz="2000" spc="-3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8A127"/>
                </a:solidFill>
                <a:latin typeface="Calibri"/>
                <a:cs typeface="Calibri"/>
              </a:rPr>
              <a:t>gracias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2988945"/>
            <a:ext cx="351790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 spc="-10" i="1">
                <a:solidFill>
                  <a:srgbClr val="AACCFF"/>
                </a:solidFill>
                <a:latin typeface="Calibri"/>
                <a:cs typeface="Calibri"/>
              </a:rPr>
              <a:t>Estándares</a:t>
            </a:r>
            <a:r>
              <a:rPr dirty="0" sz="1100" spc="-45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AACCFF"/>
                </a:solidFill>
                <a:latin typeface="Calibri"/>
                <a:cs typeface="Calibri"/>
              </a:rPr>
              <a:t>y</a:t>
            </a:r>
            <a:r>
              <a:rPr dirty="0" sz="1100" spc="10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AACCFF"/>
                </a:solidFill>
                <a:latin typeface="Calibri"/>
                <a:cs typeface="Calibri"/>
              </a:rPr>
              <a:t>Métricas</a:t>
            </a:r>
            <a:r>
              <a:rPr dirty="0" sz="1100" spc="-45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AACCFF"/>
                </a:solidFill>
                <a:latin typeface="Calibri"/>
                <a:cs typeface="Calibri"/>
              </a:rPr>
              <a:t>de</a:t>
            </a:r>
            <a:r>
              <a:rPr dirty="0" sz="1100" spc="10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AACCFF"/>
                </a:solidFill>
                <a:latin typeface="Calibri"/>
                <a:cs typeface="Calibri"/>
              </a:rPr>
              <a:t>Calidad</a:t>
            </a:r>
            <a:r>
              <a:rPr dirty="0" sz="1100" spc="-10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AACCFF"/>
                </a:solidFill>
                <a:latin typeface="Calibri"/>
                <a:cs typeface="Calibri"/>
              </a:rPr>
              <a:t>en</a:t>
            </a:r>
            <a:r>
              <a:rPr dirty="0" sz="1100" spc="-10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AACCFF"/>
                </a:solidFill>
                <a:latin typeface="Calibri"/>
                <a:cs typeface="Calibri"/>
              </a:rPr>
              <a:t>el</a:t>
            </a:r>
            <a:r>
              <a:rPr dirty="0" sz="1100" spc="5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AACCFF"/>
                </a:solidFill>
                <a:latin typeface="Calibri"/>
                <a:cs typeface="Calibri"/>
              </a:rPr>
              <a:t>Desarrollo</a:t>
            </a:r>
            <a:r>
              <a:rPr dirty="0" sz="1100" spc="-30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AACCFF"/>
                </a:solidFill>
                <a:latin typeface="Calibri"/>
                <a:cs typeface="Calibri"/>
              </a:rPr>
              <a:t>de</a:t>
            </a:r>
            <a:r>
              <a:rPr dirty="0" sz="1100" spc="-5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AACCFF"/>
                </a:solidFill>
                <a:latin typeface="Calibri"/>
                <a:cs typeface="Calibri"/>
              </a:rPr>
              <a:t>Software</a:t>
            </a:r>
            <a:r>
              <a:rPr dirty="0" sz="1100" spc="-10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AACCFF"/>
                </a:solidFill>
                <a:latin typeface="Calibri"/>
                <a:cs typeface="Calibri"/>
              </a:rPr>
              <a:t>Semana</a:t>
            </a:r>
            <a:r>
              <a:rPr dirty="0" sz="1100" spc="-40" i="1">
                <a:solidFill>
                  <a:srgbClr val="AACCFF"/>
                </a:solidFill>
                <a:latin typeface="Calibri"/>
                <a:cs typeface="Calibri"/>
              </a:rPr>
              <a:t> </a:t>
            </a:r>
            <a:r>
              <a:rPr dirty="0" sz="1100" spc="-50" i="1">
                <a:solidFill>
                  <a:srgbClr val="AACCFF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Semana 4 - Especificación de Requisitos y Calidad</dc:title>
  <dcterms:created xsi:type="dcterms:W3CDTF">2026-10-22T20:04:41Z</dcterms:created>
  <dcterms:modified xsi:type="dcterms:W3CDTF">2026-10-22T20:04:41Z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2026-07-27T00:00:00Z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2026-10-22T00:00:00Z</vt:filetime>
  </property>
  <property fmtid="{D5CDD505-2E9C-101B-9397-08002B2CF9AE}" pid="5" name="Producer">
    <vt:lpwstr>Microsoft® PowerPoint® para Microsoft 365</vt:lpwstr>
  </property>
</Properties>
</file>