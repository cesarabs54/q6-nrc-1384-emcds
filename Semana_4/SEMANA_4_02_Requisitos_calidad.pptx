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.jpg" ContentType="image/jpg"/>
  <Override PartName="/ppt/media/image2.jpg" ContentType="image/jp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9144000" cy="5143500"/>
  <p:notesSz cx="9144000" cy="51435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rgbClr val="1B2A4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rgbClr val="1B2A4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rgbClr val="1B2A4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rgbClr val="1B2A4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498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6858000" y="4206240"/>
            <a:ext cx="2286000" cy="109855"/>
          </a:xfrm>
          <a:custGeom>
            <a:avLst/>
            <a:gdLst/>
            <a:ahLst/>
            <a:cxnLst/>
            <a:rect l="l" t="t" r="r" b="b"/>
            <a:pathLst>
              <a:path w="2286000" h="109854">
                <a:moveTo>
                  <a:pt x="2286000" y="0"/>
                </a:moveTo>
                <a:lnTo>
                  <a:pt x="0" y="0"/>
                </a:lnTo>
                <a:lnTo>
                  <a:pt x="0" y="109728"/>
                </a:lnTo>
                <a:lnTo>
                  <a:pt x="2286000" y="109728"/>
                </a:lnTo>
                <a:lnTo>
                  <a:pt x="2286000" y="0"/>
                </a:lnTo>
                <a:close/>
              </a:path>
            </a:pathLst>
          </a:custGeom>
          <a:solidFill>
            <a:srgbClr val="C8A84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6858000" y="4206240"/>
            <a:ext cx="2286000" cy="109855"/>
          </a:xfrm>
          <a:custGeom>
            <a:avLst/>
            <a:gdLst/>
            <a:ahLst/>
            <a:cxnLst/>
            <a:rect l="l" t="t" r="r" b="b"/>
            <a:pathLst>
              <a:path w="2286000" h="109854">
                <a:moveTo>
                  <a:pt x="2286000" y="0"/>
                </a:moveTo>
                <a:lnTo>
                  <a:pt x="0" y="0"/>
                </a:lnTo>
                <a:lnTo>
                  <a:pt x="0" y="109728"/>
                </a:lnTo>
                <a:lnTo>
                  <a:pt x="2286000" y="109728"/>
                </a:lnTo>
              </a:path>
            </a:pathLst>
          </a:custGeom>
          <a:ln w="12700">
            <a:solidFill>
              <a:srgbClr val="C8A84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7498080" y="3840479"/>
            <a:ext cx="1645920" cy="109855"/>
          </a:xfrm>
          <a:custGeom>
            <a:avLst/>
            <a:gdLst/>
            <a:ahLst/>
            <a:cxnLst/>
            <a:rect l="l" t="t" r="r" b="b"/>
            <a:pathLst>
              <a:path w="1645920" h="109854">
                <a:moveTo>
                  <a:pt x="1645920" y="0"/>
                </a:moveTo>
                <a:lnTo>
                  <a:pt x="0" y="0"/>
                </a:lnTo>
                <a:lnTo>
                  <a:pt x="0" y="109728"/>
                </a:lnTo>
                <a:lnTo>
                  <a:pt x="1645920" y="109728"/>
                </a:lnTo>
                <a:lnTo>
                  <a:pt x="1645920" y="0"/>
                </a:lnTo>
                <a:close/>
              </a:path>
            </a:pathLst>
          </a:custGeom>
          <a:solidFill>
            <a:srgbClr val="C8A84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7498080" y="3840479"/>
            <a:ext cx="1645920" cy="109855"/>
          </a:xfrm>
          <a:custGeom>
            <a:avLst/>
            <a:gdLst/>
            <a:ahLst/>
            <a:cxnLst/>
            <a:rect l="l" t="t" r="r" b="b"/>
            <a:pathLst>
              <a:path w="1645920" h="109854">
                <a:moveTo>
                  <a:pt x="0" y="109728"/>
                </a:moveTo>
                <a:lnTo>
                  <a:pt x="1645920" y="109728"/>
                </a:lnTo>
                <a:lnTo>
                  <a:pt x="1645920" y="0"/>
                </a:lnTo>
                <a:lnTo>
                  <a:pt x="0" y="0"/>
                </a:lnTo>
                <a:lnTo>
                  <a:pt x="0" y="109728"/>
                </a:lnTo>
                <a:close/>
              </a:path>
            </a:pathLst>
          </a:custGeom>
          <a:ln w="12700">
            <a:solidFill>
              <a:srgbClr val="C8A84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bg object 21"/>
          <p:cNvSpPr/>
          <p:nvPr/>
        </p:nvSpPr>
        <p:spPr>
          <a:xfrm>
            <a:off x="8046719" y="91439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457200" y="0"/>
                </a:moveTo>
                <a:lnTo>
                  <a:pt x="410458" y="2360"/>
                </a:lnTo>
                <a:lnTo>
                  <a:pt x="365066" y="9289"/>
                </a:lnTo>
                <a:lnTo>
                  <a:pt x="321253" y="20557"/>
                </a:lnTo>
                <a:lnTo>
                  <a:pt x="279249" y="35933"/>
                </a:lnTo>
                <a:lnTo>
                  <a:pt x="239283" y="55187"/>
                </a:lnTo>
                <a:lnTo>
                  <a:pt x="201587" y="78090"/>
                </a:lnTo>
                <a:lnTo>
                  <a:pt x="166390" y="104411"/>
                </a:lnTo>
                <a:lnTo>
                  <a:pt x="133921" y="133921"/>
                </a:lnTo>
                <a:lnTo>
                  <a:pt x="104411" y="166390"/>
                </a:lnTo>
                <a:lnTo>
                  <a:pt x="78090" y="201587"/>
                </a:lnTo>
                <a:lnTo>
                  <a:pt x="55187" y="239283"/>
                </a:lnTo>
                <a:lnTo>
                  <a:pt x="35933" y="279249"/>
                </a:lnTo>
                <a:lnTo>
                  <a:pt x="20557" y="321253"/>
                </a:lnTo>
                <a:lnTo>
                  <a:pt x="9289" y="365066"/>
                </a:lnTo>
                <a:lnTo>
                  <a:pt x="2360" y="410458"/>
                </a:lnTo>
                <a:lnTo>
                  <a:pt x="0" y="457200"/>
                </a:lnTo>
                <a:lnTo>
                  <a:pt x="2360" y="503941"/>
                </a:lnTo>
                <a:lnTo>
                  <a:pt x="9289" y="549333"/>
                </a:lnTo>
                <a:lnTo>
                  <a:pt x="20557" y="593146"/>
                </a:lnTo>
                <a:lnTo>
                  <a:pt x="35933" y="635150"/>
                </a:lnTo>
                <a:lnTo>
                  <a:pt x="55187" y="675116"/>
                </a:lnTo>
                <a:lnTo>
                  <a:pt x="78090" y="712812"/>
                </a:lnTo>
                <a:lnTo>
                  <a:pt x="104411" y="748009"/>
                </a:lnTo>
                <a:lnTo>
                  <a:pt x="133921" y="780478"/>
                </a:lnTo>
                <a:lnTo>
                  <a:pt x="166390" y="809988"/>
                </a:lnTo>
                <a:lnTo>
                  <a:pt x="201587" y="836309"/>
                </a:lnTo>
                <a:lnTo>
                  <a:pt x="239283" y="859212"/>
                </a:lnTo>
                <a:lnTo>
                  <a:pt x="279249" y="878466"/>
                </a:lnTo>
                <a:lnTo>
                  <a:pt x="321253" y="893842"/>
                </a:lnTo>
                <a:lnTo>
                  <a:pt x="365066" y="905110"/>
                </a:lnTo>
                <a:lnTo>
                  <a:pt x="410458" y="912039"/>
                </a:lnTo>
                <a:lnTo>
                  <a:pt x="457200" y="914400"/>
                </a:lnTo>
                <a:lnTo>
                  <a:pt x="503941" y="912039"/>
                </a:lnTo>
                <a:lnTo>
                  <a:pt x="549333" y="905110"/>
                </a:lnTo>
                <a:lnTo>
                  <a:pt x="593146" y="893842"/>
                </a:lnTo>
                <a:lnTo>
                  <a:pt x="635150" y="878466"/>
                </a:lnTo>
                <a:lnTo>
                  <a:pt x="675116" y="859212"/>
                </a:lnTo>
                <a:lnTo>
                  <a:pt x="712812" y="836309"/>
                </a:lnTo>
                <a:lnTo>
                  <a:pt x="748009" y="809988"/>
                </a:lnTo>
                <a:lnTo>
                  <a:pt x="780478" y="780478"/>
                </a:lnTo>
                <a:lnTo>
                  <a:pt x="809988" y="748009"/>
                </a:lnTo>
                <a:lnTo>
                  <a:pt x="836309" y="712812"/>
                </a:lnTo>
                <a:lnTo>
                  <a:pt x="859212" y="675116"/>
                </a:lnTo>
                <a:lnTo>
                  <a:pt x="878466" y="635150"/>
                </a:lnTo>
                <a:lnTo>
                  <a:pt x="893842" y="593146"/>
                </a:lnTo>
                <a:lnTo>
                  <a:pt x="905110" y="549333"/>
                </a:lnTo>
                <a:lnTo>
                  <a:pt x="912039" y="503941"/>
                </a:lnTo>
                <a:lnTo>
                  <a:pt x="914400" y="457200"/>
                </a:lnTo>
                <a:lnTo>
                  <a:pt x="912039" y="410458"/>
                </a:lnTo>
                <a:lnTo>
                  <a:pt x="905110" y="365066"/>
                </a:lnTo>
                <a:lnTo>
                  <a:pt x="893842" y="321253"/>
                </a:lnTo>
                <a:lnTo>
                  <a:pt x="878466" y="279249"/>
                </a:lnTo>
                <a:lnTo>
                  <a:pt x="859212" y="239283"/>
                </a:lnTo>
                <a:lnTo>
                  <a:pt x="836309" y="201587"/>
                </a:lnTo>
                <a:lnTo>
                  <a:pt x="809988" y="166390"/>
                </a:lnTo>
                <a:lnTo>
                  <a:pt x="780478" y="133921"/>
                </a:lnTo>
                <a:lnTo>
                  <a:pt x="748009" y="104411"/>
                </a:lnTo>
                <a:lnTo>
                  <a:pt x="712812" y="78090"/>
                </a:lnTo>
                <a:lnTo>
                  <a:pt x="675116" y="55187"/>
                </a:lnTo>
                <a:lnTo>
                  <a:pt x="635150" y="35933"/>
                </a:lnTo>
                <a:lnTo>
                  <a:pt x="593146" y="20557"/>
                </a:lnTo>
                <a:lnTo>
                  <a:pt x="549333" y="9289"/>
                </a:lnTo>
                <a:lnTo>
                  <a:pt x="503941" y="2360"/>
                </a:lnTo>
                <a:lnTo>
                  <a:pt x="457200" y="0"/>
                </a:lnTo>
                <a:close/>
              </a:path>
            </a:pathLst>
          </a:custGeom>
          <a:solidFill>
            <a:srgbClr val="C8A84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bg object 22"/>
          <p:cNvSpPr/>
          <p:nvPr/>
        </p:nvSpPr>
        <p:spPr>
          <a:xfrm>
            <a:off x="8046719" y="91439"/>
            <a:ext cx="914400" cy="914400"/>
          </a:xfrm>
          <a:custGeom>
            <a:avLst/>
            <a:gdLst/>
            <a:ahLst/>
            <a:cxnLst/>
            <a:rect l="l" t="t" r="r" b="b"/>
            <a:pathLst>
              <a:path w="914400" h="914400">
                <a:moveTo>
                  <a:pt x="0" y="457200"/>
                </a:moveTo>
                <a:lnTo>
                  <a:pt x="2360" y="410458"/>
                </a:lnTo>
                <a:lnTo>
                  <a:pt x="9289" y="365066"/>
                </a:lnTo>
                <a:lnTo>
                  <a:pt x="20557" y="321253"/>
                </a:lnTo>
                <a:lnTo>
                  <a:pt x="35933" y="279249"/>
                </a:lnTo>
                <a:lnTo>
                  <a:pt x="55187" y="239283"/>
                </a:lnTo>
                <a:lnTo>
                  <a:pt x="78090" y="201587"/>
                </a:lnTo>
                <a:lnTo>
                  <a:pt x="104411" y="166390"/>
                </a:lnTo>
                <a:lnTo>
                  <a:pt x="133921" y="133921"/>
                </a:lnTo>
                <a:lnTo>
                  <a:pt x="166390" y="104411"/>
                </a:lnTo>
                <a:lnTo>
                  <a:pt x="201587" y="78090"/>
                </a:lnTo>
                <a:lnTo>
                  <a:pt x="239283" y="55187"/>
                </a:lnTo>
                <a:lnTo>
                  <a:pt x="279249" y="35933"/>
                </a:lnTo>
                <a:lnTo>
                  <a:pt x="321253" y="20557"/>
                </a:lnTo>
                <a:lnTo>
                  <a:pt x="365066" y="9289"/>
                </a:lnTo>
                <a:lnTo>
                  <a:pt x="410458" y="2360"/>
                </a:lnTo>
                <a:lnTo>
                  <a:pt x="457200" y="0"/>
                </a:lnTo>
                <a:lnTo>
                  <a:pt x="503941" y="2360"/>
                </a:lnTo>
                <a:lnTo>
                  <a:pt x="549333" y="9289"/>
                </a:lnTo>
                <a:lnTo>
                  <a:pt x="593146" y="20557"/>
                </a:lnTo>
                <a:lnTo>
                  <a:pt x="635150" y="35933"/>
                </a:lnTo>
                <a:lnTo>
                  <a:pt x="675116" y="55187"/>
                </a:lnTo>
                <a:lnTo>
                  <a:pt x="712812" y="78090"/>
                </a:lnTo>
                <a:lnTo>
                  <a:pt x="748009" y="104411"/>
                </a:lnTo>
                <a:lnTo>
                  <a:pt x="780478" y="133921"/>
                </a:lnTo>
                <a:lnTo>
                  <a:pt x="809988" y="166390"/>
                </a:lnTo>
                <a:lnTo>
                  <a:pt x="836309" y="201587"/>
                </a:lnTo>
                <a:lnTo>
                  <a:pt x="859212" y="239283"/>
                </a:lnTo>
                <a:lnTo>
                  <a:pt x="878466" y="279249"/>
                </a:lnTo>
                <a:lnTo>
                  <a:pt x="893842" y="321253"/>
                </a:lnTo>
                <a:lnTo>
                  <a:pt x="905110" y="365066"/>
                </a:lnTo>
                <a:lnTo>
                  <a:pt x="912039" y="410458"/>
                </a:lnTo>
                <a:lnTo>
                  <a:pt x="914400" y="457200"/>
                </a:lnTo>
                <a:lnTo>
                  <a:pt x="912039" y="503941"/>
                </a:lnTo>
                <a:lnTo>
                  <a:pt x="905110" y="549333"/>
                </a:lnTo>
                <a:lnTo>
                  <a:pt x="893842" y="593146"/>
                </a:lnTo>
                <a:lnTo>
                  <a:pt x="878466" y="635150"/>
                </a:lnTo>
                <a:lnTo>
                  <a:pt x="859212" y="675116"/>
                </a:lnTo>
                <a:lnTo>
                  <a:pt x="836309" y="712812"/>
                </a:lnTo>
                <a:lnTo>
                  <a:pt x="809988" y="748009"/>
                </a:lnTo>
                <a:lnTo>
                  <a:pt x="780478" y="780478"/>
                </a:lnTo>
                <a:lnTo>
                  <a:pt x="748009" y="809988"/>
                </a:lnTo>
                <a:lnTo>
                  <a:pt x="712812" y="836309"/>
                </a:lnTo>
                <a:lnTo>
                  <a:pt x="675116" y="859212"/>
                </a:lnTo>
                <a:lnTo>
                  <a:pt x="635150" y="878466"/>
                </a:lnTo>
                <a:lnTo>
                  <a:pt x="593146" y="893842"/>
                </a:lnTo>
                <a:lnTo>
                  <a:pt x="549333" y="905110"/>
                </a:lnTo>
                <a:lnTo>
                  <a:pt x="503941" y="912039"/>
                </a:lnTo>
                <a:lnTo>
                  <a:pt x="457200" y="914400"/>
                </a:lnTo>
                <a:lnTo>
                  <a:pt x="410458" y="912039"/>
                </a:lnTo>
                <a:lnTo>
                  <a:pt x="365066" y="905110"/>
                </a:lnTo>
                <a:lnTo>
                  <a:pt x="321253" y="893842"/>
                </a:lnTo>
                <a:lnTo>
                  <a:pt x="279249" y="878466"/>
                </a:lnTo>
                <a:lnTo>
                  <a:pt x="239283" y="859212"/>
                </a:lnTo>
                <a:lnTo>
                  <a:pt x="201587" y="836309"/>
                </a:lnTo>
                <a:lnTo>
                  <a:pt x="166390" y="809988"/>
                </a:lnTo>
                <a:lnTo>
                  <a:pt x="133921" y="780478"/>
                </a:lnTo>
                <a:lnTo>
                  <a:pt x="104411" y="748009"/>
                </a:lnTo>
                <a:lnTo>
                  <a:pt x="78090" y="712812"/>
                </a:lnTo>
                <a:lnTo>
                  <a:pt x="55187" y="675116"/>
                </a:lnTo>
                <a:lnTo>
                  <a:pt x="35933" y="635150"/>
                </a:lnTo>
                <a:lnTo>
                  <a:pt x="20557" y="593146"/>
                </a:lnTo>
                <a:lnTo>
                  <a:pt x="9289" y="549333"/>
                </a:lnTo>
                <a:lnTo>
                  <a:pt x="2360" y="503941"/>
                </a:lnTo>
                <a:lnTo>
                  <a:pt x="0" y="457200"/>
                </a:lnTo>
                <a:close/>
              </a:path>
            </a:pathLst>
          </a:custGeom>
          <a:ln w="12700">
            <a:solidFill>
              <a:srgbClr val="9F7828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9144000" cy="5143499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0" y="0"/>
            <a:ext cx="8046720" cy="384175"/>
          </a:xfrm>
          <a:custGeom>
            <a:avLst/>
            <a:gdLst/>
            <a:ahLst/>
            <a:cxnLst/>
            <a:rect l="l" t="t" r="r" b="b"/>
            <a:pathLst>
              <a:path w="8046720" h="384175">
                <a:moveTo>
                  <a:pt x="8046720" y="0"/>
                </a:moveTo>
                <a:lnTo>
                  <a:pt x="0" y="0"/>
                </a:lnTo>
                <a:lnTo>
                  <a:pt x="0" y="384048"/>
                </a:lnTo>
                <a:lnTo>
                  <a:pt x="8046720" y="384048"/>
                </a:lnTo>
                <a:lnTo>
                  <a:pt x="8046720" y="0"/>
                </a:lnTo>
                <a:close/>
              </a:path>
            </a:pathLst>
          </a:custGeom>
          <a:solidFill>
            <a:srgbClr val="1B2A4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0" y="0"/>
            <a:ext cx="8046720" cy="384175"/>
          </a:xfrm>
          <a:custGeom>
            <a:avLst/>
            <a:gdLst/>
            <a:ahLst/>
            <a:cxnLst/>
            <a:rect l="l" t="t" r="r" b="b"/>
            <a:pathLst>
              <a:path w="8046720" h="384175">
                <a:moveTo>
                  <a:pt x="0" y="384048"/>
                </a:moveTo>
                <a:lnTo>
                  <a:pt x="8046720" y="384048"/>
                </a:lnTo>
                <a:lnTo>
                  <a:pt x="8046720" y="0"/>
                </a:lnTo>
                <a:lnTo>
                  <a:pt x="0" y="0"/>
                </a:lnTo>
                <a:lnTo>
                  <a:pt x="0" y="384048"/>
                </a:lnTo>
                <a:close/>
              </a:path>
            </a:pathLst>
          </a:custGeom>
          <a:ln w="12699">
            <a:solidFill>
              <a:srgbClr val="1B2A4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8046719" y="0"/>
            <a:ext cx="1097280" cy="384175"/>
          </a:xfrm>
          <a:custGeom>
            <a:avLst/>
            <a:gdLst/>
            <a:ahLst/>
            <a:cxnLst/>
            <a:rect l="l" t="t" r="r" b="b"/>
            <a:pathLst>
              <a:path w="1097279" h="384175">
                <a:moveTo>
                  <a:pt x="1097279" y="0"/>
                </a:moveTo>
                <a:lnTo>
                  <a:pt x="0" y="0"/>
                </a:lnTo>
                <a:lnTo>
                  <a:pt x="0" y="384048"/>
                </a:lnTo>
                <a:lnTo>
                  <a:pt x="1097279" y="384048"/>
                </a:lnTo>
                <a:lnTo>
                  <a:pt x="1097279" y="0"/>
                </a:lnTo>
                <a:close/>
              </a:path>
            </a:pathLst>
          </a:custGeom>
          <a:solidFill>
            <a:srgbClr val="C8A84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bg object 20"/>
          <p:cNvSpPr/>
          <p:nvPr/>
        </p:nvSpPr>
        <p:spPr>
          <a:xfrm>
            <a:off x="8046719" y="0"/>
            <a:ext cx="1097280" cy="384175"/>
          </a:xfrm>
          <a:custGeom>
            <a:avLst/>
            <a:gdLst/>
            <a:ahLst/>
            <a:cxnLst/>
            <a:rect l="l" t="t" r="r" b="b"/>
            <a:pathLst>
              <a:path w="1097279" h="384175">
                <a:moveTo>
                  <a:pt x="0" y="384048"/>
                </a:moveTo>
                <a:lnTo>
                  <a:pt x="1097279" y="384048"/>
                </a:lnTo>
                <a:lnTo>
                  <a:pt x="1097279" y="0"/>
                </a:lnTo>
                <a:lnTo>
                  <a:pt x="0" y="0"/>
                </a:lnTo>
                <a:lnTo>
                  <a:pt x="0" y="384048"/>
                </a:lnTo>
                <a:close/>
              </a:path>
            </a:pathLst>
          </a:custGeom>
          <a:ln w="12700">
            <a:solidFill>
              <a:srgbClr val="C8A84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5940" y="640206"/>
            <a:ext cx="8072119" cy="360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rgbClr val="1B2A49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21309" y="1196466"/>
            <a:ext cx="8501380" cy="1828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498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6851650" y="4199890"/>
            <a:ext cx="2298700" cy="122555"/>
            <a:chOff x="6851650" y="4199890"/>
            <a:chExt cx="2298700" cy="122555"/>
          </a:xfrm>
        </p:grpSpPr>
        <p:sp>
          <p:nvSpPr>
            <p:cNvPr id="4" name="object 4"/>
            <p:cNvSpPr/>
            <p:nvPr/>
          </p:nvSpPr>
          <p:spPr>
            <a:xfrm>
              <a:off x="6858000" y="4206240"/>
              <a:ext cx="2286000" cy="109855"/>
            </a:xfrm>
            <a:custGeom>
              <a:avLst/>
              <a:gdLst/>
              <a:ahLst/>
              <a:cxnLst/>
              <a:rect l="l" t="t" r="r" b="b"/>
              <a:pathLst>
                <a:path w="2286000" h="109854">
                  <a:moveTo>
                    <a:pt x="2286000" y="0"/>
                  </a:moveTo>
                  <a:lnTo>
                    <a:pt x="0" y="0"/>
                  </a:lnTo>
                  <a:lnTo>
                    <a:pt x="0" y="109728"/>
                  </a:lnTo>
                  <a:lnTo>
                    <a:pt x="2286000" y="109728"/>
                  </a:lnTo>
                  <a:lnTo>
                    <a:pt x="2286000" y="0"/>
                  </a:lnTo>
                  <a:close/>
                </a:path>
              </a:pathLst>
            </a:custGeom>
            <a:solidFill>
              <a:srgbClr val="C8A84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6858000" y="4206240"/>
              <a:ext cx="2286000" cy="109855"/>
            </a:xfrm>
            <a:custGeom>
              <a:avLst/>
              <a:gdLst/>
              <a:ahLst/>
              <a:cxnLst/>
              <a:rect l="l" t="t" r="r" b="b"/>
              <a:pathLst>
                <a:path w="2286000" h="109854">
                  <a:moveTo>
                    <a:pt x="2286000" y="0"/>
                  </a:moveTo>
                  <a:lnTo>
                    <a:pt x="0" y="0"/>
                  </a:lnTo>
                  <a:lnTo>
                    <a:pt x="0" y="109728"/>
                  </a:lnTo>
                  <a:lnTo>
                    <a:pt x="2286000" y="109728"/>
                  </a:lnTo>
                </a:path>
              </a:pathLst>
            </a:custGeom>
            <a:ln w="12700">
              <a:solidFill>
                <a:srgbClr val="C8A84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" name="object 6"/>
          <p:cNvGrpSpPr/>
          <p:nvPr/>
        </p:nvGrpSpPr>
        <p:grpSpPr>
          <a:xfrm>
            <a:off x="7491730" y="3834129"/>
            <a:ext cx="1658620" cy="122555"/>
            <a:chOff x="7491730" y="3834129"/>
            <a:chExt cx="1658620" cy="122555"/>
          </a:xfrm>
        </p:grpSpPr>
        <p:sp>
          <p:nvSpPr>
            <p:cNvPr id="7" name="object 7"/>
            <p:cNvSpPr/>
            <p:nvPr/>
          </p:nvSpPr>
          <p:spPr>
            <a:xfrm>
              <a:off x="7498080" y="3840479"/>
              <a:ext cx="1645920" cy="109855"/>
            </a:xfrm>
            <a:custGeom>
              <a:avLst/>
              <a:gdLst/>
              <a:ahLst/>
              <a:cxnLst/>
              <a:rect l="l" t="t" r="r" b="b"/>
              <a:pathLst>
                <a:path w="1645920" h="109854">
                  <a:moveTo>
                    <a:pt x="1645920" y="0"/>
                  </a:moveTo>
                  <a:lnTo>
                    <a:pt x="0" y="0"/>
                  </a:lnTo>
                  <a:lnTo>
                    <a:pt x="0" y="109728"/>
                  </a:lnTo>
                  <a:lnTo>
                    <a:pt x="1645920" y="109728"/>
                  </a:lnTo>
                  <a:lnTo>
                    <a:pt x="1645920" y="0"/>
                  </a:lnTo>
                  <a:close/>
                </a:path>
              </a:pathLst>
            </a:custGeom>
            <a:solidFill>
              <a:srgbClr val="C8A84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7498080" y="3840479"/>
              <a:ext cx="1645920" cy="109855"/>
            </a:xfrm>
            <a:custGeom>
              <a:avLst/>
              <a:gdLst/>
              <a:ahLst/>
              <a:cxnLst/>
              <a:rect l="l" t="t" r="r" b="b"/>
              <a:pathLst>
                <a:path w="1645920" h="109854">
                  <a:moveTo>
                    <a:pt x="0" y="109728"/>
                  </a:moveTo>
                  <a:lnTo>
                    <a:pt x="1645920" y="109728"/>
                  </a:lnTo>
                  <a:lnTo>
                    <a:pt x="1645920" y="0"/>
                  </a:lnTo>
                  <a:lnTo>
                    <a:pt x="0" y="0"/>
                  </a:lnTo>
                  <a:lnTo>
                    <a:pt x="0" y="109728"/>
                  </a:lnTo>
                  <a:close/>
                </a:path>
              </a:pathLst>
            </a:custGeom>
            <a:ln w="12700">
              <a:solidFill>
                <a:srgbClr val="C8A84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" name="object 9"/>
          <p:cNvGrpSpPr/>
          <p:nvPr/>
        </p:nvGrpSpPr>
        <p:grpSpPr>
          <a:xfrm>
            <a:off x="8040369" y="85089"/>
            <a:ext cx="927100" cy="927100"/>
            <a:chOff x="8040369" y="85089"/>
            <a:chExt cx="927100" cy="927100"/>
          </a:xfrm>
        </p:grpSpPr>
        <p:sp>
          <p:nvSpPr>
            <p:cNvPr id="10" name="object 10"/>
            <p:cNvSpPr/>
            <p:nvPr/>
          </p:nvSpPr>
          <p:spPr>
            <a:xfrm>
              <a:off x="8046719" y="91439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457200" y="0"/>
                  </a:moveTo>
                  <a:lnTo>
                    <a:pt x="410458" y="2360"/>
                  </a:lnTo>
                  <a:lnTo>
                    <a:pt x="365066" y="9289"/>
                  </a:lnTo>
                  <a:lnTo>
                    <a:pt x="321253" y="20557"/>
                  </a:lnTo>
                  <a:lnTo>
                    <a:pt x="279249" y="35933"/>
                  </a:lnTo>
                  <a:lnTo>
                    <a:pt x="239283" y="55187"/>
                  </a:lnTo>
                  <a:lnTo>
                    <a:pt x="201587" y="78090"/>
                  </a:lnTo>
                  <a:lnTo>
                    <a:pt x="166390" y="104411"/>
                  </a:lnTo>
                  <a:lnTo>
                    <a:pt x="133921" y="133921"/>
                  </a:lnTo>
                  <a:lnTo>
                    <a:pt x="104411" y="166390"/>
                  </a:lnTo>
                  <a:lnTo>
                    <a:pt x="78090" y="201587"/>
                  </a:lnTo>
                  <a:lnTo>
                    <a:pt x="55187" y="239283"/>
                  </a:lnTo>
                  <a:lnTo>
                    <a:pt x="35933" y="279249"/>
                  </a:lnTo>
                  <a:lnTo>
                    <a:pt x="20557" y="321253"/>
                  </a:lnTo>
                  <a:lnTo>
                    <a:pt x="9289" y="365066"/>
                  </a:lnTo>
                  <a:lnTo>
                    <a:pt x="2360" y="410458"/>
                  </a:lnTo>
                  <a:lnTo>
                    <a:pt x="0" y="457200"/>
                  </a:lnTo>
                  <a:lnTo>
                    <a:pt x="2360" y="503941"/>
                  </a:lnTo>
                  <a:lnTo>
                    <a:pt x="9289" y="549333"/>
                  </a:lnTo>
                  <a:lnTo>
                    <a:pt x="20557" y="593146"/>
                  </a:lnTo>
                  <a:lnTo>
                    <a:pt x="35933" y="635150"/>
                  </a:lnTo>
                  <a:lnTo>
                    <a:pt x="55187" y="675116"/>
                  </a:lnTo>
                  <a:lnTo>
                    <a:pt x="78090" y="712812"/>
                  </a:lnTo>
                  <a:lnTo>
                    <a:pt x="104411" y="748009"/>
                  </a:lnTo>
                  <a:lnTo>
                    <a:pt x="133921" y="780478"/>
                  </a:lnTo>
                  <a:lnTo>
                    <a:pt x="166390" y="809988"/>
                  </a:lnTo>
                  <a:lnTo>
                    <a:pt x="201587" y="836309"/>
                  </a:lnTo>
                  <a:lnTo>
                    <a:pt x="239283" y="859212"/>
                  </a:lnTo>
                  <a:lnTo>
                    <a:pt x="279249" y="878466"/>
                  </a:lnTo>
                  <a:lnTo>
                    <a:pt x="321253" y="893842"/>
                  </a:lnTo>
                  <a:lnTo>
                    <a:pt x="365066" y="905110"/>
                  </a:lnTo>
                  <a:lnTo>
                    <a:pt x="410458" y="912039"/>
                  </a:lnTo>
                  <a:lnTo>
                    <a:pt x="457200" y="914400"/>
                  </a:lnTo>
                  <a:lnTo>
                    <a:pt x="503941" y="912039"/>
                  </a:lnTo>
                  <a:lnTo>
                    <a:pt x="549333" y="905110"/>
                  </a:lnTo>
                  <a:lnTo>
                    <a:pt x="593146" y="893842"/>
                  </a:lnTo>
                  <a:lnTo>
                    <a:pt x="635150" y="878466"/>
                  </a:lnTo>
                  <a:lnTo>
                    <a:pt x="675116" y="859212"/>
                  </a:lnTo>
                  <a:lnTo>
                    <a:pt x="712812" y="836309"/>
                  </a:lnTo>
                  <a:lnTo>
                    <a:pt x="748009" y="809988"/>
                  </a:lnTo>
                  <a:lnTo>
                    <a:pt x="780478" y="780478"/>
                  </a:lnTo>
                  <a:lnTo>
                    <a:pt x="809988" y="748009"/>
                  </a:lnTo>
                  <a:lnTo>
                    <a:pt x="836309" y="712812"/>
                  </a:lnTo>
                  <a:lnTo>
                    <a:pt x="859212" y="675116"/>
                  </a:lnTo>
                  <a:lnTo>
                    <a:pt x="878466" y="635150"/>
                  </a:lnTo>
                  <a:lnTo>
                    <a:pt x="893842" y="593146"/>
                  </a:lnTo>
                  <a:lnTo>
                    <a:pt x="905110" y="549333"/>
                  </a:lnTo>
                  <a:lnTo>
                    <a:pt x="912039" y="503941"/>
                  </a:lnTo>
                  <a:lnTo>
                    <a:pt x="914400" y="457200"/>
                  </a:lnTo>
                  <a:lnTo>
                    <a:pt x="912039" y="410458"/>
                  </a:lnTo>
                  <a:lnTo>
                    <a:pt x="905110" y="365066"/>
                  </a:lnTo>
                  <a:lnTo>
                    <a:pt x="893842" y="321253"/>
                  </a:lnTo>
                  <a:lnTo>
                    <a:pt x="878466" y="279249"/>
                  </a:lnTo>
                  <a:lnTo>
                    <a:pt x="859212" y="239283"/>
                  </a:lnTo>
                  <a:lnTo>
                    <a:pt x="836309" y="201587"/>
                  </a:lnTo>
                  <a:lnTo>
                    <a:pt x="809988" y="166390"/>
                  </a:lnTo>
                  <a:lnTo>
                    <a:pt x="780478" y="133921"/>
                  </a:lnTo>
                  <a:lnTo>
                    <a:pt x="748009" y="104411"/>
                  </a:lnTo>
                  <a:lnTo>
                    <a:pt x="712812" y="78090"/>
                  </a:lnTo>
                  <a:lnTo>
                    <a:pt x="675116" y="55187"/>
                  </a:lnTo>
                  <a:lnTo>
                    <a:pt x="635150" y="35933"/>
                  </a:lnTo>
                  <a:lnTo>
                    <a:pt x="593146" y="20557"/>
                  </a:lnTo>
                  <a:lnTo>
                    <a:pt x="549333" y="9289"/>
                  </a:lnTo>
                  <a:lnTo>
                    <a:pt x="503941" y="236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C8A84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8046719" y="91439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lnTo>
                    <a:pt x="2360" y="410458"/>
                  </a:lnTo>
                  <a:lnTo>
                    <a:pt x="9289" y="365066"/>
                  </a:lnTo>
                  <a:lnTo>
                    <a:pt x="20557" y="321253"/>
                  </a:lnTo>
                  <a:lnTo>
                    <a:pt x="35933" y="279249"/>
                  </a:lnTo>
                  <a:lnTo>
                    <a:pt x="55187" y="239283"/>
                  </a:lnTo>
                  <a:lnTo>
                    <a:pt x="78090" y="201587"/>
                  </a:lnTo>
                  <a:lnTo>
                    <a:pt x="104411" y="166390"/>
                  </a:lnTo>
                  <a:lnTo>
                    <a:pt x="133921" y="133921"/>
                  </a:lnTo>
                  <a:lnTo>
                    <a:pt x="166390" y="104411"/>
                  </a:lnTo>
                  <a:lnTo>
                    <a:pt x="201587" y="78090"/>
                  </a:lnTo>
                  <a:lnTo>
                    <a:pt x="239283" y="55187"/>
                  </a:lnTo>
                  <a:lnTo>
                    <a:pt x="279249" y="35933"/>
                  </a:lnTo>
                  <a:lnTo>
                    <a:pt x="321253" y="20557"/>
                  </a:lnTo>
                  <a:lnTo>
                    <a:pt x="365066" y="9289"/>
                  </a:lnTo>
                  <a:lnTo>
                    <a:pt x="410458" y="2360"/>
                  </a:lnTo>
                  <a:lnTo>
                    <a:pt x="457200" y="0"/>
                  </a:lnTo>
                  <a:lnTo>
                    <a:pt x="503941" y="2360"/>
                  </a:lnTo>
                  <a:lnTo>
                    <a:pt x="549333" y="9289"/>
                  </a:lnTo>
                  <a:lnTo>
                    <a:pt x="593146" y="20557"/>
                  </a:lnTo>
                  <a:lnTo>
                    <a:pt x="635150" y="35933"/>
                  </a:lnTo>
                  <a:lnTo>
                    <a:pt x="675116" y="55187"/>
                  </a:lnTo>
                  <a:lnTo>
                    <a:pt x="712812" y="78090"/>
                  </a:lnTo>
                  <a:lnTo>
                    <a:pt x="748009" y="104411"/>
                  </a:lnTo>
                  <a:lnTo>
                    <a:pt x="780478" y="133921"/>
                  </a:lnTo>
                  <a:lnTo>
                    <a:pt x="809988" y="166390"/>
                  </a:lnTo>
                  <a:lnTo>
                    <a:pt x="836309" y="201587"/>
                  </a:lnTo>
                  <a:lnTo>
                    <a:pt x="859212" y="239283"/>
                  </a:lnTo>
                  <a:lnTo>
                    <a:pt x="878466" y="279249"/>
                  </a:lnTo>
                  <a:lnTo>
                    <a:pt x="893842" y="321253"/>
                  </a:lnTo>
                  <a:lnTo>
                    <a:pt x="905110" y="365066"/>
                  </a:lnTo>
                  <a:lnTo>
                    <a:pt x="912039" y="410458"/>
                  </a:lnTo>
                  <a:lnTo>
                    <a:pt x="914400" y="457200"/>
                  </a:lnTo>
                  <a:lnTo>
                    <a:pt x="912039" y="503941"/>
                  </a:lnTo>
                  <a:lnTo>
                    <a:pt x="905110" y="549333"/>
                  </a:lnTo>
                  <a:lnTo>
                    <a:pt x="893842" y="593146"/>
                  </a:lnTo>
                  <a:lnTo>
                    <a:pt x="878466" y="635150"/>
                  </a:lnTo>
                  <a:lnTo>
                    <a:pt x="859212" y="675116"/>
                  </a:lnTo>
                  <a:lnTo>
                    <a:pt x="836309" y="712812"/>
                  </a:lnTo>
                  <a:lnTo>
                    <a:pt x="809988" y="748009"/>
                  </a:lnTo>
                  <a:lnTo>
                    <a:pt x="780478" y="780478"/>
                  </a:lnTo>
                  <a:lnTo>
                    <a:pt x="748009" y="809988"/>
                  </a:lnTo>
                  <a:lnTo>
                    <a:pt x="712812" y="836309"/>
                  </a:lnTo>
                  <a:lnTo>
                    <a:pt x="675116" y="859212"/>
                  </a:lnTo>
                  <a:lnTo>
                    <a:pt x="635150" y="878466"/>
                  </a:lnTo>
                  <a:lnTo>
                    <a:pt x="593146" y="893842"/>
                  </a:lnTo>
                  <a:lnTo>
                    <a:pt x="549333" y="905110"/>
                  </a:lnTo>
                  <a:lnTo>
                    <a:pt x="503941" y="912039"/>
                  </a:lnTo>
                  <a:lnTo>
                    <a:pt x="457200" y="914400"/>
                  </a:lnTo>
                  <a:lnTo>
                    <a:pt x="410458" y="912039"/>
                  </a:lnTo>
                  <a:lnTo>
                    <a:pt x="365066" y="905110"/>
                  </a:lnTo>
                  <a:lnTo>
                    <a:pt x="321253" y="893842"/>
                  </a:lnTo>
                  <a:lnTo>
                    <a:pt x="279249" y="878466"/>
                  </a:lnTo>
                  <a:lnTo>
                    <a:pt x="239283" y="859212"/>
                  </a:lnTo>
                  <a:lnTo>
                    <a:pt x="201587" y="836309"/>
                  </a:lnTo>
                  <a:lnTo>
                    <a:pt x="166390" y="809988"/>
                  </a:lnTo>
                  <a:lnTo>
                    <a:pt x="133921" y="780478"/>
                  </a:lnTo>
                  <a:lnTo>
                    <a:pt x="104411" y="748009"/>
                  </a:lnTo>
                  <a:lnTo>
                    <a:pt x="78090" y="712812"/>
                  </a:lnTo>
                  <a:lnTo>
                    <a:pt x="55187" y="675116"/>
                  </a:lnTo>
                  <a:lnTo>
                    <a:pt x="35933" y="635150"/>
                  </a:lnTo>
                  <a:lnTo>
                    <a:pt x="20557" y="593146"/>
                  </a:lnTo>
                  <a:lnTo>
                    <a:pt x="9289" y="549333"/>
                  </a:lnTo>
                  <a:lnTo>
                    <a:pt x="2360" y="503941"/>
                  </a:lnTo>
                  <a:lnTo>
                    <a:pt x="0" y="457200"/>
                  </a:lnTo>
                  <a:close/>
                </a:path>
              </a:pathLst>
            </a:custGeom>
            <a:ln w="12700">
              <a:solidFill>
                <a:srgbClr val="9F782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8304021" y="360375"/>
            <a:ext cx="401955" cy="2705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dirty="0" sz="800" spc="-20" b="1">
                <a:solidFill>
                  <a:srgbClr val="1B2A49"/>
                </a:solidFill>
                <a:latin typeface="Calibri"/>
                <a:cs typeface="Calibri"/>
              </a:rPr>
              <a:t>ALTA</a:t>
            </a:r>
            <a:endParaRPr sz="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dirty="0" sz="800" spc="-10" b="1">
                <a:solidFill>
                  <a:srgbClr val="1B2A49"/>
                </a:solidFill>
                <a:latin typeface="Calibri"/>
                <a:cs typeface="Calibri"/>
              </a:rPr>
              <a:t>CALIDAD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3" name="object 13" descr="$PPTXTitle"/>
          <p:cNvSpPr txBox="1">
            <a:spLocks noGrp="1"/>
          </p:cNvSpPr>
          <p:nvPr>
            <p:ph type="title"/>
          </p:nvPr>
        </p:nvSpPr>
        <p:spPr>
          <a:xfrm>
            <a:off x="627380" y="1824354"/>
            <a:ext cx="3982720" cy="87884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2800" b="0">
                <a:solidFill>
                  <a:srgbClr val="FFFFFF"/>
                </a:solidFill>
                <a:latin typeface="Calibri"/>
                <a:cs typeface="Calibri"/>
              </a:rPr>
              <a:t>Especificación</a:t>
            </a:r>
            <a:r>
              <a:rPr dirty="0" sz="2800" spc="-70" b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b="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dirty="0" sz="2800" spc="-65" b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spc="-10" b="0">
                <a:solidFill>
                  <a:srgbClr val="FFFFFF"/>
                </a:solidFill>
                <a:latin typeface="Calibri"/>
                <a:cs typeface="Calibri"/>
              </a:rPr>
              <a:t>requisitos </a:t>
            </a:r>
            <a:r>
              <a:rPr dirty="0" sz="2800" b="0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r>
              <a:rPr dirty="0" sz="2800" spc="-35" b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b="0">
                <a:solidFill>
                  <a:srgbClr val="FFFFFF"/>
                </a:solidFill>
                <a:latin typeface="Calibri"/>
                <a:cs typeface="Calibri"/>
              </a:rPr>
              <a:t>calidad</a:t>
            </a:r>
            <a:r>
              <a:rPr dirty="0" sz="2800" spc="-35" b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b="0">
                <a:solidFill>
                  <a:srgbClr val="FFFFFF"/>
                </a:solidFill>
                <a:latin typeface="Calibri"/>
                <a:cs typeface="Calibri"/>
              </a:rPr>
              <a:t>del</a:t>
            </a:r>
            <a:r>
              <a:rPr dirty="0" sz="2800" spc="-30" b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800" spc="-10" b="0">
                <a:solidFill>
                  <a:srgbClr val="FFFFFF"/>
                </a:solidFill>
                <a:latin typeface="Calibri"/>
                <a:cs typeface="Calibri"/>
              </a:rPr>
              <a:t>software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27380" y="2899029"/>
            <a:ext cx="94869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C8A84B"/>
                </a:solidFill>
                <a:latin typeface="Calibri"/>
                <a:cs typeface="Calibri"/>
              </a:rPr>
              <a:t>Semana</a:t>
            </a:r>
            <a:r>
              <a:rPr dirty="0" sz="1800" spc="-25" b="1">
                <a:solidFill>
                  <a:srgbClr val="C8A84B"/>
                </a:solidFill>
                <a:latin typeface="Calibri"/>
                <a:cs typeface="Calibri"/>
              </a:rPr>
              <a:t> </a:t>
            </a:r>
            <a:r>
              <a:rPr dirty="0" sz="1800" spc="-50" b="1">
                <a:solidFill>
                  <a:srgbClr val="C8A84B"/>
                </a:solidFill>
                <a:latin typeface="Calibri"/>
                <a:cs typeface="Calibri"/>
              </a:rPr>
              <a:t>4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53059" y="4509922"/>
            <a:ext cx="1530985" cy="54356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 b="1">
                <a:solidFill>
                  <a:srgbClr val="C8A84B"/>
                </a:solidFill>
                <a:latin typeface="Calibri"/>
                <a:cs typeface="Calibri"/>
              </a:rPr>
              <a:t>UNIMINUTO</a:t>
            </a:r>
            <a:endParaRPr sz="14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715"/>
              </a:spcBef>
            </a:pPr>
            <a:r>
              <a:rPr dirty="0" sz="700" spc="-10">
                <a:solidFill>
                  <a:srgbClr val="FFFFFF"/>
                </a:solidFill>
                <a:latin typeface="Calibri"/>
                <a:cs typeface="Calibri"/>
              </a:rPr>
              <a:t>Corporación</a:t>
            </a:r>
            <a:r>
              <a:rPr dirty="0" sz="700" spc="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FFFFFF"/>
                </a:solidFill>
                <a:latin typeface="Calibri"/>
                <a:cs typeface="Calibri"/>
              </a:rPr>
              <a:t>Universitaria</a:t>
            </a:r>
            <a:r>
              <a:rPr dirty="0" sz="700" spc="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FFFFFF"/>
                </a:solidFill>
                <a:latin typeface="Calibri"/>
                <a:cs typeface="Calibri"/>
              </a:rPr>
              <a:t>Minuto</a:t>
            </a:r>
            <a:r>
              <a:rPr dirty="0" sz="700" spc="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dirty="0" sz="7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700" spc="-20">
                <a:solidFill>
                  <a:srgbClr val="FFFFFF"/>
                </a:solidFill>
                <a:latin typeface="Calibri"/>
                <a:cs typeface="Calibri"/>
              </a:rPr>
              <a:t>Dios</a:t>
            </a:r>
            <a:r>
              <a:rPr dirty="0" sz="700" spc="5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FFFFFF"/>
                </a:solidFill>
                <a:latin typeface="Calibri"/>
                <a:cs typeface="Calibri"/>
              </a:rPr>
              <a:t>Educación</a:t>
            </a:r>
            <a:r>
              <a:rPr dirty="0" sz="7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dirty="0" sz="7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FFFFFF"/>
                </a:solidFill>
                <a:latin typeface="Calibri"/>
                <a:cs typeface="Calibri"/>
              </a:rPr>
              <a:t>calidad</a:t>
            </a:r>
            <a:r>
              <a:rPr dirty="0" sz="7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FFFFFF"/>
                </a:solidFill>
                <a:latin typeface="Calibri"/>
                <a:cs typeface="Calibri"/>
              </a:rPr>
              <a:t>al</a:t>
            </a:r>
            <a:r>
              <a:rPr dirty="0" sz="7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FFFFFF"/>
                </a:solidFill>
                <a:latin typeface="Calibri"/>
                <a:cs typeface="Calibri"/>
              </a:rPr>
              <a:t>alcance</a:t>
            </a:r>
            <a:r>
              <a:rPr dirty="0" sz="7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dirty="0" sz="700" spc="-20">
                <a:solidFill>
                  <a:srgbClr val="FFFFFF"/>
                </a:solidFill>
                <a:latin typeface="Calibri"/>
                <a:cs typeface="Calibri"/>
              </a:rPr>
              <a:t> todos</a:t>
            </a:r>
            <a:endParaRPr sz="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0" y="99440"/>
            <a:ext cx="8034020" cy="1701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02870">
              <a:lnSpc>
                <a:spcPct val="100000"/>
              </a:lnSpc>
              <a:spcBef>
                <a:spcPts val="95"/>
              </a:spcBef>
            </a:pPr>
            <a:r>
              <a:rPr dirty="0" sz="950" spc="-10" b="1">
                <a:solidFill>
                  <a:srgbClr val="FFFFFF"/>
                </a:solidFill>
                <a:latin typeface="Calibri"/>
                <a:cs typeface="Calibri"/>
              </a:rPr>
              <a:t>Estándares</a:t>
            </a:r>
            <a:r>
              <a:rPr dirty="0" sz="950" spc="-1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r>
              <a:rPr dirty="0" sz="950" spc="-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FFFFFF"/>
                </a:solidFill>
                <a:latin typeface="Calibri"/>
                <a:cs typeface="Calibri"/>
              </a:rPr>
              <a:t>Métricas</a:t>
            </a:r>
            <a:r>
              <a:rPr dirty="0" sz="950" spc="-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dirty="0" sz="950" spc="-1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FFFFFF"/>
                </a:solidFill>
                <a:latin typeface="Calibri"/>
                <a:cs typeface="Calibri"/>
              </a:rPr>
              <a:t>Calidad</a:t>
            </a:r>
            <a:r>
              <a:rPr dirty="0" sz="950" spc="1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FFFFFF"/>
                </a:solidFill>
                <a:latin typeface="Calibri"/>
                <a:cs typeface="Calibri"/>
              </a:rPr>
              <a:t>en</a:t>
            </a:r>
            <a:r>
              <a:rPr dirty="0" sz="950" spc="-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FFFFFF"/>
                </a:solidFill>
                <a:latin typeface="Calibri"/>
                <a:cs typeface="Calibri"/>
              </a:rPr>
              <a:t>el</a:t>
            </a:r>
            <a:r>
              <a:rPr dirty="0" sz="950" spc="-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FFFFFF"/>
                </a:solidFill>
                <a:latin typeface="Calibri"/>
                <a:cs typeface="Calibri"/>
              </a:rPr>
              <a:t>Desarrollo</a:t>
            </a:r>
            <a:r>
              <a:rPr dirty="0" sz="950" spc="1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dirty="0" sz="950" spc="-1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spc="-10" b="1">
                <a:solidFill>
                  <a:srgbClr val="FFFFFF"/>
                </a:solidFill>
                <a:latin typeface="Calibri"/>
                <a:cs typeface="Calibri"/>
              </a:rPr>
              <a:t>Software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Contenido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718819" y="1996086"/>
            <a:ext cx="6358890" cy="1762760"/>
          </a:xfrm>
          <a:prstGeom prst="rect">
            <a:avLst/>
          </a:prstGeom>
        </p:spPr>
        <p:txBody>
          <a:bodyPr wrap="square" lIns="0" tIns="88265" rIns="0" bIns="0" rtlCol="0" vert="horz">
            <a:spAutoFit/>
          </a:bodyPr>
          <a:lstStyle/>
          <a:p>
            <a:pPr marL="225425" indent="-212725">
              <a:lnSpc>
                <a:spcPct val="100000"/>
              </a:lnSpc>
              <a:spcBef>
                <a:spcPts val="695"/>
              </a:spcBef>
              <a:buAutoNum type="arabicPeriod"/>
              <a:tabLst>
                <a:tab pos="225425" algn="l"/>
              </a:tabLst>
            </a:pPr>
            <a:r>
              <a:rPr dirty="0" sz="1400" spc="-10">
                <a:solidFill>
                  <a:srgbClr val="1A1A2D"/>
                </a:solidFill>
                <a:latin typeface="Calibri"/>
                <a:cs typeface="Calibri"/>
              </a:rPr>
              <a:t>Introducción</a:t>
            </a:r>
            <a:r>
              <a:rPr dirty="0" sz="1400" spc="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A1A2D"/>
                </a:solidFill>
                <a:latin typeface="Calibri"/>
                <a:cs typeface="Calibri"/>
              </a:rPr>
              <a:t>a la </a:t>
            </a:r>
            <a:r>
              <a:rPr dirty="0" sz="1400" spc="-10">
                <a:solidFill>
                  <a:srgbClr val="1A1A2D"/>
                </a:solidFill>
                <a:latin typeface="Calibri"/>
                <a:cs typeface="Calibri"/>
              </a:rPr>
              <a:t>especificación</a:t>
            </a:r>
            <a:r>
              <a:rPr dirty="0" sz="1400" spc="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A1A2D"/>
                </a:solidFill>
                <a:latin typeface="Calibri"/>
                <a:cs typeface="Calibri"/>
              </a:rPr>
              <a:t>de</a:t>
            </a:r>
            <a:r>
              <a:rPr dirty="0" sz="1400" spc="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A1A2D"/>
                </a:solidFill>
                <a:latin typeface="Calibri"/>
                <a:cs typeface="Calibri"/>
              </a:rPr>
              <a:t>requisitos</a:t>
            </a:r>
            <a:r>
              <a:rPr dirty="0" sz="1400" spc="1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A1A2D"/>
                </a:solidFill>
                <a:latin typeface="Calibri"/>
                <a:cs typeface="Calibri"/>
              </a:rPr>
              <a:t>y </a:t>
            </a:r>
            <a:r>
              <a:rPr dirty="0" sz="1400" spc="-10">
                <a:solidFill>
                  <a:srgbClr val="1A1A2D"/>
                </a:solidFill>
                <a:latin typeface="Calibri"/>
                <a:cs typeface="Calibri"/>
              </a:rPr>
              <a:t>calidad.</a:t>
            </a:r>
            <a:endParaRPr sz="1400">
              <a:latin typeface="Calibri"/>
              <a:cs typeface="Calibri"/>
            </a:endParaRPr>
          </a:p>
          <a:p>
            <a:pPr marL="225425" indent="-212725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225425" algn="l"/>
              </a:tabLst>
            </a:pPr>
            <a:r>
              <a:rPr dirty="0" sz="1400">
                <a:solidFill>
                  <a:srgbClr val="1A1A2D"/>
                </a:solidFill>
                <a:latin typeface="Calibri"/>
                <a:cs typeface="Calibri"/>
              </a:rPr>
              <a:t>Fundamentos y estándar IEEE 830 (hoy ISO/IEC/IEEE 29148).</a:t>
            </a:r>
            <a:endParaRPr sz="1400">
              <a:latin typeface="Calibri"/>
              <a:cs typeface="Calibri"/>
            </a:endParaRPr>
          </a:p>
          <a:p>
            <a:pPr marL="225425" indent="-212725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225425" algn="l"/>
              </a:tabLst>
            </a:pPr>
            <a:r>
              <a:rPr dirty="0" sz="1400">
                <a:solidFill>
                  <a:srgbClr val="1A1A2D"/>
                </a:solidFill>
                <a:latin typeface="Calibri"/>
                <a:cs typeface="Calibri"/>
              </a:rPr>
              <a:t>Norma</a:t>
            </a:r>
            <a:r>
              <a:rPr dirty="0" sz="1400" spc="-6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A1A2D"/>
                </a:solidFill>
                <a:latin typeface="Calibri"/>
                <a:cs typeface="Calibri"/>
              </a:rPr>
              <a:t>ISO/IEC</a:t>
            </a:r>
            <a:r>
              <a:rPr dirty="0" sz="1400" spc="-6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A1A2D"/>
                </a:solidFill>
                <a:latin typeface="Calibri"/>
                <a:cs typeface="Calibri"/>
              </a:rPr>
              <a:t>12207</a:t>
            </a:r>
            <a:r>
              <a:rPr dirty="0" sz="1400" spc="-1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A1A2D"/>
                </a:solidFill>
                <a:latin typeface="Calibri"/>
                <a:cs typeface="Calibri"/>
              </a:rPr>
              <a:t>y</a:t>
            </a:r>
            <a:r>
              <a:rPr dirty="0" sz="1400" spc="-3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A1A2D"/>
                </a:solidFill>
                <a:latin typeface="Calibri"/>
                <a:cs typeface="Calibri"/>
              </a:rPr>
              <a:t>modelos</a:t>
            </a:r>
            <a:r>
              <a:rPr dirty="0" sz="1400" spc="-4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400" spc="-20">
                <a:solidFill>
                  <a:srgbClr val="1A1A2D"/>
                </a:solidFill>
                <a:latin typeface="Calibri"/>
                <a:cs typeface="Calibri"/>
              </a:rPr>
              <a:t>SPI.</a:t>
            </a:r>
            <a:endParaRPr sz="1400">
              <a:latin typeface="Calibri"/>
              <a:cs typeface="Calibri"/>
            </a:endParaRPr>
          </a:p>
          <a:p>
            <a:pPr marL="225425" indent="-212725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225425" algn="l"/>
              </a:tabLst>
            </a:pPr>
            <a:r>
              <a:rPr dirty="0" sz="1400">
                <a:solidFill>
                  <a:srgbClr val="1A1A2D"/>
                </a:solidFill>
                <a:latin typeface="Calibri"/>
                <a:cs typeface="Calibri"/>
              </a:rPr>
              <a:t>Modelo</a:t>
            </a:r>
            <a:r>
              <a:rPr dirty="0" sz="1400" spc="-4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A1A2D"/>
                </a:solidFill>
                <a:latin typeface="Calibri"/>
                <a:cs typeface="Calibri"/>
              </a:rPr>
              <a:t>procedimental </a:t>
            </a:r>
            <a:r>
              <a:rPr dirty="0" sz="1400">
                <a:solidFill>
                  <a:srgbClr val="1A1A2D"/>
                </a:solidFill>
                <a:latin typeface="Calibri"/>
                <a:cs typeface="Calibri"/>
              </a:rPr>
              <a:t>de</a:t>
            </a:r>
            <a:r>
              <a:rPr dirty="0" sz="1400" spc="-2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A1A2D"/>
                </a:solidFill>
                <a:latin typeface="Calibri"/>
                <a:cs typeface="Calibri"/>
              </a:rPr>
              <a:t>requisitos:</a:t>
            </a:r>
            <a:r>
              <a:rPr dirty="0" sz="1400" spc="-2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A1A2D"/>
                </a:solidFill>
                <a:latin typeface="Calibri"/>
                <a:cs typeface="Calibri"/>
              </a:rPr>
              <a:t>contexto,</a:t>
            </a:r>
            <a:r>
              <a:rPr dirty="0" sz="1400" spc="-2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A1A2D"/>
                </a:solidFill>
                <a:latin typeface="Calibri"/>
                <a:cs typeface="Calibri"/>
              </a:rPr>
              <a:t>educción,</a:t>
            </a:r>
            <a:r>
              <a:rPr dirty="0" sz="1400" spc="-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A1A2D"/>
                </a:solidFill>
                <a:latin typeface="Calibri"/>
                <a:cs typeface="Calibri"/>
              </a:rPr>
              <a:t>elicitación</a:t>
            </a:r>
            <a:r>
              <a:rPr dirty="0" sz="1400" spc="-2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A1A2D"/>
                </a:solidFill>
                <a:latin typeface="Calibri"/>
                <a:cs typeface="Calibri"/>
              </a:rPr>
              <a:t>y</a:t>
            </a:r>
            <a:r>
              <a:rPr dirty="0" sz="1400" spc="-3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A1A2D"/>
                </a:solidFill>
                <a:latin typeface="Calibri"/>
                <a:cs typeface="Calibri"/>
              </a:rPr>
              <a:t>especificación.</a:t>
            </a:r>
            <a:endParaRPr sz="1400">
              <a:latin typeface="Calibri"/>
              <a:cs typeface="Calibri"/>
            </a:endParaRPr>
          </a:p>
          <a:p>
            <a:pPr marL="225425" indent="-212725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225425" algn="l"/>
              </a:tabLst>
            </a:pPr>
            <a:r>
              <a:rPr dirty="0" sz="1400" spc="-10">
                <a:solidFill>
                  <a:srgbClr val="1A1A2D"/>
                </a:solidFill>
                <a:latin typeface="Calibri"/>
                <a:cs typeface="Calibri"/>
              </a:rPr>
              <a:t>Requisitos,</a:t>
            </a:r>
            <a:r>
              <a:rPr dirty="0" sz="1400" spc="-4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A1A2D"/>
                </a:solidFill>
                <a:latin typeface="Calibri"/>
                <a:cs typeface="Calibri"/>
              </a:rPr>
              <a:t>métricas</a:t>
            </a:r>
            <a:r>
              <a:rPr dirty="0" sz="1400" spc="-2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A1A2D"/>
                </a:solidFill>
                <a:latin typeface="Calibri"/>
                <a:cs typeface="Calibri"/>
              </a:rPr>
              <a:t>y</a:t>
            </a:r>
            <a:r>
              <a:rPr dirty="0" sz="1400" spc="-3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A1A2D"/>
                </a:solidFill>
                <a:latin typeface="Calibri"/>
                <a:cs typeface="Calibri"/>
              </a:rPr>
              <a:t>mejora</a:t>
            </a:r>
            <a:r>
              <a:rPr dirty="0" sz="1400" spc="-3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A1A2D"/>
                </a:solidFill>
                <a:latin typeface="Calibri"/>
                <a:cs typeface="Calibri"/>
              </a:rPr>
              <a:t>continua.</a:t>
            </a:r>
            <a:endParaRPr sz="1400">
              <a:latin typeface="Calibri"/>
              <a:cs typeface="Calibri"/>
            </a:endParaRPr>
          </a:p>
          <a:p>
            <a:pPr marL="225425" indent="-212725">
              <a:lnSpc>
                <a:spcPct val="100000"/>
              </a:lnSpc>
              <a:spcBef>
                <a:spcPts val="600"/>
              </a:spcBef>
              <a:buAutoNum type="arabicPeriod"/>
              <a:tabLst>
                <a:tab pos="225425" algn="l"/>
              </a:tabLst>
            </a:pPr>
            <a:r>
              <a:rPr dirty="0" sz="1400" spc="-10">
                <a:solidFill>
                  <a:srgbClr val="1A1A2D"/>
                </a:solidFill>
                <a:latin typeface="Calibri"/>
                <a:cs typeface="Calibri"/>
              </a:rPr>
              <a:t>Ejercicios</a:t>
            </a:r>
            <a:r>
              <a:rPr dirty="0" sz="1400" spc="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400" spc="-10">
                <a:solidFill>
                  <a:srgbClr val="1A1A2D"/>
                </a:solidFill>
                <a:latin typeface="Calibri"/>
                <a:cs typeface="Calibri"/>
              </a:rPr>
              <a:t>prácticos</a:t>
            </a:r>
            <a:r>
              <a:rPr dirty="0" sz="1400" spc="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400">
                <a:solidFill>
                  <a:srgbClr val="1A1A2D"/>
                </a:solidFill>
                <a:latin typeface="Calibri"/>
                <a:cs typeface="Calibri"/>
              </a:rPr>
              <a:t>y </a:t>
            </a:r>
            <a:r>
              <a:rPr dirty="0" sz="1400" spc="-10">
                <a:solidFill>
                  <a:srgbClr val="1A1A2D"/>
                </a:solidFill>
                <a:latin typeface="Calibri"/>
                <a:cs typeface="Calibri"/>
              </a:rPr>
              <a:t>cierre.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7027" y="99440"/>
            <a:ext cx="3126740" cy="1701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 spc="-10" b="1">
                <a:solidFill>
                  <a:srgbClr val="FFFFFF"/>
                </a:solidFill>
                <a:latin typeface="Calibri"/>
                <a:cs typeface="Calibri"/>
              </a:rPr>
              <a:t>Estándares</a:t>
            </a:r>
            <a:r>
              <a:rPr dirty="0" sz="950" spc="-1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r>
              <a:rPr dirty="0" sz="950" spc="-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FFFFFF"/>
                </a:solidFill>
                <a:latin typeface="Calibri"/>
                <a:cs typeface="Calibri"/>
              </a:rPr>
              <a:t>Métricas</a:t>
            </a:r>
            <a:r>
              <a:rPr dirty="0" sz="950" spc="-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dirty="0" sz="950" spc="-1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FFFFFF"/>
                </a:solidFill>
                <a:latin typeface="Calibri"/>
                <a:cs typeface="Calibri"/>
              </a:rPr>
              <a:t>Calidad</a:t>
            </a:r>
            <a:r>
              <a:rPr dirty="0" sz="950" spc="1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FFFFFF"/>
                </a:solidFill>
                <a:latin typeface="Calibri"/>
                <a:cs typeface="Calibri"/>
              </a:rPr>
              <a:t>en</a:t>
            </a:r>
            <a:r>
              <a:rPr dirty="0" sz="950" spc="-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FFFFFF"/>
                </a:solidFill>
                <a:latin typeface="Calibri"/>
                <a:cs typeface="Calibri"/>
              </a:rPr>
              <a:t>el</a:t>
            </a:r>
            <a:r>
              <a:rPr dirty="0" sz="950" spc="-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FFFFFF"/>
                </a:solidFill>
                <a:latin typeface="Calibri"/>
                <a:cs typeface="Calibri"/>
              </a:rPr>
              <a:t>Desarrollo</a:t>
            </a:r>
            <a:r>
              <a:rPr dirty="0" sz="950" spc="1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dirty="0" sz="950" spc="-1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spc="-10" b="1">
                <a:solidFill>
                  <a:srgbClr val="FFFFFF"/>
                </a:solidFill>
                <a:latin typeface="Calibri"/>
                <a:cs typeface="Calibri"/>
              </a:rPr>
              <a:t>Software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35940" y="732789"/>
            <a:ext cx="5728335" cy="33083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/>
              <a:t>Introducción</a:t>
            </a:r>
            <a:r>
              <a:rPr dirty="0" sz="2000" spc="-70"/>
              <a:t> </a:t>
            </a:r>
            <a:r>
              <a:rPr dirty="0" sz="2000"/>
              <a:t>a</a:t>
            </a:r>
            <a:r>
              <a:rPr dirty="0" sz="2000" spc="-40"/>
              <a:t> </a:t>
            </a:r>
            <a:r>
              <a:rPr dirty="0" sz="2000"/>
              <a:t>la</a:t>
            </a:r>
            <a:r>
              <a:rPr dirty="0" sz="2000" spc="-55"/>
              <a:t> </a:t>
            </a:r>
            <a:r>
              <a:rPr dirty="0" sz="2000"/>
              <a:t>especificación</a:t>
            </a:r>
            <a:r>
              <a:rPr dirty="0" sz="2000" spc="-55"/>
              <a:t> </a:t>
            </a:r>
            <a:r>
              <a:rPr dirty="0" sz="2000"/>
              <a:t>de</a:t>
            </a:r>
            <a:r>
              <a:rPr dirty="0" sz="2000" spc="-40"/>
              <a:t> </a:t>
            </a:r>
            <a:r>
              <a:rPr dirty="0" sz="2000"/>
              <a:t>requisitos</a:t>
            </a:r>
            <a:r>
              <a:rPr dirty="0" sz="2000" spc="-55"/>
              <a:t> </a:t>
            </a:r>
            <a:r>
              <a:rPr dirty="0" sz="2000"/>
              <a:t>y</a:t>
            </a:r>
            <a:r>
              <a:rPr dirty="0" sz="2000" spc="-45"/>
              <a:t> </a:t>
            </a:r>
            <a:r>
              <a:rPr dirty="0" sz="2000" spc="-10"/>
              <a:t>calidad</a:t>
            </a:r>
            <a:endParaRPr sz="2000"/>
          </a:p>
        </p:txBody>
      </p:sp>
      <p:grpSp>
        <p:nvGrpSpPr>
          <p:cNvPr id="4" name="object 4"/>
          <p:cNvGrpSpPr/>
          <p:nvPr/>
        </p:nvGrpSpPr>
        <p:grpSpPr>
          <a:xfrm>
            <a:off x="172212" y="1397508"/>
            <a:ext cx="4367530" cy="1268730"/>
            <a:chOff x="172212" y="1397508"/>
            <a:chExt cx="4367530" cy="126873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2212" y="1397508"/>
              <a:ext cx="4367022" cy="1268730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74320" y="1536192"/>
              <a:ext cx="4206240" cy="1035685"/>
            </a:xfrm>
            <a:custGeom>
              <a:avLst/>
              <a:gdLst/>
              <a:ahLst/>
              <a:cxnLst/>
              <a:rect l="l" t="t" r="r" b="b"/>
              <a:pathLst>
                <a:path w="4206240" h="1035685">
                  <a:moveTo>
                    <a:pt x="0" y="1035558"/>
                  </a:moveTo>
                  <a:lnTo>
                    <a:pt x="4206240" y="1035558"/>
                  </a:lnTo>
                  <a:lnTo>
                    <a:pt x="4206240" y="0"/>
                  </a:lnTo>
                  <a:lnTo>
                    <a:pt x="0" y="0"/>
                  </a:lnTo>
                  <a:lnTo>
                    <a:pt x="0" y="1035558"/>
                  </a:lnTo>
                  <a:close/>
                </a:path>
              </a:pathLst>
            </a:custGeom>
            <a:solidFill>
              <a:srgbClr val="1B2A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274320" y="1463040"/>
              <a:ext cx="4206240" cy="1108710"/>
            </a:xfrm>
            <a:custGeom>
              <a:avLst/>
              <a:gdLst/>
              <a:ahLst/>
              <a:cxnLst/>
              <a:rect l="l" t="t" r="r" b="b"/>
              <a:pathLst>
                <a:path w="4206240" h="1108710">
                  <a:moveTo>
                    <a:pt x="0" y="1108710"/>
                  </a:moveTo>
                  <a:lnTo>
                    <a:pt x="4206240" y="1108710"/>
                  </a:lnTo>
                  <a:lnTo>
                    <a:pt x="4206240" y="0"/>
                  </a:lnTo>
                  <a:lnTo>
                    <a:pt x="0" y="0"/>
                  </a:lnTo>
                  <a:lnTo>
                    <a:pt x="0" y="1108710"/>
                  </a:lnTo>
                  <a:close/>
                </a:path>
              </a:pathLst>
            </a:custGeom>
            <a:ln w="12699">
              <a:solidFill>
                <a:srgbClr val="1B2A4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274320" y="1463040"/>
              <a:ext cx="4206240" cy="73660"/>
            </a:xfrm>
            <a:custGeom>
              <a:avLst/>
              <a:gdLst/>
              <a:ahLst/>
              <a:cxnLst/>
              <a:rect l="l" t="t" r="r" b="b"/>
              <a:pathLst>
                <a:path w="4206240" h="73659">
                  <a:moveTo>
                    <a:pt x="4206240" y="0"/>
                  </a:moveTo>
                  <a:lnTo>
                    <a:pt x="0" y="0"/>
                  </a:lnTo>
                  <a:lnTo>
                    <a:pt x="0" y="73151"/>
                  </a:lnTo>
                  <a:lnTo>
                    <a:pt x="4206240" y="73151"/>
                  </a:lnTo>
                  <a:lnTo>
                    <a:pt x="4206240" y="0"/>
                  </a:lnTo>
                  <a:close/>
                </a:path>
              </a:pathLst>
            </a:custGeom>
            <a:solidFill>
              <a:srgbClr val="C8A84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274320" y="1463040"/>
              <a:ext cx="4206240" cy="73660"/>
            </a:xfrm>
            <a:custGeom>
              <a:avLst/>
              <a:gdLst/>
              <a:ahLst/>
              <a:cxnLst/>
              <a:rect l="l" t="t" r="r" b="b"/>
              <a:pathLst>
                <a:path w="4206240" h="73659">
                  <a:moveTo>
                    <a:pt x="0" y="73151"/>
                  </a:moveTo>
                  <a:lnTo>
                    <a:pt x="4206240" y="73151"/>
                  </a:lnTo>
                  <a:lnTo>
                    <a:pt x="4206240" y="0"/>
                  </a:lnTo>
                  <a:lnTo>
                    <a:pt x="0" y="0"/>
                  </a:lnTo>
                  <a:lnTo>
                    <a:pt x="0" y="73151"/>
                  </a:lnTo>
                  <a:close/>
                </a:path>
              </a:pathLst>
            </a:custGeom>
            <a:ln w="12700">
              <a:solidFill>
                <a:srgbClr val="C8A84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280670" y="1597278"/>
            <a:ext cx="4193540" cy="879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2225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C8A84B"/>
                </a:solidFill>
                <a:latin typeface="Calibri"/>
                <a:cs typeface="Calibri"/>
              </a:rPr>
              <a:t>Rol</a:t>
            </a:r>
            <a:r>
              <a:rPr dirty="0" sz="1200" spc="-30" b="1">
                <a:solidFill>
                  <a:srgbClr val="C8A84B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C8A84B"/>
                </a:solidFill>
                <a:latin typeface="Calibri"/>
                <a:cs typeface="Calibri"/>
              </a:rPr>
              <a:t>crítico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75"/>
              </a:spcBef>
            </a:pPr>
            <a:endParaRPr sz="1200">
              <a:latin typeface="Calibri"/>
              <a:cs typeface="Calibri"/>
            </a:endParaRPr>
          </a:p>
          <a:p>
            <a:pPr marL="222250" marR="663575">
              <a:lnSpc>
                <a:spcPct val="100000"/>
              </a:lnSpc>
              <a:spcBef>
                <a:spcPts val="5"/>
              </a:spcBef>
            </a:pP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La</a:t>
            </a:r>
            <a:r>
              <a:rPr dirty="0" sz="1100" spc="-10">
                <a:solidFill>
                  <a:srgbClr val="FFFFFF"/>
                </a:solidFill>
                <a:latin typeface="Calibri"/>
                <a:cs typeface="Calibri"/>
              </a:rPr>
              <a:t> especificación</a:t>
            </a:r>
            <a:r>
              <a:rPr dirty="0" sz="11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dirty="0" sz="110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requisitos</a:t>
            </a:r>
            <a:r>
              <a:rPr dirty="0" sz="11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como</a:t>
            </a:r>
            <a:r>
              <a:rPr dirty="0" sz="11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base</a:t>
            </a:r>
            <a:r>
              <a:rPr dirty="0" sz="11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dirty="0" sz="110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la</a:t>
            </a:r>
            <a:r>
              <a:rPr dirty="0" sz="1100" spc="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calidad</a:t>
            </a:r>
            <a:r>
              <a:rPr dirty="0" sz="11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25">
                <a:solidFill>
                  <a:srgbClr val="FFFFFF"/>
                </a:solidFill>
                <a:latin typeface="Calibri"/>
                <a:cs typeface="Calibri"/>
              </a:rPr>
              <a:t>del </a:t>
            </a:r>
            <a:r>
              <a:rPr dirty="0" sz="1100" spc="-10">
                <a:solidFill>
                  <a:srgbClr val="FFFFFF"/>
                </a:solidFill>
                <a:latin typeface="Calibri"/>
                <a:cs typeface="Calibri"/>
              </a:rPr>
              <a:t>software.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652771" y="1397508"/>
            <a:ext cx="4367530" cy="1268730"/>
            <a:chOff x="4652771" y="1397508"/>
            <a:chExt cx="4367530" cy="1268730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652771" y="1397508"/>
              <a:ext cx="4367022" cy="126873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4754879" y="1536192"/>
              <a:ext cx="4206240" cy="1035685"/>
            </a:xfrm>
            <a:custGeom>
              <a:avLst/>
              <a:gdLst/>
              <a:ahLst/>
              <a:cxnLst/>
              <a:rect l="l" t="t" r="r" b="b"/>
              <a:pathLst>
                <a:path w="4206240" h="1035685">
                  <a:moveTo>
                    <a:pt x="0" y="1035558"/>
                  </a:moveTo>
                  <a:lnTo>
                    <a:pt x="4206239" y="1035558"/>
                  </a:lnTo>
                  <a:lnTo>
                    <a:pt x="4206239" y="0"/>
                  </a:lnTo>
                  <a:lnTo>
                    <a:pt x="0" y="0"/>
                  </a:lnTo>
                  <a:lnTo>
                    <a:pt x="0" y="1035558"/>
                  </a:lnTo>
                  <a:close/>
                </a:path>
              </a:pathLst>
            </a:custGeom>
            <a:solidFill>
              <a:srgbClr val="1B2A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754879" y="1463040"/>
              <a:ext cx="4206240" cy="1108710"/>
            </a:xfrm>
            <a:custGeom>
              <a:avLst/>
              <a:gdLst/>
              <a:ahLst/>
              <a:cxnLst/>
              <a:rect l="l" t="t" r="r" b="b"/>
              <a:pathLst>
                <a:path w="4206240" h="1108710">
                  <a:moveTo>
                    <a:pt x="0" y="1108710"/>
                  </a:moveTo>
                  <a:lnTo>
                    <a:pt x="4206239" y="1108710"/>
                  </a:lnTo>
                  <a:lnTo>
                    <a:pt x="4206239" y="0"/>
                  </a:lnTo>
                  <a:lnTo>
                    <a:pt x="0" y="0"/>
                  </a:lnTo>
                  <a:lnTo>
                    <a:pt x="0" y="1108710"/>
                  </a:lnTo>
                  <a:close/>
                </a:path>
              </a:pathLst>
            </a:custGeom>
            <a:ln w="12699">
              <a:solidFill>
                <a:srgbClr val="1B2A4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4754879" y="1463040"/>
              <a:ext cx="4206240" cy="73660"/>
            </a:xfrm>
            <a:custGeom>
              <a:avLst/>
              <a:gdLst/>
              <a:ahLst/>
              <a:cxnLst/>
              <a:rect l="l" t="t" r="r" b="b"/>
              <a:pathLst>
                <a:path w="4206240" h="73659">
                  <a:moveTo>
                    <a:pt x="4206239" y="0"/>
                  </a:moveTo>
                  <a:lnTo>
                    <a:pt x="0" y="0"/>
                  </a:lnTo>
                  <a:lnTo>
                    <a:pt x="0" y="73151"/>
                  </a:lnTo>
                  <a:lnTo>
                    <a:pt x="4206239" y="73151"/>
                  </a:lnTo>
                  <a:lnTo>
                    <a:pt x="4206239" y="0"/>
                  </a:lnTo>
                  <a:close/>
                </a:path>
              </a:pathLst>
            </a:custGeom>
            <a:solidFill>
              <a:srgbClr val="C8A84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4754879" y="1463040"/>
              <a:ext cx="4206240" cy="73660"/>
            </a:xfrm>
            <a:custGeom>
              <a:avLst/>
              <a:gdLst/>
              <a:ahLst/>
              <a:cxnLst/>
              <a:rect l="l" t="t" r="r" b="b"/>
              <a:pathLst>
                <a:path w="4206240" h="73659">
                  <a:moveTo>
                    <a:pt x="0" y="73151"/>
                  </a:moveTo>
                  <a:lnTo>
                    <a:pt x="4206239" y="73151"/>
                  </a:lnTo>
                  <a:lnTo>
                    <a:pt x="4206239" y="0"/>
                  </a:lnTo>
                  <a:lnTo>
                    <a:pt x="0" y="0"/>
                  </a:lnTo>
                  <a:lnTo>
                    <a:pt x="0" y="73151"/>
                  </a:lnTo>
                  <a:close/>
                </a:path>
              </a:pathLst>
            </a:custGeom>
            <a:ln w="12700">
              <a:solidFill>
                <a:srgbClr val="C8A84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4761229" y="1597278"/>
            <a:ext cx="4193540" cy="879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22885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C8A84B"/>
                </a:solidFill>
                <a:latin typeface="Calibri"/>
                <a:cs typeface="Calibri"/>
              </a:rPr>
              <a:t>Conexión</a:t>
            </a:r>
            <a:r>
              <a:rPr dirty="0" sz="1200" spc="-20" b="1">
                <a:solidFill>
                  <a:srgbClr val="C8A84B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C8A84B"/>
                </a:solidFill>
                <a:latin typeface="Calibri"/>
                <a:cs typeface="Calibri"/>
              </a:rPr>
              <a:t>con</a:t>
            </a:r>
            <a:r>
              <a:rPr dirty="0" sz="1200" spc="-45" b="1">
                <a:solidFill>
                  <a:srgbClr val="C8A84B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C8A84B"/>
                </a:solidFill>
                <a:latin typeface="Calibri"/>
                <a:cs typeface="Calibri"/>
              </a:rPr>
              <a:t>calidad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75"/>
              </a:spcBef>
            </a:pPr>
            <a:endParaRPr sz="1200">
              <a:latin typeface="Calibri"/>
              <a:cs typeface="Calibri"/>
            </a:endParaRPr>
          </a:p>
          <a:p>
            <a:pPr marL="222885" marR="810895">
              <a:lnSpc>
                <a:spcPct val="100000"/>
              </a:lnSpc>
              <a:spcBef>
                <a:spcPts val="5"/>
              </a:spcBef>
            </a:pP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Requisitos</a:t>
            </a:r>
            <a:r>
              <a:rPr dirty="0" sz="11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bien</a:t>
            </a:r>
            <a:r>
              <a:rPr dirty="0" sz="11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definidos</a:t>
            </a:r>
            <a:r>
              <a:rPr dirty="0" sz="11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reducen</a:t>
            </a:r>
            <a:r>
              <a:rPr dirty="0" sz="11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defectos</a:t>
            </a:r>
            <a:r>
              <a:rPr dirty="0" sz="11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r>
              <a:rPr dirty="0" sz="11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Calibri"/>
                <a:cs typeface="Calibri"/>
              </a:rPr>
              <a:t>retrabajos significativamente.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72212" y="2951962"/>
            <a:ext cx="4367530" cy="1384935"/>
            <a:chOff x="172212" y="2951962"/>
            <a:chExt cx="4367530" cy="1384935"/>
          </a:xfrm>
        </p:grpSpPr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2212" y="2951962"/>
              <a:ext cx="4367022" cy="1384554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274320" y="3090672"/>
              <a:ext cx="4206240" cy="1151255"/>
            </a:xfrm>
            <a:custGeom>
              <a:avLst/>
              <a:gdLst/>
              <a:ahLst/>
              <a:cxnLst/>
              <a:rect l="l" t="t" r="r" b="b"/>
              <a:pathLst>
                <a:path w="4206240" h="1151254">
                  <a:moveTo>
                    <a:pt x="0" y="1150734"/>
                  </a:moveTo>
                  <a:lnTo>
                    <a:pt x="4206240" y="1150734"/>
                  </a:lnTo>
                  <a:lnTo>
                    <a:pt x="4206240" y="0"/>
                  </a:lnTo>
                  <a:lnTo>
                    <a:pt x="0" y="0"/>
                  </a:lnTo>
                  <a:lnTo>
                    <a:pt x="0" y="1150734"/>
                  </a:lnTo>
                  <a:close/>
                </a:path>
              </a:pathLst>
            </a:custGeom>
            <a:solidFill>
              <a:srgbClr val="1B2A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274320" y="3017520"/>
              <a:ext cx="4206240" cy="1224280"/>
            </a:xfrm>
            <a:custGeom>
              <a:avLst/>
              <a:gdLst/>
              <a:ahLst/>
              <a:cxnLst/>
              <a:rect l="l" t="t" r="r" b="b"/>
              <a:pathLst>
                <a:path w="4206240" h="1224279">
                  <a:moveTo>
                    <a:pt x="0" y="1223886"/>
                  </a:moveTo>
                  <a:lnTo>
                    <a:pt x="4206240" y="1223886"/>
                  </a:lnTo>
                  <a:lnTo>
                    <a:pt x="4206240" y="0"/>
                  </a:lnTo>
                  <a:lnTo>
                    <a:pt x="0" y="0"/>
                  </a:lnTo>
                  <a:lnTo>
                    <a:pt x="0" y="1223886"/>
                  </a:lnTo>
                  <a:close/>
                </a:path>
              </a:pathLst>
            </a:custGeom>
            <a:ln w="12700">
              <a:solidFill>
                <a:srgbClr val="1B2A4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274320" y="3017520"/>
              <a:ext cx="4206240" cy="73660"/>
            </a:xfrm>
            <a:custGeom>
              <a:avLst/>
              <a:gdLst/>
              <a:ahLst/>
              <a:cxnLst/>
              <a:rect l="l" t="t" r="r" b="b"/>
              <a:pathLst>
                <a:path w="4206240" h="73660">
                  <a:moveTo>
                    <a:pt x="4206240" y="0"/>
                  </a:moveTo>
                  <a:lnTo>
                    <a:pt x="0" y="0"/>
                  </a:lnTo>
                  <a:lnTo>
                    <a:pt x="0" y="73151"/>
                  </a:lnTo>
                  <a:lnTo>
                    <a:pt x="4206240" y="73151"/>
                  </a:lnTo>
                  <a:lnTo>
                    <a:pt x="4206240" y="0"/>
                  </a:lnTo>
                  <a:close/>
                </a:path>
              </a:pathLst>
            </a:custGeom>
            <a:solidFill>
              <a:srgbClr val="C8A84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274320" y="3017520"/>
              <a:ext cx="4206240" cy="73660"/>
            </a:xfrm>
            <a:custGeom>
              <a:avLst/>
              <a:gdLst/>
              <a:ahLst/>
              <a:cxnLst/>
              <a:rect l="l" t="t" r="r" b="b"/>
              <a:pathLst>
                <a:path w="4206240" h="73660">
                  <a:moveTo>
                    <a:pt x="0" y="73151"/>
                  </a:moveTo>
                  <a:lnTo>
                    <a:pt x="4206240" y="73151"/>
                  </a:lnTo>
                  <a:lnTo>
                    <a:pt x="4206240" y="0"/>
                  </a:lnTo>
                  <a:lnTo>
                    <a:pt x="0" y="0"/>
                  </a:lnTo>
                  <a:lnTo>
                    <a:pt x="0" y="73151"/>
                  </a:lnTo>
                  <a:close/>
                </a:path>
              </a:pathLst>
            </a:custGeom>
            <a:ln w="12700">
              <a:solidFill>
                <a:srgbClr val="C8A84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280670" y="3152013"/>
            <a:ext cx="4193540" cy="7962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2225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C8A84B"/>
                </a:solidFill>
                <a:latin typeface="Calibri"/>
                <a:cs typeface="Calibri"/>
              </a:rPr>
              <a:t>Marco</a:t>
            </a:r>
            <a:r>
              <a:rPr dirty="0" sz="1200" spc="-25" b="1">
                <a:solidFill>
                  <a:srgbClr val="C8A84B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C8A84B"/>
                </a:solidFill>
                <a:latin typeface="Calibri"/>
                <a:cs typeface="Calibri"/>
              </a:rPr>
              <a:t>de</a:t>
            </a:r>
            <a:r>
              <a:rPr dirty="0" sz="1200" spc="-25" b="1">
                <a:solidFill>
                  <a:srgbClr val="C8A84B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C8A84B"/>
                </a:solidFill>
                <a:latin typeface="Calibri"/>
                <a:cs typeface="Calibri"/>
              </a:rPr>
              <a:t>la</a:t>
            </a:r>
            <a:r>
              <a:rPr dirty="0" sz="1200" spc="-20" b="1">
                <a:solidFill>
                  <a:srgbClr val="C8A84B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C8A84B"/>
                </a:solidFill>
                <a:latin typeface="Calibri"/>
                <a:cs typeface="Calibri"/>
              </a:rPr>
              <a:t>unidad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75"/>
              </a:spcBef>
            </a:pPr>
            <a:endParaRPr sz="1200">
              <a:latin typeface="Calibri"/>
              <a:cs typeface="Calibri"/>
            </a:endParaRPr>
          </a:p>
          <a:p>
            <a:pPr marL="222250">
              <a:lnSpc>
                <a:spcPct val="100000"/>
              </a:lnSpc>
            </a:pP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IEEE</a:t>
            </a:r>
            <a:r>
              <a:rPr dirty="0" sz="11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830,</a:t>
            </a:r>
            <a:r>
              <a:rPr dirty="0" sz="11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ISO/IEC</a:t>
            </a:r>
            <a:r>
              <a:rPr dirty="0" sz="110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12207</a:t>
            </a:r>
            <a:r>
              <a:rPr dirty="0" sz="11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r>
              <a:rPr dirty="0" sz="11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modelo</a:t>
            </a:r>
            <a:r>
              <a:rPr dirty="0" sz="11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procedimental</a:t>
            </a:r>
            <a:r>
              <a:rPr dirty="0" sz="1100" spc="-5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dirty="0" sz="11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Calibri"/>
                <a:cs typeface="Calibri"/>
              </a:rPr>
              <a:t>requisitos.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4652771" y="2951962"/>
            <a:ext cx="4367530" cy="1384935"/>
            <a:chOff x="4652771" y="2951962"/>
            <a:chExt cx="4367530" cy="1384935"/>
          </a:xfrm>
        </p:grpSpPr>
        <p:pic>
          <p:nvPicPr>
            <p:cNvPr id="26" name="object 2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52771" y="2951962"/>
              <a:ext cx="4367022" cy="1384554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4754879" y="3090672"/>
              <a:ext cx="4206240" cy="1151255"/>
            </a:xfrm>
            <a:custGeom>
              <a:avLst/>
              <a:gdLst/>
              <a:ahLst/>
              <a:cxnLst/>
              <a:rect l="l" t="t" r="r" b="b"/>
              <a:pathLst>
                <a:path w="4206240" h="1151254">
                  <a:moveTo>
                    <a:pt x="0" y="1150734"/>
                  </a:moveTo>
                  <a:lnTo>
                    <a:pt x="4206239" y="1150734"/>
                  </a:lnTo>
                  <a:lnTo>
                    <a:pt x="4206239" y="0"/>
                  </a:lnTo>
                  <a:lnTo>
                    <a:pt x="0" y="0"/>
                  </a:lnTo>
                  <a:lnTo>
                    <a:pt x="0" y="1150734"/>
                  </a:lnTo>
                  <a:close/>
                </a:path>
              </a:pathLst>
            </a:custGeom>
            <a:solidFill>
              <a:srgbClr val="1B2A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4754879" y="3017520"/>
              <a:ext cx="4206240" cy="1224280"/>
            </a:xfrm>
            <a:custGeom>
              <a:avLst/>
              <a:gdLst/>
              <a:ahLst/>
              <a:cxnLst/>
              <a:rect l="l" t="t" r="r" b="b"/>
              <a:pathLst>
                <a:path w="4206240" h="1224279">
                  <a:moveTo>
                    <a:pt x="0" y="1223886"/>
                  </a:moveTo>
                  <a:lnTo>
                    <a:pt x="4206239" y="1223886"/>
                  </a:lnTo>
                  <a:lnTo>
                    <a:pt x="4206239" y="0"/>
                  </a:lnTo>
                  <a:lnTo>
                    <a:pt x="0" y="0"/>
                  </a:lnTo>
                  <a:lnTo>
                    <a:pt x="0" y="1223886"/>
                  </a:lnTo>
                  <a:close/>
                </a:path>
              </a:pathLst>
            </a:custGeom>
            <a:ln w="12700">
              <a:solidFill>
                <a:srgbClr val="1B2A4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4754879" y="3017520"/>
              <a:ext cx="4206240" cy="73660"/>
            </a:xfrm>
            <a:custGeom>
              <a:avLst/>
              <a:gdLst/>
              <a:ahLst/>
              <a:cxnLst/>
              <a:rect l="l" t="t" r="r" b="b"/>
              <a:pathLst>
                <a:path w="4206240" h="73660">
                  <a:moveTo>
                    <a:pt x="4206239" y="0"/>
                  </a:moveTo>
                  <a:lnTo>
                    <a:pt x="0" y="0"/>
                  </a:lnTo>
                  <a:lnTo>
                    <a:pt x="0" y="73151"/>
                  </a:lnTo>
                  <a:lnTo>
                    <a:pt x="4206239" y="73151"/>
                  </a:lnTo>
                  <a:lnTo>
                    <a:pt x="4206239" y="0"/>
                  </a:lnTo>
                  <a:close/>
                </a:path>
              </a:pathLst>
            </a:custGeom>
            <a:solidFill>
              <a:srgbClr val="C8A84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4754879" y="3017520"/>
              <a:ext cx="4206240" cy="73660"/>
            </a:xfrm>
            <a:custGeom>
              <a:avLst/>
              <a:gdLst/>
              <a:ahLst/>
              <a:cxnLst/>
              <a:rect l="l" t="t" r="r" b="b"/>
              <a:pathLst>
                <a:path w="4206240" h="73660">
                  <a:moveTo>
                    <a:pt x="0" y="73151"/>
                  </a:moveTo>
                  <a:lnTo>
                    <a:pt x="4206239" y="73151"/>
                  </a:lnTo>
                  <a:lnTo>
                    <a:pt x="4206239" y="0"/>
                  </a:lnTo>
                  <a:lnTo>
                    <a:pt x="0" y="0"/>
                  </a:lnTo>
                  <a:lnTo>
                    <a:pt x="0" y="73151"/>
                  </a:lnTo>
                  <a:close/>
                </a:path>
              </a:pathLst>
            </a:custGeom>
            <a:ln w="12700">
              <a:solidFill>
                <a:srgbClr val="C8A84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/>
          <p:cNvSpPr txBox="1"/>
          <p:nvPr/>
        </p:nvSpPr>
        <p:spPr>
          <a:xfrm>
            <a:off x="4761229" y="3152013"/>
            <a:ext cx="4193540" cy="7962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222885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C8A84B"/>
                </a:solidFill>
                <a:latin typeface="Calibri"/>
                <a:cs typeface="Calibri"/>
              </a:rPr>
              <a:t>Enfoque</a:t>
            </a:r>
            <a:r>
              <a:rPr dirty="0" sz="1200" spc="-25" b="1">
                <a:solidFill>
                  <a:srgbClr val="C8A84B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C8A84B"/>
                </a:solidFill>
                <a:latin typeface="Calibri"/>
                <a:cs typeface="Calibri"/>
              </a:rPr>
              <a:t>del</a:t>
            </a:r>
            <a:r>
              <a:rPr dirty="0" sz="1200" spc="-20" b="1">
                <a:solidFill>
                  <a:srgbClr val="C8A84B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C8A84B"/>
                </a:solidFill>
                <a:latin typeface="Calibri"/>
                <a:cs typeface="Calibri"/>
              </a:rPr>
              <a:t>curso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75"/>
              </a:spcBef>
            </a:pPr>
            <a:endParaRPr sz="1200">
              <a:latin typeface="Calibri"/>
              <a:cs typeface="Calibri"/>
            </a:endParaRPr>
          </a:p>
          <a:p>
            <a:pPr marL="222885">
              <a:lnSpc>
                <a:spcPct val="100000"/>
              </a:lnSpc>
            </a:pP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Visión</a:t>
            </a:r>
            <a:r>
              <a:rPr dirty="0" sz="11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integrada</a:t>
            </a:r>
            <a:r>
              <a:rPr dirty="0" sz="11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con</a:t>
            </a:r>
            <a:r>
              <a:rPr dirty="0" sz="11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modelos</a:t>
            </a:r>
            <a:r>
              <a:rPr dirty="0" sz="11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dirty="0" sz="110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mejora</a:t>
            </a:r>
            <a:r>
              <a:rPr dirty="0" sz="11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dirty="0" sz="1100" spc="-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FFFFFF"/>
                </a:solidFill>
                <a:latin typeface="Calibri"/>
                <a:cs typeface="Calibri"/>
              </a:rPr>
              <a:t>procesos</a:t>
            </a:r>
            <a:r>
              <a:rPr dirty="0" sz="11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FFFFFF"/>
                </a:solidFill>
                <a:latin typeface="Calibri"/>
                <a:cs typeface="Calibri"/>
              </a:rPr>
              <a:t>(SPI).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7027" y="99440"/>
            <a:ext cx="3126740" cy="1701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 spc="-10" b="1">
                <a:solidFill>
                  <a:srgbClr val="FFFFFF"/>
                </a:solidFill>
                <a:latin typeface="Calibri"/>
                <a:cs typeface="Calibri"/>
              </a:rPr>
              <a:t>Estándares</a:t>
            </a:r>
            <a:r>
              <a:rPr dirty="0" sz="950" spc="-1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r>
              <a:rPr dirty="0" sz="950" spc="-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FFFFFF"/>
                </a:solidFill>
                <a:latin typeface="Calibri"/>
                <a:cs typeface="Calibri"/>
              </a:rPr>
              <a:t>Métricas</a:t>
            </a:r>
            <a:r>
              <a:rPr dirty="0" sz="950" spc="-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dirty="0" sz="950" spc="-1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FFFFFF"/>
                </a:solidFill>
                <a:latin typeface="Calibri"/>
                <a:cs typeface="Calibri"/>
              </a:rPr>
              <a:t>Calidad</a:t>
            </a:r>
            <a:r>
              <a:rPr dirty="0" sz="950" spc="1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FFFFFF"/>
                </a:solidFill>
                <a:latin typeface="Calibri"/>
                <a:cs typeface="Calibri"/>
              </a:rPr>
              <a:t>en</a:t>
            </a:r>
            <a:r>
              <a:rPr dirty="0" sz="950" spc="-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FFFFFF"/>
                </a:solidFill>
                <a:latin typeface="Calibri"/>
                <a:cs typeface="Calibri"/>
              </a:rPr>
              <a:t>el</a:t>
            </a:r>
            <a:r>
              <a:rPr dirty="0" sz="950" spc="-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FFFFFF"/>
                </a:solidFill>
                <a:latin typeface="Calibri"/>
                <a:cs typeface="Calibri"/>
              </a:rPr>
              <a:t>Desarrollo</a:t>
            </a:r>
            <a:r>
              <a:rPr dirty="0" sz="950" spc="1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dirty="0" sz="950" spc="-1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spc="-10" b="1">
                <a:solidFill>
                  <a:srgbClr val="FFFFFF"/>
                </a:solidFill>
                <a:latin typeface="Calibri"/>
                <a:cs typeface="Calibri"/>
              </a:rPr>
              <a:t>Software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535940" y="640206"/>
            <a:ext cx="8300000" cy="360680"/>
          </a:xfrm>
          <a:prstGeom prst="rect"/>
        </p:spPr>
        <p:txBody>
          <a:bodyPr wrap="square" lIns="0" tIns="77978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/>
              <a:t>IEEE 830 (hoy ISO/IEC/IEEE 29148): especificación de requisitos</a:t>
            </a:r>
            <a:endParaRPr sz="2000"/>
          </a:p>
        </p:txBody>
      </p:sp>
      <p:grpSp>
        <p:nvGrpSpPr>
          <p:cNvPr id="4" name="object 4"/>
          <p:cNvGrpSpPr/>
          <p:nvPr/>
        </p:nvGrpSpPr>
        <p:grpSpPr>
          <a:xfrm>
            <a:off x="359409" y="1456689"/>
            <a:ext cx="67945" cy="515620"/>
            <a:chOff x="359409" y="1456689"/>
            <a:chExt cx="67945" cy="515620"/>
          </a:xfrm>
        </p:grpSpPr>
        <p:sp>
          <p:nvSpPr>
            <p:cNvPr id="5" name="object 5"/>
            <p:cNvSpPr/>
            <p:nvPr/>
          </p:nvSpPr>
          <p:spPr>
            <a:xfrm>
              <a:off x="365759" y="1463039"/>
              <a:ext cx="55244" cy="502920"/>
            </a:xfrm>
            <a:custGeom>
              <a:avLst/>
              <a:gdLst/>
              <a:ahLst/>
              <a:cxnLst/>
              <a:rect l="l" t="t" r="r" b="b"/>
              <a:pathLst>
                <a:path w="55245" h="502919">
                  <a:moveTo>
                    <a:pt x="54864" y="0"/>
                  </a:moveTo>
                  <a:lnTo>
                    <a:pt x="0" y="0"/>
                  </a:lnTo>
                  <a:lnTo>
                    <a:pt x="0" y="502920"/>
                  </a:lnTo>
                  <a:lnTo>
                    <a:pt x="54864" y="502920"/>
                  </a:lnTo>
                  <a:lnTo>
                    <a:pt x="54864" y="0"/>
                  </a:lnTo>
                  <a:close/>
                </a:path>
              </a:pathLst>
            </a:custGeom>
            <a:solidFill>
              <a:srgbClr val="C8A84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365759" y="1463039"/>
              <a:ext cx="55244" cy="502920"/>
            </a:xfrm>
            <a:custGeom>
              <a:avLst/>
              <a:gdLst/>
              <a:ahLst/>
              <a:cxnLst/>
              <a:rect l="l" t="t" r="r" b="b"/>
              <a:pathLst>
                <a:path w="55245" h="502919">
                  <a:moveTo>
                    <a:pt x="0" y="502920"/>
                  </a:moveTo>
                  <a:lnTo>
                    <a:pt x="54864" y="502920"/>
                  </a:lnTo>
                  <a:lnTo>
                    <a:pt x="54864" y="0"/>
                  </a:lnTo>
                  <a:lnTo>
                    <a:pt x="0" y="0"/>
                  </a:lnTo>
                  <a:lnTo>
                    <a:pt x="0" y="502920"/>
                  </a:lnTo>
                  <a:close/>
                </a:path>
              </a:pathLst>
            </a:custGeom>
            <a:ln w="12700">
              <a:solidFill>
                <a:srgbClr val="C8A84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645668" y="1478407"/>
            <a:ext cx="68135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10" b="1">
                <a:solidFill>
                  <a:srgbClr val="1B2A49"/>
                </a:solidFill>
                <a:latin typeface="Calibri"/>
                <a:cs typeface="Calibri"/>
              </a:rPr>
              <a:t>Propósito: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45668" y="1764919"/>
            <a:ext cx="3300729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Estructurar</a:t>
            </a:r>
            <a:r>
              <a:rPr dirty="0" sz="1100" spc="-4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el</a:t>
            </a:r>
            <a:r>
              <a:rPr dirty="0" sz="1100" spc="-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documento</a:t>
            </a:r>
            <a:r>
              <a:rPr dirty="0" sz="1100" spc="-4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de</a:t>
            </a:r>
            <a:r>
              <a:rPr dirty="0" sz="1100" spc="-1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requisitos</a:t>
            </a:r>
            <a:r>
              <a:rPr dirty="0" sz="1100" spc="-3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de</a:t>
            </a:r>
            <a:r>
              <a:rPr dirty="0" sz="1100" spc="-1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software</a:t>
            </a:r>
            <a:r>
              <a:rPr dirty="0" sz="1100" spc="-3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1A1A2D"/>
                </a:solidFill>
                <a:latin typeface="Calibri"/>
                <a:cs typeface="Calibri"/>
              </a:rPr>
              <a:t>(SRS).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59409" y="2233929"/>
            <a:ext cx="67945" cy="515620"/>
            <a:chOff x="359409" y="2233929"/>
            <a:chExt cx="67945" cy="515620"/>
          </a:xfrm>
        </p:grpSpPr>
        <p:sp>
          <p:nvSpPr>
            <p:cNvPr id="10" name="object 10"/>
            <p:cNvSpPr/>
            <p:nvPr/>
          </p:nvSpPr>
          <p:spPr>
            <a:xfrm>
              <a:off x="365759" y="2240279"/>
              <a:ext cx="55244" cy="502920"/>
            </a:xfrm>
            <a:custGeom>
              <a:avLst/>
              <a:gdLst/>
              <a:ahLst/>
              <a:cxnLst/>
              <a:rect l="l" t="t" r="r" b="b"/>
              <a:pathLst>
                <a:path w="55245" h="502919">
                  <a:moveTo>
                    <a:pt x="54864" y="0"/>
                  </a:moveTo>
                  <a:lnTo>
                    <a:pt x="0" y="0"/>
                  </a:lnTo>
                  <a:lnTo>
                    <a:pt x="0" y="502919"/>
                  </a:lnTo>
                  <a:lnTo>
                    <a:pt x="54864" y="502919"/>
                  </a:lnTo>
                  <a:lnTo>
                    <a:pt x="54864" y="0"/>
                  </a:lnTo>
                  <a:close/>
                </a:path>
              </a:pathLst>
            </a:custGeom>
            <a:solidFill>
              <a:srgbClr val="C8A84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365759" y="2240279"/>
              <a:ext cx="55244" cy="502920"/>
            </a:xfrm>
            <a:custGeom>
              <a:avLst/>
              <a:gdLst/>
              <a:ahLst/>
              <a:cxnLst/>
              <a:rect l="l" t="t" r="r" b="b"/>
              <a:pathLst>
                <a:path w="55245" h="502919">
                  <a:moveTo>
                    <a:pt x="0" y="502919"/>
                  </a:moveTo>
                  <a:lnTo>
                    <a:pt x="54864" y="502919"/>
                  </a:lnTo>
                  <a:lnTo>
                    <a:pt x="54864" y="0"/>
                  </a:lnTo>
                  <a:lnTo>
                    <a:pt x="0" y="0"/>
                  </a:lnTo>
                  <a:lnTo>
                    <a:pt x="0" y="502919"/>
                  </a:lnTo>
                  <a:close/>
                </a:path>
              </a:pathLst>
            </a:custGeom>
            <a:ln w="12700">
              <a:solidFill>
                <a:srgbClr val="C8A84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645668" y="2255647"/>
            <a:ext cx="111696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1B2A49"/>
                </a:solidFill>
                <a:latin typeface="Calibri"/>
                <a:cs typeface="Calibri"/>
              </a:rPr>
              <a:t>Contenido</a:t>
            </a:r>
            <a:r>
              <a:rPr dirty="0" sz="1200" spc="-65" b="1">
                <a:solidFill>
                  <a:srgbClr val="1B2A49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1B2A49"/>
                </a:solidFill>
                <a:latin typeface="Calibri"/>
                <a:cs typeface="Calibri"/>
              </a:rPr>
              <a:t>típico: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45668" y="2542413"/>
            <a:ext cx="322262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>
                <a:solidFill>
                  <a:srgbClr val="1A1A2D"/>
                </a:solidFill>
                <a:latin typeface="Calibri"/>
                <a:cs typeface="Calibri"/>
              </a:rPr>
              <a:t>Introducción,</a:t>
            </a:r>
            <a:r>
              <a:rPr dirty="0" sz="1100" spc="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1A1A2D"/>
                </a:solidFill>
                <a:latin typeface="Calibri"/>
                <a:cs typeface="Calibri"/>
              </a:rPr>
              <a:t>descripción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general,</a:t>
            </a:r>
            <a:r>
              <a:rPr dirty="0" sz="1100" spc="3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requisitos</a:t>
            </a:r>
            <a:r>
              <a:rPr dirty="0" sz="1100" spc="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1A1A2D"/>
                </a:solidFill>
                <a:latin typeface="Calibri"/>
                <a:cs typeface="Calibri"/>
              </a:rPr>
              <a:t>específicos.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59409" y="3011170"/>
            <a:ext cx="67945" cy="515620"/>
            <a:chOff x="359409" y="3011170"/>
            <a:chExt cx="67945" cy="515620"/>
          </a:xfrm>
        </p:grpSpPr>
        <p:sp>
          <p:nvSpPr>
            <p:cNvPr id="15" name="object 15"/>
            <p:cNvSpPr/>
            <p:nvPr/>
          </p:nvSpPr>
          <p:spPr>
            <a:xfrm>
              <a:off x="365759" y="3017520"/>
              <a:ext cx="55244" cy="502920"/>
            </a:xfrm>
            <a:custGeom>
              <a:avLst/>
              <a:gdLst/>
              <a:ahLst/>
              <a:cxnLst/>
              <a:rect l="l" t="t" r="r" b="b"/>
              <a:pathLst>
                <a:path w="55245" h="502920">
                  <a:moveTo>
                    <a:pt x="54864" y="0"/>
                  </a:moveTo>
                  <a:lnTo>
                    <a:pt x="0" y="0"/>
                  </a:lnTo>
                  <a:lnTo>
                    <a:pt x="0" y="502920"/>
                  </a:lnTo>
                  <a:lnTo>
                    <a:pt x="54864" y="502920"/>
                  </a:lnTo>
                  <a:lnTo>
                    <a:pt x="54864" y="0"/>
                  </a:lnTo>
                  <a:close/>
                </a:path>
              </a:pathLst>
            </a:custGeom>
            <a:solidFill>
              <a:srgbClr val="C8A84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365759" y="3017520"/>
              <a:ext cx="55244" cy="502920"/>
            </a:xfrm>
            <a:custGeom>
              <a:avLst/>
              <a:gdLst/>
              <a:ahLst/>
              <a:cxnLst/>
              <a:rect l="l" t="t" r="r" b="b"/>
              <a:pathLst>
                <a:path w="55245" h="502920">
                  <a:moveTo>
                    <a:pt x="0" y="502920"/>
                  </a:moveTo>
                  <a:lnTo>
                    <a:pt x="54864" y="502920"/>
                  </a:lnTo>
                  <a:lnTo>
                    <a:pt x="54864" y="0"/>
                  </a:lnTo>
                  <a:lnTo>
                    <a:pt x="0" y="0"/>
                  </a:lnTo>
                  <a:lnTo>
                    <a:pt x="0" y="502920"/>
                  </a:lnTo>
                  <a:close/>
                </a:path>
              </a:pathLst>
            </a:custGeom>
            <a:ln w="12700">
              <a:solidFill>
                <a:srgbClr val="C8A84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645668" y="3033141"/>
            <a:ext cx="2729865" cy="4806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1B2A49"/>
                </a:solidFill>
                <a:latin typeface="Calibri"/>
                <a:cs typeface="Calibri"/>
              </a:rPr>
              <a:t>Enfoque</a:t>
            </a:r>
            <a:r>
              <a:rPr dirty="0" sz="1200" spc="-35" b="1">
                <a:solidFill>
                  <a:srgbClr val="1B2A49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B2A49"/>
                </a:solidFill>
                <a:latin typeface="Calibri"/>
                <a:cs typeface="Calibri"/>
              </a:rPr>
              <a:t>en</a:t>
            </a:r>
            <a:r>
              <a:rPr dirty="0" sz="1200" spc="-20" b="1">
                <a:solidFill>
                  <a:srgbClr val="1B2A49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1B2A49"/>
                </a:solidFill>
                <a:latin typeface="Calibri"/>
                <a:cs typeface="Calibri"/>
              </a:rPr>
              <a:t>claridad: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20"/>
              </a:spcBef>
            </a:pP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Requisitos</a:t>
            </a:r>
            <a:r>
              <a:rPr dirty="0" sz="1100" spc="-6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verificables,</a:t>
            </a:r>
            <a:r>
              <a:rPr dirty="0" sz="1100" spc="-3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consistentes</a:t>
            </a:r>
            <a:r>
              <a:rPr dirty="0" sz="1100" spc="-5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y</a:t>
            </a:r>
            <a:r>
              <a:rPr dirty="0" sz="1100" spc="-1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1A1A2D"/>
                </a:solidFill>
                <a:latin typeface="Calibri"/>
                <a:cs typeface="Calibri"/>
              </a:rPr>
              <a:t>trazables.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359409" y="3788409"/>
            <a:ext cx="67945" cy="515620"/>
            <a:chOff x="359409" y="3788409"/>
            <a:chExt cx="67945" cy="515620"/>
          </a:xfrm>
        </p:grpSpPr>
        <p:sp>
          <p:nvSpPr>
            <p:cNvPr id="19" name="object 19"/>
            <p:cNvSpPr/>
            <p:nvPr/>
          </p:nvSpPr>
          <p:spPr>
            <a:xfrm>
              <a:off x="365759" y="3794759"/>
              <a:ext cx="55244" cy="502920"/>
            </a:xfrm>
            <a:custGeom>
              <a:avLst/>
              <a:gdLst/>
              <a:ahLst/>
              <a:cxnLst/>
              <a:rect l="l" t="t" r="r" b="b"/>
              <a:pathLst>
                <a:path w="55245" h="502920">
                  <a:moveTo>
                    <a:pt x="54864" y="0"/>
                  </a:moveTo>
                  <a:lnTo>
                    <a:pt x="0" y="0"/>
                  </a:lnTo>
                  <a:lnTo>
                    <a:pt x="0" y="502919"/>
                  </a:lnTo>
                  <a:lnTo>
                    <a:pt x="54864" y="502919"/>
                  </a:lnTo>
                  <a:lnTo>
                    <a:pt x="54864" y="0"/>
                  </a:lnTo>
                  <a:close/>
                </a:path>
              </a:pathLst>
            </a:custGeom>
            <a:solidFill>
              <a:srgbClr val="C8A84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365759" y="3794759"/>
              <a:ext cx="55244" cy="502920"/>
            </a:xfrm>
            <a:custGeom>
              <a:avLst/>
              <a:gdLst/>
              <a:ahLst/>
              <a:cxnLst/>
              <a:rect l="l" t="t" r="r" b="b"/>
              <a:pathLst>
                <a:path w="55245" h="502920">
                  <a:moveTo>
                    <a:pt x="0" y="502919"/>
                  </a:moveTo>
                  <a:lnTo>
                    <a:pt x="54864" y="502919"/>
                  </a:lnTo>
                  <a:lnTo>
                    <a:pt x="54864" y="0"/>
                  </a:lnTo>
                  <a:lnTo>
                    <a:pt x="0" y="0"/>
                  </a:lnTo>
                  <a:lnTo>
                    <a:pt x="0" y="502919"/>
                  </a:lnTo>
                  <a:close/>
                </a:path>
              </a:pathLst>
            </a:custGeom>
            <a:ln w="12700">
              <a:solidFill>
                <a:srgbClr val="C8A84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645668" y="3810711"/>
            <a:ext cx="2395855" cy="4806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b="1">
                <a:solidFill>
                  <a:srgbClr val="1B2A49"/>
                </a:solidFill>
                <a:latin typeface="Calibri"/>
                <a:cs typeface="Calibri"/>
              </a:rPr>
              <a:t>Uso</a:t>
            </a:r>
            <a:r>
              <a:rPr dirty="0" sz="1200" spc="-15" b="1">
                <a:solidFill>
                  <a:srgbClr val="1B2A49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B2A49"/>
                </a:solidFill>
                <a:latin typeface="Calibri"/>
                <a:cs typeface="Calibri"/>
              </a:rPr>
              <a:t>en</a:t>
            </a:r>
            <a:r>
              <a:rPr dirty="0" sz="1200" spc="-5" b="1">
                <a:solidFill>
                  <a:srgbClr val="1B2A49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B2A49"/>
                </a:solidFill>
                <a:latin typeface="Calibri"/>
                <a:cs typeface="Calibri"/>
              </a:rPr>
              <a:t>la</a:t>
            </a:r>
            <a:r>
              <a:rPr dirty="0" sz="1200" spc="-20" b="1">
                <a:solidFill>
                  <a:srgbClr val="1B2A49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1B2A49"/>
                </a:solidFill>
                <a:latin typeface="Calibri"/>
                <a:cs typeface="Calibri"/>
              </a:rPr>
              <a:t>práctica: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20"/>
              </a:spcBef>
            </a:pP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Base</a:t>
            </a:r>
            <a:r>
              <a:rPr dirty="0" sz="1100" spc="-1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para</a:t>
            </a:r>
            <a:r>
              <a:rPr dirty="0" sz="1100" spc="-1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contratos</a:t>
            </a:r>
            <a:r>
              <a:rPr dirty="0" sz="1100" spc="-5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y control</a:t>
            </a:r>
            <a:r>
              <a:rPr dirty="0" sz="1100" spc="-5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de</a:t>
            </a:r>
            <a:r>
              <a:rPr dirty="0" sz="1100" spc="-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1A1A2D"/>
                </a:solidFill>
                <a:latin typeface="Calibri"/>
                <a:cs typeface="Calibri"/>
              </a:rPr>
              <a:t>cambios.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5806440" y="1335011"/>
            <a:ext cx="3093085" cy="3413125"/>
            <a:chOff x="5806440" y="1335011"/>
            <a:chExt cx="3093085" cy="3413125"/>
          </a:xfrm>
        </p:grpSpPr>
        <p:pic>
          <p:nvPicPr>
            <p:cNvPr id="23" name="object 2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806440" y="1335011"/>
              <a:ext cx="3092958" cy="3412998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5943600" y="1417320"/>
              <a:ext cx="2880360" cy="3200400"/>
            </a:xfrm>
            <a:custGeom>
              <a:avLst/>
              <a:gdLst/>
              <a:ahLst/>
              <a:cxnLst/>
              <a:rect l="l" t="t" r="r" b="b"/>
              <a:pathLst>
                <a:path w="2880359" h="3200400">
                  <a:moveTo>
                    <a:pt x="2880359" y="0"/>
                  </a:moveTo>
                  <a:lnTo>
                    <a:pt x="0" y="0"/>
                  </a:lnTo>
                  <a:lnTo>
                    <a:pt x="0" y="3200399"/>
                  </a:lnTo>
                  <a:lnTo>
                    <a:pt x="2880359" y="3200399"/>
                  </a:lnTo>
                  <a:lnTo>
                    <a:pt x="2880359" y="0"/>
                  </a:lnTo>
                  <a:close/>
                </a:path>
              </a:pathLst>
            </a:custGeom>
            <a:solidFill>
              <a:srgbClr val="1B2A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5943600" y="1417320"/>
              <a:ext cx="2880360" cy="3200400"/>
            </a:xfrm>
            <a:custGeom>
              <a:avLst/>
              <a:gdLst/>
              <a:ahLst/>
              <a:cxnLst/>
              <a:rect l="l" t="t" r="r" b="b"/>
              <a:pathLst>
                <a:path w="2880359" h="3200400">
                  <a:moveTo>
                    <a:pt x="0" y="3200399"/>
                  </a:moveTo>
                  <a:lnTo>
                    <a:pt x="2880359" y="3200399"/>
                  </a:lnTo>
                  <a:lnTo>
                    <a:pt x="2880359" y="0"/>
                  </a:lnTo>
                  <a:lnTo>
                    <a:pt x="0" y="0"/>
                  </a:lnTo>
                  <a:lnTo>
                    <a:pt x="0" y="3200399"/>
                  </a:lnTo>
                  <a:close/>
                </a:path>
              </a:pathLst>
            </a:custGeom>
            <a:ln w="12700">
              <a:solidFill>
                <a:srgbClr val="1B2A4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6309360" y="2532888"/>
              <a:ext cx="2194560" cy="0"/>
            </a:xfrm>
            <a:custGeom>
              <a:avLst/>
              <a:gdLst/>
              <a:ahLst/>
              <a:cxnLst/>
              <a:rect l="l" t="t" r="r" b="b"/>
              <a:pathLst>
                <a:path w="2194559" h="0">
                  <a:moveTo>
                    <a:pt x="0" y="0"/>
                  </a:moveTo>
                  <a:lnTo>
                    <a:pt x="2194560" y="0"/>
                  </a:lnTo>
                </a:path>
              </a:pathLst>
            </a:custGeom>
            <a:ln w="12700">
              <a:solidFill>
                <a:srgbClr val="C8A84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5937250" y="1424713"/>
            <a:ext cx="2893060" cy="2849880"/>
          </a:xfrm>
          <a:prstGeom prst="rect">
            <a:avLst/>
          </a:prstGeom>
        </p:spPr>
        <p:txBody>
          <a:bodyPr wrap="square" lIns="0" tIns="189865" rIns="0" bIns="0" rtlCol="0" vert="horz">
            <a:spAutoFit/>
          </a:bodyPr>
          <a:lstStyle/>
          <a:p>
            <a:pPr algn="ctr" marL="46355">
              <a:lnSpc>
                <a:spcPct val="100000"/>
              </a:lnSpc>
              <a:spcBef>
                <a:spcPts val="1495"/>
              </a:spcBef>
            </a:pPr>
            <a:r>
              <a:rPr dirty="0" sz="2000" b="1">
                <a:solidFill>
                  <a:srgbClr val="C8A84B"/>
                </a:solidFill>
                <a:latin typeface="Calibri"/>
                <a:cs typeface="Calibri"/>
              </a:rPr>
              <a:t>IEEE</a:t>
            </a:r>
            <a:r>
              <a:rPr dirty="0" sz="2000" spc="-10" b="1">
                <a:solidFill>
                  <a:srgbClr val="C8A84B"/>
                </a:solidFill>
                <a:latin typeface="Calibri"/>
                <a:cs typeface="Calibri"/>
              </a:rPr>
              <a:t> </a:t>
            </a:r>
            <a:r>
              <a:rPr dirty="0" sz="2000" spc="-25" b="1">
                <a:solidFill>
                  <a:srgbClr val="C8A84B"/>
                </a:solidFill>
                <a:latin typeface="Calibri"/>
                <a:cs typeface="Calibri"/>
              </a:rPr>
              <a:t>830</a:t>
            </a:r>
            <a:endParaRPr sz="2000">
              <a:latin typeface="Calibri"/>
              <a:cs typeface="Calibri"/>
            </a:endParaRPr>
          </a:p>
          <a:p>
            <a:pPr algn="ctr" marL="749935" marR="696595">
              <a:lnSpc>
                <a:spcPct val="100000"/>
              </a:lnSpc>
              <a:spcBef>
                <a:spcPts val="840"/>
              </a:spcBef>
            </a:pPr>
            <a:r>
              <a:rPr dirty="0" sz="1200" i="1">
                <a:solidFill>
                  <a:srgbClr val="FFFFFF"/>
                </a:solidFill>
                <a:latin typeface="Calibri"/>
                <a:cs typeface="Calibri"/>
              </a:rPr>
              <a:t>Software</a:t>
            </a:r>
            <a:r>
              <a:rPr dirty="0" sz="1200" spc="-50" i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200" spc="-10" i="1">
                <a:solidFill>
                  <a:srgbClr val="FFFFFF"/>
                </a:solidFill>
                <a:latin typeface="Calibri"/>
                <a:cs typeface="Calibri"/>
              </a:rPr>
              <a:t>Requirements</a:t>
            </a:r>
            <a:r>
              <a:rPr dirty="0" sz="1200" spc="-10" i="1">
                <a:solidFill>
                  <a:srgbClr val="FFFFFF"/>
                </a:solidFill>
                <a:latin typeface="Calibri"/>
                <a:cs typeface="Calibri"/>
              </a:rPr>
              <a:t> Specification</a:t>
            </a:r>
            <a:endParaRPr sz="12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85"/>
              </a:spcBef>
            </a:pPr>
            <a:endParaRPr sz="1200">
              <a:latin typeface="Calibri"/>
              <a:cs typeface="Calibri"/>
            </a:endParaRPr>
          </a:p>
          <a:p>
            <a:pPr marL="1157605" indent="-167005">
              <a:lnSpc>
                <a:spcPct val="100000"/>
              </a:lnSpc>
              <a:buFont typeface="Segoe UI Symbol"/>
              <a:buChar char="✓"/>
              <a:tabLst>
                <a:tab pos="1157605" algn="l"/>
              </a:tabLst>
            </a:pPr>
            <a:r>
              <a:rPr dirty="0" sz="1100" spc="-10">
                <a:solidFill>
                  <a:srgbClr val="FFFFFF"/>
                </a:solidFill>
                <a:latin typeface="Calibri"/>
                <a:cs typeface="Calibri"/>
              </a:rPr>
              <a:t>Comprensible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5"/>
              </a:spcBef>
              <a:buClr>
                <a:srgbClr val="FFFFFF"/>
              </a:buClr>
              <a:buFont typeface="Segoe UI Symbol"/>
              <a:buChar char="✓"/>
            </a:pPr>
            <a:endParaRPr sz="1100">
              <a:latin typeface="Calibri"/>
              <a:cs typeface="Calibri"/>
            </a:endParaRPr>
          </a:p>
          <a:p>
            <a:pPr lvl="1" marL="1249045" indent="-167005">
              <a:lnSpc>
                <a:spcPct val="100000"/>
              </a:lnSpc>
              <a:buFont typeface="Segoe UI Symbol"/>
              <a:buChar char="✓"/>
              <a:tabLst>
                <a:tab pos="1249045" algn="l"/>
              </a:tabLst>
            </a:pPr>
            <a:r>
              <a:rPr dirty="0" sz="1100" spc="-10">
                <a:solidFill>
                  <a:srgbClr val="FFFFFF"/>
                </a:solidFill>
                <a:latin typeface="Calibri"/>
                <a:cs typeface="Calibri"/>
              </a:rPr>
              <a:t>Verificable</a:t>
            </a:r>
            <a:endParaRPr sz="11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75"/>
              </a:spcBef>
              <a:buClr>
                <a:srgbClr val="FFFFFF"/>
              </a:buClr>
              <a:buFont typeface="Segoe UI Symbol"/>
              <a:buChar char="✓"/>
            </a:pPr>
            <a:endParaRPr sz="1100">
              <a:latin typeface="Calibri"/>
              <a:cs typeface="Calibri"/>
            </a:endParaRPr>
          </a:p>
          <a:p>
            <a:pPr lvl="1" marL="1217295" indent="-167005">
              <a:lnSpc>
                <a:spcPct val="100000"/>
              </a:lnSpc>
              <a:buFont typeface="Segoe UI Symbol"/>
              <a:buChar char="✓"/>
              <a:tabLst>
                <a:tab pos="1217295" algn="l"/>
              </a:tabLst>
            </a:pPr>
            <a:r>
              <a:rPr dirty="0" sz="1100" spc="-10">
                <a:solidFill>
                  <a:srgbClr val="FFFFFF"/>
                </a:solidFill>
                <a:latin typeface="Calibri"/>
                <a:cs typeface="Calibri"/>
              </a:rPr>
              <a:t>Consistente</a:t>
            </a:r>
            <a:endParaRPr sz="11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75"/>
              </a:spcBef>
              <a:buClr>
                <a:srgbClr val="FFFFFF"/>
              </a:buClr>
              <a:buFont typeface="Segoe UI Symbol"/>
              <a:buChar char="✓"/>
            </a:pPr>
            <a:endParaRPr sz="1100">
              <a:latin typeface="Calibri"/>
              <a:cs typeface="Calibri"/>
            </a:endParaRPr>
          </a:p>
          <a:p>
            <a:pPr lvl="2" marL="1311910" indent="-167005">
              <a:lnSpc>
                <a:spcPct val="100000"/>
              </a:lnSpc>
              <a:buFont typeface="Segoe UI Symbol"/>
              <a:buChar char="✓"/>
              <a:tabLst>
                <a:tab pos="1311910" algn="l"/>
              </a:tabLst>
            </a:pPr>
            <a:r>
              <a:rPr dirty="0" sz="1100" spc="-10">
                <a:solidFill>
                  <a:srgbClr val="FFFFFF"/>
                </a:solidFill>
                <a:latin typeface="Calibri"/>
                <a:cs typeface="Calibri"/>
              </a:rPr>
              <a:t>Trazable</a:t>
            </a:r>
            <a:endParaRPr sz="1100">
              <a:latin typeface="Calibri"/>
              <a:cs typeface="Calibri"/>
            </a:endParaRPr>
          </a:p>
          <a:p>
            <a:pPr lvl="2">
              <a:lnSpc>
                <a:spcPct val="100000"/>
              </a:lnSpc>
              <a:spcBef>
                <a:spcPts val="70"/>
              </a:spcBef>
              <a:buClr>
                <a:srgbClr val="FFFFFF"/>
              </a:buClr>
              <a:buFont typeface="Segoe UI Symbol"/>
              <a:buChar char="✓"/>
            </a:pPr>
            <a:endParaRPr sz="1100">
              <a:latin typeface="Calibri"/>
              <a:cs typeface="Calibri"/>
            </a:endParaRPr>
          </a:p>
          <a:p>
            <a:pPr lvl="1" marL="1214120" indent="-167005">
              <a:lnSpc>
                <a:spcPct val="100000"/>
              </a:lnSpc>
              <a:spcBef>
                <a:spcPts val="5"/>
              </a:spcBef>
              <a:buFont typeface="Segoe UI Symbol"/>
              <a:buChar char="✓"/>
              <a:tabLst>
                <a:tab pos="1214120" algn="l"/>
              </a:tabLst>
            </a:pPr>
            <a:r>
              <a:rPr dirty="0" sz="1100" spc="-10">
                <a:solidFill>
                  <a:srgbClr val="FFFFFF"/>
                </a:solidFill>
                <a:latin typeface="Calibri"/>
                <a:cs typeface="Calibri"/>
              </a:rPr>
              <a:t>Modificable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7027" y="99440"/>
            <a:ext cx="3126740" cy="1701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 spc="-10" b="1">
                <a:solidFill>
                  <a:srgbClr val="FFFFFF"/>
                </a:solidFill>
                <a:latin typeface="Calibri"/>
                <a:cs typeface="Calibri"/>
              </a:rPr>
              <a:t>Estándares</a:t>
            </a:r>
            <a:r>
              <a:rPr dirty="0" sz="950" spc="-1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r>
              <a:rPr dirty="0" sz="950" spc="-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FFFFFF"/>
                </a:solidFill>
                <a:latin typeface="Calibri"/>
                <a:cs typeface="Calibri"/>
              </a:rPr>
              <a:t>Métricas</a:t>
            </a:r>
            <a:r>
              <a:rPr dirty="0" sz="950" spc="-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dirty="0" sz="950" spc="-1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FFFFFF"/>
                </a:solidFill>
                <a:latin typeface="Calibri"/>
                <a:cs typeface="Calibri"/>
              </a:rPr>
              <a:t>Calidad</a:t>
            </a:r>
            <a:r>
              <a:rPr dirty="0" sz="950" spc="1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FFFFFF"/>
                </a:solidFill>
                <a:latin typeface="Calibri"/>
                <a:cs typeface="Calibri"/>
              </a:rPr>
              <a:t>en</a:t>
            </a:r>
            <a:r>
              <a:rPr dirty="0" sz="950" spc="-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FFFFFF"/>
                </a:solidFill>
                <a:latin typeface="Calibri"/>
                <a:cs typeface="Calibri"/>
              </a:rPr>
              <a:t>el</a:t>
            </a:r>
            <a:r>
              <a:rPr dirty="0" sz="950" spc="-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FFFFFF"/>
                </a:solidFill>
                <a:latin typeface="Calibri"/>
                <a:cs typeface="Calibri"/>
              </a:rPr>
              <a:t>Desarrollo</a:t>
            </a:r>
            <a:r>
              <a:rPr dirty="0" sz="950" spc="1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dirty="0" sz="950" spc="-1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spc="-10" b="1">
                <a:solidFill>
                  <a:srgbClr val="FFFFFF"/>
                </a:solidFill>
                <a:latin typeface="Calibri"/>
                <a:cs typeface="Calibri"/>
              </a:rPr>
              <a:t>Software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/>
              <a:t>Norma</a:t>
            </a:r>
            <a:r>
              <a:rPr dirty="0" sz="2000" spc="-35"/>
              <a:t> </a:t>
            </a:r>
            <a:r>
              <a:rPr dirty="0" sz="2000"/>
              <a:t>ISO/IEC/IEEE 12207</a:t>
            </a:r>
            <a:r>
              <a:rPr dirty="0" sz="2000" spc="-55"/>
              <a:t> </a:t>
            </a:r>
            <a:r>
              <a:rPr dirty="0" sz="2000"/>
              <a:t>y</a:t>
            </a:r>
            <a:r>
              <a:rPr dirty="0" sz="2000" spc="-15"/>
              <a:t> </a:t>
            </a:r>
            <a:r>
              <a:rPr dirty="0" sz="2000"/>
              <a:t>la</a:t>
            </a:r>
            <a:r>
              <a:rPr dirty="0" sz="2000" spc="-35"/>
              <a:t> </a:t>
            </a:r>
            <a:r>
              <a:rPr dirty="0" sz="2000"/>
              <a:t>calidad</a:t>
            </a:r>
            <a:r>
              <a:rPr dirty="0" sz="2000" spc="-35"/>
              <a:t> </a:t>
            </a:r>
            <a:r>
              <a:rPr dirty="0" sz="2000"/>
              <a:t>del</a:t>
            </a:r>
            <a:r>
              <a:rPr dirty="0" sz="2000" spc="-20"/>
              <a:t> </a:t>
            </a:r>
            <a:r>
              <a:rPr dirty="0" sz="2000" spc="-10"/>
              <a:t>software</a:t>
            </a:r>
            <a:endParaRPr sz="2000"/>
          </a:p>
        </p:txBody>
      </p:sp>
      <p:grpSp>
        <p:nvGrpSpPr>
          <p:cNvPr id="4" name="object 4"/>
          <p:cNvGrpSpPr/>
          <p:nvPr/>
        </p:nvGrpSpPr>
        <p:grpSpPr>
          <a:xfrm>
            <a:off x="267970" y="1136650"/>
            <a:ext cx="1521460" cy="1018540"/>
            <a:chOff x="267970" y="1136650"/>
            <a:chExt cx="1521460" cy="1018540"/>
          </a:xfrm>
        </p:grpSpPr>
        <p:sp>
          <p:nvSpPr>
            <p:cNvPr id="5" name="object 5"/>
            <p:cNvSpPr/>
            <p:nvPr/>
          </p:nvSpPr>
          <p:spPr>
            <a:xfrm>
              <a:off x="274320" y="1143000"/>
              <a:ext cx="1508760" cy="1005840"/>
            </a:xfrm>
            <a:custGeom>
              <a:avLst/>
              <a:gdLst/>
              <a:ahLst/>
              <a:cxnLst/>
              <a:rect l="l" t="t" r="r" b="b"/>
              <a:pathLst>
                <a:path w="1508760" h="1005839">
                  <a:moveTo>
                    <a:pt x="1508760" y="0"/>
                  </a:moveTo>
                  <a:lnTo>
                    <a:pt x="0" y="0"/>
                  </a:lnTo>
                  <a:lnTo>
                    <a:pt x="0" y="1005839"/>
                  </a:lnTo>
                  <a:lnTo>
                    <a:pt x="1508760" y="1005839"/>
                  </a:lnTo>
                  <a:lnTo>
                    <a:pt x="1508760" y="0"/>
                  </a:lnTo>
                  <a:close/>
                </a:path>
              </a:pathLst>
            </a:custGeom>
            <a:solidFill>
              <a:srgbClr val="1B396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274320" y="1143000"/>
              <a:ext cx="1508760" cy="1005840"/>
            </a:xfrm>
            <a:custGeom>
              <a:avLst/>
              <a:gdLst/>
              <a:ahLst/>
              <a:cxnLst/>
              <a:rect l="l" t="t" r="r" b="b"/>
              <a:pathLst>
                <a:path w="1508760" h="1005839">
                  <a:moveTo>
                    <a:pt x="0" y="1005839"/>
                  </a:moveTo>
                  <a:lnTo>
                    <a:pt x="1508760" y="1005839"/>
                  </a:lnTo>
                  <a:lnTo>
                    <a:pt x="1508760" y="0"/>
                  </a:lnTo>
                  <a:lnTo>
                    <a:pt x="0" y="0"/>
                  </a:lnTo>
                  <a:lnTo>
                    <a:pt x="0" y="1005839"/>
                  </a:lnTo>
                  <a:close/>
                </a:path>
              </a:pathLst>
            </a:custGeom>
            <a:ln w="12700">
              <a:solidFill>
                <a:srgbClr val="1B396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671880" y="1473835"/>
            <a:ext cx="711835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36195">
              <a:lnSpc>
                <a:spcPct val="100000"/>
              </a:lnSpc>
              <a:spcBef>
                <a:spcPts val="95"/>
              </a:spcBef>
            </a:pPr>
            <a:r>
              <a:rPr dirty="0" sz="1000" spc="-10" b="1">
                <a:solidFill>
                  <a:srgbClr val="FFFFFF"/>
                </a:solidFill>
                <a:latin typeface="Calibri"/>
                <a:cs typeface="Calibri"/>
              </a:rPr>
              <a:t>Adquisición </a:t>
            </a:r>
            <a:r>
              <a:rPr dirty="0" sz="1000" b="1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dirty="0" sz="1000" spc="-10" b="1">
                <a:solidFill>
                  <a:srgbClr val="FFFFFF"/>
                </a:solidFill>
                <a:latin typeface="Calibri"/>
                <a:cs typeface="Calibri"/>
              </a:rPr>
              <a:t> Suministro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776729" y="1136650"/>
            <a:ext cx="1750060" cy="1018540"/>
            <a:chOff x="1776729" y="1136650"/>
            <a:chExt cx="1750060" cy="1018540"/>
          </a:xfrm>
        </p:grpSpPr>
        <p:sp>
          <p:nvSpPr>
            <p:cNvPr id="9" name="object 9"/>
            <p:cNvSpPr/>
            <p:nvPr/>
          </p:nvSpPr>
          <p:spPr>
            <a:xfrm>
              <a:off x="1783079" y="1536191"/>
              <a:ext cx="228600" cy="137160"/>
            </a:xfrm>
            <a:custGeom>
              <a:avLst/>
              <a:gdLst/>
              <a:ahLst/>
              <a:cxnLst/>
              <a:rect l="l" t="t" r="r" b="b"/>
              <a:pathLst>
                <a:path w="228600" h="137160">
                  <a:moveTo>
                    <a:pt x="228600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228600" y="13716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C8A84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783079" y="1536191"/>
              <a:ext cx="228600" cy="137160"/>
            </a:xfrm>
            <a:custGeom>
              <a:avLst/>
              <a:gdLst/>
              <a:ahLst/>
              <a:cxnLst/>
              <a:rect l="l" t="t" r="r" b="b"/>
              <a:pathLst>
                <a:path w="228600" h="137160">
                  <a:moveTo>
                    <a:pt x="0" y="137160"/>
                  </a:moveTo>
                  <a:lnTo>
                    <a:pt x="228600" y="13716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137160"/>
                  </a:lnTo>
                  <a:close/>
                </a:path>
              </a:pathLst>
            </a:custGeom>
            <a:ln w="12700">
              <a:solidFill>
                <a:srgbClr val="C8A84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2011679" y="1143000"/>
              <a:ext cx="1508760" cy="1005840"/>
            </a:xfrm>
            <a:custGeom>
              <a:avLst/>
              <a:gdLst/>
              <a:ahLst/>
              <a:cxnLst/>
              <a:rect l="l" t="t" r="r" b="b"/>
              <a:pathLst>
                <a:path w="1508760" h="1005839">
                  <a:moveTo>
                    <a:pt x="1508759" y="0"/>
                  </a:moveTo>
                  <a:lnTo>
                    <a:pt x="0" y="0"/>
                  </a:lnTo>
                  <a:lnTo>
                    <a:pt x="0" y="1005839"/>
                  </a:lnTo>
                  <a:lnTo>
                    <a:pt x="1508759" y="1005839"/>
                  </a:lnTo>
                  <a:lnTo>
                    <a:pt x="1508759" y="0"/>
                  </a:lnTo>
                  <a:close/>
                </a:path>
              </a:pathLst>
            </a:custGeom>
            <a:solidFill>
              <a:srgbClr val="1F4E7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2011679" y="1143000"/>
              <a:ext cx="1508760" cy="1005840"/>
            </a:xfrm>
            <a:custGeom>
              <a:avLst/>
              <a:gdLst/>
              <a:ahLst/>
              <a:cxnLst/>
              <a:rect l="l" t="t" r="r" b="b"/>
              <a:pathLst>
                <a:path w="1508760" h="1005839">
                  <a:moveTo>
                    <a:pt x="0" y="1005839"/>
                  </a:moveTo>
                  <a:lnTo>
                    <a:pt x="1508759" y="1005839"/>
                  </a:lnTo>
                  <a:lnTo>
                    <a:pt x="1508759" y="0"/>
                  </a:lnTo>
                  <a:lnTo>
                    <a:pt x="0" y="0"/>
                  </a:lnTo>
                  <a:lnTo>
                    <a:pt x="0" y="1005839"/>
                  </a:lnTo>
                  <a:close/>
                </a:path>
              </a:pathLst>
            </a:custGeom>
            <a:ln w="12700">
              <a:solidFill>
                <a:srgbClr val="1F4E7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2481198" y="1550035"/>
            <a:ext cx="57023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0" b="1">
                <a:solidFill>
                  <a:srgbClr val="FFFFFF"/>
                </a:solidFill>
                <a:latin typeface="Calibri"/>
                <a:cs typeface="Calibri"/>
              </a:rPr>
              <a:t>Desarrollo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514090" y="1136650"/>
            <a:ext cx="1750060" cy="1018540"/>
            <a:chOff x="3514090" y="1136650"/>
            <a:chExt cx="1750060" cy="1018540"/>
          </a:xfrm>
        </p:grpSpPr>
        <p:sp>
          <p:nvSpPr>
            <p:cNvPr id="15" name="object 15"/>
            <p:cNvSpPr/>
            <p:nvPr/>
          </p:nvSpPr>
          <p:spPr>
            <a:xfrm>
              <a:off x="3520440" y="1536191"/>
              <a:ext cx="228600" cy="137160"/>
            </a:xfrm>
            <a:custGeom>
              <a:avLst/>
              <a:gdLst/>
              <a:ahLst/>
              <a:cxnLst/>
              <a:rect l="l" t="t" r="r" b="b"/>
              <a:pathLst>
                <a:path w="228600" h="137160">
                  <a:moveTo>
                    <a:pt x="228600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228600" y="13716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C8A84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3520440" y="1536191"/>
              <a:ext cx="228600" cy="137160"/>
            </a:xfrm>
            <a:custGeom>
              <a:avLst/>
              <a:gdLst/>
              <a:ahLst/>
              <a:cxnLst/>
              <a:rect l="l" t="t" r="r" b="b"/>
              <a:pathLst>
                <a:path w="228600" h="137160">
                  <a:moveTo>
                    <a:pt x="0" y="137160"/>
                  </a:moveTo>
                  <a:lnTo>
                    <a:pt x="228600" y="13716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137160"/>
                  </a:lnTo>
                  <a:close/>
                </a:path>
              </a:pathLst>
            </a:custGeom>
            <a:ln w="12700">
              <a:solidFill>
                <a:srgbClr val="C8A84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3749040" y="1143000"/>
              <a:ext cx="1508760" cy="1005840"/>
            </a:xfrm>
            <a:custGeom>
              <a:avLst/>
              <a:gdLst/>
              <a:ahLst/>
              <a:cxnLst/>
              <a:rect l="l" t="t" r="r" b="b"/>
              <a:pathLst>
                <a:path w="1508760" h="1005839">
                  <a:moveTo>
                    <a:pt x="1508760" y="0"/>
                  </a:moveTo>
                  <a:lnTo>
                    <a:pt x="0" y="0"/>
                  </a:lnTo>
                  <a:lnTo>
                    <a:pt x="0" y="1005839"/>
                  </a:lnTo>
                  <a:lnTo>
                    <a:pt x="1508760" y="1005839"/>
                  </a:lnTo>
                  <a:lnTo>
                    <a:pt x="1508760" y="0"/>
                  </a:lnTo>
                  <a:close/>
                </a:path>
              </a:pathLst>
            </a:custGeom>
            <a:solidFill>
              <a:srgbClr val="0D6B8E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3749040" y="1143000"/>
              <a:ext cx="1508760" cy="1005840"/>
            </a:xfrm>
            <a:custGeom>
              <a:avLst/>
              <a:gdLst/>
              <a:ahLst/>
              <a:cxnLst/>
              <a:rect l="l" t="t" r="r" b="b"/>
              <a:pathLst>
                <a:path w="1508760" h="1005839">
                  <a:moveTo>
                    <a:pt x="0" y="1005839"/>
                  </a:moveTo>
                  <a:lnTo>
                    <a:pt x="1508760" y="1005839"/>
                  </a:lnTo>
                  <a:lnTo>
                    <a:pt x="1508760" y="0"/>
                  </a:lnTo>
                  <a:lnTo>
                    <a:pt x="0" y="0"/>
                  </a:lnTo>
                  <a:lnTo>
                    <a:pt x="0" y="1005839"/>
                  </a:lnTo>
                  <a:close/>
                </a:path>
              </a:pathLst>
            </a:custGeom>
            <a:ln w="12700">
              <a:solidFill>
                <a:srgbClr val="0D6B8E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4217289" y="1550035"/>
            <a:ext cx="57150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0" b="1">
                <a:solidFill>
                  <a:srgbClr val="FFFFFF"/>
                </a:solidFill>
                <a:latin typeface="Calibri"/>
                <a:cs typeface="Calibri"/>
              </a:rPr>
              <a:t>Operación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5251450" y="1136650"/>
            <a:ext cx="1750060" cy="1018540"/>
            <a:chOff x="5251450" y="1136650"/>
            <a:chExt cx="1750060" cy="1018540"/>
          </a:xfrm>
        </p:grpSpPr>
        <p:sp>
          <p:nvSpPr>
            <p:cNvPr id="21" name="object 21"/>
            <p:cNvSpPr/>
            <p:nvPr/>
          </p:nvSpPr>
          <p:spPr>
            <a:xfrm>
              <a:off x="5257800" y="1536191"/>
              <a:ext cx="228600" cy="137160"/>
            </a:xfrm>
            <a:custGeom>
              <a:avLst/>
              <a:gdLst/>
              <a:ahLst/>
              <a:cxnLst/>
              <a:rect l="l" t="t" r="r" b="b"/>
              <a:pathLst>
                <a:path w="228600" h="137160">
                  <a:moveTo>
                    <a:pt x="228600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228600" y="13716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C8A84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5257800" y="1536191"/>
              <a:ext cx="228600" cy="137160"/>
            </a:xfrm>
            <a:custGeom>
              <a:avLst/>
              <a:gdLst/>
              <a:ahLst/>
              <a:cxnLst/>
              <a:rect l="l" t="t" r="r" b="b"/>
              <a:pathLst>
                <a:path w="228600" h="137160">
                  <a:moveTo>
                    <a:pt x="0" y="137160"/>
                  </a:moveTo>
                  <a:lnTo>
                    <a:pt x="228600" y="13716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137160"/>
                  </a:lnTo>
                  <a:close/>
                </a:path>
              </a:pathLst>
            </a:custGeom>
            <a:ln w="12700">
              <a:solidFill>
                <a:srgbClr val="C8A84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5486400" y="1143000"/>
              <a:ext cx="1508760" cy="1005840"/>
            </a:xfrm>
            <a:custGeom>
              <a:avLst/>
              <a:gdLst/>
              <a:ahLst/>
              <a:cxnLst/>
              <a:rect l="l" t="t" r="r" b="b"/>
              <a:pathLst>
                <a:path w="1508759" h="1005839">
                  <a:moveTo>
                    <a:pt x="1508759" y="0"/>
                  </a:moveTo>
                  <a:lnTo>
                    <a:pt x="0" y="0"/>
                  </a:lnTo>
                  <a:lnTo>
                    <a:pt x="0" y="1005839"/>
                  </a:lnTo>
                  <a:lnTo>
                    <a:pt x="1508759" y="1005839"/>
                  </a:lnTo>
                  <a:lnTo>
                    <a:pt x="1508759" y="0"/>
                  </a:lnTo>
                  <a:close/>
                </a:path>
              </a:pathLst>
            </a:custGeom>
            <a:solidFill>
              <a:srgbClr val="01809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5486400" y="1143000"/>
              <a:ext cx="1508760" cy="1005840"/>
            </a:xfrm>
            <a:custGeom>
              <a:avLst/>
              <a:gdLst/>
              <a:ahLst/>
              <a:cxnLst/>
              <a:rect l="l" t="t" r="r" b="b"/>
              <a:pathLst>
                <a:path w="1508759" h="1005839">
                  <a:moveTo>
                    <a:pt x="0" y="1005839"/>
                  </a:moveTo>
                  <a:lnTo>
                    <a:pt x="1508759" y="1005839"/>
                  </a:lnTo>
                  <a:lnTo>
                    <a:pt x="1508759" y="0"/>
                  </a:lnTo>
                  <a:lnTo>
                    <a:pt x="0" y="0"/>
                  </a:lnTo>
                  <a:lnTo>
                    <a:pt x="0" y="1005839"/>
                  </a:lnTo>
                  <a:close/>
                </a:path>
              </a:pathLst>
            </a:custGeom>
            <a:ln w="12700">
              <a:solidFill>
                <a:srgbClr val="01809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5814440" y="1550035"/>
            <a:ext cx="854710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10" b="1">
                <a:solidFill>
                  <a:srgbClr val="FFFFFF"/>
                </a:solidFill>
                <a:latin typeface="Calibri"/>
                <a:cs typeface="Calibri"/>
              </a:rPr>
              <a:t>Mantenimiento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6988809" y="1529841"/>
            <a:ext cx="241300" cy="149860"/>
            <a:chOff x="6988809" y="1529841"/>
            <a:chExt cx="241300" cy="149860"/>
          </a:xfrm>
        </p:grpSpPr>
        <p:sp>
          <p:nvSpPr>
            <p:cNvPr id="27" name="object 27"/>
            <p:cNvSpPr/>
            <p:nvPr/>
          </p:nvSpPr>
          <p:spPr>
            <a:xfrm>
              <a:off x="6995159" y="1536191"/>
              <a:ext cx="228600" cy="137160"/>
            </a:xfrm>
            <a:custGeom>
              <a:avLst/>
              <a:gdLst/>
              <a:ahLst/>
              <a:cxnLst/>
              <a:rect l="l" t="t" r="r" b="b"/>
              <a:pathLst>
                <a:path w="228600" h="137160">
                  <a:moveTo>
                    <a:pt x="228600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228600" y="13716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C8A84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6995159" y="1536191"/>
              <a:ext cx="228600" cy="137160"/>
            </a:xfrm>
            <a:custGeom>
              <a:avLst/>
              <a:gdLst/>
              <a:ahLst/>
              <a:cxnLst/>
              <a:rect l="l" t="t" r="r" b="b"/>
              <a:pathLst>
                <a:path w="228600" h="137160">
                  <a:moveTo>
                    <a:pt x="0" y="137160"/>
                  </a:moveTo>
                  <a:lnTo>
                    <a:pt x="228600" y="13716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137160"/>
                  </a:lnTo>
                  <a:close/>
                </a:path>
              </a:pathLst>
            </a:custGeom>
            <a:ln w="12700">
              <a:solidFill>
                <a:srgbClr val="C8A84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 txBox="1"/>
          <p:nvPr/>
        </p:nvSpPr>
        <p:spPr>
          <a:xfrm>
            <a:off x="7223759" y="1143000"/>
            <a:ext cx="1508760" cy="1005840"/>
          </a:xfrm>
          <a:prstGeom prst="rect">
            <a:avLst/>
          </a:prstGeom>
          <a:solidFill>
            <a:srgbClr val="C8A84B"/>
          </a:solidFill>
          <a:ln w="12700">
            <a:solidFill>
              <a:srgbClr val="C8A84B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00"/>
              </a:spcBef>
            </a:pPr>
            <a:endParaRPr sz="1000">
              <a:latin typeface="Times New Roman"/>
              <a:cs typeface="Times New Roman"/>
            </a:endParaRPr>
          </a:p>
          <a:p>
            <a:pPr marL="444500" marR="435609" indent="55880">
              <a:lnSpc>
                <a:spcPct val="100000"/>
              </a:lnSpc>
            </a:pPr>
            <a:r>
              <a:rPr dirty="0" sz="1000" b="1">
                <a:solidFill>
                  <a:srgbClr val="1B2A49"/>
                </a:solidFill>
                <a:latin typeface="Calibri"/>
                <a:cs typeface="Calibri"/>
              </a:rPr>
              <a:t>Calidad</a:t>
            </a:r>
            <a:r>
              <a:rPr dirty="0" sz="1000" spc="-25" b="1">
                <a:solidFill>
                  <a:srgbClr val="1B2A49"/>
                </a:solidFill>
                <a:latin typeface="Calibri"/>
                <a:cs typeface="Calibri"/>
              </a:rPr>
              <a:t> </a:t>
            </a:r>
            <a:r>
              <a:rPr dirty="0" sz="1000" spc="-50" b="1">
                <a:solidFill>
                  <a:srgbClr val="1B2A49"/>
                </a:solidFill>
                <a:latin typeface="Calibri"/>
                <a:cs typeface="Calibri"/>
              </a:rPr>
              <a:t>&amp;</a:t>
            </a:r>
            <a:r>
              <a:rPr dirty="0" sz="1000" spc="-10" b="1">
                <a:solidFill>
                  <a:srgbClr val="1B2A49"/>
                </a:solidFill>
                <a:latin typeface="Calibri"/>
                <a:cs typeface="Calibri"/>
              </a:rPr>
              <a:t> Verificación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359409" y="2216810"/>
            <a:ext cx="67945" cy="424180"/>
            <a:chOff x="359409" y="2416810"/>
            <a:chExt cx="67945" cy="424180"/>
          </a:xfrm>
        </p:grpSpPr>
        <p:sp>
          <p:nvSpPr>
            <p:cNvPr id="31" name="object 31"/>
            <p:cNvSpPr/>
            <p:nvPr/>
          </p:nvSpPr>
          <p:spPr>
            <a:xfrm>
              <a:off x="365759" y="2423160"/>
              <a:ext cx="55244" cy="411480"/>
            </a:xfrm>
            <a:custGeom>
              <a:avLst/>
              <a:gdLst/>
              <a:ahLst/>
              <a:cxnLst/>
              <a:rect l="l" t="t" r="r" b="b"/>
              <a:pathLst>
                <a:path w="55245" h="411480">
                  <a:moveTo>
                    <a:pt x="54864" y="0"/>
                  </a:moveTo>
                  <a:lnTo>
                    <a:pt x="0" y="0"/>
                  </a:lnTo>
                  <a:lnTo>
                    <a:pt x="0" y="411480"/>
                  </a:lnTo>
                  <a:lnTo>
                    <a:pt x="54864" y="411480"/>
                  </a:lnTo>
                  <a:lnTo>
                    <a:pt x="54864" y="0"/>
                  </a:lnTo>
                  <a:close/>
                </a:path>
              </a:pathLst>
            </a:custGeom>
            <a:solidFill>
              <a:srgbClr val="C8A84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365759" y="2423160"/>
              <a:ext cx="55244" cy="411480"/>
            </a:xfrm>
            <a:custGeom>
              <a:avLst/>
              <a:gdLst/>
              <a:ahLst/>
              <a:cxnLst/>
              <a:rect l="l" t="t" r="r" b="b"/>
              <a:pathLst>
                <a:path w="55245" h="411480">
                  <a:moveTo>
                    <a:pt x="0" y="411480"/>
                  </a:moveTo>
                  <a:lnTo>
                    <a:pt x="54864" y="411480"/>
                  </a:lnTo>
                  <a:lnTo>
                    <a:pt x="54864" y="0"/>
                  </a:lnTo>
                  <a:lnTo>
                    <a:pt x="0" y="0"/>
                  </a:lnTo>
                  <a:lnTo>
                    <a:pt x="0" y="411480"/>
                  </a:lnTo>
                  <a:close/>
                </a:path>
              </a:pathLst>
            </a:custGeom>
            <a:ln w="12700">
              <a:solidFill>
                <a:srgbClr val="C8A84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3" name="object 33"/>
          <p:cNvGrpSpPr/>
          <p:nvPr/>
        </p:nvGrpSpPr>
        <p:grpSpPr>
          <a:xfrm>
            <a:off x="359409" y="2785177"/>
            <a:ext cx="67945" cy="424180"/>
            <a:chOff x="359409" y="3075177"/>
            <a:chExt cx="67945" cy="424180"/>
          </a:xfrm>
        </p:grpSpPr>
        <p:sp>
          <p:nvSpPr>
            <p:cNvPr id="34" name="object 34"/>
            <p:cNvSpPr/>
            <p:nvPr/>
          </p:nvSpPr>
          <p:spPr>
            <a:xfrm>
              <a:off x="365759" y="3081527"/>
              <a:ext cx="55244" cy="411480"/>
            </a:xfrm>
            <a:custGeom>
              <a:avLst/>
              <a:gdLst/>
              <a:ahLst/>
              <a:cxnLst/>
              <a:rect l="l" t="t" r="r" b="b"/>
              <a:pathLst>
                <a:path w="55245" h="411479">
                  <a:moveTo>
                    <a:pt x="54864" y="0"/>
                  </a:moveTo>
                  <a:lnTo>
                    <a:pt x="0" y="0"/>
                  </a:lnTo>
                  <a:lnTo>
                    <a:pt x="0" y="411480"/>
                  </a:lnTo>
                  <a:lnTo>
                    <a:pt x="54864" y="411480"/>
                  </a:lnTo>
                  <a:lnTo>
                    <a:pt x="54864" y="0"/>
                  </a:lnTo>
                  <a:close/>
                </a:path>
              </a:pathLst>
            </a:custGeom>
            <a:solidFill>
              <a:srgbClr val="C8A84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365759" y="3081527"/>
              <a:ext cx="55244" cy="411480"/>
            </a:xfrm>
            <a:custGeom>
              <a:avLst/>
              <a:gdLst/>
              <a:ahLst/>
              <a:cxnLst/>
              <a:rect l="l" t="t" r="r" b="b"/>
              <a:pathLst>
                <a:path w="55245" h="411479">
                  <a:moveTo>
                    <a:pt x="0" y="411480"/>
                  </a:moveTo>
                  <a:lnTo>
                    <a:pt x="54864" y="411480"/>
                  </a:lnTo>
                  <a:lnTo>
                    <a:pt x="54864" y="0"/>
                  </a:lnTo>
                  <a:lnTo>
                    <a:pt x="0" y="0"/>
                  </a:lnTo>
                  <a:lnTo>
                    <a:pt x="0" y="411480"/>
                  </a:lnTo>
                  <a:close/>
                </a:path>
              </a:pathLst>
            </a:custGeom>
            <a:ln w="12700">
              <a:solidFill>
                <a:srgbClr val="C8A84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6" name="object 36"/>
          <p:cNvGrpSpPr/>
          <p:nvPr/>
        </p:nvGrpSpPr>
        <p:grpSpPr>
          <a:xfrm>
            <a:off x="359409" y="3353546"/>
            <a:ext cx="67945" cy="424180"/>
            <a:chOff x="359409" y="3733546"/>
            <a:chExt cx="67945" cy="424180"/>
          </a:xfrm>
        </p:grpSpPr>
        <p:sp>
          <p:nvSpPr>
            <p:cNvPr id="37" name="object 37"/>
            <p:cNvSpPr/>
            <p:nvPr/>
          </p:nvSpPr>
          <p:spPr>
            <a:xfrm>
              <a:off x="365759" y="3739896"/>
              <a:ext cx="55244" cy="411480"/>
            </a:xfrm>
            <a:custGeom>
              <a:avLst/>
              <a:gdLst/>
              <a:ahLst/>
              <a:cxnLst/>
              <a:rect l="l" t="t" r="r" b="b"/>
              <a:pathLst>
                <a:path w="55245" h="411479">
                  <a:moveTo>
                    <a:pt x="54864" y="0"/>
                  </a:moveTo>
                  <a:lnTo>
                    <a:pt x="0" y="0"/>
                  </a:lnTo>
                  <a:lnTo>
                    <a:pt x="0" y="411479"/>
                  </a:lnTo>
                  <a:lnTo>
                    <a:pt x="54864" y="411479"/>
                  </a:lnTo>
                  <a:lnTo>
                    <a:pt x="54864" y="0"/>
                  </a:lnTo>
                  <a:close/>
                </a:path>
              </a:pathLst>
            </a:custGeom>
            <a:solidFill>
              <a:srgbClr val="C8A84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365759" y="3739896"/>
              <a:ext cx="55244" cy="411480"/>
            </a:xfrm>
            <a:custGeom>
              <a:avLst/>
              <a:gdLst/>
              <a:ahLst/>
              <a:cxnLst/>
              <a:rect l="l" t="t" r="r" b="b"/>
              <a:pathLst>
                <a:path w="55245" h="411479">
                  <a:moveTo>
                    <a:pt x="0" y="411479"/>
                  </a:moveTo>
                  <a:lnTo>
                    <a:pt x="54864" y="411479"/>
                  </a:lnTo>
                  <a:lnTo>
                    <a:pt x="54864" y="0"/>
                  </a:lnTo>
                  <a:lnTo>
                    <a:pt x="0" y="0"/>
                  </a:lnTo>
                  <a:lnTo>
                    <a:pt x="0" y="411479"/>
                  </a:lnTo>
                  <a:close/>
                </a:path>
              </a:pathLst>
            </a:custGeom>
            <a:ln w="12700">
              <a:solidFill>
                <a:srgbClr val="C8A84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9" name="object 39"/>
          <p:cNvGrpSpPr/>
          <p:nvPr/>
        </p:nvGrpSpPr>
        <p:grpSpPr>
          <a:xfrm>
            <a:off x="359409" y="3921914"/>
            <a:ext cx="67945" cy="424180"/>
            <a:chOff x="359409" y="4391914"/>
            <a:chExt cx="67945" cy="424180"/>
          </a:xfrm>
        </p:grpSpPr>
        <p:sp>
          <p:nvSpPr>
            <p:cNvPr id="40" name="object 40"/>
            <p:cNvSpPr/>
            <p:nvPr/>
          </p:nvSpPr>
          <p:spPr>
            <a:xfrm>
              <a:off x="365759" y="4398264"/>
              <a:ext cx="55244" cy="411480"/>
            </a:xfrm>
            <a:custGeom>
              <a:avLst/>
              <a:gdLst/>
              <a:ahLst/>
              <a:cxnLst/>
              <a:rect l="l" t="t" r="r" b="b"/>
              <a:pathLst>
                <a:path w="55245" h="411479">
                  <a:moveTo>
                    <a:pt x="54864" y="0"/>
                  </a:moveTo>
                  <a:lnTo>
                    <a:pt x="0" y="0"/>
                  </a:lnTo>
                  <a:lnTo>
                    <a:pt x="0" y="411480"/>
                  </a:lnTo>
                  <a:lnTo>
                    <a:pt x="54864" y="411480"/>
                  </a:lnTo>
                  <a:lnTo>
                    <a:pt x="54864" y="0"/>
                  </a:lnTo>
                  <a:close/>
                </a:path>
              </a:pathLst>
            </a:custGeom>
            <a:solidFill>
              <a:srgbClr val="C8A84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365759" y="4398264"/>
              <a:ext cx="55244" cy="411480"/>
            </a:xfrm>
            <a:custGeom>
              <a:avLst/>
              <a:gdLst/>
              <a:ahLst/>
              <a:cxnLst/>
              <a:rect l="l" t="t" r="r" b="b"/>
              <a:pathLst>
                <a:path w="55245" h="411479">
                  <a:moveTo>
                    <a:pt x="0" y="411480"/>
                  </a:moveTo>
                  <a:lnTo>
                    <a:pt x="54864" y="411480"/>
                  </a:lnTo>
                  <a:lnTo>
                    <a:pt x="54864" y="0"/>
                  </a:lnTo>
                  <a:lnTo>
                    <a:pt x="0" y="0"/>
                  </a:lnTo>
                  <a:lnTo>
                    <a:pt x="0" y="411480"/>
                  </a:lnTo>
                  <a:close/>
                </a:path>
              </a:pathLst>
            </a:custGeom>
            <a:ln w="12700">
              <a:solidFill>
                <a:srgbClr val="C8A84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2" name="object 42"/>
          <p:cNvSpPr txBox="1"/>
          <p:nvPr/>
        </p:nvSpPr>
        <p:spPr>
          <a:xfrm>
            <a:off x="645668" y="2151670"/>
            <a:ext cx="3721735" cy="2483485"/>
          </a:xfrm>
          <a:prstGeom prst="rect">
            <a:avLst/>
          </a:prstGeom>
        </p:spPr>
        <p:txBody>
          <a:bodyPr wrap="square" lIns="0" tIns="812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dirty="0" sz="1200" b="1">
                <a:solidFill>
                  <a:srgbClr val="1B2A49"/>
                </a:solidFill>
                <a:latin typeface="Calibri"/>
                <a:cs typeface="Calibri"/>
              </a:rPr>
              <a:t>Objeto</a:t>
            </a:r>
            <a:r>
              <a:rPr dirty="0" sz="1200" spc="-20" b="1">
                <a:solidFill>
                  <a:srgbClr val="1B2A49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B2A49"/>
                </a:solidFill>
                <a:latin typeface="Calibri"/>
                <a:cs typeface="Calibri"/>
              </a:rPr>
              <a:t>de</a:t>
            </a:r>
            <a:r>
              <a:rPr dirty="0" sz="1200" spc="-15" b="1">
                <a:solidFill>
                  <a:srgbClr val="1B2A49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B2A49"/>
                </a:solidFill>
                <a:latin typeface="Calibri"/>
                <a:cs typeface="Calibri"/>
              </a:rPr>
              <a:t>la</a:t>
            </a:r>
            <a:r>
              <a:rPr dirty="0" sz="1200" spc="-20" b="1">
                <a:solidFill>
                  <a:srgbClr val="1B2A49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1B2A49"/>
                </a:solidFill>
                <a:latin typeface="Calibri"/>
                <a:cs typeface="Calibri"/>
              </a:rPr>
              <a:t>norma: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Definir</a:t>
            </a:r>
            <a:r>
              <a:rPr dirty="0" sz="1100" spc="-2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procesos</a:t>
            </a:r>
            <a:r>
              <a:rPr dirty="0" sz="1100" spc="-5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del</a:t>
            </a:r>
            <a:r>
              <a:rPr dirty="0" sz="1100" spc="-1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ciclo</a:t>
            </a:r>
            <a:r>
              <a:rPr dirty="0" sz="1100" spc="-3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de</a:t>
            </a:r>
            <a:r>
              <a:rPr dirty="0" sz="1100" spc="-1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vida</a:t>
            </a:r>
            <a:r>
              <a:rPr dirty="0" sz="1100" spc="-1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del</a:t>
            </a:r>
            <a:r>
              <a:rPr dirty="0" sz="1100" spc="-2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1A1A2D"/>
                </a:solidFill>
                <a:latin typeface="Calibri"/>
                <a:cs typeface="Calibri"/>
              </a:rPr>
              <a:t>software.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b="1">
                <a:solidFill>
                  <a:srgbClr val="1B2A49"/>
                </a:solidFill>
                <a:latin typeface="Calibri"/>
                <a:cs typeface="Calibri"/>
              </a:rPr>
              <a:t>Relación</a:t>
            </a:r>
            <a:r>
              <a:rPr dirty="0" sz="1200" spc="-35" b="1">
                <a:solidFill>
                  <a:srgbClr val="1B2A49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B2A49"/>
                </a:solidFill>
                <a:latin typeface="Calibri"/>
                <a:cs typeface="Calibri"/>
              </a:rPr>
              <a:t>con</a:t>
            </a:r>
            <a:r>
              <a:rPr dirty="0" sz="1200" spc="-35" b="1">
                <a:solidFill>
                  <a:srgbClr val="1B2A49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1B2A49"/>
                </a:solidFill>
                <a:latin typeface="Calibri"/>
                <a:cs typeface="Calibri"/>
              </a:rPr>
              <a:t>calidad: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Procesos</a:t>
            </a:r>
            <a:r>
              <a:rPr dirty="0" sz="1100" spc="-5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de</a:t>
            </a:r>
            <a:r>
              <a:rPr dirty="0" sz="1100" spc="-1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verificación,</a:t>
            </a:r>
            <a:r>
              <a:rPr dirty="0" sz="1100" spc="-5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validación</a:t>
            </a:r>
            <a:r>
              <a:rPr dirty="0" sz="1100" spc="-5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y</a:t>
            </a:r>
            <a:r>
              <a:rPr dirty="0" sz="1100" spc="-1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aseguramiento</a:t>
            </a:r>
            <a:r>
              <a:rPr dirty="0" sz="1100" spc="-5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de</a:t>
            </a:r>
            <a:r>
              <a:rPr dirty="0" sz="1100" spc="-2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1A1A2D"/>
                </a:solidFill>
                <a:latin typeface="Calibri"/>
                <a:cs typeface="Calibri"/>
              </a:rPr>
              <a:t>calidad.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b="1">
                <a:solidFill>
                  <a:srgbClr val="1B2A49"/>
                </a:solidFill>
                <a:latin typeface="Calibri"/>
                <a:cs typeface="Calibri"/>
              </a:rPr>
              <a:t>Visión</a:t>
            </a:r>
            <a:r>
              <a:rPr dirty="0" sz="1200" spc="-15" b="1">
                <a:solidFill>
                  <a:srgbClr val="1B2A49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B2A49"/>
                </a:solidFill>
                <a:latin typeface="Calibri"/>
                <a:cs typeface="Calibri"/>
              </a:rPr>
              <a:t>de</a:t>
            </a:r>
            <a:r>
              <a:rPr dirty="0" sz="1200" spc="-25" b="1">
                <a:solidFill>
                  <a:srgbClr val="1B2A49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B2A49"/>
                </a:solidFill>
                <a:latin typeface="Calibri"/>
                <a:cs typeface="Calibri"/>
              </a:rPr>
              <a:t>sistema</a:t>
            </a:r>
            <a:r>
              <a:rPr dirty="0" sz="1200" spc="-35" b="1">
                <a:solidFill>
                  <a:srgbClr val="1B2A49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B2A49"/>
                </a:solidFill>
                <a:latin typeface="Calibri"/>
                <a:cs typeface="Calibri"/>
              </a:rPr>
              <a:t>de</a:t>
            </a:r>
            <a:r>
              <a:rPr dirty="0" sz="1200" spc="-25" b="1">
                <a:solidFill>
                  <a:srgbClr val="1B2A49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1B2A49"/>
                </a:solidFill>
                <a:latin typeface="Calibri"/>
                <a:cs typeface="Calibri"/>
              </a:rPr>
              <a:t>gestión: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</a:pP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Similar</a:t>
            </a:r>
            <a:r>
              <a:rPr dirty="0" sz="1100" spc="-3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a</a:t>
            </a:r>
            <a:r>
              <a:rPr dirty="0" sz="1100" spc="-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ISO</a:t>
            </a:r>
            <a:r>
              <a:rPr dirty="0" sz="1100" spc="-2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9001</a:t>
            </a:r>
            <a:r>
              <a:rPr dirty="0" sz="1100" spc="-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pero</a:t>
            </a:r>
            <a:r>
              <a:rPr dirty="0" sz="1100" spc="-2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orientada</a:t>
            </a:r>
            <a:r>
              <a:rPr dirty="0" sz="1100" spc="-3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a</a:t>
            </a:r>
            <a:r>
              <a:rPr dirty="0" sz="1100" spc="-10">
                <a:solidFill>
                  <a:srgbClr val="1A1A2D"/>
                </a:solidFill>
                <a:latin typeface="Calibri"/>
                <a:cs typeface="Calibri"/>
              </a:rPr>
              <a:t> software.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5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spc="-10" b="1">
                <a:solidFill>
                  <a:srgbClr val="1B2A49"/>
                </a:solidFill>
                <a:latin typeface="Calibri"/>
                <a:cs typeface="Calibri"/>
              </a:rPr>
              <a:t>Complementa</a:t>
            </a:r>
            <a:r>
              <a:rPr dirty="0" sz="1200" b="1">
                <a:solidFill>
                  <a:srgbClr val="1B2A49"/>
                </a:solidFill>
                <a:latin typeface="Calibri"/>
                <a:cs typeface="Calibri"/>
              </a:rPr>
              <a:t> IEEE</a:t>
            </a:r>
            <a:r>
              <a:rPr dirty="0" sz="1200" spc="10" b="1">
                <a:solidFill>
                  <a:srgbClr val="1B2A49"/>
                </a:solidFill>
                <a:latin typeface="Calibri"/>
                <a:cs typeface="Calibri"/>
              </a:rPr>
              <a:t> </a:t>
            </a:r>
            <a:r>
              <a:rPr dirty="0" sz="1200" spc="-20" b="1">
                <a:solidFill>
                  <a:srgbClr val="1B2A49"/>
                </a:solidFill>
                <a:latin typeface="Calibri"/>
                <a:cs typeface="Calibri"/>
              </a:rPr>
              <a:t>830: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Define </a:t>
            </a:r>
            <a:r>
              <a:rPr dirty="0" sz="1100" spc="-10">
                <a:solidFill>
                  <a:srgbClr val="1A1A2D"/>
                </a:solidFill>
                <a:latin typeface="Calibri"/>
                <a:cs typeface="Calibri"/>
              </a:rPr>
              <a:t>actividades</a:t>
            </a:r>
            <a:r>
              <a:rPr dirty="0" sz="1100" spc="-4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de</a:t>
            </a:r>
            <a:r>
              <a:rPr dirty="0" sz="1100" spc="1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análisis,</a:t>
            </a:r>
            <a:r>
              <a:rPr dirty="0" sz="1100" spc="-2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diseño,</a:t>
            </a:r>
            <a:r>
              <a:rPr dirty="0" sz="1100" spc="-1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construcción</a:t>
            </a:r>
            <a:r>
              <a:rPr dirty="0" sz="1100" spc="-3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e </a:t>
            </a:r>
            <a:r>
              <a:rPr dirty="0" sz="1100" spc="-10">
                <a:solidFill>
                  <a:srgbClr val="1A1A2D"/>
                </a:solidFill>
                <a:latin typeface="Calibri"/>
                <a:cs typeface="Calibri"/>
              </a:rPr>
              <a:t>integración.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7027" y="99440"/>
            <a:ext cx="3126740" cy="1701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 spc="-10" b="1">
                <a:solidFill>
                  <a:srgbClr val="FFFFFF"/>
                </a:solidFill>
                <a:latin typeface="Calibri"/>
                <a:cs typeface="Calibri"/>
              </a:rPr>
              <a:t>Estándares</a:t>
            </a:r>
            <a:r>
              <a:rPr dirty="0" sz="950" spc="-1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r>
              <a:rPr dirty="0" sz="950" spc="-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FFFFFF"/>
                </a:solidFill>
                <a:latin typeface="Calibri"/>
                <a:cs typeface="Calibri"/>
              </a:rPr>
              <a:t>Métricas</a:t>
            </a:r>
            <a:r>
              <a:rPr dirty="0" sz="950" spc="-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dirty="0" sz="950" spc="-1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FFFFFF"/>
                </a:solidFill>
                <a:latin typeface="Calibri"/>
                <a:cs typeface="Calibri"/>
              </a:rPr>
              <a:t>Calidad</a:t>
            </a:r>
            <a:r>
              <a:rPr dirty="0" sz="950" spc="1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FFFFFF"/>
                </a:solidFill>
                <a:latin typeface="Calibri"/>
                <a:cs typeface="Calibri"/>
              </a:rPr>
              <a:t>en</a:t>
            </a:r>
            <a:r>
              <a:rPr dirty="0" sz="950" spc="-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FFFFFF"/>
                </a:solidFill>
                <a:latin typeface="Calibri"/>
                <a:cs typeface="Calibri"/>
              </a:rPr>
              <a:t>el</a:t>
            </a:r>
            <a:r>
              <a:rPr dirty="0" sz="950" spc="-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FFFFFF"/>
                </a:solidFill>
                <a:latin typeface="Calibri"/>
                <a:cs typeface="Calibri"/>
              </a:rPr>
              <a:t>Desarrollo</a:t>
            </a:r>
            <a:r>
              <a:rPr dirty="0" sz="950" spc="1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dirty="0" sz="950" spc="-1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spc="-10" b="1">
                <a:solidFill>
                  <a:srgbClr val="FFFFFF"/>
                </a:solidFill>
                <a:latin typeface="Calibri"/>
                <a:cs typeface="Calibri"/>
              </a:rPr>
              <a:t>Software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0198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/>
              <a:t>Modelos</a:t>
            </a:r>
            <a:r>
              <a:rPr dirty="0" sz="2000" spc="-55"/>
              <a:t> </a:t>
            </a:r>
            <a:r>
              <a:rPr dirty="0" sz="2000"/>
              <a:t>de</a:t>
            </a:r>
            <a:r>
              <a:rPr dirty="0" sz="2000" spc="-40"/>
              <a:t> </a:t>
            </a:r>
            <a:r>
              <a:rPr dirty="0" sz="2000"/>
              <a:t>mejora</a:t>
            </a:r>
            <a:r>
              <a:rPr dirty="0" sz="2000" spc="-30"/>
              <a:t> </a:t>
            </a:r>
            <a:r>
              <a:rPr dirty="0" sz="2000"/>
              <a:t>de</a:t>
            </a:r>
            <a:r>
              <a:rPr dirty="0" sz="2000" spc="-45"/>
              <a:t> </a:t>
            </a:r>
            <a:r>
              <a:rPr dirty="0" sz="2000"/>
              <a:t>procesos</a:t>
            </a:r>
            <a:r>
              <a:rPr dirty="0" sz="2000" spc="-50"/>
              <a:t> </a:t>
            </a:r>
            <a:r>
              <a:rPr dirty="0" sz="2000"/>
              <a:t>(SPI)</a:t>
            </a:r>
            <a:r>
              <a:rPr dirty="0" sz="2000" spc="-30"/>
              <a:t> </a:t>
            </a:r>
            <a:r>
              <a:rPr dirty="0" sz="2000"/>
              <a:t>y</a:t>
            </a:r>
            <a:r>
              <a:rPr dirty="0" sz="2000" spc="-45"/>
              <a:t> </a:t>
            </a:r>
            <a:r>
              <a:rPr dirty="0" sz="2000" spc="-10"/>
              <a:t>requisitos</a:t>
            </a:r>
            <a:endParaRPr sz="2000"/>
          </a:p>
        </p:txBody>
      </p:sp>
      <p:sp>
        <p:nvSpPr>
          <p:cNvPr id="4" name="object 4"/>
          <p:cNvSpPr txBox="1"/>
          <p:nvPr/>
        </p:nvSpPr>
        <p:spPr>
          <a:xfrm>
            <a:off x="365759" y="1167638"/>
            <a:ext cx="1508760" cy="457200"/>
          </a:xfrm>
          <a:prstGeom prst="rect">
            <a:avLst/>
          </a:prstGeom>
          <a:solidFill>
            <a:srgbClr val="1B2A49"/>
          </a:solidFill>
          <a:ln w="12700">
            <a:solidFill>
              <a:srgbClr val="C8A84B"/>
            </a:solidFill>
          </a:ln>
        </p:spPr>
        <p:txBody>
          <a:bodyPr wrap="square" lIns="0" tIns="13652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75"/>
              </a:spcBef>
            </a:pPr>
            <a:r>
              <a:rPr dirty="0" sz="1100" spc="-20" b="1">
                <a:solidFill>
                  <a:srgbClr val="C8A84B"/>
                </a:solidFill>
                <a:latin typeface="Calibri"/>
                <a:cs typeface="Calibri"/>
              </a:rPr>
              <a:t>CMMI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084832" y="1167638"/>
            <a:ext cx="1508760" cy="457200"/>
          </a:xfrm>
          <a:prstGeom prst="rect">
            <a:avLst/>
          </a:prstGeom>
          <a:solidFill>
            <a:srgbClr val="1B2A49"/>
          </a:solidFill>
          <a:ln w="12700">
            <a:solidFill>
              <a:srgbClr val="C8A84B"/>
            </a:solidFill>
          </a:ln>
        </p:spPr>
        <p:txBody>
          <a:bodyPr wrap="square" lIns="0" tIns="136525" rIns="0" bIns="0" rtlCol="0" vert="horz">
            <a:spAutoFit/>
          </a:bodyPr>
          <a:lstStyle/>
          <a:p>
            <a:pPr marL="439420">
              <a:lnSpc>
                <a:spcPct val="100000"/>
              </a:lnSpc>
              <a:spcBef>
                <a:spcPts val="1075"/>
              </a:spcBef>
            </a:pPr>
            <a:r>
              <a:rPr dirty="0" sz="1100" spc="-10" b="1">
                <a:solidFill>
                  <a:srgbClr val="C8A84B"/>
                </a:solidFill>
                <a:latin typeface="Calibri"/>
                <a:cs typeface="Calibri"/>
              </a:rPr>
              <a:t>MoProSoft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03903" y="1167638"/>
            <a:ext cx="1508760" cy="457200"/>
          </a:xfrm>
          <a:prstGeom prst="rect">
            <a:avLst/>
          </a:prstGeom>
          <a:solidFill>
            <a:srgbClr val="1B2A49"/>
          </a:solidFill>
          <a:ln w="12700">
            <a:solidFill>
              <a:srgbClr val="C8A84B"/>
            </a:solidFill>
          </a:ln>
        </p:spPr>
        <p:txBody>
          <a:bodyPr wrap="square" lIns="0" tIns="136525" rIns="0" bIns="0" rtlCol="0" vert="horz">
            <a:spAutoFit/>
          </a:bodyPr>
          <a:lstStyle/>
          <a:p>
            <a:pPr marL="396875">
              <a:lnSpc>
                <a:spcPct val="100000"/>
              </a:lnSpc>
              <a:spcBef>
                <a:spcPts val="1075"/>
              </a:spcBef>
            </a:pPr>
            <a:r>
              <a:rPr dirty="0" sz="1100" spc="-10" b="1">
                <a:solidFill>
                  <a:srgbClr val="C8A84B"/>
                </a:solidFill>
                <a:latin typeface="Calibri"/>
                <a:cs typeface="Calibri"/>
              </a:rPr>
              <a:t>Competisoft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522976" y="1167638"/>
            <a:ext cx="1508760" cy="457200"/>
          </a:xfrm>
          <a:prstGeom prst="rect">
            <a:avLst/>
          </a:prstGeom>
          <a:solidFill>
            <a:srgbClr val="1B2A49"/>
          </a:solidFill>
          <a:ln w="12700">
            <a:solidFill>
              <a:srgbClr val="C8A84B"/>
            </a:solidFill>
          </a:ln>
        </p:spPr>
        <p:txBody>
          <a:bodyPr wrap="square" lIns="0" tIns="136525" rIns="0" bIns="0" rtlCol="0" vert="horz">
            <a:spAutoFit/>
          </a:bodyPr>
          <a:lstStyle/>
          <a:p>
            <a:pPr algn="ctr" marL="1905">
              <a:lnSpc>
                <a:spcPct val="100000"/>
              </a:lnSpc>
              <a:spcBef>
                <a:spcPts val="1075"/>
              </a:spcBef>
            </a:pPr>
            <a:r>
              <a:rPr dirty="0" sz="1100" spc="-10" b="1">
                <a:solidFill>
                  <a:srgbClr val="C8A84B"/>
                </a:solidFill>
                <a:latin typeface="Calibri"/>
                <a:cs typeface="Calibri"/>
              </a:rPr>
              <a:t>MPS.Br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242047" y="1167638"/>
            <a:ext cx="1508760" cy="457200"/>
          </a:xfrm>
          <a:prstGeom prst="rect">
            <a:avLst/>
          </a:prstGeom>
          <a:solidFill>
            <a:srgbClr val="1B2A49"/>
          </a:solidFill>
          <a:ln w="12700">
            <a:solidFill>
              <a:srgbClr val="C8A84B"/>
            </a:solidFill>
          </a:ln>
        </p:spPr>
        <p:txBody>
          <a:bodyPr wrap="square" lIns="0" tIns="136525" rIns="0" bIns="0" rtlCol="0" vert="horz">
            <a:spAutoFit/>
          </a:bodyPr>
          <a:lstStyle/>
          <a:p>
            <a:pPr algn="ctr" marL="635">
              <a:lnSpc>
                <a:spcPct val="100000"/>
              </a:lnSpc>
              <a:spcBef>
                <a:spcPts val="1075"/>
              </a:spcBef>
            </a:pPr>
            <a:r>
              <a:rPr dirty="0" sz="1100" b="1">
                <a:solidFill>
                  <a:srgbClr val="C8A84B"/>
                </a:solidFill>
                <a:latin typeface="Calibri"/>
                <a:cs typeface="Calibri"/>
              </a:rPr>
              <a:t>IT</a:t>
            </a:r>
            <a:r>
              <a:rPr dirty="0" sz="1100" spc="-5" b="1">
                <a:solidFill>
                  <a:srgbClr val="C8A84B"/>
                </a:solidFill>
                <a:latin typeface="Calibri"/>
                <a:cs typeface="Calibri"/>
              </a:rPr>
              <a:t> </a:t>
            </a:r>
            <a:r>
              <a:rPr dirty="0" sz="1100" spc="-20" b="1">
                <a:solidFill>
                  <a:srgbClr val="C8A84B"/>
                </a:solidFill>
                <a:latin typeface="Calibri"/>
                <a:cs typeface="Calibri"/>
              </a:rPr>
              <a:t>Mark</a:t>
            </a:r>
            <a:endParaRPr sz="11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59409" y="1847088"/>
            <a:ext cx="67945" cy="469900"/>
            <a:chOff x="359409" y="1847088"/>
            <a:chExt cx="67945" cy="469900"/>
          </a:xfrm>
        </p:grpSpPr>
        <p:sp>
          <p:nvSpPr>
            <p:cNvPr id="10" name="object 10"/>
            <p:cNvSpPr/>
            <p:nvPr/>
          </p:nvSpPr>
          <p:spPr>
            <a:xfrm>
              <a:off x="365759" y="1853438"/>
              <a:ext cx="55244" cy="457200"/>
            </a:xfrm>
            <a:custGeom>
              <a:avLst/>
              <a:gdLst/>
              <a:ahLst/>
              <a:cxnLst/>
              <a:rect l="l" t="t" r="r" b="b"/>
              <a:pathLst>
                <a:path w="55245" h="457200">
                  <a:moveTo>
                    <a:pt x="54864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54864" y="457200"/>
                  </a:lnTo>
                  <a:lnTo>
                    <a:pt x="54864" y="0"/>
                  </a:lnTo>
                  <a:close/>
                </a:path>
              </a:pathLst>
            </a:custGeom>
            <a:solidFill>
              <a:srgbClr val="C8A84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365759" y="1853438"/>
              <a:ext cx="55244" cy="457200"/>
            </a:xfrm>
            <a:custGeom>
              <a:avLst/>
              <a:gdLst/>
              <a:ahLst/>
              <a:cxnLst/>
              <a:rect l="l" t="t" r="r" b="b"/>
              <a:pathLst>
                <a:path w="55245" h="457200">
                  <a:moveTo>
                    <a:pt x="0" y="457200"/>
                  </a:moveTo>
                  <a:lnTo>
                    <a:pt x="54864" y="457200"/>
                  </a:lnTo>
                  <a:lnTo>
                    <a:pt x="54864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ln w="12700">
              <a:solidFill>
                <a:srgbClr val="C8A84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2" name="object 12"/>
          <p:cNvGrpSpPr/>
          <p:nvPr/>
        </p:nvGrpSpPr>
        <p:grpSpPr>
          <a:xfrm>
            <a:off x="359409" y="2532888"/>
            <a:ext cx="67945" cy="469900"/>
            <a:chOff x="359409" y="2532888"/>
            <a:chExt cx="67945" cy="469900"/>
          </a:xfrm>
        </p:grpSpPr>
        <p:sp>
          <p:nvSpPr>
            <p:cNvPr id="13" name="object 13"/>
            <p:cNvSpPr/>
            <p:nvPr/>
          </p:nvSpPr>
          <p:spPr>
            <a:xfrm>
              <a:off x="365759" y="2539238"/>
              <a:ext cx="55244" cy="457200"/>
            </a:xfrm>
            <a:custGeom>
              <a:avLst/>
              <a:gdLst/>
              <a:ahLst/>
              <a:cxnLst/>
              <a:rect l="l" t="t" r="r" b="b"/>
              <a:pathLst>
                <a:path w="55245" h="457200">
                  <a:moveTo>
                    <a:pt x="54864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54864" y="457200"/>
                  </a:lnTo>
                  <a:lnTo>
                    <a:pt x="54864" y="0"/>
                  </a:lnTo>
                  <a:close/>
                </a:path>
              </a:pathLst>
            </a:custGeom>
            <a:solidFill>
              <a:srgbClr val="C8A84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365759" y="2539238"/>
              <a:ext cx="55244" cy="457200"/>
            </a:xfrm>
            <a:custGeom>
              <a:avLst/>
              <a:gdLst/>
              <a:ahLst/>
              <a:cxnLst/>
              <a:rect l="l" t="t" r="r" b="b"/>
              <a:pathLst>
                <a:path w="55245" h="457200">
                  <a:moveTo>
                    <a:pt x="0" y="457200"/>
                  </a:moveTo>
                  <a:lnTo>
                    <a:pt x="54864" y="457200"/>
                  </a:lnTo>
                  <a:lnTo>
                    <a:pt x="54864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ln w="12700">
              <a:solidFill>
                <a:srgbClr val="C8A84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5" name="object 15"/>
          <p:cNvGrpSpPr/>
          <p:nvPr/>
        </p:nvGrpSpPr>
        <p:grpSpPr>
          <a:xfrm>
            <a:off x="359409" y="3218688"/>
            <a:ext cx="67945" cy="469900"/>
            <a:chOff x="359409" y="3218688"/>
            <a:chExt cx="67945" cy="469900"/>
          </a:xfrm>
        </p:grpSpPr>
        <p:sp>
          <p:nvSpPr>
            <p:cNvPr id="16" name="object 16"/>
            <p:cNvSpPr/>
            <p:nvPr/>
          </p:nvSpPr>
          <p:spPr>
            <a:xfrm>
              <a:off x="365759" y="3225038"/>
              <a:ext cx="55244" cy="457200"/>
            </a:xfrm>
            <a:custGeom>
              <a:avLst/>
              <a:gdLst/>
              <a:ahLst/>
              <a:cxnLst/>
              <a:rect l="l" t="t" r="r" b="b"/>
              <a:pathLst>
                <a:path w="55245" h="457200">
                  <a:moveTo>
                    <a:pt x="54864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54864" y="457200"/>
                  </a:lnTo>
                  <a:lnTo>
                    <a:pt x="54864" y="0"/>
                  </a:lnTo>
                  <a:close/>
                </a:path>
              </a:pathLst>
            </a:custGeom>
            <a:solidFill>
              <a:srgbClr val="C8A84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365759" y="3225038"/>
              <a:ext cx="55244" cy="457200"/>
            </a:xfrm>
            <a:custGeom>
              <a:avLst/>
              <a:gdLst/>
              <a:ahLst/>
              <a:cxnLst/>
              <a:rect l="l" t="t" r="r" b="b"/>
              <a:pathLst>
                <a:path w="55245" h="457200">
                  <a:moveTo>
                    <a:pt x="0" y="457200"/>
                  </a:moveTo>
                  <a:lnTo>
                    <a:pt x="54864" y="457200"/>
                  </a:lnTo>
                  <a:lnTo>
                    <a:pt x="54864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ln w="12700">
              <a:solidFill>
                <a:srgbClr val="C8A84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8" name="object 18"/>
          <p:cNvGrpSpPr/>
          <p:nvPr/>
        </p:nvGrpSpPr>
        <p:grpSpPr>
          <a:xfrm>
            <a:off x="359409" y="3904462"/>
            <a:ext cx="67945" cy="469900"/>
            <a:chOff x="359409" y="3904462"/>
            <a:chExt cx="67945" cy="469900"/>
          </a:xfrm>
        </p:grpSpPr>
        <p:sp>
          <p:nvSpPr>
            <p:cNvPr id="19" name="object 19"/>
            <p:cNvSpPr/>
            <p:nvPr/>
          </p:nvSpPr>
          <p:spPr>
            <a:xfrm>
              <a:off x="365759" y="3910812"/>
              <a:ext cx="55244" cy="457200"/>
            </a:xfrm>
            <a:custGeom>
              <a:avLst/>
              <a:gdLst/>
              <a:ahLst/>
              <a:cxnLst/>
              <a:rect l="l" t="t" r="r" b="b"/>
              <a:pathLst>
                <a:path w="55245" h="457200">
                  <a:moveTo>
                    <a:pt x="54864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54864" y="457200"/>
                  </a:lnTo>
                  <a:lnTo>
                    <a:pt x="54864" y="0"/>
                  </a:lnTo>
                  <a:close/>
                </a:path>
              </a:pathLst>
            </a:custGeom>
            <a:solidFill>
              <a:srgbClr val="C8A84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365759" y="3910812"/>
              <a:ext cx="55244" cy="457200"/>
            </a:xfrm>
            <a:custGeom>
              <a:avLst/>
              <a:gdLst/>
              <a:ahLst/>
              <a:cxnLst/>
              <a:rect l="l" t="t" r="r" b="b"/>
              <a:pathLst>
                <a:path w="55245" h="457200">
                  <a:moveTo>
                    <a:pt x="0" y="457200"/>
                  </a:moveTo>
                  <a:lnTo>
                    <a:pt x="54864" y="457200"/>
                  </a:lnTo>
                  <a:lnTo>
                    <a:pt x="54864" y="0"/>
                  </a:lnTo>
                  <a:lnTo>
                    <a:pt x="0" y="0"/>
                  </a:lnTo>
                  <a:lnTo>
                    <a:pt x="0" y="457200"/>
                  </a:lnTo>
                  <a:close/>
                </a:path>
              </a:pathLst>
            </a:custGeom>
            <a:ln w="12700">
              <a:solidFill>
                <a:srgbClr val="C8A84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645668" y="1781804"/>
            <a:ext cx="5023485" cy="2584450"/>
          </a:xfrm>
          <a:prstGeom prst="rect">
            <a:avLst/>
          </a:prstGeom>
        </p:spPr>
        <p:txBody>
          <a:bodyPr wrap="square" lIns="0" tIns="901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dirty="0" sz="1200" b="1">
                <a:solidFill>
                  <a:srgbClr val="1B2A49"/>
                </a:solidFill>
                <a:latin typeface="Calibri"/>
                <a:cs typeface="Calibri"/>
              </a:rPr>
              <a:t>SPI</a:t>
            </a:r>
            <a:r>
              <a:rPr dirty="0" sz="1200" spc="-20" b="1">
                <a:solidFill>
                  <a:srgbClr val="1B2A49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B2A49"/>
                </a:solidFill>
                <a:latin typeface="Calibri"/>
                <a:cs typeface="Calibri"/>
              </a:rPr>
              <a:t>como</a:t>
            </a:r>
            <a:r>
              <a:rPr dirty="0" sz="1200" spc="-15" b="1">
                <a:solidFill>
                  <a:srgbClr val="1B2A49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1B2A49"/>
                </a:solidFill>
                <a:latin typeface="Calibri"/>
                <a:cs typeface="Calibri"/>
              </a:rPr>
              <a:t>contexto: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70"/>
              </a:spcBef>
            </a:pPr>
            <a:r>
              <a:rPr dirty="0" sz="1100" b="1">
                <a:solidFill>
                  <a:srgbClr val="1A1A2D"/>
                </a:solidFill>
                <a:latin typeface="Calibri"/>
                <a:cs typeface="Calibri"/>
              </a:rPr>
              <a:t>CMMI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,</a:t>
            </a:r>
            <a:r>
              <a:rPr dirty="0" sz="1100" spc="-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MoProSoft,</a:t>
            </a:r>
            <a:r>
              <a:rPr dirty="0" sz="1100" spc="-2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1A1A2D"/>
                </a:solidFill>
                <a:latin typeface="Calibri"/>
                <a:cs typeface="Calibri"/>
              </a:rPr>
              <a:t>Competisoft,</a:t>
            </a:r>
            <a:r>
              <a:rPr dirty="0" sz="1100" spc="-3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MPS.Br</a:t>
            </a:r>
            <a:r>
              <a:rPr dirty="0" sz="1100" spc="-2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e</a:t>
            </a:r>
            <a:r>
              <a:rPr dirty="0" sz="1100" spc="-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IT</a:t>
            </a:r>
            <a:r>
              <a:rPr dirty="0" sz="1100" spc="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Mark</a:t>
            </a:r>
            <a:r>
              <a:rPr dirty="0" sz="1100" spc="-1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son</a:t>
            </a:r>
            <a:r>
              <a:rPr dirty="0" sz="1100" spc="-1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marcos</a:t>
            </a:r>
            <a:r>
              <a:rPr dirty="0" sz="1100" spc="-4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para</a:t>
            </a:r>
            <a:r>
              <a:rPr dirty="0" sz="1100" spc="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mejora</a:t>
            </a:r>
            <a:r>
              <a:rPr dirty="0" sz="1100" spc="-3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de</a:t>
            </a:r>
            <a:r>
              <a:rPr dirty="0" sz="1100" spc="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1A1A2D"/>
                </a:solidFill>
                <a:latin typeface="Calibri"/>
                <a:cs typeface="Calibri"/>
              </a:rPr>
              <a:t>procesos.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30"/>
              </a:spcBef>
            </a:pP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b="1">
                <a:solidFill>
                  <a:srgbClr val="1B2A49"/>
                </a:solidFill>
                <a:latin typeface="Calibri"/>
                <a:cs typeface="Calibri"/>
              </a:rPr>
              <a:t>Importancia</a:t>
            </a:r>
            <a:r>
              <a:rPr dirty="0" sz="1200" spc="-50" b="1">
                <a:solidFill>
                  <a:srgbClr val="1B2A49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B2A49"/>
                </a:solidFill>
                <a:latin typeface="Calibri"/>
                <a:cs typeface="Calibri"/>
              </a:rPr>
              <a:t>de</a:t>
            </a:r>
            <a:r>
              <a:rPr dirty="0" sz="1200" spc="-35" b="1">
                <a:solidFill>
                  <a:srgbClr val="1B2A49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B2A49"/>
                </a:solidFill>
                <a:latin typeface="Calibri"/>
                <a:cs typeface="Calibri"/>
              </a:rPr>
              <a:t>elegir</a:t>
            </a:r>
            <a:r>
              <a:rPr dirty="0" sz="1200" spc="-30" b="1">
                <a:solidFill>
                  <a:srgbClr val="1B2A49"/>
                </a:solidFill>
                <a:latin typeface="Calibri"/>
                <a:cs typeface="Calibri"/>
              </a:rPr>
              <a:t> </a:t>
            </a:r>
            <a:r>
              <a:rPr dirty="0" sz="1200" spc="-20" b="1">
                <a:solidFill>
                  <a:srgbClr val="1B2A49"/>
                </a:solidFill>
                <a:latin typeface="Calibri"/>
                <a:cs typeface="Calibri"/>
              </a:rPr>
              <a:t>bien: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70"/>
              </a:spcBef>
            </a:pP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La</a:t>
            </a:r>
            <a:r>
              <a:rPr dirty="0" sz="1100" spc="-1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alineación</a:t>
            </a:r>
            <a:r>
              <a:rPr dirty="0" sz="1100" spc="-4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con</a:t>
            </a:r>
            <a:r>
              <a:rPr dirty="0" sz="1100" spc="-2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tamaño</a:t>
            </a:r>
            <a:r>
              <a:rPr dirty="0" sz="1100" spc="-3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y</a:t>
            </a:r>
            <a:r>
              <a:rPr dirty="0" sz="1100" spc="-1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recursos</a:t>
            </a:r>
            <a:r>
              <a:rPr dirty="0" sz="1100" spc="-3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de</a:t>
            </a:r>
            <a:r>
              <a:rPr dirty="0" sz="1100" spc="-1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la</a:t>
            </a:r>
            <a:r>
              <a:rPr dirty="0" sz="1100" spc="-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empresa</a:t>
            </a:r>
            <a:r>
              <a:rPr dirty="0" sz="1100" spc="-4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es</a:t>
            </a:r>
            <a:r>
              <a:rPr dirty="0" sz="1100" spc="-1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clave</a:t>
            </a:r>
            <a:r>
              <a:rPr dirty="0" sz="1100" spc="-1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para</a:t>
            </a:r>
            <a:r>
              <a:rPr dirty="0" sz="1100" spc="-1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el</a:t>
            </a:r>
            <a:r>
              <a:rPr dirty="0" sz="1100" spc="-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1A1A2D"/>
                </a:solidFill>
                <a:latin typeface="Calibri"/>
                <a:cs typeface="Calibri"/>
              </a:rPr>
              <a:t>éxito.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30"/>
              </a:spcBef>
            </a:pP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200" spc="-10" b="1">
                <a:solidFill>
                  <a:srgbClr val="1B2A49"/>
                </a:solidFill>
                <a:latin typeface="Calibri"/>
                <a:cs typeface="Calibri"/>
              </a:rPr>
              <a:t>Requisitos</a:t>
            </a:r>
            <a:r>
              <a:rPr dirty="0" sz="1200" spc="-15" b="1">
                <a:solidFill>
                  <a:srgbClr val="1B2A49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B2A49"/>
                </a:solidFill>
                <a:latin typeface="Calibri"/>
                <a:cs typeface="Calibri"/>
              </a:rPr>
              <a:t>como</a:t>
            </a:r>
            <a:r>
              <a:rPr dirty="0" sz="1200" spc="-15" b="1">
                <a:solidFill>
                  <a:srgbClr val="1B2A49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B2A49"/>
                </a:solidFill>
                <a:latin typeface="Calibri"/>
                <a:cs typeface="Calibri"/>
              </a:rPr>
              <a:t>insumo</a:t>
            </a:r>
            <a:r>
              <a:rPr dirty="0" sz="1200" spc="5" b="1">
                <a:solidFill>
                  <a:srgbClr val="1B2A49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1B2A49"/>
                </a:solidFill>
                <a:latin typeface="Calibri"/>
                <a:cs typeface="Calibri"/>
              </a:rPr>
              <a:t>clave: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65"/>
              </a:spcBef>
            </a:pP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Todos</a:t>
            </a:r>
            <a:r>
              <a:rPr dirty="0" sz="1100" spc="-4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los</a:t>
            </a:r>
            <a:r>
              <a:rPr dirty="0" sz="1100" spc="-2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modelos</a:t>
            </a:r>
            <a:r>
              <a:rPr dirty="0" sz="1100" spc="-4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exigen</a:t>
            </a:r>
            <a:r>
              <a:rPr dirty="0" sz="1100" spc="-2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gestión</a:t>
            </a:r>
            <a:r>
              <a:rPr dirty="0" sz="1100" spc="-4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formal</a:t>
            </a:r>
            <a:r>
              <a:rPr dirty="0" sz="1100" spc="-3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y</a:t>
            </a:r>
            <a:r>
              <a:rPr dirty="0" sz="1100" spc="-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disciplinada</a:t>
            </a:r>
            <a:r>
              <a:rPr dirty="0" sz="1100" spc="-3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de </a:t>
            </a:r>
            <a:r>
              <a:rPr dirty="0" sz="1100" spc="-10">
                <a:solidFill>
                  <a:srgbClr val="1A1A2D"/>
                </a:solidFill>
                <a:latin typeface="Calibri"/>
                <a:cs typeface="Calibri"/>
              </a:rPr>
              <a:t>requisitos.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730"/>
              </a:spcBef>
            </a:pP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200" b="1">
                <a:solidFill>
                  <a:srgbClr val="1B2A49"/>
                </a:solidFill>
                <a:latin typeface="Calibri"/>
                <a:cs typeface="Calibri"/>
              </a:rPr>
              <a:t>Riesgo</a:t>
            </a:r>
            <a:r>
              <a:rPr dirty="0" sz="1200" spc="-15" b="1">
                <a:solidFill>
                  <a:srgbClr val="1B2A49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B2A49"/>
                </a:solidFill>
                <a:latin typeface="Calibri"/>
                <a:cs typeface="Calibri"/>
              </a:rPr>
              <a:t>de</a:t>
            </a:r>
            <a:r>
              <a:rPr dirty="0" sz="1200" spc="-30" b="1">
                <a:solidFill>
                  <a:srgbClr val="1B2A49"/>
                </a:solidFill>
                <a:latin typeface="Calibri"/>
                <a:cs typeface="Calibri"/>
              </a:rPr>
              <a:t> </a:t>
            </a:r>
            <a:r>
              <a:rPr dirty="0" sz="1200" b="1">
                <a:solidFill>
                  <a:srgbClr val="1B2A49"/>
                </a:solidFill>
                <a:latin typeface="Calibri"/>
                <a:cs typeface="Calibri"/>
              </a:rPr>
              <a:t>mala</a:t>
            </a:r>
            <a:r>
              <a:rPr dirty="0" sz="1200" spc="-35" b="1">
                <a:solidFill>
                  <a:srgbClr val="1B2A49"/>
                </a:solidFill>
                <a:latin typeface="Calibri"/>
                <a:cs typeface="Calibri"/>
              </a:rPr>
              <a:t> </a:t>
            </a:r>
            <a:r>
              <a:rPr dirty="0" sz="1200" spc="-10" b="1">
                <a:solidFill>
                  <a:srgbClr val="1B2A49"/>
                </a:solidFill>
                <a:latin typeface="Calibri"/>
                <a:cs typeface="Calibri"/>
              </a:rPr>
              <a:t>elección:</a:t>
            </a:r>
            <a:endParaRPr sz="1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65"/>
              </a:spcBef>
            </a:pP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Un</a:t>
            </a:r>
            <a:r>
              <a:rPr dirty="0" sz="1100" spc="-1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modelo</a:t>
            </a:r>
            <a:r>
              <a:rPr dirty="0" sz="1100" spc="-4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1A1A2D"/>
                </a:solidFill>
                <a:latin typeface="Calibri"/>
                <a:cs typeface="Calibri"/>
              </a:rPr>
              <a:t>inadecuado</a:t>
            </a:r>
            <a:r>
              <a:rPr dirty="0" sz="1100" spc="-2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puede convertirse</a:t>
            </a:r>
            <a:r>
              <a:rPr dirty="0" sz="1100" spc="-4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en</a:t>
            </a:r>
            <a:r>
              <a:rPr dirty="0" sz="1100" spc="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un</a:t>
            </a:r>
            <a:r>
              <a:rPr dirty="0" sz="1100" spc="-2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obstáculo,</a:t>
            </a:r>
            <a:r>
              <a:rPr dirty="0" sz="1100" spc="-3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en</a:t>
            </a:r>
            <a:r>
              <a:rPr dirty="0" sz="1100" spc="-1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lugar de</a:t>
            </a:r>
            <a:r>
              <a:rPr dirty="0" sz="1100" spc="-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una </a:t>
            </a:r>
            <a:r>
              <a:rPr dirty="0" sz="1100" spc="-10">
                <a:solidFill>
                  <a:srgbClr val="1A1A2D"/>
                </a:solidFill>
                <a:latin typeface="Calibri"/>
                <a:cs typeface="Calibri"/>
              </a:rPr>
              <a:t>mejora.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7027" y="99440"/>
            <a:ext cx="3126740" cy="1701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 spc="-10" b="1">
                <a:solidFill>
                  <a:srgbClr val="FFFFFF"/>
                </a:solidFill>
                <a:latin typeface="Calibri"/>
                <a:cs typeface="Calibri"/>
              </a:rPr>
              <a:t>Estándares</a:t>
            </a:r>
            <a:r>
              <a:rPr dirty="0" sz="950" spc="-1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r>
              <a:rPr dirty="0" sz="950" spc="-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FFFFFF"/>
                </a:solidFill>
                <a:latin typeface="Calibri"/>
                <a:cs typeface="Calibri"/>
              </a:rPr>
              <a:t>Métricas</a:t>
            </a:r>
            <a:r>
              <a:rPr dirty="0" sz="950" spc="-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dirty="0" sz="950" spc="-1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FFFFFF"/>
                </a:solidFill>
                <a:latin typeface="Calibri"/>
                <a:cs typeface="Calibri"/>
              </a:rPr>
              <a:t>Calidad</a:t>
            </a:r>
            <a:r>
              <a:rPr dirty="0" sz="950" spc="1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FFFFFF"/>
                </a:solidFill>
                <a:latin typeface="Calibri"/>
                <a:cs typeface="Calibri"/>
              </a:rPr>
              <a:t>en</a:t>
            </a:r>
            <a:r>
              <a:rPr dirty="0" sz="950" spc="-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FFFFFF"/>
                </a:solidFill>
                <a:latin typeface="Calibri"/>
                <a:cs typeface="Calibri"/>
              </a:rPr>
              <a:t>el</a:t>
            </a:r>
            <a:r>
              <a:rPr dirty="0" sz="950" spc="-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FFFFFF"/>
                </a:solidFill>
                <a:latin typeface="Calibri"/>
                <a:cs typeface="Calibri"/>
              </a:rPr>
              <a:t>Desarrollo</a:t>
            </a:r>
            <a:r>
              <a:rPr dirty="0" sz="950" spc="1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dirty="0" sz="950" spc="-1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spc="-10" b="1">
                <a:solidFill>
                  <a:srgbClr val="FFFFFF"/>
                </a:solidFill>
                <a:latin typeface="Calibri"/>
                <a:cs typeface="Calibri"/>
              </a:rPr>
              <a:t>Software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0198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/>
              <a:t>Modelo</a:t>
            </a:r>
            <a:r>
              <a:rPr dirty="0" sz="2000" spc="-35"/>
              <a:t> </a:t>
            </a:r>
            <a:r>
              <a:rPr dirty="0" sz="2000"/>
              <a:t>procedimental</a:t>
            </a:r>
            <a:r>
              <a:rPr dirty="0" sz="2000" spc="-40"/>
              <a:t> </a:t>
            </a:r>
            <a:r>
              <a:rPr dirty="0" sz="2000"/>
              <a:t>de</a:t>
            </a:r>
            <a:r>
              <a:rPr dirty="0" sz="2000" spc="-20"/>
              <a:t> </a:t>
            </a:r>
            <a:r>
              <a:rPr dirty="0" sz="2000" spc="-10"/>
              <a:t>requisitos:</a:t>
            </a:r>
            <a:r>
              <a:rPr dirty="0" sz="2000" spc="-35"/>
              <a:t> </a:t>
            </a:r>
            <a:r>
              <a:rPr dirty="0" sz="2000"/>
              <a:t>visión</a:t>
            </a:r>
            <a:r>
              <a:rPr dirty="0" sz="2000" spc="-40"/>
              <a:t> </a:t>
            </a:r>
            <a:r>
              <a:rPr dirty="0" sz="2000" spc="-10"/>
              <a:t>general</a:t>
            </a:r>
            <a:endParaRPr sz="2000"/>
          </a:p>
        </p:txBody>
      </p:sp>
      <p:grpSp>
        <p:nvGrpSpPr>
          <p:cNvPr id="4" name="object 4"/>
          <p:cNvGrpSpPr/>
          <p:nvPr/>
        </p:nvGrpSpPr>
        <p:grpSpPr>
          <a:xfrm>
            <a:off x="182879" y="1335011"/>
            <a:ext cx="2818765" cy="2590165"/>
            <a:chOff x="182879" y="1335011"/>
            <a:chExt cx="2818765" cy="259016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2879" y="1335011"/>
              <a:ext cx="2818638" cy="2590037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320039" y="1417320"/>
              <a:ext cx="2606040" cy="2377440"/>
            </a:xfrm>
            <a:custGeom>
              <a:avLst/>
              <a:gdLst/>
              <a:ahLst/>
              <a:cxnLst/>
              <a:rect l="l" t="t" r="r" b="b"/>
              <a:pathLst>
                <a:path w="2606040" h="2377440">
                  <a:moveTo>
                    <a:pt x="2606040" y="0"/>
                  </a:moveTo>
                  <a:lnTo>
                    <a:pt x="0" y="0"/>
                  </a:lnTo>
                  <a:lnTo>
                    <a:pt x="0" y="2377440"/>
                  </a:lnTo>
                  <a:lnTo>
                    <a:pt x="2606040" y="2377440"/>
                  </a:lnTo>
                  <a:lnTo>
                    <a:pt x="2606040" y="0"/>
                  </a:lnTo>
                  <a:close/>
                </a:path>
              </a:pathLst>
            </a:custGeom>
            <a:solidFill>
              <a:srgbClr val="1B2A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320039" y="1417320"/>
              <a:ext cx="2606040" cy="2377440"/>
            </a:xfrm>
            <a:custGeom>
              <a:avLst/>
              <a:gdLst/>
              <a:ahLst/>
              <a:cxnLst/>
              <a:rect l="l" t="t" r="r" b="b"/>
              <a:pathLst>
                <a:path w="2606040" h="2377440">
                  <a:moveTo>
                    <a:pt x="0" y="2377440"/>
                  </a:moveTo>
                  <a:lnTo>
                    <a:pt x="2606040" y="2377440"/>
                  </a:lnTo>
                  <a:lnTo>
                    <a:pt x="2606040" y="0"/>
                  </a:lnTo>
                  <a:lnTo>
                    <a:pt x="0" y="0"/>
                  </a:lnTo>
                  <a:lnTo>
                    <a:pt x="0" y="2377440"/>
                  </a:lnTo>
                  <a:close/>
                </a:path>
              </a:pathLst>
            </a:custGeom>
            <a:ln w="12700">
              <a:solidFill>
                <a:srgbClr val="1B2A4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307591" y="1508760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640080" h="640080">
                  <a:moveTo>
                    <a:pt x="320040" y="0"/>
                  </a:moveTo>
                  <a:lnTo>
                    <a:pt x="272739" y="3469"/>
                  </a:lnTo>
                  <a:lnTo>
                    <a:pt x="227596" y="13547"/>
                  </a:lnTo>
                  <a:lnTo>
                    <a:pt x="185105" y="29740"/>
                  </a:lnTo>
                  <a:lnTo>
                    <a:pt x="145761" y="51552"/>
                  </a:lnTo>
                  <a:lnTo>
                    <a:pt x="110057" y="78490"/>
                  </a:lnTo>
                  <a:lnTo>
                    <a:pt x="78490" y="110057"/>
                  </a:lnTo>
                  <a:lnTo>
                    <a:pt x="51552" y="145761"/>
                  </a:lnTo>
                  <a:lnTo>
                    <a:pt x="29740" y="185105"/>
                  </a:lnTo>
                  <a:lnTo>
                    <a:pt x="13547" y="227596"/>
                  </a:lnTo>
                  <a:lnTo>
                    <a:pt x="3469" y="272739"/>
                  </a:lnTo>
                  <a:lnTo>
                    <a:pt x="0" y="320039"/>
                  </a:lnTo>
                  <a:lnTo>
                    <a:pt x="3469" y="367340"/>
                  </a:lnTo>
                  <a:lnTo>
                    <a:pt x="13547" y="412483"/>
                  </a:lnTo>
                  <a:lnTo>
                    <a:pt x="29740" y="454974"/>
                  </a:lnTo>
                  <a:lnTo>
                    <a:pt x="51552" y="494318"/>
                  </a:lnTo>
                  <a:lnTo>
                    <a:pt x="78490" y="530022"/>
                  </a:lnTo>
                  <a:lnTo>
                    <a:pt x="110057" y="561589"/>
                  </a:lnTo>
                  <a:lnTo>
                    <a:pt x="145761" y="588527"/>
                  </a:lnTo>
                  <a:lnTo>
                    <a:pt x="185105" y="610339"/>
                  </a:lnTo>
                  <a:lnTo>
                    <a:pt x="227596" y="626532"/>
                  </a:lnTo>
                  <a:lnTo>
                    <a:pt x="272739" y="636610"/>
                  </a:lnTo>
                  <a:lnTo>
                    <a:pt x="320040" y="640079"/>
                  </a:lnTo>
                  <a:lnTo>
                    <a:pt x="367340" y="636610"/>
                  </a:lnTo>
                  <a:lnTo>
                    <a:pt x="412483" y="626532"/>
                  </a:lnTo>
                  <a:lnTo>
                    <a:pt x="454974" y="610339"/>
                  </a:lnTo>
                  <a:lnTo>
                    <a:pt x="494318" y="588527"/>
                  </a:lnTo>
                  <a:lnTo>
                    <a:pt x="530022" y="561589"/>
                  </a:lnTo>
                  <a:lnTo>
                    <a:pt x="561589" y="530022"/>
                  </a:lnTo>
                  <a:lnTo>
                    <a:pt x="588527" y="494318"/>
                  </a:lnTo>
                  <a:lnTo>
                    <a:pt x="610339" y="454974"/>
                  </a:lnTo>
                  <a:lnTo>
                    <a:pt x="626532" y="412483"/>
                  </a:lnTo>
                  <a:lnTo>
                    <a:pt x="636610" y="367340"/>
                  </a:lnTo>
                  <a:lnTo>
                    <a:pt x="640080" y="320039"/>
                  </a:lnTo>
                  <a:lnTo>
                    <a:pt x="636610" y="272739"/>
                  </a:lnTo>
                  <a:lnTo>
                    <a:pt x="626532" y="227596"/>
                  </a:lnTo>
                  <a:lnTo>
                    <a:pt x="610339" y="185105"/>
                  </a:lnTo>
                  <a:lnTo>
                    <a:pt x="588527" y="145761"/>
                  </a:lnTo>
                  <a:lnTo>
                    <a:pt x="561589" y="110057"/>
                  </a:lnTo>
                  <a:lnTo>
                    <a:pt x="530022" y="78490"/>
                  </a:lnTo>
                  <a:lnTo>
                    <a:pt x="494318" y="51552"/>
                  </a:lnTo>
                  <a:lnTo>
                    <a:pt x="454974" y="29740"/>
                  </a:lnTo>
                  <a:lnTo>
                    <a:pt x="412483" y="13547"/>
                  </a:lnTo>
                  <a:lnTo>
                    <a:pt x="367340" y="3469"/>
                  </a:lnTo>
                  <a:lnTo>
                    <a:pt x="320040" y="0"/>
                  </a:lnTo>
                  <a:close/>
                </a:path>
              </a:pathLst>
            </a:custGeom>
            <a:solidFill>
              <a:srgbClr val="C8A84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1307591" y="1508760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640080" h="640080">
                  <a:moveTo>
                    <a:pt x="0" y="320039"/>
                  </a:moveTo>
                  <a:lnTo>
                    <a:pt x="3469" y="272739"/>
                  </a:lnTo>
                  <a:lnTo>
                    <a:pt x="13547" y="227596"/>
                  </a:lnTo>
                  <a:lnTo>
                    <a:pt x="29740" y="185105"/>
                  </a:lnTo>
                  <a:lnTo>
                    <a:pt x="51552" y="145761"/>
                  </a:lnTo>
                  <a:lnTo>
                    <a:pt x="78490" y="110057"/>
                  </a:lnTo>
                  <a:lnTo>
                    <a:pt x="110057" y="78490"/>
                  </a:lnTo>
                  <a:lnTo>
                    <a:pt x="145761" y="51552"/>
                  </a:lnTo>
                  <a:lnTo>
                    <a:pt x="185105" y="29740"/>
                  </a:lnTo>
                  <a:lnTo>
                    <a:pt x="227596" y="13547"/>
                  </a:lnTo>
                  <a:lnTo>
                    <a:pt x="272739" y="3469"/>
                  </a:lnTo>
                  <a:lnTo>
                    <a:pt x="320040" y="0"/>
                  </a:lnTo>
                  <a:lnTo>
                    <a:pt x="367340" y="3469"/>
                  </a:lnTo>
                  <a:lnTo>
                    <a:pt x="412483" y="13547"/>
                  </a:lnTo>
                  <a:lnTo>
                    <a:pt x="454974" y="29740"/>
                  </a:lnTo>
                  <a:lnTo>
                    <a:pt x="494318" y="51552"/>
                  </a:lnTo>
                  <a:lnTo>
                    <a:pt x="530022" y="78490"/>
                  </a:lnTo>
                  <a:lnTo>
                    <a:pt x="561589" y="110057"/>
                  </a:lnTo>
                  <a:lnTo>
                    <a:pt x="588527" y="145761"/>
                  </a:lnTo>
                  <a:lnTo>
                    <a:pt x="610339" y="185105"/>
                  </a:lnTo>
                  <a:lnTo>
                    <a:pt x="626532" y="227596"/>
                  </a:lnTo>
                  <a:lnTo>
                    <a:pt x="636610" y="272739"/>
                  </a:lnTo>
                  <a:lnTo>
                    <a:pt x="640080" y="320039"/>
                  </a:lnTo>
                  <a:lnTo>
                    <a:pt x="636610" y="367340"/>
                  </a:lnTo>
                  <a:lnTo>
                    <a:pt x="626532" y="412483"/>
                  </a:lnTo>
                  <a:lnTo>
                    <a:pt x="610339" y="454974"/>
                  </a:lnTo>
                  <a:lnTo>
                    <a:pt x="588527" y="494318"/>
                  </a:lnTo>
                  <a:lnTo>
                    <a:pt x="561589" y="530022"/>
                  </a:lnTo>
                  <a:lnTo>
                    <a:pt x="530022" y="561589"/>
                  </a:lnTo>
                  <a:lnTo>
                    <a:pt x="494318" y="588527"/>
                  </a:lnTo>
                  <a:lnTo>
                    <a:pt x="454974" y="610339"/>
                  </a:lnTo>
                  <a:lnTo>
                    <a:pt x="412483" y="626532"/>
                  </a:lnTo>
                  <a:lnTo>
                    <a:pt x="367340" y="636610"/>
                  </a:lnTo>
                  <a:lnTo>
                    <a:pt x="320040" y="640079"/>
                  </a:lnTo>
                  <a:lnTo>
                    <a:pt x="272739" y="636610"/>
                  </a:lnTo>
                  <a:lnTo>
                    <a:pt x="227596" y="626532"/>
                  </a:lnTo>
                  <a:lnTo>
                    <a:pt x="185105" y="610339"/>
                  </a:lnTo>
                  <a:lnTo>
                    <a:pt x="145761" y="588527"/>
                  </a:lnTo>
                  <a:lnTo>
                    <a:pt x="110057" y="561589"/>
                  </a:lnTo>
                  <a:lnTo>
                    <a:pt x="78490" y="530022"/>
                  </a:lnTo>
                  <a:lnTo>
                    <a:pt x="51552" y="494318"/>
                  </a:lnTo>
                  <a:lnTo>
                    <a:pt x="29740" y="454974"/>
                  </a:lnTo>
                  <a:lnTo>
                    <a:pt x="13547" y="412483"/>
                  </a:lnTo>
                  <a:lnTo>
                    <a:pt x="3469" y="367340"/>
                  </a:lnTo>
                  <a:lnTo>
                    <a:pt x="0" y="320039"/>
                  </a:lnTo>
                  <a:close/>
                </a:path>
              </a:pathLst>
            </a:custGeom>
            <a:ln w="12700">
              <a:solidFill>
                <a:srgbClr val="C8A84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1557274" y="1664335"/>
            <a:ext cx="1416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 b="1">
                <a:solidFill>
                  <a:srgbClr val="1B2A49"/>
                </a:solidFill>
                <a:latin typeface="Calibri"/>
                <a:cs typeface="Calibri"/>
              </a:rPr>
              <a:t>1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79905" y="2255647"/>
            <a:ext cx="68643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 b="1">
                <a:solidFill>
                  <a:srgbClr val="C8A84B"/>
                </a:solidFill>
                <a:latin typeface="Calibri"/>
                <a:cs typeface="Calibri"/>
              </a:rPr>
              <a:t>Educción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88009" y="1335011"/>
            <a:ext cx="5339715" cy="2590165"/>
            <a:chOff x="588009" y="1335011"/>
            <a:chExt cx="5339715" cy="2590165"/>
          </a:xfrm>
        </p:grpSpPr>
        <p:sp>
          <p:nvSpPr>
            <p:cNvPr id="13" name="object 13"/>
            <p:cNvSpPr/>
            <p:nvPr/>
          </p:nvSpPr>
          <p:spPr>
            <a:xfrm>
              <a:off x="594359" y="2578608"/>
              <a:ext cx="2057400" cy="0"/>
            </a:xfrm>
            <a:custGeom>
              <a:avLst/>
              <a:gdLst/>
              <a:ahLst/>
              <a:cxnLst/>
              <a:rect l="l" t="t" r="r" b="b"/>
              <a:pathLst>
                <a:path w="2057400" h="0">
                  <a:moveTo>
                    <a:pt x="0" y="0"/>
                  </a:moveTo>
                  <a:lnTo>
                    <a:pt x="2057400" y="0"/>
                  </a:lnTo>
                </a:path>
              </a:pathLst>
            </a:custGeom>
            <a:ln w="12700">
              <a:solidFill>
                <a:srgbClr val="C8A84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2926080" y="2560320"/>
              <a:ext cx="228600" cy="137160"/>
            </a:xfrm>
            <a:custGeom>
              <a:avLst/>
              <a:gdLst/>
              <a:ahLst/>
              <a:cxnLst/>
              <a:rect l="l" t="t" r="r" b="b"/>
              <a:pathLst>
                <a:path w="228600" h="137160">
                  <a:moveTo>
                    <a:pt x="228600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228600" y="13716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C8A84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2926080" y="2560320"/>
              <a:ext cx="228600" cy="137160"/>
            </a:xfrm>
            <a:custGeom>
              <a:avLst/>
              <a:gdLst/>
              <a:ahLst/>
              <a:cxnLst/>
              <a:rect l="l" t="t" r="r" b="b"/>
              <a:pathLst>
                <a:path w="228600" h="137160">
                  <a:moveTo>
                    <a:pt x="0" y="137160"/>
                  </a:moveTo>
                  <a:lnTo>
                    <a:pt x="228600" y="13716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137160"/>
                  </a:lnTo>
                  <a:close/>
                </a:path>
              </a:pathLst>
            </a:custGeom>
            <a:ln w="12700">
              <a:solidFill>
                <a:srgbClr val="C8A84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08959" y="1335011"/>
              <a:ext cx="2818638" cy="2590037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3246120" y="1417320"/>
              <a:ext cx="2606040" cy="2377440"/>
            </a:xfrm>
            <a:custGeom>
              <a:avLst/>
              <a:gdLst/>
              <a:ahLst/>
              <a:cxnLst/>
              <a:rect l="l" t="t" r="r" b="b"/>
              <a:pathLst>
                <a:path w="2606040" h="2377440">
                  <a:moveTo>
                    <a:pt x="2606039" y="0"/>
                  </a:moveTo>
                  <a:lnTo>
                    <a:pt x="0" y="0"/>
                  </a:lnTo>
                  <a:lnTo>
                    <a:pt x="0" y="2377440"/>
                  </a:lnTo>
                  <a:lnTo>
                    <a:pt x="2606039" y="2377440"/>
                  </a:lnTo>
                  <a:lnTo>
                    <a:pt x="2606039" y="0"/>
                  </a:lnTo>
                  <a:close/>
                </a:path>
              </a:pathLst>
            </a:custGeom>
            <a:solidFill>
              <a:srgbClr val="1B2A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3246120" y="1417320"/>
              <a:ext cx="2606040" cy="2377440"/>
            </a:xfrm>
            <a:custGeom>
              <a:avLst/>
              <a:gdLst/>
              <a:ahLst/>
              <a:cxnLst/>
              <a:rect l="l" t="t" r="r" b="b"/>
              <a:pathLst>
                <a:path w="2606040" h="2377440">
                  <a:moveTo>
                    <a:pt x="0" y="2377440"/>
                  </a:moveTo>
                  <a:lnTo>
                    <a:pt x="2606039" y="2377440"/>
                  </a:lnTo>
                  <a:lnTo>
                    <a:pt x="2606039" y="0"/>
                  </a:lnTo>
                  <a:lnTo>
                    <a:pt x="0" y="0"/>
                  </a:lnTo>
                  <a:lnTo>
                    <a:pt x="0" y="2377440"/>
                  </a:lnTo>
                  <a:close/>
                </a:path>
              </a:pathLst>
            </a:custGeom>
            <a:ln w="12700">
              <a:solidFill>
                <a:srgbClr val="1B2A4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4233671" y="1508760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640079" h="640080">
                  <a:moveTo>
                    <a:pt x="320039" y="0"/>
                  </a:moveTo>
                  <a:lnTo>
                    <a:pt x="272739" y="3469"/>
                  </a:lnTo>
                  <a:lnTo>
                    <a:pt x="227596" y="13547"/>
                  </a:lnTo>
                  <a:lnTo>
                    <a:pt x="185105" y="29740"/>
                  </a:lnTo>
                  <a:lnTo>
                    <a:pt x="145761" y="51552"/>
                  </a:lnTo>
                  <a:lnTo>
                    <a:pt x="110057" y="78490"/>
                  </a:lnTo>
                  <a:lnTo>
                    <a:pt x="78490" y="110057"/>
                  </a:lnTo>
                  <a:lnTo>
                    <a:pt x="51552" y="145761"/>
                  </a:lnTo>
                  <a:lnTo>
                    <a:pt x="29740" y="185105"/>
                  </a:lnTo>
                  <a:lnTo>
                    <a:pt x="13547" y="227596"/>
                  </a:lnTo>
                  <a:lnTo>
                    <a:pt x="3469" y="272739"/>
                  </a:lnTo>
                  <a:lnTo>
                    <a:pt x="0" y="320039"/>
                  </a:lnTo>
                  <a:lnTo>
                    <a:pt x="3469" y="367340"/>
                  </a:lnTo>
                  <a:lnTo>
                    <a:pt x="13547" y="412483"/>
                  </a:lnTo>
                  <a:lnTo>
                    <a:pt x="29740" y="454974"/>
                  </a:lnTo>
                  <a:lnTo>
                    <a:pt x="51552" y="494318"/>
                  </a:lnTo>
                  <a:lnTo>
                    <a:pt x="78490" y="530022"/>
                  </a:lnTo>
                  <a:lnTo>
                    <a:pt x="110057" y="561589"/>
                  </a:lnTo>
                  <a:lnTo>
                    <a:pt x="145761" y="588527"/>
                  </a:lnTo>
                  <a:lnTo>
                    <a:pt x="185105" y="610339"/>
                  </a:lnTo>
                  <a:lnTo>
                    <a:pt x="227596" y="626532"/>
                  </a:lnTo>
                  <a:lnTo>
                    <a:pt x="272739" y="636610"/>
                  </a:lnTo>
                  <a:lnTo>
                    <a:pt x="320039" y="640079"/>
                  </a:lnTo>
                  <a:lnTo>
                    <a:pt x="367340" y="636610"/>
                  </a:lnTo>
                  <a:lnTo>
                    <a:pt x="412483" y="626532"/>
                  </a:lnTo>
                  <a:lnTo>
                    <a:pt x="454974" y="610339"/>
                  </a:lnTo>
                  <a:lnTo>
                    <a:pt x="494318" y="588527"/>
                  </a:lnTo>
                  <a:lnTo>
                    <a:pt x="530022" y="561589"/>
                  </a:lnTo>
                  <a:lnTo>
                    <a:pt x="561589" y="530022"/>
                  </a:lnTo>
                  <a:lnTo>
                    <a:pt x="588527" y="494318"/>
                  </a:lnTo>
                  <a:lnTo>
                    <a:pt x="610339" y="454974"/>
                  </a:lnTo>
                  <a:lnTo>
                    <a:pt x="626532" y="412483"/>
                  </a:lnTo>
                  <a:lnTo>
                    <a:pt x="636610" y="367340"/>
                  </a:lnTo>
                  <a:lnTo>
                    <a:pt x="640079" y="320039"/>
                  </a:lnTo>
                  <a:lnTo>
                    <a:pt x="636610" y="272739"/>
                  </a:lnTo>
                  <a:lnTo>
                    <a:pt x="626532" y="227596"/>
                  </a:lnTo>
                  <a:lnTo>
                    <a:pt x="610339" y="185105"/>
                  </a:lnTo>
                  <a:lnTo>
                    <a:pt x="588527" y="145761"/>
                  </a:lnTo>
                  <a:lnTo>
                    <a:pt x="561589" y="110057"/>
                  </a:lnTo>
                  <a:lnTo>
                    <a:pt x="530022" y="78490"/>
                  </a:lnTo>
                  <a:lnTo>
                    <a:pt x="494318" y="51552"/>
                  </a:lnTo>
                  <a:lnTo>
                    <a:pt x="454974" y="29740"/>
                  </a:lnTo>
                  <a:lnTo>
                    <a:pt x="412483" y="13547"/>
                  </a:lnTo>
                  <a:lnTo>
                    <a:pt x="367340" y="3469"/>
                  </a:lnTo>
                  <a:lnTo>
                    <a:pt x="320039" y="0"/>
                  </a:lnTo>
                  <a:close/>
                </a:path>
              </a:pathLst>
            </a:custGeom>
            <a:solidFill>
              <a:srgbClr val="C8A84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4233671" y="1508760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640079" h="640080">
                  <a:moveTo>
                    <a:pt x="0" y="320039"/>
                  </a:moveTo>
                  <a:lnTo>
                    <a:pt x="3469" y="272739"/>
                  </a:lnTo>
                  <a:lnTo>
                    <a:pt x="13547" y="227596"/>
                  </a:lnTo>
                  <a:lnTo>
                    <a:pt x="29740" y="185105"/>
                  </a:lnTo>
                  <a:lnTo>
                    <a:pt x="51552" y="145761"/>
                  </a:lnTo>
                  <a:lnTo>
                    <a:pt x="78490" y="110057"/>
                  </a:lnTo>
                  <a:lnTo>
                    <a:pt x="110057" y="78490"/>
                  </a:lnTo>
                  <a:lnTo>
                    <a:pt x="145761" y="51552"/>
                  </a:lnTo>
                  <a:lnTo>
                    <a:pt x="185105" y="29740"/>
                  </a:lnTo>
                  <a:lnTo>
                    <a:pt x="227596" y="13547"/>
                  </a:lnTo>
                  <a:lnTo>
                    <a:pt x="272739" y="3469"/>
                  </a:lnTo>
                  <a:lnTo>
                    <a:pt x="320039" y="0"/>
                  </a:lnTo>
                  <a:lnTo>
                    <a:pt x="367340" y="3469"/>
                  </a:lnTo>
                  <a:lnTo>
                    <a:pt x="412483" y="13547"/>
                  </a:lnTo>
                  <a:lnTo>
                    <a:pt x="454974" y="29740"/>
                  </a:lnTo>
                  <a:lnTo>
                    <a:pt x="494318" y="51552"/>
                  </a:lnTo>
                  <a:lnTo>
                    <a:pt x="530022" y="78490"/>
                  </a:lnTo>
                  <a:lnTo>
                    <a:pt x="561589" y="110057"/>
                  </a:lnTo>
                  <a:lnTo>
                    <a:pt x="588527" y="145761"/>
                  </a:lnTo>
                  <a:lnTo>
                    <a:pt x="610339" y="185105"/>
                  </a:lnTo>
                  <a:lnTo>
                    <a:pt x="626532" y="227596"/>
                  </a:lnTo>
                  <a:lnTo>
                    <a:pt x="636610" y="272739"/>
                  </a:lnTo>
                  <a:lnTo>
                    <a:pt x="640079" y="320039"/>
                  </a:lnTo>
                  <a:lnTo>
                    <a:pt x="636610" y="367340"/>
                  </a:lnTo>
                  <a:lnTo>
                    <a:pt x="626532" y="412483"/>
                  </a:lnTo>
                  <a:lnTo>
                    <a:pt x="610339" y="454974"/>
                  </a:lnTo>
                  <a:lnTo>
                    <a:pt x="588527" y="494318"/>
                  </a:lnTo>
                  <a:lnTo>
                    <a:pt x="561589" y="530022"/>
                  </a:lnTo>
                  <a:lnTo>
                    <a:pt x="530022" y="561589"/>
                  </a:lnTo>
                  <a:lnTo>
                    <a:pt x="494318" y="588527"/>
                  </a:lnTo>
                  <a:lnTo>
                    <a:pt x="454974" y="610339"/>
                  </a:lnTo>
                  <a:lnTo>
                    <a:pt x="412483" y="626532"/>
                  </a:lnTo>
                  <a:lnTo>
                    <a:pt x="367340" y="636610"/>
                  </a:lnTo>
                  <a:lnTo>
                    <a:pt x="320039" y="640079"/>
                  </a:lnTo>
                  <a:lnTo>
                    <a:pt x="272739" y="636610"/>
                  </a:lnTo>
                  <a:lnTo>
                    <a:pt x="227596" y="626532"/>
                  </a:lnTo>
                  <a:lnTo>
                    <a:pt x="185105" y="610339"/>
                  </a:lnTo>
                  <a:lnTo>
                    <a:pt x="145761" y="588527"/>
                  </a:lnTo>
                  <a:lnTo>
                    <a:pt x="110057" y="561589"/>
                  </a:lnTo>
                  <a:lnTo>
                    <a:pt x="78490" y="530022"/>
                  </a:lnTo>
                  <a:lnTo>
                    <a:pt x="51552" y="494318"/>
                  </a:lnTo>
                  <a:lnTo>
                    <a:pt x="29740" y="454974"/>
                  </a:lnTo>
                  <a:lnTo>
                    <a:pt x="13547" y="412483"/>
                  </a:lnTo>
                  <a:lnTo>
                    <a:pt x="3469" y="367340"/>
                  </a:lnTo>
                  <a:lnTo>
                    <a:pt x="0" y="320039"/>
                  </a:lnTo>
                  <a:close/>
                </a:path>
              </a:pathLst>
            </a:custGeom>
            <a:ln w="12700">
              <a:solidFill>
                <a:srgbClr val="C8A84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702665" y="3005708"/>
            <a:ext cx="1838325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solidFill>
                  <a:srgbClr val="FFFFFF"/>
                </a:solidFill>
                <a:latin typeface="Calibri"/>
                <a:cs typeface="Calibri"/>
              </a:rPr>
              <a:t>Contraste</a:t>
            </a:r>
            <a:r>
              <a:rPr dirty="0" sz="10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dirty="0" sz="10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FFFFFF"/>
                </a:solidFill>
                <a:latin typeface="Calibri"/>
                <a:cs typeface="Calibri"/>
              </a:rPr>
              <a:t>usuarios</a:t>
            </a:r>
            <a:r>
              <a:rPr dirty="0" sz="100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r>
              <a:rPr dirty="0" sz="100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Calibri"/>
                <a:cs typeface="Calibri"/>
              </a:rPr>
              <a:t>escenarios.</a:t>
            </a:r>
            <a:endParaRPr sz="1000">
              <a:latin typeface="Calibri"/>
              <a:cs typeface="Calibri"/>
            </a:endParaRPr>
          </a:p>
          <a:p>
            <a:pPr algn="ctr" marL="635">
              <a:lnSpc>
                <a:spcPct val="100000"/>
              </a:lnSpc>
            </a:pPr>
            <a:r>
              <a:rPr dirty="0" sz="1000" spc="-10">
                <a:solidFill>
                  <a:srgbClr val="FFFFFF"/>
                </a:solidFill>
                <a:latin typeface="Calibri"/>
                <a:cs typeface="Calibri"/>
              </a:rPr>
              <a:t>Planificación</a:t>
            </a:r>
            <a:r>
              <a:rPr dirty="0" sz="1000" spc="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dirty="0" sz="1000" spc="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Calibri"/>
                <a:cs typeface="Calibri"/>
              </a:rPr>
              <a:t>entrevistas.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483734" y="1664335"/>
            <a:ext cx="1416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 b="1">
                <a:solidFill>
                  <a:srgbClr val="1B2A49"/>
                </a:solidFill>
                <a:latin typeface="Calibri"/>
                <a:cs typeface="Calibri"/>
              </a:rPr>
              <a:t>2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159377" y="2255647"/>
            <a:ext cx="77914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 b="1">
                <a:solidFill>
                  <a:srgbClr val="C8A84B"/>
                </a:solidFill>
                <a:latin typeface="Calibri"/>
                <a:cs typeface="Calibri"/>
              </a:rPr>
              <a:t>Elicitación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3514090" y="1335011"/>
            <a:ext cx="5339715" cy="2590165"/>
            <a:chOff x="3514090" y="1335011"/>
            <a:chExt cx="5339715" cy="2590165"/>
          </a:xfrm>
        </p:grpSpPr>
        <p:sp>
          <p:nvSpPr>
            <p:cNvPr id="25" name="object 25"/>
            <p:cNvSpPr/>
            <p:nvPr/>
          </p:nvSpPr>
          <p:spPr>
            <a:xfrm>
              <a:off x="3520440" y="2578608"/>
              <a:ext cx="2057400" cy="0"/>
            </a:xfrm>
            <a:custGeom>
              <a:avLst/>
              <a:gdLst/>
              <a:ahLst/>
              <a:cxnLst/>
              <a:rect l="l" t="t" r="r" b="b"/>
              <a:pathLst>
                <a:path w="2057400" h="0">
                  <a:moveTo>
                    <a:pt x="0" y="0"/>
                  </a:moveTo>
                  <a:lnTo>
                    <a:pt x="2057400" y="0"/>
                  </a:lnTo>
                </a:path>
              </a:pathLst>
            </a:custGeom>
            <a:ln w="12700">
              <a:solidFill>
                <a:srgbClr val="C8A84B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5852160" y="2560320"/>
              <a:ext cx="228600" cy="137160"/>
            </a:xfrm>
            <a:custGeom>
              <a:avLst/>
              <a:gdLst/>
              <a:ahLst/>
              <a:cxnLst/>
              <a:rect l="l" t="t" r="r" b="b"/>
              <a:pathLst>
                <a:path w="228600" h="137160">
                  <a:moveTo>
                    <a:pt x="228600" y="0"/>
                  </a:moveTo>
                  <a:lnTo>
                    <a:pt x="0" y="0"/>
                  </a:lnTo>
                  <a:lnTo>
                    <a:pt x="0" y="137160"/>
                  </a:lnTo>
                  <a:lnTo>
                    <a:pt x="228600" y="137160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C8A84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5852160" y="2560320"/>
              <a:ext cx="228600" cy="137160"/>
            </a:xfrm>
            <a:custGeom>
              <a:avLst/>
              <a:gdLst/>
              <a:ahLst/>
              <a:cxnLst/>
              <a:rect l="l" t="t" r="r" b="b"/>
              <a:pathLst>
                <a:path w="228600" h="137160">
                  <a:moveTo>
                    <a:pt x="0" y="137160"/>
                  </a:moveTo>
                  <a:lnTo>
                    <a:pt x="228600" y="137160"/>
                  </a:lnTo>
                  <a:lnTo>
                    <a:pt x="228600" y="0"/>
                  </a:lnTo>
                  <a:lnTo>
                    <a:pt x="0" y="0"/>
                  </a:lnTo>
                  <a:lnTo>
                    <a:pt x="0" y="137160"/>
                  </a:lnTo>
                  <a:close/>
                </a:path>
              </a:pathLst>
            </a:custGeom>
            <a:ln w="12700">
              <a:solidFill>
                <a:srgbClr val="C8A84B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8" name="object 2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35040" y="1335011"/>
              <a:ext cx="2818638" cy="2590037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6172200" y="1417320"/>
              <a:ext cx="2606040" cy="2377440"/>
            </a:xfrm>
            <a:custGeom>
              <a:avLst/>
              <a:gdLst/>
              <a:ahLst/>
              <a:cxnLst/>
              <a:rect l="l" t="t" r="r" b="b"/>
              <a:pathLst>
                <a:path w="2606040" h="2377440">
                  <a:moveTo>
                    <a:pt x="2606040" y="0"/>
                  </a:moveTo>
                  <a:lnTo>
                    <a:pt x="0" y="0"/>
                  </a:lnTo>
                  <a:lnTo>
                    <a:pt x="0" y="2377440"/>
                  </a:lnTo>
                  <a:lnTo>
                    <a:pt x="2606040" y="2377440"/>
                  </a:lnTo>
                  <a:lnTo>
                    <a:pt x="2606040" y="0"/>
                  </a:lnTo>
                  <a:close/>
                </a:path>
              </a:pathLst>
            </a:custGeom>
            <a:solidFill>
              <a:srgbClr val="1B2A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6172200" y="1417320"/>
              <a:ext cx="2606040" cy="2377440"/>
            </a:xfrm>
            <a:custGeom>
              <a:avLst/>
              <a:gdLst/>
              <a:ahLst/>
              <a:cxnLst/>
              <a:rect l="l" t="t" r="r" b="b"/>
              <a:pathLst>
                <a:path w="2606040" h="2377440">
                  <a:moveTo>
                    <a:pt x="0" y="2377440"/>
                  </a:moveTo>
                  <a:lnTo>
                    <a:pt x="2606040" y="2377440"/>
                  </a:lnTo>
                  <a:lnTo>
                    <a:pt x="2606040" y="0"/>
                  </a:lnTo>
                  <a:lnTo>
                    <a:pt x="0" y="0"/>
                  </a:lnTo>
                  <a:lnTo>
                    <a:pt x="0" y="2377440"/>
                  </a:lnTo>
                  <a:close/>
                </a:path>
              </a:pathLst>
            </a:custGeom>
            <a:ln w="12700">
              <a:solidFill>
                <a:srgbClr val="1B2A4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7159752" y="1508760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640079" h="640080">
                  <a:moveTo>
                    <a:pt x="320040" y="0"/>
                  </a:moveTo>
                  <a:lnTo>
                    <a:pt x="272739" y="3469"/>
                  </a:lnTo>
                  <a:lnTo>
                    <a:pt x="227596" y="13547"/>
                  </a:lnTo>
                  <a:lnTo>
                    <a:pt x="185105" y="29740"/>
                  </a:lnTo>
                  <a:lnTo>
                    <a:pt x="145761" y="51552"/>
                  </a:lnTo>
                  <a:lnTo>
                    <a:pt x="110057" y="78490"/>
                  </a:lnTo>
                  <a:lnTo>
                    <a:pt x="78490" y="110057"/>
                  </a:lnTo>
                  <a:lnTo>
                    <a:pt x="51552" y="145761"/>
                  </a:lnTo>
                  <a:lnTo>
                    <a:pt x="29740" y="185105"/>
                  </a:lnTo>
                  <a:lnTo>
                    <a:pt x="13547" y="227596"/>
                  </a:lnTo>
                  <a:lnTo>
                    <a:pt x="3469" y="272739"/>
                  </a:lnTo>
                  <a:lnTo>
                    <a:pt x="0" y="320039"/>
                  </a:lnTo>
                  <a:lnTo>
                    <a:pt x="3469" y="367340"/>
                  </a:lnTo>
                  <a:lnTo>
                    <a:pt x="13547" y="412483"/>
                  </a:lnTo>
                  <a:lnTo>
                    <a:pt x="29740" y="454974"/>
                  </a:lnTo>
                  <a:lnTo>
                    <a:pt x="51552" y="494318"/>
                  </a:lnTo>
                  <a:lnTo>
                    <a:pt x="78490" y="530022"/>
                  </a:lnTo>
                  <a:lnTo>
                    <a:pt x="110057" y="561589"/>
                  </a:lnTo>
                  <a:lnTo>
                    <a:pt x="145761" y="588527"/>
                  </a:lnTo>
                  <a:lnTo>
                    <a:pt x="185105" y="610339"/>
                  </a:lnTo>
                  <a:lnTo>
                    <a:pt x="227596" y="626532"/>
                  </a:lnTo>
                  <a:lnTo>
                    <a:pt x="272739" y="636610"/>
                  </a:lnTo>
                  <a:lnTo>
                    <a:pt x="320040" y="640079"/>
                  </a:lnTo>
                  <a:lnTo>
                    <a:pt x="367340" y="636610"/>
                  </a:lnTo>
                  <a:lnTo>
                    <a:pt x="412483" y="626532"/>
                  </a:lnTo>
                  <a:lnTo>
                    <a:pt x="454974" y="610339"/>
                  </a:lnTo>
                  <a:lnTo>
                    <a:pt x="494318" y="588527"/>
                  </a:lnTo>
                  <a:lnTo>
                    <a:pt x="530022" y="561589"/>
                  </a:lnTo>
                  <a:lnTo>
                    <a:pt x="561589" y="530022"/>
                  </a:lnTo>
                  <a:lnTo>
                    <a:pt x="588527" y="494318"/>
                  </a:lnTo>
                  <a:lnTo>
                    <a:pt x="610339" y="454974"/>
                  </a:lnTo>
                  <a:lnTo>
                    <a:pt x="626532" y="412483"/>
                  </a:lnTo>
                  <a:lnTo>
                    <a:pt x="636610" y="367340"/>
                  </a:lnTo>
                  <a:lnTo>
                    <a:pt x="640079" y="320039"/>
                  </a:lnTo>
                  <a:lnTo>
                    <a:pt x="636610" y="272739"/>
                  </a:lnTo>
                  <a:lnTo>
                    <a:pt x="626532" y="227596"/>
                  </a:lnTo>
                  <a:lnTo>
                    <a:pt x="610339" y="185105"/>
                  </a:lnTo>
                  <a:lnTo>
                    <a:pt x="588527" y="145761"/>
                  </a:lnTo>
                  <a:lnTo>
                    <a:pt x="561589" y="110057"/>
                  </a:lnTo>
                  <a:lnTo>
                    <a:pt x="530022" y="78490"/>
                  </a:lnTo>
                  <a:lnTo>
                    <a:pt x="494318" y="51552"/>
                  </a:lnTo>
                  <a:lnTo>
                    <a:pt x="454974" y="29740"/>
                  </a:lnTo>
                  <a:lnTo>
                    <a:pt x="412483" y="13547"/>
                  </a:lnTo>
                  <a:lnTo>
                    <a:pt x="367340" y="3469"/>
                  </a:lnTo>
                  <a:lnTo>
                    <a:pt x="320040" y="0"/>
                  </a:lnTo>
                  <a:close/>
                </a:path>
              </a:pathLst>
            </a:custGeom>
            <a:solidFill>
              <a:srgbClr val="C8A84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7159752" y="1508760"/>
              <a:ext cx="640080" cy="640080"/>
            </a:xfrm>
            <a:custGeom>
              <a:avLst/>
              <a:gdLst/>
              <a:ahLst/>
              <a:cxnLst/>
              <a:rect l="l" t="t" r="r" b="b"/>
              <a:pathLst>
                <a:path w="640079" h="640080">
                  <a:moveTo>
                    <a:pt x="0" y="320039"/>
                  </a:moveTo>
                  <a:lnTo>
                    <a:pt x="3469" y="272739"/>
                  </a:lnTo>
                  <a:lnTo>
                    <a:pt x="13547" y="227596"/>
                  </a:lnTo>
                  <a:lnTo>
                    <a:pt x="29740" y="185105"/>
                  </a:lnTo>
                  <a:lnTo>
                    <a:pt x="51552" y="145761"/>
                  </a:lnTo>
                  <a:lnTo>
                    <a:pt x="78490" y="110057"/>
                  </a:lnTo>
                  <a:lnTo>
                    <a:pt x="110057" y="78490"/>
                  </a:lnTo>
                  <a:lnTo>
                    <a:pt x="145761" y="51552"/>
                  </a:lnTo>
                  <a:lnTo>
                    <a:pt x="185105" y="29740"/>
                  </a:lnTo>
                  <a:lnTo>
                    <a:pt x="227596" y="13547"/>
                  </a:lnTo>
                  <a:lnTo>
                    <a:pt x="272739" y="3469"/>
                  </a:lnTo>
                  <a:lnTo>
                    <a:pt x="320040" y="0"/>
                  </a:lnTo>
                  <a:lnTo>
                    <a:pt x="367340" y="3469"/>
                  </a:lnTo>
                  <a:lnTo>
                    <a:pt x="412483" y="13547"/>
                  </a:lnTo>
                  <a:lnTo>
                    <a:pt x="454974" y="29740"/>
                  </a:lnTo>
                  <a:lnTo>
                    <a:pt x="494318" y="51552"/>
                  </a:lnTo>
                  <a:lnTo>
                    <a:pt x="530022" y="78490"/>
                  </a:lnTo>
                  <a:lnTo>
                    <a:pt x="561589" y="110057"/>
                  </a:lnTo>
                  <a:lnTo>
                    <a:pt x="588527" y="145761"/>
                  </a:lnTo>
                  <a:lnTo>
                    <a:pt x="610339" y="185105"/>
                  </a:lnTo>
                  <a:lnTo>
                    <a:pt x="626532" y="227596"/>
                  </a:lnTo>
                  <a:lnTo>
                    <a:pt x="636610" y="272739"/>
                  </a:lnTo>
                  <a:lnTo>
                    <a:pt x="640079" y="320039"/>
                  </a:lnTo>
                  <a:lnTo>
                    <a:pt x="636610" y="367340"/>
                  </a:lnTo>
                  <a:lnTo>
                    <a:pt x="626532" y="412483"/>
                  </a:lnTo>
                  <a:lnTo>
                    <a:pt x="610339" y="454974"/>
                  </a:lnTo>
                  <a:lnTo>
                    <a:pt x="588527" y="494318"/>
                  </a:lnTo>
                  <a:lnTo>
                    <a:pt x="561589" y="530022"/>
                  </a:lnTo>
                  <a:lnTo>
                    <a:pt x="530022" y="561589"/>
                  </a:lnTo>
                  <a:lnTo>
                    <a:pt x="494318" y="588527"/>
                  </a:lnTo>
                  <a:lnTo>
                    <a:pt x="454974" y="610339"/>
                  </a:lnTo>
                  <a:lnTo>
                    <a:pt x="412483" y="626532"/>
                  </a:lnTo>
                  <a:lnTo>
                    <a:pt x="367340" y="636610"/>
                  </a:lnTo>
                  <a:lnTo>
                    <a:pt x="320040" y="640079"/>
                  </a:lnTo>
                  <a:lnTo>
                    <a:pt x="272739" y="636610"/>
                  </a:lnTo>
                  <a:lnTo>
                    <a:pt x="227596" y="626532"/>
                  </a:lnTo>
                  <a:lnTo>
                    <a:pt x="185105" y="610339"/>
                  </a:lnTo>
                  <a:lnTo>
                    <a:pt x="145761" y="588527"/>
                  </a:lnTo>
                  <a:lnTo>
                    <a:pt x="110057" y="561589"/>
                  </a:lnTo>
                  <a:lnTo>
                    <a:pt x="78490" y="530022"/>
                  </a:lnTo>
                  <a:lnTo>
                    <a:pt x="51552" y="494318"/>
                  </a:lnTo>
                  <a:lnTo>
                    <a:pt x="29740" y="454974"/>
                  </a:lnTo>
                  <a:lnTo>
                    <a:pt x="13547" y="412483"/>
                  </a:lnTo>
                  <a:lnTo>
                    <a:pt x="3469" y="367340"/>
                  </a:lnTo>
                  <a:lnTo>
                    <a:pt x="0" y="320039"/>
                  </a:lnTo>
                  <a:close/>
                </a:path>
              </a:pathLst>
            </a:custGeom>
            <a:ln w="12700">
              <a:solidFill>
                <a:srgbClr val="C8A84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/>
          <p:cNvSpPr txBox="1"/>
          <p:nvPr/>
        </p:nvSpPr>
        <p:spPr>
          <a:xfrm>
            <a:off x="3696080" y="3005708"/>
            <a:ext cx="170561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59385" marR="5080" indent="-146685">
              <a:lnSpc>
                <a:spcPct val="100000"/>
              </a:lnSpc>
              <a:spcBef>
                <a:spcPts val="95"/>
              </a:spcBef>
            </a:pPr>
            <a:r>
              <a:rPr dirty="0" sz="1000" spc="-10">
                <a:solidFill>
                  <a:srgbClr val="FFFFFF"/>
                </a:solidFill>
                <a:latin typeface="Calibri"/>
                <a:cs typeface="Calibri"/>
              </a:rPr>
              <a:t>Análisis</a:t>
            </a:r>
            <a:r>
              <a:rPr dirty="0" sz="100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dirty="0" sz="10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FFFFFF"/>
                </a:solidFill>
                <a:latin typeface="Calibri"/>
                <a:cs typeface="Calibri"/>
              </a:rPr>
              <a:t>actas,</a:t>
            </a:r>
            <a:r>
              <a:rPr dirty="0" sz="10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FFFFFF"/>
                </a:solidFill>
                <a:latin typeface="Calibri"/>
                <a:cs typeface="Calibri"/>
              </a:rPr>
              <a:t>agrupación</a:t>
            </a:r>
            <a:r>
              <a:rPr dirty="0" sz="1000" spc="-25">
                <a:solidFill>
                  <a:srgbClr val="FFFFFF"/>
                </a:solidFill>
                <a:latin typeface="Calibri"/>
                <a:cs typeface="Calibri"/>
              </a:rPr>
              <a:t> por</a:t>
            </a:r>
            <a:r>
              <a:rPr dirty="0" sz="1000" spc="-10">
                <a:solidFill>
                  <a:srgbClr val="FFFFFF"/>
                </a:solidFill>
                <a:latin typeface="Calibri"/>
                <a:cs typeface="Calibri"/>
              </a:rPr>
              <a:t> funcionalidad</a:t>
            </a:r>
            <a:r>
              <a:rPr dirty="0" sz="1000">
                <a:solidFill>
                  <a:srgbClr val="FFFFFF"/>
                </a:solidFill>
                <a:latin typeface="Calibri"/>
                <a:cs typeface="Calibri"/>
              </a:rPr>
              <a:t> y</a:t>
            </a:r>
            <a:r>
              <a:rPr dirty="0" sz="1000" spc="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Calibri"/>
                <a:cs typeface="Calibri"/>
              </a:rPr>
              <a:t>escenarios.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410450" y="1664335"/>
            <a:ext cx="14160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 b="1">
                <a:solidFill>
                  <a:srgbClr val="1B2A49"/>
                </a:solidFill>
                <a:latin typeface="Calibri"/>
                <a:cs typeface="Calibri"/>
              </a:rPr>
              <a:t>3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945630" y="2255647"/>
            <a:ext cx="106108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 b="1">
                <a:solidFill>
                  <a:srgbClr val="C8A84B"/>
                </a:solidFill>
                <a:latin typeface="Calibri"/>
                <a:cs typeface="Calibri"/>
              </a:rPr>
              <a:t>Especificación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6446520" y="2578607"/>
            <a:ext cx="2057400" cy="0"/>
          </a:xfrm>
          <a:custGeom>
            <a:avLst/>
            <a:gdLst/>
            <a:ahLst/>
            <a:cxnLst/>
            <a:rect l="l" t="t" r="r" b="b"/>
            <a:pathLst>
              <a:path w="2057400" h="0">
                <a:moveTo>
                  <a:pt x="0" y="0"/>
                </a:moveTo>
                <a:lnTo>
                  <a:pt x="2057400" y="0"/>
                </a:lnTo>
              </a:path>
            </a:pathLst>
          </a:custGeom>
          <a:ln w="12700">
            <a:solidFill>
              <a:srgbClr val="C8A84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6555740" y="3005708"/>
            <a:ext cx="1836420" cy="3302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54305" marR="5080" indent="-14224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solidFill>
                  <a:srgbClr val="FFFFFF"/>
                </a:solidFill>
                <a:latin typeface="Calibri"/>
                <a:cs typeface="Calibri"/>
              </a:rPr>
              <a:t>Fichas</a:t>
            </a:r>
            <a:r>
              <a:rPr dirty="0" sz="10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dirty="0" sz="1000" spc="-10">
                <a:solidFill>
                  <a:srgbClr val="FFFFFF"/>
                </a:solidFill>
                <a:latin typeface="Calibri"/>
                <a:cs typeface="Calibri"/>
              </a:rPr>
              <a:t> especificación,</a:t>
            </a:r>
            <a:r>
              <a:rPr dirty="0" sz="1000" spc="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FFFFFF"/>
                </a:solidFill>
                <a:latin typeface="Calibri"/>
                <a:cs typeface="Calibri"/>
              </a:rPr>
              <a:t>catálogo</a:t>
            </a:r>
            <a:r>
              <a:rPr dirty="0" sz="10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00" spc="-50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r>
              <a:rPr dirty="0" sz="1000" spc="-10">
                <a:solidFill>
                  <a:srgbClr val="FFFFFF"/>
                </a:solidFill>
                <a:latin typeface="Calibri"/>
                <a:cs typeface="Calibri"/>
              </a:rPr>
              <a:t> versionamiento</a:t>
            </a:r>
            <a:r>
              <a:rPr dirty="0" sz="1000" spc="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dirty="0" sz="1000" spc="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FFFFFF"/>
                </a:solidFill>
                <a:latin typeface="Calibri"/>
                <a:cs typeface="Calibri"/>
              </a:rPr>
              <a:t>requisitos.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57200" y="3977640"/>
            <a:ext cx="8321040" cy="457200"/>
          </a:xfrm>
          <a:prstGeom prst="rect">
            <a:avLst/>
          </a:prstGeom>
          <a:solidFill>
            <a:srgbClr val="EAEFFA"/>
          </a:solidFill>
        </p:spPr>
        <p:txBody>
          <a:bodyPr wrap="square" lIns="0" tIns="13716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80"/>
              </a:spcBef>
            </a:pPr>
            <a:r>
              <a:rPr dirty="0" sz="1100" i="1">
                <a:solidFill>
                  <a:srgbClr val="1B2A49"/>
                </a:solidFill>
                <a:latin typeface="Calibri"/>
                <a:cs typeface="Calibri"/>
              </a:rPr>
              <a:t>Resultado</a:t>
            </a:r>
            <a:r>
              <a:rPr dirty="0" sz="1100" spc="-40" i="1">
                <a:solidFill>
                  <a:srgbClr val="1B2A49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1B2A49"/>
                </a:solidFill>
                <a:latin typeface="Calibri"/>
                <a:cs typeface="Calibri"/>
              </a:rPr>
              <a:t>final:</a:t>
            </a:r>
            <a:r>
              <a:rPr dirty="0" sz="1100" spc="-20" i="1">
                <a:solidFill>
                  <a:srgbClr val="1B2A49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1B2A49"/>
                </a:solidFill>
                <a:latin typeface="Calibri"/>
                <a:cs typeface="Calibri"/>
              </a:rPr>
              <a:t>Ficha</a:t>
            </a:r>
            <a:r>
              <a:rPr dirty="0" sz="1100" spc="-15" i="1">
                <a:solidFill>
                  <a:srgbClr val="1B2A49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1B2A49"/>
                </a:solidFill>
                <a:latin typeface="Calibri"/>
                <a:cs typeface="Calibri"/>
              </a:rPr>
              <a:t>de</a:t>
            </a:r>
            <a:r>
              <a:rPr dirty="0" sz="1100" spc="-20" i="1">
                <a:solidFill>
                  <a:srgbClr val="1B2A49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1B2A49"/>
                </a:solidFill>
                <a:latin typeface="Calibri"/>
                <a:cs typeface="Calibri"/>
              </a:rPr>
              <a:t>especificación</a:t>
            </a:r>
            <a:r>
              <a:rPr dirty="0" sz="1100" spc="-20" i="1">
                <a:solidFill>
                  <a:srgbClr val="1B2A49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1B2A49"/>
                </a:solidFill>
                <a:latin typeface="Calibri"/>
                <a:cs typeface="Calibri"/>
              </a:rPr>
              <a:t>de</a:t>
            </a:r>
            <a:r>
              <a:rPr dirty="0" sz="1100" spc="-20" i="1">
                <a:solidFill>
                  <a:srgbClr val="1B2A49"/>
                </a:solidFill>
                <a:latin typeface="Calibri"/>
                <a:cs typeface="Calibri"/>
              </a:rPr>
              <a:t> </a:t>
            </a:r>
            <a:r>
              <a:rPr dirty="0" sz="1100" spc="-10" i="1">
                <a:solidFill>
                  <a:srgbClr val="1B2A49"/>
                </a:solidFill>
                <a:latin typeface="Calibri"/>
                <a:cs typeface="Calibri"/>
              </a:rPr>
              <a:t>requisitos</a:t>
            </a:r>
            <a:r>
              <a:rPr dirty="0" sz="1100" spc="-50" i="1">
                <a:solidFill>
                  <a:srgbClr val="1B2A49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1B2A49"/>
                </a:solidFill>
                <a:latin typeface="Calibri"/>
                <a:cs typeface="Calibri"/>
              </a:rPr>
              <a:t>funcionales</a:t>
            </a:r>
            <a:r>
              <a:rPr dirty="0" sz="1100" spc="-25" i="1">
                <a:solidFill>
                  <a:srgbClr val="1B2A49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1B2A49"/>
                </a:solidFill>
                <a:latin typeface="Calibri"/>
                <a:cs typeface="Calibri"/>
              </a:rPr>
              <a:t>→</a:t>
            </a:r>
            <a:r>
              <a:rPr dirty="0" sz="1100" spc="-10" i="1">
                <a:solidFill>
                  <a:srgbClr val="1B2A49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1B2A49"/>
                </a:solidFill>
                <a:latin typeface="Calibri"/>
                <a:cs typeface="Calibri"/>
              </a:rPr>
              <a:t>SRS</a:t>
            </a:r>
            <a:r>
              <a:rPr dirty="0" sz="1100" spc="-15" i="1">
                <a:solidFill>
                  <a:srgbClr val="1B2A49"/>
                </a:solidFill>
                <a:latin typeface="Calibri"/>
                <a:cs typeface="Calibri"/>
              </a:rPr>
              <a:t> </a:t>
            </a:r>
            <a:r>
              <a:rPr dirty="0" sz="1100" i="1">
                <a:solidFill>
                  <a:srgbClr val="1B2A49"/>
                </a:solidFill>
                <a:latin typeface="Calibri"/>
                <a:cs typeface="Calibri"/>
              </a:rPr>
              <a:t>IEEE</a:t>
            </a:r>
            <a:r>
              <a:rPr dirty="0" sz="1100" spc="-20" i="1">
                <a:solidFill>
                  <a:srgbClr val="1B2A49"/>
                </a:solidFill>
                <a:latin typeface="Calibri"/>
                <a:cs typeface="Calibri"/>
              </a:rPr>
              <a:t> </a:t>
            </a:r>
            <a:r>
              <a:rPr dirty="0" sz="1100" spc="-25" i="1">
                <a:solidFill>
                  <a:srgbClr val="1B2A49"/>
                </a:solidFill>
                <a:latin typeface="Calibri"/>
                <a:cs typeface="Calibri"/>
              </a:rPr>
              <a:t>830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7027" y="99440"/>
            <a:ext cx="3126740" cy="1701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 spc="-10" b="1">
                <a:solidFill>
                  <a:srgbClr val="FFFFFF"/>
                </a:solidFill>
                <a:latin typeface="Calibri"/>
                <a:cs typeface="Calibri"/>
              </a:rPr>
              <a:t>Estándares</a:t>
            </a:r>
            <a:r>
              <a:rPr dirty="0" sz="950" spc="-1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r>
              <a:rPr dirty="0" sz="950" spc="-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FFFFFF"/>
                </a:solidFill>
                <a:latin typeface="Calibri"/>
                <a:cs typeface="Calibri"/>
              </a:rPr>
              <a:t>Métricas</a:t>
            </a:r>
            <a:r>
              <a:rPr dirty="0" sz="950" spc="-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dirty="0" sz="950" spc="-1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FFFFFF"/>
                </a:solidFill>
                <a:latin typeface="Calibri"/>
                <a:cs typeface="Calibri"/>
              </a:rPr>
              <a:t>Calidad</a:t>
            </a:r>
            <a:r>
              <a:rPr dirty="0" sz="950" spc="1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FFFFFF"/>
                </a:solidFill>
                <a:latin typeface="Calibri"/>
                <a:cs typeface="Calibri"/>
              </a:rPr>
              <a:t>en</a:t>
            </a:r>
            <a:r>
              <a:rPr dirty="0" sz="950" spc="-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FFFFFF"/>
                </a:solidFill>
                <a:latin typeface="Calibri"/>
                <a:cs typeface="Calibri"/>
              </a:rPr>
              <a:t>el</a:t>
            </a:r>
            <a:r>
              <a:rPr dirty="0" sz="950" spc="-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FFFFFF"/>
                </a:solidFill>
                <a:latin typeface="Calibri"/>
                <a:cs typeface="Calibri"/>
              </a:rPr>
              <a:t>Desarrollo</a:t>
            </a:r>
            <a:r>
              <a:rPr dirty="0" sz="950" spc="1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dirty="0" sz="950" spc="-1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spc="-10" b="1">
                <a:solidFill>
                  <a:srgbClr val="FFFFFF"/>
                </a:solidFill>
                <a:latin typeface="Calibri"/>
                <a:cs typeface="Calibri"/>
              </a:rPr>
              <a:t>Software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0198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10"/>
              <a:t>Contexto</a:t>
            </a:r>
            <a:r>
              <a:rPr dirty="0" sz="2000" spc="-30"/>
              <a:t> </a:t>
            </a:r>
            <a:r>
              <a:rPr dirty="0" sz="2000"/>
              <a:t>de</a:t>
            </a:r>
            <a:r>
              <a:rPr dirty="0" sz="2000" spc="-25"/>
              <a:t> </a:t>
            </a:r>
            <a:r>
              <a:rPr dirty="0" sz="2000"/>
              <a:t>uso</a:t>
            </a:r>
            <a:r>
              <a:rPr dirty="0" sz="2000" spc="-15"/>
              <a:t> </a:t>
            </a:r>
            <a:r>
              <a:rPr dirty="0" sz="2000"/>
              <a:t>y</a:t>
            </a:r>
            <a:r>
              <a:rPr dirty="0" sz="2000" spc="-35"/>
              <a:t> </a:t>
            </a:r>
            <a:r>
              <a:rPr dirty="0" sz="2000" spc="-10" i="1">
                <a:latin typeface="Calibri"/>
                <a:cs typeface="Calibri"/>
              </a:rPr>
              <a:t>stakeholders</a:t>
            </a:r>
            <a:r>
              <a:rPr dirty="0" sz="2000" spc="-45" i="1">
                <a:latin typeface="Calibri"/>
                <a:cs typeface="Calibri"/>
              </a:rPr>
              <a:t> </a:t>
            </a:r>
            <a:r>
              <a:rPr dirty="0" sz="2000"/>
              <a:t>en</a:t>
            </a:r>
            <a:r>
              <a:rPr dirty="0" sz="2000" spc="-15"/>
              <a:t> </a:t>
            </a:r>
            <a:r>
              <a:rPr dirty="0" sz="2000"/>
              <a:t>la</a:t>
            </a:r>
            <a:r>
              <a:rPr dirty="0" sz="2000" spc="-20"/>
              <a:t> </a:t>
            </a:r>
            <a:r>
              <a:rPr dirty="0" sz="2000" spc="-10"/>
              <a:t>especificación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84404" y="1071372"/>
            <a:ext cx="2882265" cy="1473835"/>
            <a:chOff x="184404" y="1071372"/>
            <a:chExt cx="2882265" cy="147383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4404" y="1071372"/>
              <a:ext cx="2881884" cy="1473708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74320" y="1125474"/>
              <a:ext cx="2743200" cy="1334770"/>
            </a:xfrm>
            <a:custGeom>
              <a:avLst/>
              <a:gdLst/>
              <a:ahLst/>
              <a:cxnLst/>
              <a:rect l="l" t="t" r="r" b="b"/>
              <a:pathLst>
                <a:path w="2743200" h="1334770">
                  <a:moveTo>
                    <a:pt x="0" y="1334643"/>
                  </a:moveTo>
                  <a:lnTo>
                    <a:pt x="2743200" y="1334643"/>
                  </a:lnTo>
                  <a:lnTo>
                    <a:pt x="2743200" y="0"/>
                  </a:lnTo>
                  <a:lnTo>
                    <a:pt x="0" y="0"/>
                  </a:lnTo>
                  <a:lnTo>
                    <a:pt x="0" y="1334643"/>
                  </a:lnTo>
                  <a:close/>
                </a:path>
              </a:pathLst>
            </a:custGeom>
            <a:ln w="12700">
              <a:solidFill>
                <a:srgbClr val="C8A84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274320" y="1125410"/>
            <a:ext cx="2743200" cy="384175"/>
          </a:xfrm>
          <a:prstGeom prst="rect">
            <a:avLst/>
          </a:prstGeom>
          <a:solidFill>
            <a:srgbClr val="1B2A49"/>
          </a:solidFill>
          <a:ln w="12700">
            <a:solidFill>
              <a:srgbClr val="1B2A49"/>
            </a:solidFill>
          </a:ln>
        </p:spPr>
        <p:txBody>
          <a:bodyPr wrap="square" lIns="0" tIns="8191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645"/>
              </a:spcBef>
            </a:pPr>
            <a:r>
              <a:rPr dirty="0" sz="1300" b="1">
                <a:solidFill>
                  <a:srgbClr val="C8A84B"/>
                </a:solidFill>
                <a:latin typeface="Calibri"/>
                <a:cs typeface="Calibri"/>
              </a:rPr>
              <a:t>¿Para</a:t>
            </a:r>
            <a:r>
              <a:rPr dirty="0" sz="1300" spc="-70" b="1">
                <a:solidFill>
                  <a:srgbClr val="C8A84B"/>
                </a:solidFill>
                <a:latin typeface="Calibri"/>
                <a:cs typeface="Calibri"/>
              </a:rPr>
              <a:t> </a:t>
            </a:r>
            <a:r>
              <a:rPr dirty="0" sz="1300" spc="-20" b="1">
                <a:solidFill>
                  <a:srgbClr val="C8A84B"/>
                </a:solidFill>
                <a:latin typeface="Calibri"/>
                <a:cs typeface="Calibri"/>
              </a:rPr>
              <a:t>qué?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74320" y="1509394"/>
            <a:ext cx="2743200" cy="951230"/>
          </a:xfrm>
          <a:prstGeom prst="rect">
            <a:avLst/>
          </a:prstGeom>
          <a:solidFill>
            <a:srgbClr val="F4F4F4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60"/>
              </a:spcBef>
            </a:pPr>
            <a:endParaRPr sz="1050">
              <a:latin typeface="Times New Roman"/>
              <a:cs typeface="Times New Roman"/>
            </a:endParaRPr>
          </a:p>
          <a:p>
            <a:pPr marL="200660">
              <a:lnSpc>
                <a:spcPct val="100000"/>
              </a:lnSpc>
            </a:pP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Definir</a:t>
            </a:r>
            <a:r>
              <a:rPr dirty="0" sz="1050" spc="-1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el</a:t>
            </a:r>
            <a:r>
              <a:rPr dirty="0" sz="1050" spc="1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propósito</a:t>
            </a:r>
            <a:r>
              <a:rPr dirty="0" sz="1050" spc="-2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y</a:t>
            </a:r>
            <a:r>
              <a:rPr dirty="0" sz="1050" spc="1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1A1A2D"/>
                </a:solidFill>
                <a:latin typeface="Calibri"/>
                <a:cs typeface="Calibri"/>
              </a:rPr>
              <a:t>competencias</a:t>
            </a:r>
            <a:r>
              <a:rPr dirty="0" sz="1050" spc="-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 spc="-25">
                <a:solidFill>
                  <a:srgbClr val="1A1A2D"/>
                </a:solidFill>
                <a:latin typeface="Calibri"/>
                <a:cs typeface="Calibri"/>
              </a:rPr>
              <a:t>del</a:t>
            </a:r>
            <a:endParaRPr sz="1050">
              <a:latin typeface="Calibri"/>
              <a:cs typeface="Calibri"/>
            </a:endParaRPr>
          </a:p>
          <a:p>
            <a:pPr marL="200660">
              <a:lnSpc>
                <a:spcPct val="100000"/>
              </a:lnSpc>
            </a:pP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software</a:t>
            </a:r>
            <a:r>
              <a:rPr dirty="0" sz="1050" spc="-3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mediante</a:t>
            </a:r>
            <a:r>
              <a:rPr dirty="0" sz="1050" spc="-2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el</a:t>
            </a:r>
            <a:r>
              <a:rPr dirty="0" sz="1050" spc="-3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Acta</a:t>
            </a:r>
            <a:r>
              <a:rPr dirty="0" sz="1050" spc="-1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de</a:t>
            </a:r>
            <a:r>
              <a:rPr dirty="0" sz="1050" spc="-10">
                <a:solidFill>
                  <a:srgbClr val="1A1A2D"/>
                </a:solidFill>
                <a:latin typeface="Calibri"/>
                <a:cs typeface="Calibri"/>
              </a:rPr>
              <a:t> Objetivos.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128772" y="1071372"/>
            <a:ext cx="2882265" cy="1473835"/>
            <a:chOff x="3128772" y="1071372"/>
            <a:chExt cx="2882265" cy="1473835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28772" y="1071372"/>
              <a:ext cx="2881883" cy="1473708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3218688" y="1125474"/>
              <a:ext cx="2743200" cy="1334770"/>
            </a:xfrm>
            <a:custGeom>
              <a:avLst/>
              <a:gdLst/>
              <a:ahLst/>
              <a:cxnLst/>
              <a:rect l="l" t="t" r="r" b="b"/>
              <a:pathLst>
                <a:path w="2743200" h="1334770">
                  <a:moveTo>
                    <a:pt x="0" y="1334643"/>
                  </a:moveTo>
                  <a:lnTo>
                    <a:pt x="2743200" y="1334643"/>
                  </a:lnTo>
                  <a:lnTo>
                    <a:pt x="2743200" y="0"/>
                  </a:lnTo>
                  <a:lnTo>
                    <a:pt x="0" y="0"/>
                  </a:lnTo>
                  <a:lnTo>
                    <a:pt x="0" y="1334643"/>
                  </a:lnTo>
                  <a:close/>
                </a:path>
              </a:pathLst>
            </a:custGeom>
            <a:ln w="12700">
              <a:solidFill>
                <a:srgbClr val="C8A84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3218688" y="1125410"/>
            <a:ext cx="2743200" cy="384175"/>
          </a:xfrm>
          <a:prstGeom prst="rect">
            <a:avLst/>
          </a:prstGeom>
          <a:solidFill>
            <a:srgbClr val="1B2A49"/>
          </a:solidFill>
          <a:ln w="12700">
            <a:solidFill>
              <a:srgbClr val="1B2A49"/>
            </a:solidFill>
          </a:ln>
        </p:spPr>
        <p:txBody>
          <a:bodyPr wrap="square" lIns="0" tIns="81915" rIns="0" bIns="0" rtlCol="0" vert="horz">
            <a:spAutoFit/>
          </a:bodyPr>
          <a:lstStyle/>
          <a:p>
            <a:pPr marL="681990">
              <a:lnSpc>
                <a:spcPct val="100000"/>
              </a:lnSpc>
              <a:spcBef>
                <a:spcPts val="645"/>
              </a:spcBef>
            </a:pPr>
            <a:r>
              <a:rPr dirty="0" sz="1300" b="1">
                <a:solidFill>
                  <a:srgbClr val="C8A84B"/>
                </a:solidFill>
                <a:latin typeface="Calibri"/>
                <a:cs typeface="Calibri"/>
              </a:rPr>
              <a:t>¿En</a:t>
            </a:r>
            <a:r>
              <a:rPr dirty="0" sz="1300" spc="-10" b="1">
                <a:solidFill>
                  <a:srgbClr val="C8A84B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C8A84B"/>
                </a:solidFill>
                <a:latin typeface="Calibri"/>
                <a:cs typeface="Calibri"/>
              </a:rPr>
              <a:t>qué </a:t>
            </a:r>
            <a:r>
              <a:rPr dirty="0" sz="1300" spc="-10" b="1">
                <a:solidFill>
                  <a:srgbClr val="C8A84B"/>
                </a:solidFill>
                <a:latin typeface="Calibri"/>
                <a:cs typeface="Calibri"/>
              </a:rPr>
              <a:t>escenarios?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218688" y="1509394"/>
            <a:ext cx="2743200" cy="951230"/>
          </a:xfrm>
          <a:prstGeom prst="rect">
            <a:avLst/>
          </a:prstGeom>
          <a:solidFill>
            <a:srgbClr val="F4F4F4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60"/>
              </a:spcBef>
            </a:pPr>
            <a:endParaRPr sz="1050">
              <a:latin typeface="Times New Roman"/>
              <a:cs typeface="Times New Roman"/>
            </a:endParaRPr>
          </a:p>
          <a:p>
            <a:pPr marL="201295">
              <a:lnSpc>
                <a:spcPct val="100000"/>
              </a:lnSpc>
            </a:pP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Tabla</a:t>
            </a:r>
            <a:r>
              <a:rPr dirty="0" sz="1050" spc="-4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de</a:t>
            </a:r>
            <a:r>
              <a:rPr dirty="0" sz="1050" spc="-1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escenarios:</a:t>
            </a:r>
            <a:r>
              <a:rPr dirty="0" sz="1050" spc="-3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código,</a:t>
            </a:r>
            <a:r>
              <a:rPr dirty="0" sz="1050" spc="-10">
                <a:solidFill>
                  <a:srgbClr val="1A1A2D"/>
                </a:solidFill>
                <a:latin typeface="Calibri"/>
                <a:cs typeface="Calibri"/>
              </a:rPr>
              <a:t> nombre,</a:t>
            </a:r>
            <a:endParaRPr sz="1050">
              <a:latin typeface="Calibri"/>
              <a:cs typeface="Calibri"/>
            </a:endParaRPr>
          </a:p>
          <a:p>
            <a:pPr marL="201295">
              <a:lnSpc>
                <a:spcPct val="100000"/>
              </a:lnSpc>
            </a:pP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descripción</a:t>
            </a:r>
            <a:r>
              <a:rPr dirty="0" sz="1050" spc="-3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de</a:t>
            </a:r>
            <a:r>
              <a:rPr dirty="0" sz="1050" spc="-2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cada</a:t>
            </a:r>
            <a:r>
              <a:rPr dirty="0" sz="1050" spc="-1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contexto</a:t>
            </a:r>
            <a:r>
              <a:rPr dirty="0" sz="1050" spc="-3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de</a:t>
            </a:r>
            <a:r>
              <a:rPr dirty="0" sz="1050" spc="-1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 spc="-20">
                <a:solidFill>
                  <a:srgbClr val="1A1A2D"/>
                </a:solidFill>
                <a:latin typeface="Calibri"/>
                <a:cs typeface="Calibri"/>
              </a:rPr>
              <a:t>uso.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073140" y="1071372"/>
            <a:ext cx="2882265" cy="1473835"/>
            <a:chOff x="6073140" y="1071372"/>
            <a:chExt cx="2882265" cy="1473835"/>
          </a:xfrm>
        </p:grpSpPr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73140" y="1071372"/>
              <a:ext cx="2881884" cy="1473708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6163056" y="1125474"/>
              <a:ext cx="2743200" cy="1334770"/>
            </a:xfrm>
            <a:custGeom>
              <a:avLst/>
              <a:gdLst/>
              <a:ahLst/>
              <a:cxnLst/>
              <a:rect l="l" t="t" r="r" b="b"/>
              <a:pathLst>
                <a:path w="2743200" h="1334770">
                  <a:moveTo>
                    <a:pt x="0" y="1334643"/>
                  </a:moveTo>
                  <a:lnTo>
                    <a:pt x="2743200" y="1334643"/>
                  </a:lnTo>
                  <a:lnTo>
                    <a:pt x="2743200" y="0"/>
                  </a:lnTo>
                  <a:lnTo>
                    <a:pt x="0" y="0"/>
                  </a:lnTo>
                  <a:lnTo>
                    <a:pt x="0" y="1334643"/>
                  </a:lnTo>
                  <a:close/>
                </a:path>
              </a:pathLst>
            </a:custGeom>
            <a:ln w="12700">
              <a:solidFill>
                <a:srgbClr val="C8A84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6163055" y="1125410"/>
            <a:ext cx="2743200" cy="384175"/>
          </a:xfrm>
          <a:prstGeom prst="rect">
            <a:avLst/>
          </a:prstGeom>
          <a:solidFill>
            <a:srgbClr val="1B2A49"/>
          </a:solidFill>
          <a:ln w="12700">
            <a:solidFill>
              <a:srgbClr val="1B2A49"/>
            </a:solidFill>
          </a:ln>
        </p:spPr>
        <p:txBody>
          <a:bodyPr wrap="square" lIns="0" tIns="81915" rIns="0" bIns="0" rtlCol="0" vert="horz">
            <a:spAutoFit/>
          </a:bodyPr>
          <a:lstStyle/>
          <a:p>
            <a:pPr marL="749300">
              <a:lnSpc>
                <a:spcPct val="100000"/>
              </a:lnSpc>
              <a:spcBef>
                <a:spcPts val="645"/>
              </a:spcBef>
            </a:pPr>
            <a:r>
              <a:rPr dirty="0" sz="1300" b="1">
                <a:solidFill>
                  <a:srgbClr val="C8A84B"/>
                </a:solidFill>
                <a:latin typeface="Calibri"/>
                <a:cs typeface="Calibri"/>
              </a:rPr>
              <a:t>¿Quiénes</a:t>
            </a:r>
            <a:r>
              <a:rPr dirty="0" sz="1300" spc="-15" b="1">
                <a:solidFill>
                  <a:srgbClr val="C8A84B"/>
                </a:solidFill>
                <a:latin typeface="Calibri"/>
                <a:cs typeface="Calibri"/>
              </a:rPr>
              <a:t> </a:t>
            </a:r>
            <a:r>
              <a:rPr dirty="0" sz="1300" b="1">
                <a:solidFill>
                  <a:srgbClr val="C8A84B"/>
                </a:solidFill>
                <a:latin typeface="Calibri"/>
                <a:cs typeface="Calibri"/>
              </a:rPr>
              <a:t>lo</a:t>
            </a:r>
            <a:r>
              <a:rPr dirty="0" sz="1300" spc="-25" b="1">
                <a:solidFill>
                  <a:srgbClr val="C8A84B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C8A84B"/>
                </a:solidFill>
                <a:latin typeface="Calibri"/>
                <a:cs typeface="Calibri"/>
              </a:rPr>
              <a:t>usan?</a:t>
            </a:r>
            <a:endParaRPr sz="1300">
              <a:latin typeface="Calibri"/>
              <a:cs typeface="Calibr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163055" y="1509394"/>
            <a:ext cx="2743200" cy="951230"/>
          </a:xfrm>
          <a:prstGeom prst="rect">
            <a:avLst/>
          </a:prstGeom>
          <a:solidFill>
            <a:srgbClr val="F4F4F4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0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60"/>
              </a:spcBef>
            </a:pPr>
            <a:endParaRPr sz="1050">
              <a:latin typeface="Times New Roman"/>
              <a:cs typeface="Times New Roman"/>
            </a:endParaRPr>
          </a:p>
          <a:p>
            <a:pPr marL="201930">
              <a:lnSpc>
                <a:spcPct val="100000"/>
              </a:lnSpc>
            </a:pP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Tabla</a:t>
            </a:r>
            <a:r>
              <a:rPr dirty="0" sz="1050" spc="-3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de usuarios:</a:t>
            </a:r>
            <a:r>
              <a:rPr dirty="0" sz="1050" spc="-3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código,</a:t>
            </a:r>
            <a:r>
              <a:rPr dirty="0" sz="1050" spc="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rol</a:t>
            </a:r>
            <a:r>
              <a:rPr dirty="0" sz="1050" spc="-2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y para</a:t>
            </a:r>
            <a:r>
              <a:rPr dirty="0" sz="1050" spc="-3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 spc="-25">
                <a:solidFill>
                  <a:srgbClr val="1A1A2D"/>
                </a:solidFill>
                <a:latin typeface="Calibri"/>
                <a:cs typeface="Calibri"/>
              </a:rPr>
              <a:t>qué</a:t>
            </a:r>
            <a:endParaRPr sz="1050">
              <a:latin typeface="Calibri"/>
              <a:cs typeface="Calibri"/>
            </a:endParaRPr>
          </a:p>
          <a:p>
            <a:pPr marL="201930">
              <a:lnSpc>
                <a:spcPct val="100000"/>
              </a:lnSpc>
            </a:pP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usa</a:t>
            </a:r>
            <a:r>
              <a:rPr dirty="0" sz="1050" spc="-1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el</a:t>
            </a:r>
            <a:r>
              <a:rPr dirty="0" sz="1050" spc="-2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sistema</a:t>
            </a:r>
            <a:r>
              <a:rPr dirty="0" sz="1050" spc="-1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cada</a:t>
            </a:r>
            <a:r>
              <a:rPr dirty="0" sz="1050" spc="-3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1A1A2D"/>
                </a:solidFill>
                <a:latin typeface="Calibri"/>
                <a:cs typeface="Calibri"/>
              </a:rPr>
              <a:t>actor.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35940" y="2679572"/>
            <a:ext cx="1827530" cy="7512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300" spc="-10" b="1">
                <a:solidFill>
                  <a:srgbClr val="1B2A49"/>
                </a:solidFill>
                <a:latin typeface="Calibri"/>
                <a:cs typeface="Calibri"/>
              </a:rPr>
              <a:t>Stakeholders</a:t>
            </a:r>
            <a:r>
              <a:rPr dirty="0" sz="1300" b="1">
                <a:solidFill>
                  <a:srgbClr val="1B2A49"/>
                </a:solidFill>
                <a:latin typeface="Calibri"/>
                <a:cs typeface="Calibri"/>
              </a:rPr>
              <a:t> </a:t>
            </a:r>
            <a:r>
              <a:rPr dirty="0" sz="1300" spc="-10" b="1">
                <a:solidFill>
                  <a:srgbClr val="1B2A49"/>
                </a:solidFill>
                <a:latin typeface="Calibri"/>
                <a:cs typeface="Calibri"/>
              </a:rPr>
              <a:t>identificados</a:t>
            </a:r>
            <a:endParaRPr sz="13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50"/>
              </a:spcBef>
            </a:pPr>
            <a:r>
              <a:rPr dirty="0" sz="1100" b="1">
                <a:solidFill>
                  <a:srgbClr val="1F4E79"/>
                </a:solidFill>
                <a:latin typeface="Calibri"/>
                <a:cs typeface="Calibri"/>
              </a:rPr>
              <a:t>Institución</a:t>
            </a:r>
            <a:r>
              <a:rPr dirty="0" sz="1100" spc="-55" b="1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dirty="0" sz="1100" spc="-10" b="1">
                <a:solidFill>
                  <a:srgbClr val="1F4E79"/>
                </a:solidFill>
                <a:latin typeface="Calibri"/>
                <a:cs typeface="Calibri"/>
              </a:rPr>
              <a:t>usuaria</a:t>
            </a:r>
            <a:endParaRPr sz="1100">
              <a:latin typeface="Calibri"/>
              <a:cs typeface="Calibri"/>
            </a:endParaRPr>
          </a:p>
          <a:p>
            <a:pPr marL="138430" indent="-125730">
              <a:lnSpc>
                <a:spcPct val="100000"/>
              </a:lnSpc>
              <a:spcBef>
                <a:spcPts val="725"/>
              </a:spcBef>
              <a:buChar char="•"/>
              <a:tabLst>
                <a:tab pos="138430" algn="l"/>
              </a:tabLst>
            </a:pP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Director</a:t>
            </a:r>
            <a:r>
              <a:rPr dirty="0" sz="1050" spc="-2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1A1A2D"/>
                </a:solidFill>
                <a:latin typeface="Calibri"/>
                <a:cs typeface="Calibri"/>
              </a:rPr>
              <a:t>médico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35940" y="3518661"/>
            <a:ext cx="103505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38430" indent="-125730">
              <a:lnSpc>
                <a:spcPct val="100000"/>
              </a:lnSpc>
              <a:spcBef>
                <a:spcPts val="105"/>
              </a:spcBef>
              <a:buChar char="•"/>
              <a:tabLst>
                <a:tab pos="138430" algn="l"/>
              </a:tabLst>
            </a:pP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Jefe</a:t>
            </a:r>
            <a:r>
              <a:rPr dirty="0" sz="1050" spc="-1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de</a:t>
            </a:r>
            <a:r>
              <a:rPr dirty="0" sz="1050" spc="-2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1A1A2D"/>
                </a:solidFill>
                <a:latin typeface="Calibri"/>
                <a:cs typeface="Calibri"/>
              </a:rPr>
              <a:t>sistemas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35940" y="3793337"/>
            <a:ext cx="142367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38430" indent="-125730">
              <a:lnSpc>
                <a:spcPct val="100000"/>
              </a:lnSpc>
              <a:spcBef>
                <a:spcPts val="105"/>
              </a:spcBef>
              <a:buChar char="•"/>
              <a:tabLst>
                <a:tab pos="138430" algn="l"/>
              </a:tabLst>
            </a:pP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Coordinador</a:t>
            </a:r>
            <a:r>
              <a:rPr dirty="0" sz="1050" spc="-3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de</a:t>
            </a:r>
            <a:r>
              <a:rPr dirty="0" sz="1050" spc="-10">
                <a:solidFill>
                  <a:srgbClr val="1A1A2D"/>
                </a:solidFill>
                <a:latin typeface="Calibri"/>
                <a:cs typeface="Calibri"/>
              </a:rPr>
              <a:t> agenda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35940" y="4067657"/>
            <a:ext cx="136842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38430" indent="-125730">
              <a:lnSpc>
                <a:spcPct val="100000"/>
              </a:lnSpc>
              <a:spcBef>
                <a:spcPts val="105"/>
              </a:spcBef>
              <a:buChar char="•"/>
              <a:tabLst>
                <a:tab pos="138430" algn="l"/>
              </a:tabLst>
            </a:pP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Responsable</a:t>
            </a:r>
            <a:r>
              <a:rPr dirty="0" sz="1050" spc="-5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1A1A2D"/>
                </a:solidFill>
                <a:latin typeface="Calibri"/>
                <a:cs typeface="Calibri"/>
              </a:rPr>
              <a:t>delegado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742815" y="2888484"/>
            <a:ext cx="1155700" cy="542290"/>
          </a:xfrm>
          <a:prstGeom prst="rect">
            <a:avLst/>
          </a:prstGeom>
        </p:spPr>
        <p:txBody>
          <a:bodyPr wrap="square" lIns="0" tIns="1092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60"/>
              </a:spcBef>
            </a:pPr>
            <a:r>
              <a:rPr dirty="0" sz="1100" b="1">
                <a:solidFill>
                  <a:srgbClr val="1F4E79"/>
                </a:solidFill>
                <a:latin typeface="Calibri"/>
                <a:cs typeface="Calibri"/>
              </a:rPr>
              <a:t>Equipo</a:t>
            </a:r>
            <a:r>
              <a:rPr dirty="0" sz="1100" spc="-25" b="1">
                <a:solidFill>
                  <a:srgbClr val="1F4E79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1F4E79"/>
                </a:solidFill>
                <a:latin typeface="Calibri"/>
                <a:cs typeface="Calibri"/>
              </a:rPr>
              <a:t>de</a:t>
            </a:r>
            <a:r>
              <a:rPr dirty="0" sz="1100" spc="-10" b="1">
                <a:solidFill>
                  <a:srgbClr val="1F4E79"/>
                </a:solidFill>
                <a:latin typeface="Calibri"/>
                <a:cs typeface="Calibri"/>
              </a:rPr>
              <a:t> proyecto</a:t>
            </a:r>
            <a:endParaRPr sz="1100">
              <a:latin typeface="Calibri"/>
              <a:cs typeface="Calibri"/>
            </a:endParaRPr>
          </a:p>
          <a:p>
            <a:pPr marL="138430" indent="-125730">
              <a:lnSpc>
                <a:spcPct val="100000"/>
              </a:lnSpc>
              <a:spcBef>
                <a:spcPts val="725"/>
              </a:spcBef>
              <a:buChar char="•"/>
              <a:tabLst>
                <a:tab pos="138430" algn="l"/>
              </a:tabLst>
            </a:pP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Jefe</a:t>
            </a:r>
            <a:r>
              <a:rPr dirty="0" sz="1050" spc="-1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de</a:t>
            </a:r>
            <a:r>
              <a:rPr dirty="0" sz="1050" spc="-2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1A1A2D"/>
                </a:solidFill>
                <a:latin typeface="Calibri"/>
                <a:cs typeface="Calibri"/>
              </a:rPr>
              <a:t>proyecto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742815" y="3518661"/>
            <a:ext cx="131572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38430" indent="-125730">
              <a:lnSpc>
                <a:spcPct val="100000"/>
              </a:lnSpc>
              <a:spcBef>
                <a:spcPts val="105"/>
              </a:spcBef>
              <a:buChar char="•"/>
              <a:tabLst>
                <a:tab pos="138430" algn="l"/>
              </a:tabLst>
            </a:pP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Analista</a:t>
            </a:r>
            <a:r>
              <a:rPr dirty="0" sz="1050" spc="-2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de</a:t>
            </a:r>
            <a:r>
              <a:rPr dirty="0" sz="1050" spc="-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1A1A2D"/>
                </a:solidFill>
                <a:latin typeface="Calibri"/>
                <a:cs typeface="Calibri"/>
              </a:rPr>
              <a:t>requisitos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742815" y="3793337"/>
            <a:ext cx="140716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38430" indent="-125730">
              <a:lnSpc>
                <a:spcPct val="100000"/>
              </a:lnSpc>
              <a:spcBef>
                <a:spcPts val="105"/>
              </a:spcBef>
              <a:buChar char="•"/>
              <a:tabLst>
                <a:tab pos="138430" algn="l"/>
              </a:tabLst>
            </a:pP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Arquitecto</a:t>
            </a:r>
            <a:r>
              <a:rPr dirty="0" sz="1050" spc="-3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de</a:t>
            </a:r>
            <a:r>
              <a:rPr dirty="0" sz="1050" spc="-10">
                <a:solidFill>
                  <a:srgbClr val="1A1A2D"/>
                </a:solidFill>
                <a:latin typeface="Calibri"/>
                <a:cs typeface="Calibri"/>
              </a:rPr>
              <a:t> software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742815" y="4067657"/>
            <a:ext cx="72517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38430" indent="-125730">
              <a:lnSpc>
                <a:spcPct val="100000"/>
              </a:lnSpc>
              <a:spcBef>
                <a:spcPts val="105"/>
              </a:spcBef>
              <a:buChar char="•"/>
              <a:tabLst>
                <a:tab pos="138430" algn="l"/>
              </a:tabLst>
            </a:pP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Equipo</a:t>
            </a:r>
            <a:r>
              <a:rPr dirty="0" sz="1050" spc="-3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 spc="-25">
                <a:solidFill>
                  <a:srgbClr val="1A1A2D"/>
                </a:solidFill>
                <a:latin typeface="Calibri"/>
                <a:cs typeface="Calibri"/>
              </a:rPr>
              <a:t>QA</a:t>
            </a:r>
            <a:endParaRPr sz="1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7027" y="99440"/>
            <a:ext cx="3126740" cy="1701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 spc="-10" b="1">
                <a:solidFill>
                  <a:srgbClr val="FFFFFF"/>
                </a:solidFill>
                <a:latin typeface="Calibri"/>
                <a:cs typeface="Calibri"/>
              </a:rPr>
              <a:t>Estándares</a:t>
            </a:r>
            <a:r>
              <a:rPr dirty="0" sz="950" spc="-1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r>
              <a:rPr dirty="0" sz="950" spc="-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FFFFFF"/>
                </a:solidFill>
                <a:latin typeface="Calibri"/>
                <a:cs typeface="Calibri"/>
              </a:rPr>
              <a:t>Métricas</a:t>
            </a:r>
            <a:r>
              <a:rPr dirty="0" sz="950" spc="-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dirty="0" sz="950" spc="-1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FFFFFF"/>
                </a:solidFill>
                <a:latin typeface="Calibri"/>
                <a:cs typeface="Calibri"/>
              </a:rPr>
              <a:t>Calidad</a:t>
            </a:r>
            <a:r>
              <a:rPr dirty="0" sz="950" spc="1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FFFFFF"/>
                </a:solidFill>
                <a:latin typeface="Calibri"/>
                <a:cs typeface="Calibri"/>
              </a:rPr>
              <a:t>en</a:t>
            </a:r>
            <a:r>
              <a:rPr dirty="0" sz="950" spc="-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FFFFFF"/>
                </a:solidFill>
                <a:latin typeface="Calibri"/>
                <a:cs typeface="Calibri"/>
              </a:rPr>
              <a:t>el</a:t>
            </a:r>
            <a:r>
              <a:rPr dirty="0" sz="950" spc="-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FFFFFF"/>
                </a:solidFill>
                <a:latin typeface="Calibri"/>
                <a:cs typeface="Calibri"/>
              </a:rPr>
              <a:t>Desarrollo</a:t>
            </a:r>
            <a:r>
              <a:rPr dirty="0" sz="950" spc="1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dirty="0" sz="950" spc="-1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spc="-10" b="1">
                <a:solidFill>
                  <a:srgbClr val="FFFFFF"/>
                </a:solidFill>
                <a:latin typeface="Calibri"/>
                <a:cs typeface="Calibri"/>
              </a:rPr>
              <a:t>Software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/>
              <a:t>Educción</a:t>
            </a:r>
            <a:r>
              <a:rPr dirty="0" sz="2000" spc="-50"/>
              <a:t> </a:t>
            </a:r>
            <a:r>
              <a:rPr dirty="0" sz="2000"/>
              <a:t>y</a:t>
            </a:r>
            <a:r>
              <a:rPr dirty="0" sz="2000" spc="-30"/>
              <a:t> </a:t>
            </a:r>
            <a:r>
              <a:rPr dirty="0" sz="2000"/>
              <a:t>elicitación</a:t>
            </a:r>
            <a:r>
              <a:rPr dirty="0" sz="2000" spc="-40"/>
              <a:t> </a:t>
            </a:r>
            <a:r>
              <a:rPr dirty="0" sz="2000"/>
              <a:t>de</a:t>
            </a:r>
            <a:r>
              <a:rPr dirty="0" sz="2000" spc="-30"/>
              <a:t> </a:t>
            </a:r>
            <a:r>
              <a:rPr dirty="0" sz="2000" spc="-10"/>
              <a:t>requisitos</a:t>
            </a:r>
            <a:endParaRPr sz="2000"/>
          </a:p>
        </p:txBody>
      </p:sp>
      <p:sp>
        <p:nvSpPr>
          <p:cNvPr id="4" name="object 4"/>
          <p:cNvSpPr txBox="1"/>
          <p:nvPr/>
        </p:nvSpPr>
        <p:spPr>
          <a:xfrm>
            <a:off x="267970" y="1072641"/>
            <a:ext cx="4127500" cy="360680"/>
          </a:xfrm>
          <a:prstGeom prst="rect">
            <a:avLst/>
          </a:prstGeom>
          <a:solidFill>
            <a:srgbClr val="1B2A49"/>
          </a:solidFill>
          <a:ln w="3175">
            <a:solidFill>
              <a:srgbClr val="1B2A49"/>
            </a:solidFill>
          </a:ln>
        </p:spPr>
        <p:txBody>
          <a:bodyPr wrap="square" lIns="0" tIns="69850" rIns="0" bIns="0" rtlCol="0" vert="horz">
            <a:spAutoFit/>
          </a:bodyPr>
          <a:lstStyle/>
          <a:p>
            <a:pPr algn="ctr" marL="635">
              <a:lnSpc>
                <a:spcPct val="100000"/>
              </a:lnSpc>
              <a:spcBef>
                <a:spcPts val="550"/>
              </a:spcBef>
            </a:pPr>
            <a:r>
              <a:rPr dirty="0" sz="1300" spc="-10" b="1">
                <a:solidFill>
                  <a:srgbClr val="C8A84B"/>
                </a:solidFill>
                <a:latin typeface="Calibri"/>
                <a:cs typeface="Calibri"/>
              </a:rPr>
              <a:t>EDUCCIÓN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86258" y="1474977"/>
            <a:ext cx="67945" cy="378460"/>
            <a:chOff x="286258" y="1474977"/>
            <a:chExt cx="67945" cy="378460"/>
          </a:xfrm>
        </p:grpSpPr>
        <p:sp>
          <p:nvSpPr>
            <p:cNvPr id="6" name="object 6"/>
            <p:cNvSpPr/>
            <p:nvPr/>
          </p:nvSpPr>
          <p:spPr>
            <a:xfrm>
              <a:off x="292608" y="1481327"/>
              <a:ext cx="55244" cy="365760"/>
            </a:xfrm>
            <a:custGeom>
              <a:avLst/>
              <a:gdLst/>
              <a:ahLst/>
              <a:cxnLst/>
              <a:rect l="l" t="t" r="r" b="b"/>
              <a:pathLst>
                <a:path w="55245" h="365760">
                  <a:moveTo>
                    <a:pt x="54864" y="0"/>
                  </a:moveTo>
                  <a:lnTo>
                    <a:pt x="0" y="0"/>
                  </a:lnTo>
                  <a:lnTo>
                    <a:pt x="0" y="365760"/>
                  </a:lnTo>
                  <a:lnTo>
                    <a:pt x="54864" y="365760"/>
                  </a:lnTo>
                  <a:lnTo>
                    <a:pt x="54864" y="0"/>
                  </a:lnTo>
                  <a:close/>
                </a:path>
              </a:pathLst>
            </a:custGeom>
            <a:solidFill>
              <a:srgbClr val="C8A84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292608" y="1481327"/>
              <a:ext cx="55244" cy="365760"/>
            </a:xfrm>
            <a:custGeom>
              <a:avLst/>
              <a:gdLst/>
              <a:ahLst/>
              <a:cxnLst/>
              <a:rect l="l" t="t" r="r" b="b"/>
              <a:pathLst>
                <a:path w="55245" h="365760">
                  <a:moveTo>
                    <a:pt x="0" y="365760"/>
                  </a:moveTo>
                  <a:lnTo>
                    <a:pt x="54864" y="365760"/>
                  </a:lnTo>
                  <a:lnTo>
                    <a:pt x="54864" y="0"/>
                  </a:lnTo>
                  <a:lnTo>
                    <a:pt x="0" y="0"/>
                  </a:lnTo>
                  <a:lnTo>
                    <a:pt x="0" y="365760"/>
                  </a:lnTo>
                  <a:close/>
                </a:path>
              </a:pathLst>
            </a:custGeom>
            <a:ln w="12699">
              <a:solidFill>
                <a:srgbClr val="C8A84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8" name="object 8"/>
          <p:cNvGrpSpPr/>
          <p:nvPr/>
        </p:nvGrpSpPr>
        <p:grpSpPr>
          <a:xfrm>
            <a:off x="286258" y="2023617"/>
            <a:ext cx="67945" cy="378460"/>
            <a:chOff x="286258" y="2023617"/>
            <a:chExt cx="67945" cy="378460"/>
          </a:xfrm>
        </p:grpSpPr>
        <p:sp>
          <p:nvSpPr>
            <p:cNvPr id="9" name="object 9"/>
            <p:cNvSpPr/>
            <p:nvPr/>
          </p:nvSpPr>
          <p:spPr>
            <a:xfrm>
              <a:off x="292608" y="2029967"/>
              <a:ext cx="55244" cy="365760"/>
            </a:xfrm>
            <a:custGeom>
              <a:avLst/>
              <a:gdLst/>
              <a:ahLst/>
              <a:cxnLst/>
              <a:rect l="l" t="t" r="r" b="b"/>
              <a:pathLst>
                <a:path w="55245" h="365760">
                  <a:moveTo>
                    <a:pt x="54864" y="0"/>
                  </a:moveTo>
                  <a:lnTo>
                    <a:pt x="0" y="0"/>
                  </a:lnTo>
                  <a:lnTo>
                    <a:pt x="0" y="365760"/>
                  </a:lnTo>
                  <a:lnTo>
                    <a:pt x="54864" y="365760"/>
                  </a:lnTo>
                  <a:lnTo>
                    <a:pt x="54864" y="0"/>
                  </a:lnTo>
                  <a:close/>
                </a:path>
              </a:pathLst>
            </a:custGeom>
            <a:solidFill>
              <a:srgbClr val="C8A84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292608" y="2029967"/>
              <a:ext cx="55244" cy="365760"/>
            </a:xfrm>
            <a:custGeom>
              <a:avLst/>
              <a:gdLst/>
              <a:ahLst/>
              <a:cxnLst/>
              <a:rect l="l" t="t" r="r" b="b"/>
              <a:pathLst>
                <a:path w="55245" h="365760">
                  <a:moveTo>
                    <a:pt x="0" y="365760"/>
                  </a:moveTo>
                  <a:lnTo>
                    <a:pt x="54864" y="365760"/>
                  </a:lnTo>
                  <a:lnTo>
                    <a:pt x="54864" y="0"/>
                  </a:lnTo>
                  <a:lnTo>
                    <a:pt x="0" y="0"/>
                  </a:lnTo>
                  <a:lnTo>
                    <a:pt x="0" y="365760"/>
                  </a:lnTo>
                  <a:close/>
                </a:path>
              </a:pathLst>
            </a:custGeom>
            <a:ln w="12699">
              <a:solidFill>
                <a:srgbClr val="C8A84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" name="object 11"/>
          <p:cNvGrpSpPr/>
          <p:nvPr/>
        </p:nvGrpSpPr>
        <p:grpSpPr>
          <a:xfrm>
            <a:off x="286258" y="2572257"/>
            <a:ext cx="67945" cy="378460"/>
            <a:chOff x="286258" y="2572257"/>
            <a:chExt cx="67945" cy="378460"/>
          </a:xfrm>
        </p:grpSpPr>
        <p:sp>
          <p:nvSpPr>
            <p:cNvPr id="12" name="object 12"/>
            <p:cNvSpPr/>
            <p:nvPr/>
          </p:nvSpPr>
          <p:spPr>
            <a:xfrm>
              <a:off x="292608" y="2578607"/>
              <a:ext cx="55244" cy="365760"/>
            </a:xfrm>
            <a:custGeom>
              <a:avLst/>
              <a:gdLst/>
              <a:ahLst/>
              <a:cxnLst/>
              <a:rect l="l" t="t" r="r" b="b"/>
              <a:pathLst>
                <a:path w="55245" h="365760">
                  <a:moveTo>
                    <a:pt x="54864" y="0"/>
                  </a:moveTo>
                  <a:lnTo>
                    <a:pt x="0" y="0"/>
                  </a:lnTo>
                  <a:lnTo>
                    <a:pt x="0" y="365760"/>
                  </a:lnTo>
                  <a:lnTo>
                    <a:pt x="54864" y="365760"/>
                  </a:lnTo>
                  <a:lnTo>
                    <a:pt x="54864" y="0"/>
                  </a:lnTo>
                  <a:close/>
                </a:path>
              </a:pathLst>
            </a:custGeom>
            <a:solidFill>
              <a:srgbClr val="C8A84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292608" y="2578607"/>
              <a:ext cx="55244" cy="365760"/>
            </a:xfrm>
            <a:custGeom>
              <a:avLst/>
              <a:gdLst/>
              <a:ahLst/>
              <a:cxnLst/>
              <a:rect l="l" t="t" r="r" b="b"/>
              <a:pathLst>
                <a:path w="55245" h="365760">
                  <a:moveTo>
                    <a:pt x="0" y="365760"/>
                  </a:moveTo>
                  <a:lnTo>
                    <a:pt x="54864" y="365760"/>
                  </a:lnTo>
                  <a:lnTo>
                    <a:pt x="54864" y="0"/>
                  </a:lnTo>
                  <a:lnTo>
                    <a:pt x="0" y="0"/>
                  </a:lnTo>
                  <a:lnTo>
                    <a:pt x="0" y="365760"/>
                  </a:lnTo>
                  <a:close/>
                </a:path>
              </a:pathLst>
            </a:custGeom>
            <a:ln w="12699">
              <a:solidFill>
                <a:srgbClr val="C8A84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4" name="object 14"/>
          <p:cNvGrpSpPr/>
          <p:nvPr/>
        </p:nvGrpSpPr>
        <p:grpSpPr>
          <a:xfrm>
            <a:off x="286258" y="3120898"/>
            <a:ext cx="67945" cy="378460"/>
            <a:chOff x="286258" y="3120898"/>
            <a:chExt cx="67945" cy="378460"/>
          </a:xfrm>
        </p:grpSpPr>
        <p:sp>
          <p:nvSpPr>
            <p:cNvPr id="15" name="object 15"/>
            <p:cNvSpPr/>
            <p:nvPr/>
          </p:nvSpPr>
          <p:spPr>
            <a:xfrm>
              <a:off x="292608" y="3127248"/>
              <a:ext cx="55244" cy="365760"/>
            </a:xfrm>
            <a:custGeom>
              <a:avLst/>
              <a:gdLst/>
              <a:ahLst/>
              <a:cxnLst/>
              <a:rect l="l" t="t" r="r" b="b"/>
              <a:pathLst>
                <a:path w="55245" h="365760">
                  <a:moveTo>
                    <a:pt x="54864" y="0"/>
                  </a:moveTo>
                  <a:lnTo>
                    <a:pt x="0" y="0"/>
                  </a:lnTo>
                  <a:lnTo>
                    <a:pt x="0" y="365760"/>
                  </a:lnTo>
                  <a:lnTo>
                    <a:pt x="54864" y="365760"/>
                  </a:lnTo>
                  <a:lnTo>
                    <a:pt x="54864" y="0"/>
                  </a:lnTo>
                  <a:close/>
                </a:path>
              </a:pathLst>
            </a:custGeom>
            <a:solidFill>
              <a:srgbClr val="C8A84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292608" y="3127248"/>
              <a:ext cx="55244" cy="365760"/>
            </a:xfrm>
            <a:custGeom>
              <a:avLst/>
              <a:gdLst/>
              <a:ahLst/>
              <a:cxnLst/>
              <a:rect l="l" t="t" r="r" b="b"/>
              <a:pathLst>
                <a:path w="55245" h="365760">
                  <a:moveTo>
                    <a:pt x="0" y="365760"/>
                  </a:moveTo>
                  <a:lnTo>
                    <a:pt x="54864" y="365760"/>
                  </a:lnTo>
                  <a:lnTo>
                    <a:pt x="54864" y="0"/>
                  </a:lnTo>
                  <a:lnTo>
                    <a:pt x="0" y="0"/>
                  </a:lnTo>
                  <a:lnTo>
                    <a:pt x="0" y="365760"/>
                  </a:lnTo>
                  <a:close/>
                </a:path>
              </a:pathLst>
            </a:custGeom>
            <a:ln w="12699">
              <a:solidFill>
                <a:srgbClr val="C8A84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7" name="object 17"/>
          <p:cNvGrpSpPr/>
          <p:nvPr/>
        </p:nvGrpSpPr>
        <p:grpSpPr>
          <a:xfrm>
            <a:off x="286258" y="3669538"/>
            <a:ext cx="67945" cy="378460"/>
            <a:chOff x="286258" y="3669538"/>
            <a:chExt cx="67945" cy="378460"/>
          </a:xfrm>
        </p:grpSpPr>
        <p:sp>
          <p:nvSpPr>
            <p:cNvPr id="18" name="object 18"/>
            <p:cNvSpPr/>
            <p:nvPr/>
          </p:nvSpPr>
          <p:spPr>
            <a:xfrm>
              <a:off x="292608" y="3675888"/>
              <a:ext cx="55244" cy="365760"/>
            </a:xfrm>
            <a:custGeom>
              <a:avLst/>
              <a:gdLst/>
              <a:ahLst/>
              <a:cxnLst/>
              <a:rect l="l" t="t" r="r" b="b"/>
              <a:pathLst>
                <a:path w="55245" h="365760">
                  <a:moveTo>
                    <a:pt x="54864" y="0"/>
                  </a:moveTo>
                  <a:lnTo>
                    <a:pt x="0" y="0"/>
                  </a:lnTo>
                  <a:lnTo>
                    <a:pt x="0" y="365759"/>
                  </a:lnTo>
                  <a:lnTo>
                    <a:pt x="54864" y="365759"/>
                  </a:lnTo>
                  <a:lnTo>
                    <a:pt x="54864" y="0"/>
                  </a:lnTo>
                  <a:close/>
                </a:path>
              </a:pathLst>
            </a:custGeom>
            <a:solidFill>
              <a:srgbClr val="C8A84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292608" y="3675888"/>
              <a:ext cx="55244" cy="365760"/>
            </a:xfrm>
            <a:custGeom>
              <a:avLst/>
              <a:gdLst/>
              <a:ahLst/>
              <a:cxnLst/>
              <a:rect l="l" t="t" r="r" b="b"/>
              <a:pathLst>
                <a:path w="55245" h="365760">
                  <a:moveTo>
                    <a:pt x="0" y="365759"/>
                  </a:moveTo>
                  <a:lnTo>
                    <a:pt x="54864" y="365759"/>
                  </a:lnTo>
                  <a:lnTo>
                    <a:pt x="54864" y="0"/>
                  </a:lnTo>
                  <a:lnTo>
                    <a:pt x="0" y="0"/>
                  </a:lnTo>
                  <a:lnTo>
                    <a:pt x="0" y="365759"/>
                  </a:lnTo>
                  <a:close/>
                </a:path>
              </a:pathLst>
            </a:custGeom>
            <a:ln w="12700">
              <a:solidFill>
                <a:srgbClr val="C8A84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554227" y="1608582"/>
            <a:ext cx="2595245" cy="23818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Contraste</a:t>
            </a:r>
            <a:r>
              <a:rPr dirty="0" sz="1050" spc="-2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de</a:t>
            </a:r>
            <a:r>
              <a:rPr dirty="0" sz="1050" spc="-2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usuarios</a:t>
            </a:r>
            <a:r>
              <a:rPr dirty="0" sz="1050" spc="-3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y</a:t>
            </a:r>
            <a:r>
              <a:rPr dirty="0" sz="1050" spc="-2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escenarios</a:t>
            </a:r>
            <a:r>
              <a:rPr dirty="0" sz="1050" spc="-3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entre</a:t>
            </a:r>
            <a:r>
              <a:rPr dirty="0" sz="1050" spc="-25">
                <a:solidFill>
                  <a:srgbClr val="1A1A2D"/>
                </a:solidFill>
                <a:latin typeface="Calibri"/>
                <a:cs typeface="Calibri"/>
              </a:rPr>
              <a:t> sí.</a:t>
            </a:r>
            <a:endParaRPr sz="1050">
              <a:latin typeface="Calibri"/>
              <a:cs typeface="Calibri"/>
            </a:endParaRPr>
          </a:p>
          <a:p>
            <a:pPr marL="12700" marR="5080">
              <a:lnSpc>
                <a:spcPct val="342900"/>
              </a:lnSpc>
            </a:pP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Planificación</a:t>
            </a:r>
            <a:r>
              <a:rPr dirty="0" sz="1050" spc="-1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de</a:t>
            </a:r>
            <a:r>
              <a:rPr dirty="0" sz="1050" spc="-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1A1A2D"/>
                </a:solidFill>
                <a:latin typeface="Calibri"/>
                <a:cs typeface="Calibri"/>
              </a:rPr>
              <a:t>entrevistas</a:t>
            </a:r>
            <a:r>
              <a:rPr dirty="0" sz="1050" spc="-2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por</a:t>
            </a:r>
            <a:r>
              <a:rPr dirty="0" sz="1050" spc="-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tipo de </a:t>
            </a:r>
            <a:r>
              <a:rPr dirty="0" sz="1050" spc="-10">
                <a:solidFill>
                  <a:srgbClr val="1A1A2D"/>
                </a:solidFill>
                <a:latin typeface="Calibri"/>
                <a:cs typeface="Calibri"/>
              </a:rPr>
              <a:t>usuario. </a:t>
            </a: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Cuestionario</a:t>
            </a:r>
            <a:r>
              <a:rPr dirty="0" sz="1050" spc="-4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diferenciado</a:t>
            </a:r>
            <a:r>
              <a:rPr dirty="0" sz="1050" spc="-5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por</a:t>
            </a:r>
            <a:r>
              <a:rPr dirty="0" sz="1050" spc="-20">
                <a:solidFill>
                  <a:srgbClr val="1A1A2D"/>
                </a:solidFill>
                <a:latin typeface="Calibri"/>
                <a:cs typeface="Calibri"/>
              </a:rPr>
              <a:t> rol.</a:t>
            </a:r>
            <a:endParaRPr sz="1050">
              <a:latin typeface="Calibri"/>
              <a:cs typeface="Calibri"/>
            </a:endParaRPr>
          </a:p>
          <a:p>
            <a:pPr marL="12700" marR="346075">
              <a:lnSpc>
                <a:spcPct val="342900"/>
              </a:lnSpc>
            </a:pP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Actas</a:t>
            </a:r>
            <a:r>
              <a:rPr dirty="0" sz="1050" spc="-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de</a:t>
            </a:r>
            <a:r>
              <a:rPr dirty="0" sz="1050" spc="-1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entrevista</a:t>
            </a:r>
            <a:r>
              <a:rPr dirty="0" sz="1050" spc="-3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validadas</a:t>
            </a:r>
            <a:r>
              <a:rPr dirty="0" sz="1050" spc="-4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y</a:t>
            </a:r>
            <a:r>
              <a:rPr dirty="0" sz="1050" spc="-1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1A1A2D"/>
                </a:solidFill>
                <a:latin typeface="Calibri"/>
                <a:cs typeface="Calibri"/>
              </a:rPr>
              <a:t>firmadas. </a:t>
            </a: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Matrices</a:t>
            </a:r>
            <a:r>
              <a:rPr dirty="0" sz="1050" spc="-3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de</a:t>
            </a:r>
            <a:r>
              <a:rPr dirty="0" sz="1050" spc="-1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contraste</a:t>
            </a:r>
            <a:r>
              <a:rPr dirty="0" sz="1050" spc="-2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y</a:t>
            </a:r>
            <a:r>
              <a:rPr dirty="0" sz="1050" spc="-2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lista</a:t>
            </a:r>
            <a:r>
              <a:rPr dirty="0" sz="1050" spc="-1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de</a:t>
            </a:r>
            <a:r>
              <a:rPr dirty="0" sz="1050" spc="-2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1A1A2D"/>
                </a:solidFill>
                <a:latin typeface="Calibri"/>
                <a:cs typeface="Calibri"/>
              </a:rPr>
              <a:t>chequeo.</a:t>
            </a:r>
            <a:endParaRPr sz="1050">
              <a:latin typeface="Calibri"/>
              <a:cs typeface="Calibri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748529" y="1072641"/>
            <a:ext cx="4127500" cy="360680"/>
          </a:xfrm>
          <a:prstGeom prst="rect">
            <a:avLst/>
          </a:prstGeom>
          <a:solidFill>
            <a:srgbClr val="C8A84B"/>
          </a:solidFill>
          <a:ln w="3175">
            <a:solidFill>
              <a:srgbClr val="C8A84B"/>
            </a:solidFill>
          </a:ln>
        </p:spPr>
        <p:txBody>
          <a:bodyPr wrap="square" lIns="0" tIns="69850" rIns="0" bIns="0" rtlCol="0" vert="horz">
            <a:spAutoFit/>
          </a:bodyPr>
          <a:lstStyle/>
          <a:p>
            <a:pPr algn="ctr" marL="1270">
              <a:lnSpc>
                <a:spcPct val="100000"/>
              </a:lnSpc>
              <a:spcBef>
                <a:spcPts val="550"/>
              </a:spcBef>
            </a:pPr>
            <a:r>
              <a:rPr dirty="0" sz="1300" spc="-10" b="1">
                <a:solidFill>
                  <a:srgbClr val="1B2A49"/>
                </a:solidFill>
                <a:latin typeface="Calibri"/>
                <a:cs typeface="Calibri"/>
              </a:rPr>
              <a:t>ELICITACIÓN</a:t>
            </a:r>
            <a:endParaRPr sz="1300">
              <a:latin typeface="Calibri"/>
              <a:cs typeface="Calibr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4766817" y="1474977"/>
            <a:ext cx="67945" cy="378460"/>
            <a:chOff x="4766817" y="1474977"/>
            <a:chExt cx="67945" cy="378460"/>
          </a:xfrm>
        </p:grpSpPr>
        <p:sp>
          <p:nvSpPr>
            <p:cNvPr id="23" name="object 23"/>
            <p:cNvSpPr/>
            <p:nvPr/>
          </p:nvSpPr>
          <p:spPr>
            <a:xfrm>
              <a:off x="4773167" y="1481327"/>
              <a:ext cx="55244" cy="365760"/>
            </a:xfrm>
            <a:custGeom>
              <a:avLst/>
              <a:gdLst/>
              <a:ahLst/>
              <a:cxnLst/>
              <a:rect l="l" t="t" r="r" b="b"/>
              <a:pathLst>
                <a:path w="55245" h="365760">
                  <a:moveTo>
                    <a:pt x="54863" y="0"/>
                  </a:moveTo>
                  <a:lnTo>
                    <a:pt x="0" y="0"/>
                  </a:lnTo>
                  <a:lnTo>
                    <a:pt x="0" y="365760"/>
                  </a:lnTo>
                  <a:lnTo>
                    <a:pt x="54863" y="365760"/>
                  </a:lnTo>
                  <a:lnTo>
                    <a:pt x="54863" y="0"/>
                  </a:lnTo>
                  <a:close/>
                </a:path>
              </a:pathLst>
            </a:custGeom>
            <a:solidFill>
              <a:srgbClr val="1B2A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4773167" y="1481327"/>
              <a:ext cx="55244" cy="365760"/>
            </a:xfrm>
            <a:custGeom>
              <a:avLst/>
              <a:gdLst/>
              <a:ahLst/>
              <a:cxnLst/>
              <a:rect l="l" t="t" r="r" b="b"/>
              <a:pathLst>
                <a:path w="55245" h="365760">
                  <a:moveTo>
                    <a:pt x="0" y="365760"/>
                  </a:moveTo>
                  <a:lnTo>
                    <a:pt x="54863" y="365760"/>
                  </a:lnTo>
                  <a:lnTo>
                    <a:pt x="54863" y="0"/>
                  </a:lnTo>
                  <a:lnTo>
                    <a:pt x="0" y="0"/>
                  </a:lnTo>
                  <a:lnTo>
                    <a:pt x="0" y="365760"/>
                  </a:lnTo>
                  <a:close/>
                </a:path>
              </a:pathLst>
            </a:custGeom>
            <a:ln w="12700">
              <a:solidFill>
                <a:srgbClr val="1B2A4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5" name="object 25"/>
          <p:cNvGrpSpPr/>
          <p:nvPr/>
        </p:nvGrpSpPr>
        <p:grpSpPr>
          <a:xfrm>
            <a:off x="4766817" y="2023617"/>
            <a:ext cx="67945" cy="378460"/>
            <a:chOff x="4766817" y="2023617"/>
            <a:chExt cx="67945" cy="378460"/>
          </a:xfrm>
        </p:grpSpPr>
        <p:sp>
          <p:nvSpPr>
            <p:cNvPr id="26" name="object 26"/>
            <p:cNvSpPr/>
            <p:nvPr/>
          </p:nvSpPr>
          <p:spPr>
            <a:xfrm>
              <a:off x="4773167" y="2029967"/>
              <a:ext cx="55244" cy="365760"/>
            </a:xfrm>
            <a:custGeom>
              <a:avLst/>
              <a:gdLst/>
              <a:ahLst/>
              <a:cxnLst/>
              <a:rect l="l" t="t" r="r" b="b"/>
              <a:pathLst>
                <a:path w="55245" h="365760">
                  <a:moveTo>
                    <a:pt x="54863" y="0"/>
                  </a:moveTo>
                  <a:lnTo>
                    <a:pt x="0" y="0"/>
                  </a:lnTo>
                  <a:lnTo>
                    <a:pt x="0" y="365760"/>
                  </a:lnTo>
                  <a:lnTo>
                    <a:pt x="54863" y="365760"/>
                  </a:lnTo>
                  <a:lnTo>
                    <a:pt x="54863" y="0"/>
                  </a:lnTo>
                  <a:close/>
                </a:path>
              </a:pathLst>
            </a:custGeom>
            <a:solidFill>
              <a:srgbClr val="1B2A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4773167" y="2029967"/>
              <a:ext cx="55244" cy="365760"/>
            </a:xfrm>
            <a:custGeom>
              <a:avLst/>
              <a:gdLst/>
              <a:ahLst/>
              <a:cxnLst/>
              <a:rect l="l" t="t" r="r" b="b"/>
              <a:pathLst>
                <a:path w="55245" h="365760">
                  <a:moveTo>
                    <a:pt x="0" y="365760"/>
                  </a:moveTo>
                  <a:lnTo>
                    <a:pt x="54863" y="365760"/>
                  </a:lnTo>
                  <a:lnTo>
                    <a:pt x="54863" y="0"/>
                  </a:lnTo>
                  <a:lnTo>
                    <a:pt x="0" y="0"/>
                  </a:lnTo>
                  <a:lnTo>
                    <a:pt x="0" y="365760"/>
                  </a:lnTo>
                  <a:close/>
                </a:path>
              </a:pathLst>
            </a:custGeom>
            <a:ln w="12700">
              <a:solidFill>
                <a:srgbClr val="1B2A4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28" name="object 28"/>
          <p:cNvGrpSpPr/>
          <p:nvPr/>
        </p:nvGrpSpPr>
        <p:grpSpPr>
          <a:xfrm>
            <a:off x="4766817" y="2572257"/>
            <a:ext cx="67945" cy="378460"/>
            <a:chOff x="4766817" y="2572257"/>
            <a:chExt cx="67945" cy="378460"/>
          </a:xfrm>
        </p:grpSpPr>
        <p:sp>
          <p:nvSpPr>
            <p:cNvPr id="29" name="object 29"/>
            <p:cNvSpPr/>
            <p:nvPr/>
          </p:nvSpPr>
          <p:spPr>
            <a:xfrm>
              <a:off x="4773167" y="2578607"/>
              <a:ext cx="55244" cy="365760"/>
            </a:xfrm>
            <a:custGeom>
              <a:avLst/>
              <a:gdLst/>
              <a:ahLst/>
              <a:cxnLst/>
              <a:rect l="l" t="t" r="r" b="b"/>
              <a:pathLst>
                <a:path w="55245" h="365760">
                  <a:moveTo>
                    <a:pt x="54863" y="0"/>
                  </a:moveTo>
                  <a:lnTo>
                    <a:pt x="0" y="0"/>
                  </a:lnTo>
                  <a:lnTo>
                    <a:pt x="0" y="365760"/>
                  </a:lnTo>
                  <a:lnTo>
                    <a:pt x="54863" y="365760"/>
                  </a:lnTo>
                  <a:lnTo>
                    <a:pt x="54863" y="0"/>
                  </a:lnTo>
                  <a:close/>
                </a:path>
              </a:pathLst>
            </a:custGeom>
            <a:solidFill>
              <a:srgbClr val="1B2A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4773167" y="2578607"/>
              <a:ext cx="55244" cy="365760"/>
            </a:xfrm>
            <a:custGeom>
              <a:avLst/>
              <a:gdLst/>
              <a:ahLst/>
              <a:cxnLst/>
              <a:rect l="l" t="t" r="r" b="b"/>
              <a:pathLst>
                <a:path w="55245" h="365760">
                  <a:moveTo>
                    <a:pt x="0" y="365760"/>
                  </a:moveTo>
                  <a:lnTo>
                    <a:pt x="54863" y="365760"/>
                  </a:lnTo>
                  <a:lnTo>
                    <a:pt x="54863" y="0"/>
                  </a:lnTo>
                  <a:lnTo>
                    <a:pt x="0" y="0"/>
                  </a:lnTo>
                  <a:lnTo>
                    <a:pt x="0" y="365760"/>
                  </a:lnTo>
                  <a:close/>
                </a:path>
              </a:pathLst>
            </a:custGeom>
            <a:ln w="12700">
              <a:solidFill>
                <a:srgbClr val="1B2A4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1" name="object 31"/>
          <p:cNvGrpSpPr/>
          <p:nvPr/>
        </p:nvGrpSpPr>
        <p:grpSpPr>
          <a:xfrm>
            <a:off x="4766817" y="3120898"/>
            <a:ext cx="67945" cy="378460"/>
            <a:chOff x="4766817" y="3120898"/>
            <a:chExt cx="67945" cy="378460"/>
          </a:xfrm>
        </p:grpSpPr>
        <p:sp>
          <p:nvSpPr>
            <p:cNvPr id="32" name="object 32"/>
            <p:cNvSpPr/>
            <p:nvPr/>
          </p:nvSpPr>
          <p:spPr>
            <a:xfrm>
              <a:off x="4773167" y="3127248"/>
              <a:ext cx="55244" cy="365760"/>
            </a:xfrm>
            <a:custGeom>
              <a:avLst/>
              <a:gdLst/>
              <a:ahLst/>
              <a:cxnLst/>
              <a:rect l="l" t="t" r="r" b="b"/>
              <a:pathLst>
                <a:path w="55245" h="365760">
                  <a:moveTo>
                    <a:pt x="54863" y="0"/>
                  </a:moveTo>
                  <a:lnTo>
                    <a:pt x="0" y="0"/>
                  </a:lnTo>
                  <a:lnTo>
                    <a:pt x="0" y="365760"/>
                  </a:lnTo>
                  <a:lnTo>
                    <a:pt x="54863" y="365760"/>
                  </a:lnTo>
                  <a:lnTo>
                    <a:pt x="54863" y="0"/>
                  </a:lnTo>
                  <a:close/>
                </a:path>
              </a:pathLst>
            </a:custGeom>
            <a:solidFill>
              <a:srgbClr val="1B2A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4773167" y="3127248"/>
              <a:ext cx="55244" cy="365760"/>
            </a:xfrm>
            <a:custGeom>
              <a:avLst/>
              <a:gdLst/>
              <a:ahLst/>
              <a:cxnLst/>
              <a:rect l="l" t="t" r="r" b="b"/>
              <a:pathLst>
                <a:path w="55245" h="365760">
                  <a:moveTo>
                    <a:pt x="0" y="365760"/>
                  </a:moveTo>
                  <a:lnTo>
                    <a:pt x="54863" y="365760"/>
                  </a:lnTo>
                  <a:lnTo>
                    <a:pt x="54863" y="0"/>
                  </a:lnTo>
                  <a:lnTo>
                    <a:pt x="0" y="0"/>
                  </a:lnTo>
                  <a:lnTo>
                    <a:pt x="0" y="365760"/>
                  </a:lnTo>
                  <a:close/>
                </a:path>
              </a:pathLst>
            </a:custGeom>
            <a:ln w="12700">
              <a:solidFill>
                <a:srgbClr val="1B2A4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4" name="object 34"/>
          <p:cNvGrpSpPr/>
          <p:nvPr/>
        </p:nvGrpSpPr>
        <p:grpSpPr>
          <a:xfrm>
            <a:off x="4766817" y="3669538"/>
            <a:ext cx="67945" cy="378460"/>
            <a:chOff x="4766817" y="3669538"/>
            <a:chExt cx="67945" cy="378460"/>
          </a:xfrm>
        </p:grpSpPr>
        <p:sp>
          <p:nvSpPr>
            <p:cNvPr id="35" name="object 35"/>
            <p:cNvSpPr/>
            <p:nvPr/>
          </p:nvSpPr>
          <p:spPr>
            <a:xfrm>
              <a:off x="4773167" y="3675888"/>
              <a:ext cx="55244" cy="365760"/>
            </a:xfrm>
            <a:custGeom>
              <a:avLst/>
              <a:gdLst/>
              <a:ahLst/>
              <a:cxnLst/>
              <a:rect l="l" t="t" r="r" b="b"/>
              <a:pathLst>
                <a:path w="55245" h="365760">
                  <a:moveTo>
                    <a:pt x="54863" y="0"/>
                  </a:moveTo>
                  <a:lnTo>
                    <a:pt x="0" y="0"/>
                  </a:lnTo>
                  <a:lnTo>
                    <a:pt x="0" y="365759"/>
                  </a:lnTo>
                  <a:lnTo>
                    <a:pt x="54863" y="365759"/>
                  </a:lnTo>
                  <a:lnTo>
                    <a:pt x="54863" y="0"/>
                  </a:lnTo>
                  <a:close/>
                </a:path>
              </a:pathLst>
            </a:custGeom>
            <a:solidFill>
              <a:srgbClr val="1B2A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4773167" y="3675888"/>
              <a:ext cx="55244" cy="365760"/>
            </a:xfrm>
            <a:custGeom>
              <a:avLst/>
              <a:gdLst/>
              <a:ahLst/>
              <a:cxnLst/>
              <a:rect l="l" t="t" r="r" b="b"/>
              <a:pathLst>
                <a:path w="55245" h="365760">
                  <a:moveTo>
                    <a:pt x="0" y="365759"/>
                  </a:moveTo>
                  <a:lnTo>
                    <a:pt x="54863" y="365759"/>
                  </a:lnTo>
                  <a:lnTo>
                    <a:pt x="54863" y="0"/>
                  </a:lnTo>
                  <a:lnTo>
                    <a:pt x="0" y="0"/>
                  </a:lnTo>
                  <a:lnTo>
                    <a:pt x="0" y="365759"/>
                  </a:lnTo>
                  <a:close/>
                </a:path>
              </a:pathLst>
            </a:custGeom>
            <a:ln w="12700">
              <a:solidFill>
                <a:srgbClr val="1B2A49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/>
          <p:cNvSpPr txBox="1"/>
          <p:nvPr/>
        </p:nvSpPr>
        <p:spPr>
          <a:xfrm>
            <a:off x="5035422" y="1608582"/>
            <a:ext cx="3279775" cy="23818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Análisis</a:t>
            </a:r>
            <a:r>
              <a:rPr dirty="0" sz="1050" spc="-3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de</a:t>
            </a:r>
            <a:r>
              <a:rPr dirty="0" sz="1050" spc="-1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actas</a:t>
            </a:r>
            <a:r>
              <a:rPr dirty="0" sz="1050" spc="-2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de</a:t>
            </a:r>
            <a:r>
              <a:rPr dirty="0" sz="1050" spc="-1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entrevista</a:t>
            </a:r>
            <a:r>
              <a:rPr dirty="0" sz="1050" spc="-3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por</a:t>
            </a:r>
            <a:r>
              <a:rPr dirty="0" sz="1050" spc="-1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1A1A2D"/>
                </a:solidFill>
                <a:latin typeface="Calibri"/>
                <a:cs typeface="Calibri"/>
              </a:rPr>
              <a:t>escenario.</a:t>
            </a:r>
            <a:endParaRPr sz="1050">
              <a:latin typeface="Calibri"/>
              <a:cs typeface="Calibri"/>
            </a:endParaRPr>
          </a:p>
          <a:p>
            <a:pPr marL="12700" marR="647065">
              <a:lnSpc>
                <a:spcPct val="342900"/>
              </a:lnSpc>
            </a:pP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Agrupación</a:t>
            </a:r>
            <a:r>
              <a:rPr dirty="0" sz="1050" spc="-2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de</a:t>
            </a:r>
            <a:r>
              <a:rPr dirty="0" sz="1050" spc="-2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características</a:t>
            </a:r>
            <a:r>
              <a:rPr dirty="0" sz="1050" spc="-2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por</a:t>
            </a:r>
            <a:r>
              <a:rPr dirty="0" sz="1050" spc="-3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1A1A2D"/>
                </a:solidFill>
                <a:latin typeface="Calibri"/>
                <a:cs typeface="Calibri"/>
              </a:rPr>
              <a:t>funcionalidad. </a:t>
            </a: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Resolución</a:t>
            </a:r>
            <a:r>
              <a:rPr dirty="0" sz="1050" spc="-2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de</a:t>
            </a:r>
            <a:r>
              <a:rPr dirty="0" sz="1050" spc="-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ambigüedades</a:t>
            </a:r>
            <a:r>
              <a:rPr dirty="0" sz="1050" spc="-3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y</a:t>
            </a:r>
            <a:r>
              <a:rPr dirty="0" sz="1050" spc="-10">
                <a:solidFill>
                  <a:srgbClr val="1A1A2D"/>
                </a:solidFill>
                <a:latin typeface="Calibri"/>
                <a:cs typeface="Calibri"/>
              </a:rPr>
              <a:t> conflictos.</a:t>
            </a:r>
            <a:endParaRPr sz="1050">
              <a:latin typeface="Calibri"/>
              <a:cs typeface="Calibri"/>
            </a:endParaRPr>
          </a:p>
          <a:p>
            <a:pPr marL="12700" marR="5080">
              <a:lnSpc>
                <a:spcPct val="342900"/>
              </a:lnSpc>
            </a:pP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Posibles</a:t>
            </a:r>
            <a:r>
              <a:rPr dirty="0" sz="1050" spc="-3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nuevas</a:t>
            </a:r>
            <a:r>
              <a:rPr dirty="0" sz="1050" spc="-3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entrevistas</a:t>
            </a:r>
            <a:r>
              <a:rPr dirty="0" sz="1050" spc="-3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si</a:t>
            </a:r>
            <a:r>
              <a:rPr dirty="0" sz="1050" spc="-1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se</a:t>
            </a:r>
            <a:r>
              <a:rPr dirty="0" sz="1050" spc="-1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detectan</a:t>
            </a:r>
            <a:r>
              <a:rPr dirty="0" sz="1050" spc="-2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1A1A2D"/>
                </a:solidFill>
                <a:latin typeface="Calibri"/>
                <a:cs typeface="Calibri"/>
              </a:rPr>
              <a:t>incomprensiones. </a:t>
            </a: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Rastreo</a:t>
            </a:r>
            <a:r>
              <a:rPr dirty="0" sz="1050" spc="-2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de</a:t>
            </a:r>
            <a:r>
              <a:rPr dirty="0" sz="1050" spc="-1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funcionalidades</a:t>
            </a:r>
            <a:r>
              <a:rPr dirty="0" sz="1050" spc="-2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por</a:t>
            </a:r>
            <a:r>
              <a:rPr dirty="0" sz="1050" spc="-1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escenario</a:t>
            </a:r>
            <a:r>
              <a:rPr dirty="0" sz="1050" spc="-3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y</a:t>
            </a:r>
            <a:r>
              <a:rPr dirty="0" sz="1050" spc="-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1A1A2D"/>
                </a:solidFill>
                <a:latin typeface="Calibri"/>
                <a:cs typeface="Calibri"/>
              </a:rPr>
              <a:t>usuario.</a:t>
            </a:r>
            <a:endParaRPr sz="1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7027" y="99440"/>
            <a:ext cx="3126740" cy="1701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 spc="-10" b="1">
                <a:solidFill>
                  <a:srgbClr val="FFFFFF"/>
                </a:solidFill>
                <a:latin typeface="Calibri"/>
                <a:cs typeface="Calibri"/>
              </a:rPr>
              <a:t>Estándares</a:t>
            </a:r>
            <a:r>
              <a:rPr dirty="0" sz="950" spc="-1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r>
              <a:rPr dirty="0" sz="950" spc="-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FFFFFF"/>
                </a:solidFill>
                <a:latin typeface="Calibri"/>
                <a:cs typeface="Calibri"/>
              </a:rPr>
              <a:t>Métricas</a:t>
            </a:r>
            <a:r>
              <a:rPr dirty="0" sz="950" spc="-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dirty="0" sz="950" spc="-1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FFFFFF"/>
                </a:solidFill>
                <a:latin typeface="Calibri"/>
                <a:cs typeface="Calibri"/>
              </a:rPr>
              <a:t>Calidad</a:t>
            </a:r>
            <a:r>
              <a:rPr dirty="0" sz="950" spc="1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FFFFFF"/>
                </a:solidFill>
                <a:latin typeface="Calibri"/>
                <a:cs typeface="Calibri"/>
              </a:rPr>
              <a:t>en</a:t>
            </a:r>
            <a:r>
              <a:rPr dirty="0" sz="950" spc="-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FFFFFF"/>
                </a:solidFill>
                <a:latin typeface="Calibri"/>
                <a:cs typeface="Calibri"/>
              </a:rPr>
              <a:t>el</a:t>
            </a:r>
            <a:r>
              <a:rPr dirty="0" sz="950" spc="-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FFFFFF"/>
                </a:solidFill>
                <a:latin typeface="Calibri"/>
                <a:cs typeface="Calibri"/>
              </a:rPr>
              <a:t>Desarrollo</a:t>
            </a:r>
            <a:r>
              <a:rPr dirty="0" sz="950" spc="1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dirty="0" sz="950" spc="-1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spc="-10" b="1">
                <a:solidFill>
                  <a:srgbClr val="FFFFFF"/>
                </a:solidFill>
                <a:latin typeface="Calibri"/>
                <a:cs typeface="Calibri"/>
              </a:rPr>
              <a:t>Software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0198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/>
              <a:t>Especificación</a:t>
            </a:r>
            <a:r>
              <a:rPr dirty="0" sz="2000" spc="-70"/>
              <a:t> </a:t>
            </a:r>
            <a:r>
              <a:rPr dirty="0" sz="2000"/>
              <a:t>y</a:t>
            </a:r>
            <a:r>
              <a:rPr dirty="0" sz="2000" spc="-35"/>
              <a:t> </a:t>
            </a:r>
            <a:r>
              <a:rPr dirty="0" sz="2000"/>
              <a:t>catálogo</a:t>
            </a:r>
            <a:r>
              <a:rPr dirty="0" sz="2000" spc="-45"/>
              <a:t> </a:t>
            </a:r>
            <a:r>
              <a:rPr dirty="0" sz="2000"/>
              <a:t>de</a:t>
            </a:r>
            <a:r>
              <a:rPr dirty="0" sz="2000" spc="-30"/>
              <a:t> </a:t>
            </a:r>
            <a:r>
              <a:rPr dirty="0" sz="2000" spc="-10"/>
              <a:t>requisitos</a:t>
            </a:r>
            <a:r>
              <a:rPr dirty="0" sz="2000" spc="-65"/>
              <a:t> </a:t>
            </a:r>
            <a:r>
              <a:rPr dirty="0" sz="2000" spc="-10"/>
              <a:t>funcionales</a:t>
            </a:r>
            <a:endParaRPr sz="2000"/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59409" y="1196466"/>
          <a:ext cx="8501380" cy="18288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05840"/>
                <a:gridCol w="4114800"/>
                <a:gridCol w="1188719"/>
                <a:gridCol w="2103120"/>
              </a:tblGrid>
              <a:tr h="30480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Código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CCCCCC"/>
                      </a:solidFill>
                      <a:prstDash val="soli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Nombre</a:t>
                      </a:r>
                      <a:r>
                        <a:rPr dirty="0" sz="1000" spc="-45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del</a:t>
                      </a:r>
                      <a:r>
                        <a:rPr dirty="0" sz="1000" spc="-2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Requisito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CCCCCC"/>
                      </a:solidFill>
                      <a:prstDash val="soli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Versión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CCCCCC"/>
                      </a:solidFill>
                      <a:prstDash val="solid"/>
                    </a:lnB>
                    <a:solidFill>
                      <a:srgbClr val="1B2A49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000" spc="-10" b="1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Estado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CCCCCC"/>
                      </a:solidFill>
                      <a:prstDash val="solid"/>
                    </a:lnB>
                    <a:solidFill>
                      <a:srgbClr val="1B2A49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-2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RF01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Registrar</a:t>
                      </a:r>
                      <a:r>
                        <a:rPr dirty="0" sz="1000" spc="-3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cita</a:t>
                      </a:r>
                      <a:r>
                        <a:rPr dirty="0" sz="1000" spc="-45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médica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-2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v1.0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-1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Aprobado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CCCCCC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-2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RF02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Reprogramar</a:t>
                      </a:r>
                      <a:r>
                        <a:rPr dirty="0" sz="1000" spc="-3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cita</a:t>
                      </a:r>
                      <a:r>
                        <a:rPr dirty="0" sz="1000" spc="-45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médica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-2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v1.0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-1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Aprobado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CCCCCC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-2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RF03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Cancelar</a:t>
                      </a:r>
                      <a:r>
                        <a:rPr dirty="0" sz="1000" spc="-3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cita</a:t>
                      </a:r>
                      <a:r>
                        <a:rPr dirty="0" sz="1000" spc="-25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médica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-2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v1.0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-1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Revisión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CCCCCC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-2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RF04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Consultar</a:t>
                      </a:r>
                      <a:r>
                        <a:rPr dirty="0" sz="1000" spc="-35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agenda</a:t>
                      </a:r>
                      <a:r>
                        <a:rPr dirty="0" sz="1000" spc="-4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por</a:t>
                      </a:r>
                      <a:r>
                        <a:rPr dirty="0" sz="1000" spc="-3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médico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-2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v1.0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-1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Aprobado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CCCCCC"/>
                      </a:solidFill>
                      <a:prstDash val="soli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-2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RF05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-1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Gestionar</a:t>
                      </a:r>
                      <a:r>
                        <a:rPr dirty="0" sz="100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 lista</a:t>
                      </a:r>
                      <a:r>
                        <a:rPr dirty="0" sz="1000" spc="-1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de</a:t>
                      </a:r>
                      <a:r>
                        <a:rPr dirty="0" sz="1000" spc="-5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dirty="0" sz="1000" spc="-1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espera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-2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v0.9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CCCC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000" spc="-10">
                          <a:solidFill>
                            <a:srgbClr val="1A1A2D"/>
                          </a:solidFill>
                          <a:latin typeface="Calibri"/>
                          <a:cs typeface="Calibri"/>
                        </a:rPr>
                        <a:t>Borrador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CCCCCC"/>
                      </a:solidFill>
                      <a:prstDash val="solid"/>
                    </a:lnL>
                    <a:lnR w="12700">
                      <a:solidFill>
                        <a:srgbClr val="CCCCCC"/>
                      </a:solidFill>
                      <a:prstDash val="solid"/>
                    </a:lnR>
                    <a:lnT w="12700">
                      <a:solidFill>
                        <a:srgbClr val="CCCCCC"/>
                      </a:solidFill>
                      <a:prstDash val="solid"/>
                    </a:lnT>
                    <a:lnB w="12700">
                      <a:solidFill>
                        <a:srgbClr val="CCCCCC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365759" y="3225012"/>
            <a:ext cx="8412480" cy="1101090"/>
          </a:xfrm>
          <a:prstGeom prst="rect">
            <a:avLst/>
          </a:prstGeom>
          <a:solidFill>
            <a:srgbClr val="EBF0F7"/>
          </a:solidFill>
          <a:ln w="12700">
            <a:solidFill>
              <a:srgbClr val="1B2A49"/>
            </a:solidFill>
          </a:ln>
        </p:spPr>
        <p:txBody>
          <a:bodyPr wrap="square" lIns="0" tIns="91440" rIns="0" bIns="0" rtlCol="0" vert="horz">
            <a:spAutoFit/>
          </a:bodyPr>
          <a:lstStyle/>
          <a:p>
            <a:pPr marL="227965">
              <a:lnSpc>
                <a:spcPct val="100000"/>
              </a:lnSpc>
              <a:spcBef>
                <a:spcPts val="720"/>
              </a:spcBef>
            </a:pPr>
            <a:r>
              <a:rPr dirty="0" sz="1100" b="1">
                <a:solidFill>
                  <a:srgbClr val="1B2A49"/>
                </a:solidFill>
                <a:latin typeface="Calibri"/>
                <a:cs typeface="Calibri"/>
              </a:rPr>
              <a:t>Ficha</a:t>
            </a:r>
            <a:r>
              <a:rPr dirty="0" sz="1100" spc="-25" b="1">
                <a:solidFill>
                  <a:srgbClr val="1B2A49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1B2A49"/>
                </a:solidFill>
                <a:latin typeface="Calibri"/>
                <a:cs typeface="Calibri"/>
              </a:rPr>
              <a:t>RF01</a:t>
            </a:r>
            <a:r>
              <a:rPr dirty="0" sz="1100" spc="-10" b="1">
                <a:solidFill>
                  <a:srgbClr val="1B2A49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1B2A49"/>
                </a:solidFill>
                <a:latin typeface="Calibri"/>
                <a:cs typeface="Calibri"/>
              </a:rPr>
              <a:t>–</a:t>
            </a:r>
            <a:r>
              <a:rPr dirty="0" sz="1100" spc="-5" b="1">
                <a:solidFill>
                  <a:srgbClr val="1B2A49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1B2A49"/>
                </a:solidFill>
                <a:latin typeface="Calibri"/>
                <a:cs typeface="Calibri"/>
              </a:rPr>
              <a:t>Registrar</a:t>
            </a:r>
            <a:r>
              <a:rPr dirty="0" sz="1100" spc="-35" b="1">
                <a:solidFill>
                  <a:srgbClr val="1B2A49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1B2A49"/>
                </a:solidFill>
                <a:latin typeface="Calibri"/>
                <a:cs typeface="Calibri"/>
              </a:rPr>
              <a:t>cita</a:t>
            </a:r>
            <a:r>
              <a:rPr dirty="0" sz="1100" spc="-15" b="1">
                <a:solidFill>
                  <a:srgbClr val="1B2A49"/>
                </a:solidFill>
                <a:latin typeface="Calibri"/>
                <a:cs typeface="Calibri"/>
              </a:rPr>
              <a:t> </a:t>
            </a:r>
            <a:r>
              <a:rPr dirty="0" sz="1100" spc="-10" b="1">
                <a:solidFill>
                  <a:srgbClr val="1B2A49"/>
                </a:solidFill>
                <a:latin typeface="Calibri"/>
                <a:cs typeface="Calibri"/>
              </a:rPr>
              <a:t>médica</a:t>
            </a:r>
            <a:endParaRPr sz="1100">
              <a:latin typeface="Calibri"/>
              <a:cs typeface="Calibri"/>
            </a:endParaRPr>
          </a:p>
          <a:p>
            <a:pPr marL="227965" marR="4045585">
              <a:lnSpc>
                <a:spcPct val="100000"/>
              </a:lnSpc>
              <a:spcBef>
                <a:spcPts val="1170"/>
              </a:spcBef>
            </a:pPr>
            <a:r>
              <a:rPr dirty="0" sz="1000" spc="-10" b="1">
                <a:solidFill>
                  <a:srgbClr val="1A1A2D"/>
                </a:solidFill>
                <a:latin typeface="Calibri"/>
                <a:cs typeface="Calibri"/>
              </a:rPr>
              <a:t>Precondiciones</a:t>
            </a:r>
            <a:r>
              <a:rPr dirty="0" sz="1000" spc="-10">
                <a:solidFill>
                  <a:srgbClr val="1A1A2D"/>
                </a:solidFill>
                <a:latin typeface="Calibri"/>
                <a:cs typeface="Calibri"/>
              </a:rPr>
              <a:t>:</a:t>
            </a:r>
            <a:r>
              <a:rPr dirty="0" sz="1000" spc="-3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A2D"/>
                </a:solidFill>
                <a:latin typeface="Calibri"/>
                <a:cs typeface="Calibri"/>
              </a:rPr>
              <a:t>Paciente</a:t>
            </a:r>
            <a:r>
              <a:rPr dirty="0" sz="1000" spc="-2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A2D"/>
                </a:solidFill>
                <a:latin typeface="Calibri"/>
                <a:cs typeface="Calibri"/>
              </a:rPr>
              <a:t>registrado;</a:t>
            </a:r>
            <a:r>
              <a:rPr dirty="0" sz="1000" spc="-1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A2D"/>
                </a:solidFill>
                <a:latin typeface="Calibri"/>
                <a:cs typeface="Calibri"/>
              </a:rPr>
              <a:t>médico</a:t>
            </a:r>
            <a:r>
              <a:rPr dirty="0" sz="1000" spc="-2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A2D"/>
                </a:solidFill>
                <a:latin typeface="Calibri"/>
                <a:cs typeface="Calibri"/>
              </a:rPr>
              <a:t>con</a:t>
            </a:r>
            <a:r>
              <a:rPr dirty="0" sz="1000" spc="-1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A2D"/>
                </a:solidFill>
                <a:latin typeface="Calibri"/>
                <a:cs typeface="Calibri"/>
              </a:rPr>
              <a:t>agenda</a:t>
            </a:r>
            <a:r>
              <a:rPr dirty="0" sz="1000" spc="-1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1A1A2D"/>
                </a:solidFill>
                <a:latin typeface="Calibri"/>
                <a:cs typeface="Calibri"/>
              </a:rPr>
              <a:t>configurada. </a:t>
            </a:r>
            <a:r>
              <a:rPr dirty="0" sz="1000" spc="-10" b="1">
                <a:solidFill>
                  <a:srgbClr val="1A1A2D"/>
                </a:solidFill>
                <a:latin typeface="Calibri"/>
                <a:cs typeface="Calibri"/>
              </a:rPr>
              <a:t>Postcondiciones</a:t>
            </a:r>
            <a:r>
              <a:rPr dirty="0" sz="1000" spc="-10">
                <a:solidFill>
                  <a:srgbClr val="1A1A2D"/>
                </a:solidFill>
                <a:latin typeface="Calibri"/>
                <a:cs typeface="Calibri"/>
              </a:rPr>
              <a:t>:</a:t>
            </a:r>
            <a:r>
              <a:rPr dirty="0" sz="1000" spc="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A2D"/>
                </a:solidFill>
                <a:latin typeface="Calibri"/>
                <a:cs typeface="Calibri"/>
              </a:rPr>
              <a:t>Cita</a:t>
            </a:r>
            <a:r>
              <a:rPr dirty="0" sz="1000" spc="1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A2D"/>
                </a:solidFill>
                <a:latin typeface="Calibri"/>
                <a:cs typeface="Calibri"/>
              </a:rPr>
              <a:t>en</a:t>
            </a:r>
            <a:r>
              <a:rPr dirty="0" sz="1000" spc="1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A2D"/>
                </a:solidFill>
                <a:latin typeface="Calibri"/>
                <a:cs typeface="Calibri"/>
              </a:rPr>
              <a:t>estado</a:t>
            </a:r>
            <a:r>
              <a:rPr dirty="0" sz="1000" spc="1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1A1A2D"/>
                </a:solidFill>
                <a:latin typeface="Calibri"/>
                <a:cs typeface="Calibri"/>
              </a:rPr>
              <a:t>"Programada";</a:t>
            </a:r>
            <a:r>
              <a:rPr dirty="0" sz="1000" spc="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1A1A2D"/>
                </a:solidFill>
                <a:latin typeface="Calibri"/>
                <a:cs typeface="Calibri"/>
              </a:rPr>
              <a:t>notificación</a:t>
            </a:r>
            <a:r>
              <a:rPr dirty="0" sz="1000" spc="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A2D"/>
                </a:solidFill>
                <a:latin typeface="Calibri"/>
                <a:cs typeface="Calibri"/>
              </a:rPr>
              <a:t>enviada</a:t>
            </a:r>
            <a:r>
              <a:rPr dirty="0" sz="1000" spc="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A2D"/>
                </a:solidFill>
                <a:latin typeface="Calibri"/>
                <a:cs typeface="Calibri"/>
              </a:rPr>
              <a:t>al </a:t>
            </a:r>
            <a:r>
              <a:rPr dirty="0" sz="1000" spc="-10">
                <a:solidFill>
                  <a:srgbClr val="1A1A2D"/>
                </a:solidFill>
                <a:latin typeface="Calibri"/>
                <a:cs typeface="Calibri"/>
              </a:rPr>
              <a:t>paciente. </a:t>
            </a:r>
            <a:r>
              <a:rPr dirty="0" sz="1000" b="1">
                <a:solidFill>
                  <a:srgbClr val="1A1A2D"/>
                </a:solidFill>
                <a:latin typeface="Calibri"/>
                <a:cs typeface="Calibri"/>
              </a:rPr>
              <a:t>Flujo</a:t>
            </a:r>
            <a:r>
              <a:rPr dirty="0" sz="1000" spc="5" b="1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00" b="1">
                <a:solidFill>
                  <a:srgbClr val="1A1A2D"/>
                </a:solidFill>
                <a:latin typeface="Calibri"/>
                <a:cs typeface="Calibri"/>
              </a:rPr>
              <a:t>principal</a:t>
            </a:r>
            <a:r>
              <a:rPr dirty="0" sz="1000">
                <a:solidFill>
                  <a:srgbClr val="1A1A2D"/>
                </a:solidFill>
                <a:latin typeface="Calibri"/>
                <a:cs typeface="Calibri"/>
              </a:rPr>
              <a:t>:</a:t>
            </a:r>
            <a:r>
              <a:rPr dirty="0" sz="1000" spc="-2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A2D"/>
                </a:solidFill>
                <a:latin typeface="Calibri"/>
                <a:cs typeface="Calibri"/>
              </a:rPr>
              <a:t>Seleccionar</a:t>
            </a:r>
            <a:r>
              <a:rPr dirty="0" sz="1000" spc="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1A1A2D"/>
                </a:solidFill>
                <a:latin typeface="Calibri"/>
                <a:cs typeface="Calibri"/>
              </a:rPr>
              <a:t>especialidad</a:t>
            </a:r>
            <a:r>
              <a:rPr dirty="0" sz="1000">
                <a:solidFill>
                  <a:srgbClr val="1A1A2D"/>
                </a:solidFill>
                <a:latin typeface="Calibri"/>
                <a:cs typeface="Calibri"/>
              </a:rPr>
              <a:t> →</a:t>
            </a:r>
            <a:r>
              <a:rPr dirty="0" sz="1000" spc="-1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A2D"/>
                </a:solidFill>
                <a:latin typeface="Calibri"/>
                <a:cs typeface="Calibri"/>
              </a:rPr>
              <a:t>médico</a:t>
            </a:r>
            <a:r>
              <a:rPr dirty="0" sz="1000" spc="-1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A2D"/>
                </a:solidFill>
                <a:latin typeface="Calibri"/>
                <a:cs typeface="Calibri"/>
              </a:rPr>
              <a:t>→</a:t>
            </a:r>
            <a:r>
              <a:rPr dirty="0" sz="1000" spc="-10">
                <a:solidFill>
                  <a:srgbClr val="1A1A2D"/>
                </a:solidFill>
                <a:latin typeface="Calibri"/>
                <a:cs typeface="Calibri"/>
              </a:rPr>
              <a:t> fecha/hora </a:t>
            </a:r>
            <a:r>
              <a:rPr dirty="0" sz="1000">
                <a:solidFill>
                  <a:srgbClr val="1A1A2D"/>
                </a:solidFill>
                <a:latin typeface="Calibri"/>
                <a:cs typeface="Calibri"/>
              </a:rPr>
              <a:t>→</a:t>
            </a:r>
            <a:r>
              <a:rPr dirty="0" sz="1000" spc="-10">
                <a:solidFill>
                  <a:srgbClr val="1A1A2D"/>
                </a:solidFill>
                <a:latin typeface="Calibri"/>
                <a:cs typeface="Calibri"/>
              </a:rPr>
              <a:t> confirmar. </a:t>
            </a:r>
            <a:r>
              <a:rPr dirty="0" sz="1000" b="1">
                <a:solidFill>
                  <a:srgbClr val="1A1A2D"/>
                </a:solidFill>
                <a:latin typeface="Calibri"/>
                <a:cs typeface="Calibri"/>
              </a:rPr>
              <a:t>Flujo</a:t>
            </a:r>
            <a:r>
              <a:rPr dirty="0" sz="1000" spc="10" b="1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00" spc="-10" b="1">
                <a:solidFill>
                  <a:srgbClr val="1A1A2D"/>
                </a:solidFill>
                <a:latin typeface="Calibri"/>
                <a:cs typeface="Calibri"/>
              </a:rPr>
              <a:t>alternativo</a:t>
            </a:r>
            <a:r>
              <a:rPr dirty="0" sz="1000" spc="-10">
                <a:solidFill>
                  <a:srgbClr val="1A1A2D"/>
                </a:solidFill>
                <a:latin typeface="Calibri"/>
                <a:cs typeface="Calibri"/>
              </a:rPr>
              <a:t>:</a:t>
            </a:r>
            <a:r>
              <a:rPr dirty="0" sz="1000" spc="-1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A2D"/>
                </a:solidFill>
                <a:latin typeface="Calibri"/>
                <a:cs typeface="Calibri"/>
              </a:rPr>
              <a:t>Sin</a:t>
            </a:r>
            <a:r>
              <a:rPr dirty="0" sz="1000" spc="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1A1A2D"/>
                </a:solidFill>
                <a:latin typeface="Calibri"/>
                <a:cs typeface="Calibri"/>
              </a:rPr>
              <a:t>disponibilidad</a:t>
            </a:r>
            <a:r>
              <a:rPr dirty="0" sz="1000" spc="-3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A2D"/>
                </a:solidFill>
                <a:latin typeface="Calibri"/>
                <a:cs typeface="Calibri"/>
              </a:rPr>
              <a:t>→</a:t>
            </a:r>
            <a:r>
              <a:rPr dirty="0" sz="1000" spc="-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A2D"/>
                </a:solidFill>
                <a:latin typeface="Calibri"/>
                <a:cs typeface="Calibri"/>
              </a:rPr>
              <a:t>sugerir</a:t>
            </a:r>
            <a:r>
              <a:rPr dirty="0" sz="1000" spc="1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A2D"/>
                </a:solidFill>
                <a:latin typeface="Calibri"/>
                <a:cs typeface="Calibri"/>
              </a:rPr>
              <a:t>próxima fecha</a:t>
            </a:r>
            <a:r>
              <a:rPr dirty="0" sz="1000" spc="-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1A1A2D"/>
                </a:solidFill>
                <a:latin typeface="Calibri"/>
                <a:cs typeface="Calibri"/>
              </a:rPr>
              <a:t>libre.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65759" y="3040000"/>
            <a:ext cx="8412480" cy="170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900" i="1">
                <a:solidFill>
                  <a:srgbClr val="1B2A49"/>
                </a:solidFill>
                <a:latin typeface="Calibri"/>
              </a:rPr>
              <a:t>Estado del requisito: Borrador → Revisión → Aprobado (tras la validación con los interesados).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7027" y="99440"/>
            <a:ext cx="3126740" cy="1701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 spc="-10" b="1">
                <a:solidFill>
                  <a:srgbClr val="FFFFFF"/>
                </a:solidFill>
                <a:latin typeface="Calibri"/>
                <a:cs typeface="Calibri"/>
              </a:rPr>
              <a:t>Estándares</a:t>
            </a:r>
            <a:r>
              <a:rPr dirty="0" sz="950" spc="-1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r>
              <a:rPr dirty="0" sz="950" spc="-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FFFFFF"/>
                </a:solidFill>
                <a:latin typeface="Calibri"/>
                <a:cs typeface="Calibri"/>
              </a:rPr>
              <a:t>Métricas</a:t>
            </a:r>
            <a:r>
              <a:rPr dirty="0" sz="950" spc="-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dirty="0" sz="950" spc="-1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FFFFFF"/>
                </a:solidFill>
                <a:latin typeface="Calibri"/>
                <a:cs typeface="Calibri"/>
              </a:rPr>
              <a:t>Calidad</a:t>
            </a:r>
            <a:r>
              <a:rPr dirty="0" sz="950" spc="1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FFFFFF"/>
                </a:solidFill>
                <a:latin typeface="Calibri"/>
                <a:cs typeface="Calibri"/>
              </a:rPr>
              <a:t>en</a:t>
            </a:r>
            <a:r>
              <a:rPr dirty="0" sz="950" spc="-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FFFFFF"/>
                </a:solidFill>
                <a:latin typeface="Calibri"/>
                <a:cs typeface="Calibri"/>
              </a:rPr>
              <a:t>el</a:t>
            </a:r>
            <a:r>
              <a:rPr dirty="0" sz="950" spc="-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FFFFFF"/>
                </a:solidFill>
                <a:latin typeface="Calibri"/>
                <a:cs typeface="Calibri"/>
              </a:rPr>
              <a:t>Desarrollo</a:t>
            </a:r>
            <a:r>
              <a:rPr dirty="0" sz="950" spc="1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dirty="0" sz="950" spc="-1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spc="-10" b="1">
                <a:solidFill>
                  <a:srgbClr val="FFFFFF"/>
                </a:solidFill>
                <a:latin typeface="Calibri"/>
                <a:cs typeface="Calibri"/>
              </a:rPr>
              <a:t>Software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0198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000" spc="-10"/>
              <a:t>Requisitos,</a:t>
            </a:r>
            <a:r>
              <a:rPr dirty="0" sz="2000" spc="-70"/>
              <a:t> </a:t>
            </a:r>
            <a:r>
              <a:rPr dirty="0" sz="2000"/>
              <a:t>métricas</a:t>
            </a:r>
            <a:r>
              <a:rPr dirty="0" sz="2000" spc="-45"/>
              <a:t> </a:t>
            </a:r>
            <a:r>
              <a:rPr dirty="0" sz="2000"/>
              <a:t>y</a:t>
            </a:r>
            <a:r>
              <a:rPr dirty="0" sz="2000" spc="-20"/>
              <a:t> </a:t>
            </a:r>
            <a:r>
              <a:rPr dirty="0" sz="2000"/>
              <a:t>mejora</a:t>
            </a:r>
            <a:r>
              <a:rPr dirty="0" sz="2000" spc="-40"/>
              <a:t> </a:t>
            </a:r>
            <a:r>
              <a:rPr dirty="0" sz="2000"/>
              <a:t>continua</a:t>
            </a:r>
            <a:r>
              <a:rPr dirty="0" sz="2000" spc="-45"/>
              <a:t> </a:t>
            </a:r>
            <a:r>
              <a:rPr dirty="0" sz="2000"/>
              <a:t>de</a:t>
            </a:r>
            <a:r>
              <a:rPr dirty="0" sz="2000" spc="-25"/>
              <a:t> </a:t>
            </a:r>
            <a:r>
              <a:rPr dirty="0" sz="2000"/>
              <a:t>la</a:t>
            </a:r>
            <a:r>
              <a:rPr dirty="0" sz="2000" spc="-25"/>
              <a:t> </a:t>
            </a:r>
            <a:r>
              <a:rPr dirty="0" sz="2000" spc="-10"/>
              <a:t>calidad</a:t>
            </a:r>
            <a:endParaRPr sz="2000"/>
          </a:p>
        </p:txBody>
      </p:sp>
      <p:grpSp>
        <p:nvGrpSpPr>
          <p:cNvPr id="4" name="object 4"/>
          <p:cNvGrpSpPr/>
          <p:nvPr/>
        </p:nvGrpSpPr>
        <p:grpSpPr>
          <a:xfrm>
            <a:off x="172212" y="1351788"/>
            <a:ext cx="2081530" cy="2264410"/>
            <a:chOff x="172212" y="1351788"/>
            <a:chExt cx="2081530" cy="226441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2212" y="1351788"/>
              <a:ext cx="2081022" cy="2263902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274320" y="1490472"/>
              <a:ext cx="1920239" cy="2030095"/>
            </a:xfrm>
            <a:custGeom>
              <a:avLst/>
              <a:gdLst/>
              <a:ahLst/>
              <a:cxnLst/>
              <a:rect l="l" t="t" r="r" b="b"/>
              <a:pathLst>
                <a:path w="1920239" h="2030095">
                  <a:moveTo>
                    <a:pt x="0" y="2029967"/>
                  </a:moveTo>
                  <a:lnTo>
                    <a:pt x="1920239" y="2029967"/>
                  </a:lnTo>
                  <a:lnTo>
                    <a:pt x="1920239" y="0"/>
                  </a:lnTo>
                  <a:lnTo>
                    <a:pt x="0" y="0"/>
                  </a:lnTo>
                  <a:lnTo>
                    <a:pt x="0" y="2029967"/>
                  </a:lnTo>
                  <a:close/>
                </a:path>
              </a:pathLst>
            </a:custGeom>
            <a:solidFill>
              <a:srgbClr val="1B2A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274320" y="1417320"/>
              <a:ext cx="1920239" cy="2103120"/>
            </a:xfrm>
            <a:custGeom>
              <a:avLst/>
              <a:gdLst/>
              <a:ahLst/>
              <a:cxnLst/>
              <a:rect l="l" t="t" r="r" b="b"/>
              <a:pathLst>
                <a:path w="1920239" h="2103120">
                  <a:moveTo>
                    <a:pt x="0" y="2103119"/>
                  </a:moveTo>
                  <a:lnTo>
                    <a:pt x="1920239" y="2103119"/>
                  </a:lnTo>
                  <a:lnTo>
                    <a:pt x="1920239" y="0"/>
                  </a:lnTo>
                  <a:lnTo>
                    <a:pt x="0" y="0"/>
                  </a:lnTo>
                  <a:lnTo>
                    <a:pt x="0" y="2103119"/>
                  </a:lnTo>
                  <a:close/>
                </a:path>
              </a:pathLst>
            </a:custGeom>
            <a:ln w="12700">
              <a:solidFill>
                <a:srgbClr val="1B2A4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274320" y="1417320"/>
              <a:ext cx="1920239" cy="73660"/>
            </a:xfrm>
            <a:custGeom>
              <a:avLst/>
              <a:gdLst/>
              <a:ahLst/>
              <a:cxnLst/>
              <a:rect l="l" t="t" r="r" b="b"/>
              <a:pathLst>
                <a:path w="1920239" h="73659">
                  <a:moveTo>
                    <a:pt x="1920239" y="0"/>
                  </a:moveTo>
                  <a:lnTo>
                    <a:pt x="0" y="0"/>
                  </a:lnTo>
                  <a:lnTo>
                    <a:pt x="0" y="73151"/>
                  </a:lnTo>
                  <a:lnTo>
                    <a:pt x="1920239" y="73151"/>
                  </a:lnTo>
                  <a:lnTo>
                    <a:pt x="1920239" y="0"/>
                  </a:lnTo>
                  <a:close/>
                </a:path>
              </a:pathLst>
            </a:custGeom>
            <a:solidFill>
              <a:srgbClr val="C8A84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274320" y="1417320"/>
              <a:ext cx="1920239" cy="822960"/>
            </a:xfrm>
            <a:custGeom>
              <a:avLst/>
              <a:gdLst/>
              <a:ahLst/>
              <a:cxnLst/>
              <a:rect l="l" t="t" r="r" b="b"/>
              <a:pathLst>
                <a:path w="1920239" h="822960">
                  <a:moveTo>
                    <a:pt x="0" y="73151"/>
                  </a:moveTo>
                  <a:lnTo>
                    <a:pt x="1920239" y="73151"/>
                  </a:lnTo>
                  <a:lnTo>
                    <a:pt x="1920239" y="0"/>
                  </a:lnTo>
                  <a:lnTo>
                    <a:pt x="0" y="0"/>
                  </a:lnTo>
                  <a:lnTo>
                    <a:pt x="0" y="73151"/>
                  </a:lnTo>
                  <a:close/>
                </a:path>
                <a:path w="1920239" h="822960">
                  <a:moveTo>
                    <a:pt x="182879" y="822959"/>
                  </a:moveTo>
                  <a:lnTo>
                    <a:pt x="1737360" y="822959"/>
                  </a:lnTo>
                </a:path>
              </a:pathLst>
            </a:custGeom>
            <a:ln w="12700">
              <a:solidFill>
                <a:srgbClr val="C8A84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280670" y="1470226"/>
            <a:ext cx="1907539" cy="1628775"/>
          </a:xfrm>
          <a:prstGeom prst="rect">
            <a:avLst/>
          </a:prstGeom>
        </p:spPr>
        <p:txBody>
          <a:bodyPr wrap="square" lIns="0" tIns="8382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660"/>
              </a:spcBef>
            </a:pPr>
            <a:r>
              <a:rPr dirty="0" sz="1100" spc="-10" b="1">
                <a:solidFill>
                  <a:srgbClr val="C8A84B"/>
                </a:solidFill>
                <a:latin typeface="Calibri"/>
                <a:cs typeface="Calibri"/>
              </a:rPr>
              <a:t>Defectos</a:t>
            </a:r>
            <a:endParaRPr sz="1100">
              <a:latin typeface="Calibri"/>
              <a:cs typeface="Calibri"/>
            </a:endParaRPr>
          </a:p>
          <a:p>
            <a:pPr algn="ctr" marL="635">
              <a:lnSpc>
                <a:spcPct val="100000"/>
              </a:lnSpc>
              <a:spcBef>
                <a:spcPts val="905"/>
              </a:spcBef>
            </a:pPr>
            <a:r>
              <a:rPr dirty="0" sz="1800" b="1">
                <a:solidFill>
                  <a:srgbClr val="FFFFFF"/>
                </a:solidFill>
                <a:latin typeface="Calibri"/>
                <a:cs typeface="Calibri"/>
              </a:rPr>
              <a:t>↓</a:t>
            </a:r>
            <a:r>
              <a:rPr dirty="0" sz="1800" spc="-10" b="1">
                <a:solidFill>
                  <a:srgbClr val="FFFFFF"/>
                </a:solidFill>
                <a:latin typeface="Calibri"/>
                <a:cs typeface="Calibri"/>
              </a:rPr>
              <a:t> Densidad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55"/>
              </a:spcBef>
            </a:pPr>
            <a:endParaRPr sz="1800">
              <a:latin typeface="Calibri"/>
              <a:cs typeface="Calibri"/>
            </a:endParaRPr>
          </a:p>
          <a:p>
            <a:pPr algn="ctr" marL="328930" marR="321945">
              <a:lnSpc>
                <a:spcPct val="100000"/>
              </a:lnSpc>
              <a:spcBef>
                <a:spcPts val="5"/>
              </a:spcBef>
            </a:pPr>
            <a:r>
              <a:rPr dirty="0" sz="950">
                <a:solidFill>
                  <a:srgbClr val="FFFFFF"/>
                </a:solidFill>
                <a:latin typeface="Calibri"/>
                <a:cs typeface="Calibri"/>
              </a:rPr>
              <a:t>Requisitos</a:t>
            </a:r>
            <a:r>
              <a:rPr dirty="0" sz="95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FFFFFF"/>
                </a:solidFill>
                <a:latin typeface="Calibri"/>
                <a:cs typeface="Calibri"/>
              </a:rPr>
              <a:t>claros</a:t>
            </a:r>
            <a:r>
              <a:rPr dirty="0" sz="950" spc="-4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FFFFFF"/>
                </a:solidFill>
                <a:latin typeface="Calibri"/>
                <a:cs typeface="Calibri"/>
              </a:rPr>
              <a:t>reducen </a:t>
            </a:r>
            <a:r>
              <a:rPr dirty="0" sz="950">
                <a:solidFill>
                  <a:srgbClr val="FFFFFF"/>
                </a:solidFill>
                <a:latin typeface="Calibri"/>
                <a:cs typeface="Calibri"/>
              </a:rPr>
              <a:t>defectos</a:t>
            </a:r>
            <a:r>
              <a:rPr dirty="0" sz="950" spc="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FFFFFF"/>
                </a:solidFill>
                <a:latin typeface="Calibri"/>
                <a:cs typeface="Calibri"/>
              </a:rPr>
              <a:t>en</a:t>
            </a:r>
            <a:r>
              <a:rPr dirty="0" sz="950" spc="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FFFFFF"/>
                </a:solidFill>
                <a:latin typeface="Calibri"/>
                <a:cs typeface="Calibri"/>
              </a:rPr>
              <a:t>desarrollo</a:t>
            </a:r>
            <a:r>
              <a:rPr dirty="0" sz="95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spc="-50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r>
              <a:rPr dirty="0" sz="950" spc="-10">
                <a:solidFill>
                  <a:srgbClr val="FFFFFF"/>
                </a:solidFill>
                <a:latin typeface="Calibri"/>
                <a:cs typeface="Calibri"/>
              </a:rPr>
              <a:t> producción.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2348483" y="1351788"/>
            <a:ext cx="2081530" cy="2264410"/>
            <a:chOff x="2348483" y="1351788"/>
            <a:chExt cx="2081530" cy="2264410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48483" y="1351788"/>
              <a:ext cx="2081021" cy="2263902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450591" y="1490472"/>
              <a:ext cx="1920239" cy="2030095"/>
            </a:xfrm>
            <a:custGeom>
              <a:avLst/>
              <a:gdLst/>
              <a:ahLst/>
              <a:cxnLst/>
              <a:rect l="l" t="t" r="r" b="b"/>
              <a:pathLst>
                <a:path w="1920239" h="2030095">
                  <a:moveTo>
                    <a:pt x="0" y="2029967"/>
                  </a:moveTo>
                  <a:lnTo>
                    <a:pt x="1920239" y="2029967"/>
                  </a:lnTo>
                  <a:lnTo>
                    <a:pt x="1920239" y="0"/>
                  </a:lnTo>
                  <a:lnTo>
                    <a:pt x="0" y="0"/>
                  </a:lnTo>
                  <a:lnTo>
                    <a:pt x="0" y="2029967"/>
                  </a:lnTo>
                  <a:close/>
                </a:path>
              </a:pathLst>
            </a:custGeom>
            <a:solidFill>
              <a:srgbClr val="1B2A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2450591" y="1417320"/>
              <a:ext cx="1920239" cy="2103120"/>
            </a:xfrm>
            <a:custGeom>
              <a:avLst/>
              <a:gdLst/>
              <a:ahLst/>
              <a:cxnLst/>
              <a:rect l="l" t="t" r="r" b="b"/>
              <a:pathLst>
                <a:path w="1920239" h="2103120">
                  <a:moveTo>
                    <a:pt x="0" y="2103119"/>
                  </a:moveTo>
                  <a:lnTo>
                    <a:pt x="1920239" y="2103119"/>
                  </a:lnTo>
                  <a:lnTo>
                    <a:pt x="1920239" y="0"/>
                  </a:lnTo>
                  <a:lnTo>
                    <a:pt x="0" y="0"/>
                  </a:lnTo>
                  <a:lnTo>
                    <a:pt x="0" y="2103119"/>
                  </a:lnTo>
                  <a:close/>
                </a:path>
              </a:pathLst>
            </a:custGeom>
            <a:ln w="12700">
              <a:solidFill>
                <a:srgbClr val="1B2A4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2450591" y="1417320"/>
              <a:ext cx="1920239" cy="73660"/>
            </a:xfrm>
            <a:custGeom>
              <a:avLst/>
              <a:gdLst/>
              <a:ahLst/>
              <a:cxnLst/>
              <a:rect l="l" t="t" r="r" b="b"/>
              <a:pathLst>
                <a:path w="1920239" h="73659">
                  <a:moveTo>
                    <a:pt x="1920239" y="0"/>
                  </a:moveTo>
                  <a:lnTo>
                    <a:pt x="0" y="0"/>
                  </a:lnTo>
                  <a:lnTo>
                    <a:pt x="0" y="73151"/>
                  </a:lnTo>
                  <a:lnTo>
                    <a:pt x="1920239" y="73151"/>
                  </a:lnTo>
                  <a:lnTo>
                    <a:pt x="1920239" y="0"/>
                  </a:lnTo>
                  <a:close/>
                </a:path>
              </a:pathLst>
            </a:custGeom>
            <a:solidFill>
              <a:srgbClr val="C8A84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2450591" y="1417320"/>
              <a:ext cx="1920239" cy="822960"/>
            </a:xfrm>
            <a:custGeom>
              <a:avLst/>
              <a:gdLst/>
              <a:ahLst/>
              <a:cxnLst/>
              <a:rect l="l" t="t" r="r" b="b"/>
              <a:pathLst>
                <a:path w="1920239" h="822960">
                  <a:moveTo>
                    <a:pt x="0" y="73151"/>
                  </a:moveTo>
                  <a:lnTo>
                    <a:pt x="1920239" y="73151"/>
                  </a:lnTo>
                  <a:lnTo>
                    <a:pt x="1920239" y="0"/>
                  </a:lnTo>
                  <a:lnTo>
                    <a:pt x="0" y="0"/>
                  </a:lnTo>
                  <a:lnTo>
                    <a:pt x="0" y="73151"/>
                  </a:lnTo>
                  <a:close/>
                </a:path>
                <a:path w="1920239" h="822960">
                  <a:moveTo>
                    <a:pt x="182880" y="822959"/>
                  </a:moveTo>
                  <a:lnTo>
                    <a:pt x="1737359" y="822959"/>
                  </a:lnTo>
                </a:path>
              </a:pathLst>
            </a:custGeom>
            <a:ln w="12700">
              <a:solidFill>
                <a:srgbClr val="C8A84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2456942" y="1470226"/>
            <a:ext cx="1907539" cy="1628775"/>
          </a:xfrm>
          <a:prstGeom prst="rect">
            <a:avLst/>
          </a:prstGeom>
        </p:spPr>
        <p:txBody>
          <a:bodyPr wrap="square" lIns="0" tIns="83820" rIns="0" bIns="0" rtlCol="0" vert="horz">
            <a:spAutoFit/>
          </a:bodyPr>
          <a:lstStyle/>
          <a:p>
            <a:pPr algn="ctr" marL="635">
              <a:lnSpc>
                <a:spcPct val="100000"/>
              </a:lnSpc>
              <a:spcBef>
                <a:spcPts val="660"/>
              </a:spcBef>
            </a:pPr>
            <a:r>
              <a:rPr dirty="0" sz="1100" b="1">
                <a:solidFill>
                  <a:srgbClr val="C8A84B"/>
                </a:solidFill>
                <a:latin typeface="Calibri"/>
                <a:cs typeface="Calibri"/>
              </a:rPr>
              <a:t>Costo</a:t>
            </a:r>
            <a:r>
              <a:rPr dirty="0" sz="1100" spc="-35" b="1">
                <a:solidFill>
                  <a:srgbClr val="C8A84B"/>
                </a:solidFill>
                <a:latin typeface="Calibri"/>
                <a:cs typeface="Calibri"/>
              </a:rPr>
              <a:t> </a:t>
            </a:r>
            <a:r>
              <a:rPr dirty="0" sz="1100" spc="-10" b="1">
                <a:solidFill>
                  <a:srgbClr val="C8A84B"/>
                </a:solidFill>
                <a:latin typeface="Calibri"/>
                <a:cs typeface="Calibri"/>
              </a:rPr>
              <a:t>calidad</a:t>
            </a:r>
            <a:endParaRPr sz="11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905"/>
              </a:spcBef>
            </a:pPr>
            <a:r>
              <a:rPr dirty="0" sz="1800" b="1">
                <a:solidFill>
                  <a:srgbClr val="FFFFFF"/>
                </a:solidFill>
                <a:latin typeface="Calibri"/>
                <a:cs typeface="Calibri"/>
              </a:rPr>
              <a:t>↓</a:t>
            </a:r>
            <a:r>
              <a:rPr dirty="0" sz="1800" spc="-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FFFFFF"/>
                </a:solidFill>
                <a:latin typeface="Calibri"/>
                <a:cs typeface="Calibri"/>
              </a:rPr>
              <a:t>Retrabajo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55"/>
              </a:spcBef>
            </a:pPr>
            <a:endParaRPr sz="1800">
              <a:latin typeface="Calibri"/>
              <a:cs typeface="Calibri"/>
            </a:endParaRPr>
          </a:p>
          <a:p>
            <a:pPr algn="ctr" marL="192405" marR="186055">
              <a:lnSpc>
                <a:spcPct val="100000"/>
              </a:lnSpc>
              <a:spcBef>
                <a:spcPts val="5"/>
              </a:spcBef>
            </a:pPr>
            <a:r>
              <a:rPr dirty="0" sz="950">
                <a:solidFill>
                  <a:srgbClr val="FFFFFF"/>
                </a:solidFill>
                <a:latin typeface="Calibri"/>
                <a:cs typeface="Calibri"/>
              </a:rPr>
              <a:t>Menos</a:t>
            </a:r>
            <a:r>
              <a:rPr dirty="0" sz="950" spc="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FFFFFF"/>
                </a:solidFill>
                <a:latin typeface="Calibri"/>
                <a:cs typeface="Calibri"/>
              </a:rPr>
              <a:t>ambigüedades</a:t>
            </a:r>
            <a:r>
              <a:rPr dirty="0" sz="950">
                <a:solidFill>
                  <a:srgbClr val="FFFFFF"/>
                </a:solidFill>
                <a:latin typeface="Calibri"/>
                <a:cs typeface="Calibri"/>
              </a:rPr>
              <a:t> =</a:t>
            </a:r>
            <a:r>
              <a:rPr dirty="0" sz="950" spc="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spc="-20">
                <a:solidFill>
                  <a:srgbClr val="FFFFFF"/>
                </a:solidFill>
                <a:latin typeface="Calibri"/>
                <a:cs typeface="Calibri"/>
              </a:rPr>
              <a:t>menor</a:t>
            </a:r>
            <a:r>
              <a:rPr dirty="0" sz="950">
                <a:solidFill>
                  <a:srgbClr val="FFFFFF"/>
                </a:solidFill>
                <a:latin typeface="Calibri"/>
                <a:cs typeface="Calibri"/>
              </a:rPr>
              <a:t> porcentaje</a:t>
            </a:r>
            <a:r>
              <a:rPr dirty="0" sz="950" spc="-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dirty="0" sz="95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FFFFFF"/>
                </a:solidFill>
                <a:latin typeface="Calibri"/>
                <a:cs typeface="Calibri"/>
              </a:rPr>
              <a:t>costo</a:t>
            </a:r>
            <a:r>
              <a:rPr dirty="0" sz="95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dirty="0" sz="95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spc="-25">
                <a:solidFill>
                  <a:srgbClr val="FFFFFF"/>
                </a:solidFill>
                <a:latin typeface="Calibri"/>
                <a:cs typeface="Calibri"/>
              </a:rPr>
              <a:t>no</a:t>
            </a:r>
            <a:r>
              <a:rPr dirty="0" sz="950" spc="-10">
                <a:solidFill>
                  <a:srgbClr val="FFFFFF"/>
                </a:solidFill>
                <a:latin typeface="Calibri"/>
                <a:cs typeface="Calibri"/>
              </a:rPr>
              <a:t> calidad.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4524755" y="1351788"/>
            <a:ext cx="2081530" cy="2264410"/>
            <a:chOff x="4524755" y="1351788"/>
            <a:chExt cx="2081530" cy="2264410"/>
          </a:xfrm>
        </p:grpSpPr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24755" y="1351788"/>
              <a:ext cx="2081022" cy="2263902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4626863" y="1490472"/>
              <a:ext cx="1920239" cy="2030095"/>
            </a:xfrm>
            <a:custGeom>
              <a:avLst/>
              <a:gdLst/>
              <a:ahLst/>
              <a:cxnLst/>
              <a:rect l="l" t="t" r="r" b="b"/>
              <a:pathLst>
                <a:path w="1920240" h="2030095">
                  <a:moveTo>
                    <a:pt x="0" y="2029967"/>
                  </a:moveTo>
                  <a:lnTo>
                    <a:pt x="1920239" y="2029967"/>
                  </a:lnTo>
                  <a:lnTo>
                    <a:pt x="1920239" y="0"/>
                  </a:lnTo>
                  <a:lnTo>
                    <a:pt x="0" y="0"/>
                  </a:lnTo>
                  <a:lnTo>
                    <a:pt x="0" y="2029967"/>
                  </a:lnTo>
                  <a:close/>
                </a:path>
              </a:pathLst>
            </a:custGeom>
            <a:solidFill>
              <a:srgbClr val="1B2A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4626863" y="1417320"/>
              <a:ext cx="1920239" cy="2103120"/>
            </a:xfrm>
            <a:custGeom>
              <a:avLst/>
              <a:gdLst/>
              <a:ahLst/>
              <a:cxnLst/>
              <a:rect l="l" t="t" r="r" b="b"/>
              <a:pathLst>
                <a:path w="1920240" h="2103120">
                  <a:moveTo>
                    <a:pt x="0" y="2103119"/>
                  </a:moveTo>
                  <a:lnTo>
                    <a:pt x="1920239" y="2103119"/>
                  </a:lnTo>
                  <a:lnTo>
                    <a:pt x="1920239" y="0"/>
                  </a:lnTo>
                  <a:lnTo>
                    <a:pt x="0" y="0"/>
                  </a:lnTo>
                  <a:lnTo>
                    <a:pt x="0" y="2103119"/>
                  </a:lnTo>
                  <a:close/>
                </a:path>
              </a:pathLst>
            </a:custGeom>
            <a:ln w="12700">
              <a:solidFill>
                <a:srgbClr val="1B2A4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4626863" y="1417320"/>
              <a:ext cx="1920239" cy="73660"/>
            </a:xfrm>
            <a:custGeom>
              <a:avLst/>
              <a:gdLst/>
              <a:ahLst/>
              <a:cxnLst/>
              <a:rect l="l" t="t" r="r" b="b"/>
              <a:pathLst>
                <a:path w="1920240" h="73659">
                  <a:moveTo>
                    <a:pt x="1920239" y="0"/>
                  </a:moveTo>
                  <a:lnTo>
                    <a:pt x="0" y="0"/>
                  </a:lnTo>
                  <a:lnTo>
                    <a:pt x="0" y="73151"/>
                  </a:lnTo>
                  <a:lnTo>
                    <a:pt x="1920239" y="73151"/>
                  </a:lnTo>
                  <a:lnTo>
                    <a:pt x="1920239" y="0"/>
                  </a:lnTo>
                  <a:close/>
                </a:path>
              </a:pathLst>
            </a:custGeom>
            <a:solidFill>
              <a:srgbClr val="C8A84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4626863" y="1417320"/>
              <a:ext cx="1920239" cy="822960"/>
            </a:xfrm>
            <a:custGeom>
              <a:avLst/>
              <a:gdLst/>
              <a:ahLst/>
              <a:cxnLst/>
              <a:rect l="l" t="t" r="r" b="b"/>
              <a:pathLst>
                <a:path w="1920240" h="822960">
                  <a:moveTo>
                    <a:pt x="0" y="73151"/>
                  </a:moveTo>
                  <a:lnTo>
                    <a:pt x="1920239" y="73151"/>
                  </a:lnTo>
                  <a:lnTo>
                    <a:pt x="1920239" y="0"/>
                  </a:lnTo>
                  <a:lnTo>
                    <a:pt x="0" y="0"/>
                  </a:lnTo>
                  <a:lnTo>
                    <a:pt x="0" y="73151"/>
                  </a:lnTo>
                  <a:close/>
                </a:path>
                <a:path w="1920240" h="822960">
                  <a:moveTo>
                    <a:pt x="182880" y="822959"/>
                  </a:moveTo>
                  <a:lnTo>
                    <a:pt x="1737360" y="822959"/>
                  </a:lnTo>
                </a:path>
              </a:pathLst>
            </a:custGeom>
            <a:ln w="12700">
              <a:solidFill>
                <a:srgbClr val="C8A84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4633214" y="1470226"/>
            <a:ext cx="1907539" cy="1628775"/>
          </a:xfrm>
          <a:prstGeom prst="rect">
            <a:avLst/>
          </a:prstGeom>
        </p:spPr>
        <p:txBody>
          <a:bodyPr wrap="square" lIns="0" tIns="83820" rIns="0" bIns="0" rtlCol="0" vert="horz">
            <a:spAutoFit/>
          </a:bodyPr>
          <a:lstStyle/>
          <a:p>
            <a:pPr algn="ctr" marL="1270">
              <a:lnSpc>
                <a:spcPct val="100000"/>
              </a:lnSpc>
              <a:spcBef>
                <a:spcPts val="660"/>
              </a:spcBef>
            </a:pPr>
            <a:r>
              <a:rPr dirty="0" sz="1100" spc="-10" b="1">
                <a:solidFill>
                  <a:srgbClr val="C8A84B"/>
                </a:solidFill>
                <a:latin typeface="Calibri"/>
                <a:cs typeface="Calibri"/>
              </a:rPr>
              <a:t>Satisfacción</a:t>
            </a:r>
            <a:endParaRPr sz="11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905"/>
              </a:spcBef>
            </a:pPr>
            <a:r>
              <a:rPr dirty="0" sz="1800" b="1">
                <a:solidFill>
                  <a:srgbClr val="FFFFFF"/>
                </a:solidFill>
                <a:latin typeface="Calibri"/>
                <a:cs typeface="Calibri"/>
              </a:rPr>
              <a:t>↑</a:t>
            </a:r>
            <a:r>
              <a:rPr dirty="0" sz="1800" spc="-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FFFFFF"/>
                </a:solidFill>
                <a:latin typeface="Calibri"/>
                <a:cs typeface="Calibri"/>
              </a:rPr>
              <a:t>Cliente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55"/>
              </a:spcBef>
            </a:pPr>
            <a:endParaRPr sz="1800">
              <a:latin typeface="Calibri"/>
              <a:cs typeface="Calibri"/>
            </a:endParaRPr>
          </a:p>
          <a:p>
            <a:pPr algn="ctr" marL="346075" marR="339090">
              <a:lnSpc>
                <a:spcPct val="100000"/>
              </a:lnSpc>
              <a:spcBef>
                <a:spcPts val="5"/>
              </a:spcBef>
            </a:pPr>
            <a:r>
              <a:rPr dirty="0" sz="950" spc="-10">
                <a:solidFill>
                  <a:srgbClr val="FFFFFF"/>
                </a:solidFill>
                <a:latin typeface="Calibri"/>
                <a:cs typeface="Calibri"/>
              </a:rPr>
              <a:t>Especificaciones</a:t>
            </a:r>
            <a:r>
              <a:rPr dirty="0" sz="950" spc="8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FFFFFF"/>
                </a:solidFill>
                <a:latin typeface="Calibri"/>
                <a:cs typeface="Calibri"/>
              </a:rPr>
              <a:t>precisas </a:t>
            </a:r>
            <a:r>
              <a:rPr dirty="0" sz="950">
                <a:solidFill>
                  <a:srgbClr val="FFFFFF"/>
                </a:solidFill>
                <a:latin typeface="Calibri"/>
                <a:cs typeface="Calibri"/>
              </a:rPr>
              <a:t>alinean</a:t>
            </a:r>
            <a:r>
              <a:rPr dirty="0" sz="95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FFFFFF"/>
                </a:solidFill>
                <a:latin typeface="Calibri"/>
                <a:cs typeface="Calibri"/>
              </a:rPr>
              <a:t>el</a:t>
            </a:r>
            <a:r>
              <a:rPr dirty="0" sz="95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FFFFFF"/>
                </a:solidFill>
                <a:latin typeface="Calibri"/>
                <a:cs typeface="Calibri"/>
              </a:rPr>
              <a:t>producto</a:t>
            </a:r>
            <a:r>
              <a:rPr dirty="0" sz="95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spc="-25">
                <a:solidFill>
                  <a:srgbClr val="FFFFFF"/>
                </a:solidFill>
                <a:latin typeface="Calibri"/>
                <a:cs typeface="Calibri"/>
              </a:rPr>
              <a:t>con</a:t>
            </a:r>
            <a:r>
              <a:rPr dirty="0" sz="950" spc="-10">
                <a:solidFill>
                  <a:srgbClr val="FFFFFF"/>
                </a:solidFill>
                <a:latin typeface="Calibri"/>
                <a:cs typeface="Calibri"/>
              </a:rPr>
              <a:t> expectativas</a:t>
            </a:r>
            <a:r>
              <a:rPr dirty="0" sz="950" spc="3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spc="-10">
                <a:solidFill>
                  <a:srgbClr val="FFFFFF"/>
                </a:solidFill>
                <a:latin typeface="Calibri"/>
                <a:cs typeface="Calibri"/>
              </a:rPr>
              <a:t>reales.</a:t>
            </a:r>
            <a:endParaRPr sz="950">
              <a:latin typeface="Calibri"/>
              <a:cs typeface="Calibr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6701028" y="1351788"/>
            <a:ext cx="2081530" cy="2264410"/>
            <a:chOff x="6701028" y="1351788"/>
            <a:chExt cx="2081530" cy="2264410"/>
          </a:xfrm>
        </p:grpSpPr>
        <p:pic>
          <p:nvPicPr>
            <p:cNvPr id="26" name="object 2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701028" y="1351788"/>
              <a:ext cx="2081022" cy="2263902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6803136" y="1490472"/>
              <a:ext cx="1920239" cy="2030095"/>
            </a:xfrm>
            <a:custGeom>
              <a:avLst/>
              <a:gdLst/>
              <a:ahLst/>
              <a:cxnLst/>
              <a:rect l="l" t="t" r="r" b="b"/>
              <a:pathLst>
                <a:path w="1920240" h="2030095">
                  <a:moveTo>
                    <a:pt x="0" y="2029967"/>
                  </a:moveTo>
                  <a:lnTo>
                    <a:pt x="1920239" y="2029967"/>
                  </a:lnTo>
                  <a:lnTo>
                    <a:pt x="1920239" y="0"/>
                  </a:lnTo>
                  <a:lnTo>
                    <a:pt x="0" y="0"/>
                  </a:lnTo>
                  <a:lnTo>
                    <a:pt x="0" y="2029967"/>
                  </a:lnTo>
                  <a:close/>
                </a:path>
              </a:pathLst>
            </a:custGeom>
            <a:solidFill>
              <a:srgbClr val="1B2A4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6803136" y="1417320"/>
              <a:ext cx="1920239" cy="2103120"/>
            </a:xfrm>
            <a:custGeom>
              <a:avLst/>
              <a:gdLst/>
              <a:ahLst/>
              <a:cxnLst/>
              <a:rect l="l" t="t" r="r" b="b"/>
              <a:pathLst>
                <a:path w="1920240" h="2103120">
                  <a:moveTo>
                    <a:pt x="0" y="2103119"/>
                  </a:moveTo>
                  <a:lnTo>
                    <a:pt x="1920239" y="2103119"/>
                  </a:lnTo>
                  <a:lnTo>
                    <a:pt x="1920239" y="0"/>
                  </a:lnTo>
                  <a:lnTo>
                    <a:pt x="0" y="0"/>
                  </a:lnTo>
                  <a:lnTo>
                    <a:pt x="0" y="2103119"/>
                  </a:lnTo>
                  <a:close/>
                </a:path>
              </a:pathLst>
            </a:custGeom>
            <a:ln w="12699">
              <a:solidFill>
                <a:srgbClr val="1B2A49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6803136" y="1417320"/>
              <a:ext cx="1920239" cy="73660"/>
            </a:xfrm>
            <a:custGeom>
              <a:avLst/>
              <a:gdLst/>
              <a:ahLst/>
              <a:cxnLst/>
              <a:rect l="l" t="t" r="r" b="b"/>
              <a:pathLst>
                <a:path w="1920240" h="73659">
                  <a:moveTo>
                    <a:pt x="1920239" y="0"/>
                  </a:moveTo>
                  <a:lnTo>
                    <a:pt x="0" y="0"/>
                  </a:lnTo>
                  <a:lnTo>
                    <a:pt x="0" y="73151"/>
                  </a:lnTo>
                  <a:lnTo>
                    <a:pt x="1920239" y="73151"/>
                  </a:lnTo>
                  <a:lnTo>
                    <a:pt x="1920239" y="0"/>
                  </a:lnTo>
                  <a:close/>
                </a:path>
              </a:pathLst>
            </a:custGeom>
            <a:solidFill>
              <a:srgbClr val="C8A84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6803136" y="1417320"/>
              <a:ext cx="1920239" cy="822960"/>
            </a:xfrm>
            <a:custGeom>
              <a:avLst/>
              <a:gdLst/>
              <a:ahLst/>
              <a:cxnLst/>
              <a:rect l="l" t="t" r="r" b="b"/>
              <a:pathLst>
                <a:path w="1920240" h="822960">
                  <a:moveTo>
                    <a:pt x="0" y="73151"/>
                  </a:moveTo>
                  <a:lnTo>
                    <a:pt x="1920239" y="73151"/>
                  </a:lnTo>
                  <a:lnTo>
                    <a:pt x="1920239" y="0"/>
                  </a:lnTo>
                  <a:lnTo>
                    <a:pt x="0" y="0"/>
                  </a:lnTo>
                  <a:lnTo>
                    <a:pt x="0" y="73151"/>
                  </a:lnTo>
                  <a:close/>
                </a:path>
                <a:path w="1920240" h="822960">
                  <a:moveTo>
                    <a:pt x="182880" y="822959"/>
                  </a:moveTo>
                  <a:lnTo>
                    <a:pt x="1737360" y="822959"/>
                  </a:lnTo>
                </a:path>
              </a:pathLst>
            </a:custGeom>
            <a:ln w="12700">
              <a:solidFill>
                <a:srgbClr val="C8A84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/>
          <p:cNvSpPr txBox="1"/>
          <p:nvPr/>
        </p:nvSpPr>
        <p:spPr>
          <a:xfrm>
            <a:off x="6809485" y="1470226"/>
            <a:ext cx="1907539" cy="1628775"/>
          </a:xfrm>
          <a:prstGeom prst="rect">
            <a:avLst/>
          </a:prstGeom>
        </p:spPr>
        <p:txBody>
          <a:bodyPr wrap="square" lIns="0" tIns="83820" rIns="0" bIns="0" rtlCol="0" vert="horz">
            <a:spAutoFit/>
          </a:bodyPr>
          <a:lstStyle/>
          <a:p>
            <a:pPr algn="ctr" marL="1270">
              <a:lnSpc>
                <a:spcPct val="100000"/>
              </a:lnSpc>
              <a:spcBef>
                <a:spcPts val="660"/>
              </a:spcBef>
            </a:pPr>
            <a:r>
              <a:rPr dirty="0" sz="1100" spc="-10" b="1">
                <a:solidFill>
                  <a:srgbClr val="C8A84B"/>
                </a:solidFill>
                <a:latin typeface="Calibri"/>
                <a:cs typeface="Calibri"/>
              </a:rPr>
              <a:t>Trazabilidad</a:t>
            </a:r>
            <a:endParaRPr sz="1100">
              <a:latin typeface="Calibri"/>
              <a:cs typeface="Calibri"/>
            </a:endParaRPr>
          </a:p>
          <a:p>
            <a:pPr algn="ctr" marL="635">
              <a:lnSpc>
                <a:spcPct val="100000"/>
              </a:lnSpc>
              <a:spcBef>
                <a:spcPts val="905"/>
              </a:spcBef>
            </a:pPr>
            <a:r>
              <a:rPr dirty="0" sz="1800" b="1">
                <a:solidFill>
                  <a:srgbClr val="FFFFFF"/>
                </a:solidFill>
                <a:latin typeface="Calibri"/>
                <a:cs typeface="Calibri"/>
              </a:rPr>
              <a:t>↑</a:t>
            </a:r>
            <a:r>
              <a:rPr dirty="0" sz="1800" spc="-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800" spc="-10" b="1">
                <a:solidFill>
                  <a:srgbClr val="FFFFFF"/>
                </a:solidFill>
                <a:latin typeface="Calibri"/>
                <a:cs typeface="Calibri"/>
              </a:rPr>
              <a:t>Control</a:t>
            </a:r>
            <a:endParaRPr sz="18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055"/>
              </a:spcBef>
            </a:pPr>
            <a:endParaRPr sz="1800">
              <a:latin typeface="Calibri"/>
              <a:cs typeface="Calibri"/>
            </a:endParaRPr>
          </a:p>
          <a:p>
            <a:pPr algn="ctr" marL="271780" marR="264160">
              <a:lnSpc>
                <a:spcPct val="100000"/>
              </a:lnSpc>
              <a:spcBef>
                <a:spcPts val="5"/>
              </a:spcBef>
            </a:pPr>
            <a:r>
              <a:rPr dirty="0" sz="950">
                <a:solidFill>
                  <a:srgbClr val="FFFFFF"/>
                </a:solidFill>
                <a:latin typeface="Calibri"/>
                <a:cs typeface="Calibri"/>
              </a:rPr>
              <a:t>Cada</a:t>
            </a:r>
            <a:r>
              <a:rPr dirty="0" sz="95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FFFFFF"/>
                </a:solidFill>
                <a:latin typeface="Calibri"/>
                <a:cs typeface="Calibri"/>
              </a:rPr>
              <a:t>requisito</a:t>
            </a:r>
            <a:r>
              <a:rPr dirty="0" sz="95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FFFFFF"/>
                </a:solidFill>
                <a:latin typeface="Calibri"/>
                <a:cs typeface="Calibri"/>
              </a:rPr>
              <a:t>es</a:t>
            </a:r>
            <a:r>
              <a:rPr dirty="0" sz="950" spc="-10">
                <a:solidFill>
                  <a:srgbClr val="FFFFFF"/>
                </a:solidFill>
                <a:latin typeface="Calibri"/>
                <a:cs typeface="Calibri"/>
              </a:rPr>
              <a:t> rastreable </a:t>
            </a:r>
            <a:r>
              <a:rPr dirty="0" sz="950">
                <a:solidFill>
                  <a:srgbClr val="FFFFFF"/>
                </a:solidFill>
                <a:latin typeface="Calibri"/>
                <a:cs typeface="Calibri"/>
              </a:rPr>
              <a:t>hasta</a:t>
            </a:r>
            <a:r>
              <a:rPr dirty="0" sz="950" spc="-3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FFFFFF"/>
                </a:solidFill>
                <a:latin typeface="Calibri"/>
                <a:cs typeface="Calibri"/>
              </a:rPr>
              <a:t>casos</a:t>
            </a:r>
            <a:r>
              <a:rPr dirty="0" sz="950" spc="-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dirty="0" sz="95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>
                <a:solidFill>
                  <a:srgbClr val="FFFFFF"/>
                </a:solidFill>
                <a:latin typeface="Calibri"/>
                <a:cs typeface="Calibri"/>
              </a:rPr>
              <a:t>prueba</a:t>
            </a:r>
            <a:r>
              <a:rPr dirty="0" sz="950" spc="-4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spc="-50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r>
              <a:rPr dirty="0" sz="950" spc="-10">
                <a:solidFill>
                  <a:srgbClr val="FFFFFF"/>
                </a:solidFill>
                <a:latin typeface="Calibri"/>
                <a:cs typeface="Calibri"/>
              </a:rPr>
              <a:t> entrega.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274320" y="3703320"/>
            <a:ext cx="8595360" cy="502920"/>
          </a:xfrm>
          <a:prstGeom prst="rect">
            <a:avLst/>
          </a:prstGeom>
          <a:solidFill>
            <a:srgbClr val="EAEFFA"/>
          </a:solidFill>
          <a:ln w="12700">
            <a:solidFill>
              <a:srgbClr val="1B2A49"/>
            </a:solidFill>
          </a:ln>
        </p:spPr>
        <p:txBody>
          <a:bodyPr wrap="square" lIns="0" tIns="38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0"/>
              </a:spcBef>
            </a:pPr>
            <a:endParaRPr sz="11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dirty="0" sz="1100" b="1">
                <a:solidFill>
                  <a:srgbClr val="1B2A49"/>
                </a:solidFill>
                <a:latin typeface="Calibri"/>
                <a:cs typeface="Calibri"/>
              </a:rPr>
              <a:t>Marco</a:t>
            </a:r>
            <a:r>
              <a:rPr dirty="0" sz="1100" spc="-25" b="1">
                <a:solidFill>
                  <a:srgbClr val="1B2A49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1B2A49"/>
                </a:solidFill>
                <a:latin typeface="Calibri"/>
                <a:cs typeface="Calibri"/>
              </a:rPr>
              <a:t>de</a:t>
            </a:r>
            <a:r>
              <a:rPr dirty="0" sz="1100" spc="-25" b="1">
                <a:solidFill>
                  <a:srgbClr val="1B2A49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1B2A49"/>
                </a:solidFill>
                <a:latin typeface="Calibri"/>
                <a:cs typeface="Calibri"/>
              </a:rPr>
              <a:t>integración:</a:t>
            </a:r>
            <a:r>
              <a:rPr dirty="0" sz="1100" spc="204" b="1">
                <a:solidFill>
                  <a:srgbClr val="1B2A49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1B2A49"/>
                </a:solidFill>
                <a:latin typeface="Calibri"/>
                <a:cs typeface="Calibri"/>
              </a:rPr>
              <a:t>CMMI</a:t>
            </a:r>
            <a:r>
              <a:rPr dirty="0" sz="1100" spc="225" b="1">
                <a:solidFill>
                  <a:srgbClr val="1B2A49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1B2A49"/>
                </a:solidFill>
                <a:latin typeface="Calibri"/>
                <a:cs typeface="Calibri"/>
              </a:rPr>
              <a:t>·</a:t>
            </a:r>
            <a:r>
              <a:rPr dirty="0" sz="1100" spc="235" b="1">
                <a:solidFill>
                  <a:srgbClr val="1B2A49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1B2A49"/>
                </a:solidFill>
                <a:latin typeface="Calibri"/>
                <a:cs typeface="Calibri"/>
              </a:rPr>
              <a:t>TSP/PSP</a:t>
            </a:r>
            <a:r>
              <a:rPr dirty="0" sz="1100" spc="235" b="1">
                <a:solidFill>
                  <a:srgbClr val="1B2A49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1B2A49"/>
                </a:solidFill>
                <a:latin typeface="Calibri"/>
                <a:cs typeface="Calibri"/>
              </a:rPr>
              <a:t>·</a:t>
            </a:r>
            <a:r>
              <a:rPr dirty="0" sz="1100" spc="235" b="1">
                <a:solidFill>
                  <a:srgbClr val="1B2A49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1B2A49"/>
                </a:solidFill>
                <a:latin typeface="Calibri"/>
                <a:cs typeface="Calibri"/>
              </a:rPr>
              <a:t>ISO/IEC</a:t>
            </a:r>
            <a:r>
              <a:rPr dirty="0" sz="1100" spc="-30" b="1">
                <a:solidFill>
                  <a:srgbClr val="1B2A49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1B2A49"/>
                </a:solidFill>
                <a:latin typeface="Calibri"/>
                <a:cs typeface="Calibri"/>
              </a:rPr>
              <a:t>12207</a:t>
            </a:r>
            <a:r>
              <a:rPr dirty="0" sz="1100" spc="225" b="1">
                <a:solidFill>
                  <a:srgbClr val="1B2A49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1B2A49"/>
                </a:solidFill>
                <a:latin typeface="Calibri"/>
                <a:cs typeface="Calibri"/>
              </a:rPr>
              <a:t>·</a:t>
            </a:r>
            <a:r>
              <a:rPr dirty="0" sz="1100" spc="240" b="1">
                <a:solidFill>
                  <a:srgbClr val="1B2A49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1B2A49"/>
                </a:solidFill>
                <a:latin typeface="Calibri"/>
                <a:cs typeface="Calibri"/>
              </a:rPr>
              <a:t>Modelos</a:t>
            </a:r>
            <a:r>
              <a:rPr dirty="0" sz="1100" spc="-20" b="1">
                <a:solidFill>
                  <a:srgbClr val="1B2A49"/>
                </a:solidFill>
                <a:latin typeface="Calibri"/>
                <a:cs typeface="Calibri"/>
              </a:rPr>
              <a:t> </a:t>
            </a:r>
            <a:r>
              <a:rPr dirty="0" sz="1100" spc="-25" b="1">
                <a:solidFill>
                  <a:srgbClr val="1B2A49"/>
                </a:solidFill>
                <a:latin typeface="Calibri"/>
                <a:cs typeface="Calibri"/>
              </a:rPr>
              <a:t>SPI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5143498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6851650" y="4199890"/>
            <a:ext cx="2298700" cy="122555"/>
            <a:chOff x="6851650" y="4199890"/>
            <a:chExt cx="2298700" cy="122555"/>
          </a:xfrm>
        </p:grpSpPr>
        <p:sp>
          <p:nvSpPr>
            <p:cNvPr id="4" name="object 4"/>
            <p:cNvSpPr/>
            <p:nvPr/>
          </p:nvSpPr>
          <p:spPr>
            <a:xfrm>
              <a:off x="6858000" y="4206240"/>
              <a:ext cx="2286000" cy="109855"/>
            </a:xfrm>
            <a:custGeom>
              <a:avLst/>
              <a:gdLst/>
              <a:ahLst/>
              <a:cxnLst/>
              <a:rect l="l" t="t" r="r" b="b"/>
              <a:pathLst>
                <a:path w="2286000" h="109854">
                  <a:moveTo>
                    <a:pt x="2286000" y="0"/>
                  </a:moveTo>
                  <a:lnTo>
                    <a:pt x="0" y="0"/>
                  </a:lnTo>
                  <a:lnTo>
                    <a:pt x="0" y="109728"/>
                  </a:lnTo>
                  <a:lnTo>
                    <a:pt x="2286000" y="109728"/>
                  </a:lnTo>
                  <a:lnTo>
                    <a:pt x="2286000" y="0"/>
                  </a:lnTo>
                  <a:close/>
                </a:path>
              </a:pathLst>
            </a:custGeom>
            <a:solidFill>
              <a:srgbClr val="C8A84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6858000" y="4206240"/>
              <a:ext cx="2286000" cy="109855"/>
            </a:xfrm>
            <a:custGeom>
              <a:avLst/>
              <a:gdLst/>
              <a:ahLst/>
              <a:cxnLst/>
              <a:rect l="l" t="t" r="r" b="b"/>
              <a:pathLst>
                <a:path w="2286000" h="109854">
                  <a:moveTo>
                    <a:pt x="2286000" y="0"/>
                  </a:moveTo>
                  <a:lnTo>
                    <a:pt x="0" y="0"/>
                  </a:lnTo>
                  <a:lnTo>
                    <a:pt x="0" y="109728"/>
                  </a:lnTo>
                  <a:lnTo>
                    <a:pt x="2286000" y="109728"/>
                  </a:lnTo>
                </a:path>
              </a:pathLst>
            </a:custGeom>
            <a:ln w="12700">
              <a:solidFill>
                <a:srgbClr val="C8A84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6" name="object 6"/>
          <p:cNvGrpSpPr/>
          <p:nvPr/>
        </p:nvGrpSpPr>
        <p:grpSpPr>
          <a:xfrm>
            <a:off x="7491730" y="3834129"/>
            <a:ext cx="1658620" cy="122555"/>
            <a:chOff x="7491730" y="3834129"/>
            <a:chExt cx="1658620" cy="122555"/>
          </a:xfrm>
        </p:grpSpPr>
        <p:sp>
          <p:nvSpPr>
            <p:cNvPr id="7" name="object 7"/>
            <p:cNvSpPr/>
            <p:nvPr/>
          </p:nvSpPr>
          <p:spPr>
            <a:xfrm>
              <a:off x="7498080" y="3840479"/>
              <a:ext cx="1645920" cy="109855"/>
            </a:xfrm>
            <a:custGeom>
              <a:avLst/>
              <a:gdLst/>
              <a:ahLst/>
              <a:cxnLst/>
              <a:rect l="l" t="t" r="r" b="b"/>
              <a:pathLst>
                <a:path w="1645920" h="109854">
                  <a:moveTo>
                    <a:pt x="1645920" y="0"/>
                  </a:moveTo>
                  <a:lnTo>
                    <a:pt x="0" y="0"/>
                  </a:lnTo>
                  <a:lnTo>
                    <a:pt x="0" y="109728"/>
                  </a:lnTo>
                  <a:lnTo>
                    <a:pt x="1645920" y="109728"/>
                  </a:lnTo>
                  <a:lnTo>
                    <a:pt x="1645920" y="0"/>
                  </a:lnTo>
                  <a:close/>
                </a:path>
              </a:pathLst>
            </a:custGeom>
            <a:solidFill>
              <a:srgbClr val="C8A84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7498080" y="3840479"/>
              <a:ext cx="1645920" cy="109855"/>
            </a:xfrm>
            <a:custGeom>
              <a:avLst/>
              <a:gdLst/>
              <a:ahLst/>
              <a:cxnLst/>
              <a:rect l="l" t="t" r="r" b="b"/>
              <a:pathLst>
                <a:path w="1645920" h="109854">
                  <a:moveTo>
                    <a:pt x="0" y="109728"/>
                  </a:moveTo>
                  <a:lnTo>
                    <a:pt x="1645920" y="109728"/>
                  </a:lnTo>
                  <a:lnTo>
                    <a:pt x="1645920" y="0"/>
                  </a:lnTo>
                  <a:lnTo>
                    <a:pt x="0" y="0"/>
                  </a:lnTo>
                  <a:lnTo>
                    <a:pt x="0" y="109728"/>
                  </a:lnTo>
                  <a:close/>
                </a:path>
              </a:pathLst>
            </a:custGeom>
            <a:ln w="12700">
              <a:solidFill>
                <a:srgbClr val="C8A84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9" name="object 9"/>
          <p:cNvGrpSpPr/>
          <p:nvPr/>
        </p:nvGrpSpPr>
        <p:grpSpPr>
          <a:xfrm>
            <a:off x="8040369" y="85089"/>
            <a:ext cx="927100" cy="927100"/>
            <a:chOff x="8040369" y="85089"/>
            <a:chExt cx="927100" cy="927100"/>
          </a:xfrm>
        </p:grpSpPr>
        <p:sp>
          <p:nvSpPr>
            <p:cNvPr id="10" name="object 10"/>
            <p:cNvSpPr/>
            <p:nvPr/>
          </p:nvSpPr>
          <p:spPr>
            <a:xfrm>
              <a:off x="8046719" y="91439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457200" y="0"/>
                  </a:moveTo>
                  <a:lnTo>
                    <a:pt x="410458" y="2360"/>
                  </a:lnTo>
                  <a:lnTo>
                    <a:pt x="365066" y="9289"/>
                  </a:lnTo>
                  <a:lnTo>
                    <a:pt x="321253" y="20557"/>
                  </a:lnTo>
                  <a:lnTo>
                    <a:pt x="279249" y="35933"/>
                  </a:lnTo>
                  <a:lnTo>
                    <a:pt x="239283" y="55187"/>
                  </a:lnTo>
                  <a:lnTo>
                    <a:pt x="201587" y="78090"/>
                  </a:lnTo>
                  <a:lnTo>
                    <a:pt x="166390" y="104411"/>
                  </a:lnTo>
                  <a:lnTo>
                    <a:pt x="133921" y="133921"/>
                  </a:lnTo>
                  <a:lnTo>
                    <a:pt x="104411" y="166390"/>
                  </a:lnTo>
                  <a:lnTo>
                    <a:pt x="78090" y="201587"/>
                  </a:lnTo>
                  <a:lnTo>
                    <a:pt x="55187" y="239283"/>
                  </a:lnTo>
                  <a:lnTo>
                    <a:pt x="35933" y="279249"/>
                  </a:lnTo>
                  <a:lnTo>
                    <a:pt x="20557" y="321253"/>
                  </a:lnTo>
                  <a:lnTo>
                    <a:pt x="9289" y="365066"/>
                  </a:lnTo>
                  <a:lnTo>
                    <a:pt x="2360" y="410458"/>
                  </a:lnTo>
                  <a:lnTo>
                    <a:pt x="0" y="457200"/>
                  </a:lnTo>
                  <a:lnTo>
                    <a:pt x="2360" y="503941"/>
                  </a:lnTo>
                  <a:lnTo>
                    <a:pt x="9289" y="549333"/>
                  </a:lnTo>
                  <a:lnTo>
                    <a:pt x="20557" y="593146"/>
                  </a:lnTo>
                  <a:lnTo>
                    <a:pt x="35933" y="635150"/>
                  </a:lnTo>
                  <a:lnTo>
                    <a:pt x="55187" y="675116"/>
                  </a:lnTo>
                  <a:lnTo>
                    <a:pt x="78090" y="712812"/>
                  </a:lnTo>
                  <a:lnTo>
                    <a:pt x="104411" y="748009"/>
                  </a:lnTo>
                  <a:lnTo>
                    <a:pt x="133921" y="780478"/>
                  </a:lnTo>
                  <a:lnTo>
                    <a:pt x="166390" y="809988"/>
                  </a:lnTo>
                  <a:lnTo>
                    <a:pt x="201587" y="836309"/>
                  </a:lnTo>
                  <a:lnTo>
                    <a:pt x="239283" y="859212"/>
                  </a:lnTo>
                  <a:lnTo>
                    <a:pt x="279249" y="878466"/>
                  </a:lnTo>
                  <a:lnTo>
                    <a:pt x="321253" y="893842"/>
                  </a:lnTo>
                  <a:lnTo>
                    <a:pt x="365066" y="905110"/>
                  </a:lnTo>
                  <a:lnTo>
                    <a:pt x="410458" y="912039"/>
                  </a:lnTo>
                  <a:lnTo>
                    <a:pt x="457200" y="914400"/>
                  </a:lnTo>
                  <a:lnTo>
                    <a:pt x="503941" y="912039"/>
                  </a:lnTo>
                  <a:lnTo>
                    <a:pt x="549333" y="905110"/>
                  </a:lnTo>
                  <a:lnTo>
                    <a:pt x="593146" y="893842"/>
                  </a:lnTo>
                  <a:lnTo>
                    <a:pt x="635150" y="878466"/>
                  </a:lnTo>
                  <a:lnTo>
                    <a:pt x="675116" y="859212"/>
                  </a:lnTo>
                  <a:lnTo>
                    <a:pt x="712812" y="836309"/>
                  </a:lnTo>
                  <a:lnTo>
                    <a:pt x="748009" y="809988"/>
                  </a:lnTo>
                  <a:lnTo>
                    <a:pt x="780478" y="780478"/>
                  </a:lnTo>
                  <a:lnTo>
                    <a:pt x="809988" y="748009"/>
                  </a:lnTo>
                  <a:lnTo>
                    <a:pt x="836309" y="712812"/>
                  </a:lnTo>
                  <a:lnTo>
                    <a:pt x="859212" y="675116"/>
                  </a:lnTo>
                  <a:lnTo>
                    <a:pt x="878466" y="635150"/>
                  </a:lnTo>
                  <a:lnTo>
                    <a:pt x="893842" y="593146"/>
                  </a:lnTo>
                  <a:lnTo>
                    <a:pt x="905110" y="549333"/>
                  </a:lnTo>
                  <a:lnTo>
                    <a:pt x="912039" y="503941"/>
                  </a:lnTo>
                  <a:lnTo>
                    <a:pt x="914400" y="457200"/>
                  </a:lnTo>
                  <a:lnTo>
                    <a:pt x="912039" y="410458"/>
                  </a:lnTo>
                  <a:lnTo>
                    <a:pt x="905110" y="365066"/>
                  </a:lnTo>
                  <a:lnTo>
                    <a:pt x="893842" y="321253"/>
                  </a:lnTo>
                  <a:lnTo>
                    <a:pt x="878466" y="279249"/>
                  </a:lnTo>
                  <a:lnTo>
                    <a:pt x="859212" y="239283"/>
                  </a:lnTo>
                  <a:lnTo>
                    <a:pt x="836309" y="201587"/>
                  </a:lnTo>
                  <a:lnTo>
                    <a:pt x="809988" y="166390"/>
                  </a:lnTo>
                  <a:lnTo>
                    <a:pt x="780478" y="133921"/>
                  </a:lnTo>
                  <a:lnTo>
                    <a:pt x="748009" y="104411"/>
                  </a:lnTo>
                  <a:lnTo>
                    <a:pt x="712812" y="78090"/>
                  </a:lnTo>
                  <a:lnTo>
                    <a:pt x="675116" y="55187"/>
                  </a:lnTo>
                  <a:lnTo>
                    <a:pt x="635150" y="35933"/>
                  </a:lnTo>
                  <a:lnTo>
                    <a:pt x="593146" y="20557"/>
                  </a:lnTo>
                  <a:lnTo>
                    <a:pt x="549333" y="9289"/>
                  </a:lnTo>
                  <a:lnTo>
                    <a:pt x="503941" y="236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C8A84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8046719" y="91439"/>
              <a:ext cx="914400" cy="914400"/>
            </a:xfrm>
            <a:custGeom>
              <a:avLst/>
              <a:gdLst/>
              <a:ahLst/>
              <a:cxnLst/>
              <a:rect l="l" t="t" r="r" b="b"/>
              <a:pathLst>
                <a:path w="914400" h="914400">
                  <a:moveTo>
                    <a:pt x="0" y="457200"/>
                  </a:moveTo>
                  <a:lnTo>
                    <a:pt x="2360" y="410458"/>
                  </a:lnTo>
                  <a:lnTo>
                    <a:pt x="9289" y="365066"/>
                  </a:lnTo>
                  <a:lnTo>
                    <a:pt x="20557" y="321253"/>
                  </a:lnTo>
                  <a:lnTo>
                    <a:pt x="35933" y="279249"/>
                  </a:lnTo>
                  <a:lnTo>
                    <a:pt x="55187" y="239283"/>
                  </a:lnTo>
                  <a:lnTo>
                    <a:pt x="78090" y="201587"/>
                  </a:lnTo>
                  <a:lnTo>
                    <a:pt x="104411" y="166390"/>
                  </a:lnTo>
                  <a:lnTo>
                    <a:pt x="133921" y="133921"/>
                  </a:lnTo>
                  <a:lnTo>
                    <a:pt x="166390" y="104411"/>
                  </a:lnTo>
                  <a:lnTo>
                    <a:pt x="201587" y="78090"/>
                  </a:lnTo>
                  <a:lnTo>
                    <a:pt x="239283" y="55187"/>
                  </a:lnTo>
                  <a:lnTo>
                    <a:pt x="279249" y="35933"/>
                  </a:lnTo>
                  <a:lnTo>
                    <a:pt x="321253" y="20557"/>
                  </a:lnTo>
                  <a:lnTo>
                    <a:pt x="365066" y="9289"/>
                  </a:lnTo>
                  <a:lnTo>
                    <a:pt x="410458" y="2360"/>
                  </a:lnTo>
                  <a:lnTo>
                    <a:pt x="457200" y="0"/>
                  </a:lnTo>
                  <a:lnTo>
                    <a:pt x="503941" y="2360"/>
                  </a:lnTo>
                  <a:lnTo>
                    <a:pt x="549333" y="9289"/>
                  </a:lnTo>
                  <a:lnTo>
                    <a:pt x="593146" y="20557"/>
                  </a:lnTo>
                  <a:lnTo>
                    <a:pt x="635150" y="35933"/>
                  </a:lnTo>
                  <a:lnTo>
                    <a:pt x="675116" y="55187"/>
                  </a:lnTo>
                  <a:lnTo>
                    <a:pt x="712812" y="78090"/>
                  </a:lnTo>
                  <a:lnTo>
                    <a:pt x="748009" y="104411"/>
                  </a:lnTo>
                  <a:lnTo>
                    <a:pt x="780478" y="133921"/>
                  </a:lnTo>
                  <a:lnTo>
                    <a:pt x="809988" y="166390"/>
                  </a:lnTo>
                  <a:lnTo>
                    <a:pt x="836309" y="201587"/>
                  </a:lnTo>
                  <a:lnTo>
                    <a:pt x="859212" y="239283"/>
                  </a:lnTo>
                  <a:lnTo>
                    <a:pt x="878466" y="279249"/>
                  </a:lnTo>
                  <a:lnTo>
                    <a:pt x="893842" y="321253"/>
                  </a:lnTo>
                  <a:lnTo>
                    <a:pt x="905110" y="365066"/>
                  </a:lnTo>
                  <a:lnTo>
                    <a:pt x="912039" y="410458"/>
                  </a:lnTo>
                  <a:lnTo>
                    <a:pt x="914400" y="457200"/>
                  </a:lnTo>
                  <a:lnTo>
                    <a:pt x="912039" y="503941"/>
                  </a:lnTo>
                  <a:lnTo>
                    <a:pt x="905110" y="549333"/>
                  </a:lnTo>
                  <a:lnTo>
                    <a:pt x="893842" y="593146"/>
                  </a:lnTo>
                  <a:lnTo>
                    <a:pt x="878466" y="635150"/>
                  </a:lnTo>
                  <a:lnTo>
                    <a:pt x="859212" y="675116"/>
                  </a:lnTo>
                  <a:lnTo>
                    <a:pt x="836309" y="712812"/>
                  </a:lnTo>
                  <a:lnTo>
                    <a:pt x="809988" y="748009"/>
                  </a:lnTo>
                  <a:lnTo>
                    <a:pt x="780478" y="780478"/>
                  </a:lnTo>
                  <a:lnTo>
                    <a:pt x="748009" y="809988"/>
                  </a:lnTo>
                  <a:lnTo>
                    <a:pt x="712812" y="836309"/>
                  </a:lnTo>
                  <a:lnTo>
                    <a:pt x="675116" y="859212"/>
                  </a:lnTo>
                  <a:lnTo>
                    <a:pt x="635150" y="878466"/>
                  </a:lnTo>
                  <a:lnTo>
                    <a:pt x="593146" y="893842"/>
                  </a:lnTo>
                  <a:lnTo>
                    <a:pt x="549333" y="905110"/>
                  </a:lnTo>
                  <a:lnTo>
                    <a:pt x="503941" y="912039"/>
                  </a:lnTo>
                  <a:lnTo>
                    <a:pt x="457200" y="914400"/>
                  </a:lnTo>
                  <a:lnTo>
                    <a:pt x="410458" y="912039"/>
                  </a:lnTo>
                  <a:lnTo>
                    <a:pt x="365066" y="905110"/>
                  </a:lnTo>
                  <a:lnTo>
                    <a:pt x="321253" y="893842"/>
                  </a:lnTo>
                  <a:lnTo>
                    <a:pt x="279249" y="878466"/>
                  </a:lnTo>
                  <a:lnTo>
                    <a:pt x="239283" y="859212"/>
                  </a:lnTo>
                  <a:lnTo>
                    <a:pt x="201587" y="836309"/>
                  </a:lnTo>
                  <a:lnTo>
                    <a:pt x="166390" y="809988"/>
                  </a:lnTo>
                  <a:lnTo>
                    <a:pt x="133921" y="780478"/>
                  </a:lnTo>
                  <a:lnTo>
                    <a:pt x="104411" y="748009"/>
                  </a:lnTo>
                  <a:lnTo>
                    <a:pt x="78090" y="712812"/>
                  </a:lnTo>
                  <a:lnTo>
                    <a:pt x="55187" y="675116"/>
                  </a:lnTo>
                  <a:lnTo>
                    <a:pt x="35933" y="635150"/>
                  </a:lnTo>
                  <a:lnTo>
                    <a:pt x="20557" y="593146"/>
                  </a:lnTo>
                  <a:lnTo>
                    <a:pt x="9289" y="549333"/>
                  </a:lnTo>
                  <a:lnTo>
                    <a:pt x="2360" y="503941"/>
                  </a:lnTo>
                  <a:lnTo>
                    <a:pt x="0" y="457200"/>
                  </a:lnTo>
                  <a:close/>
                </a:path>
              </a:pathLst>
            </a:custGeom>
            <a:ln w="12700">
              <a:solidFill>
                <a:srgbClr val="9F7828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8304021" y="360375"/>
            <a:ext cx="401955" cy="2705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dirty="0" sz="800" spc="-20" b="1">
                <a:solidFill>
                  <a:srgbClr val="1B2A49"/>
                </a:solidFill>
                <a:latin typeface="Calibri"/>
                <a:cs typeface="Calibri"/>
              </a:rPr>
              <a:t>ALTA</a:t>
            </a:r>
            <a:endParaRPr sz="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dirty="0" sz="800" spc="-10" b="1">
                <a:solidFill>
                  <a:srgbClr val="1B2A49"/>
                </a:solidFill>
                <a:latin typeface="Calibri"/>
                <a:cs typeface="Calibri"/>
              </a:rPr>
              <a:t>CALIDAD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13" name="object 13" descr="$PPTXTitle"/>
          <p:cNvSpPr txBox="1">
            <a:spLocks noGrp="1"/>
          </p:cNvSpPr>
          <p:nvPr>
            <p:ph type="title"/>
          </p:nvPr>
        </p:nvSpPr>
        <p:spPr>
          <a:xfrm>
            <a:off x="2754248" y="1746630"/>
            <a:ext cx="3640454" cy="482600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>
                <a:solidFill>
                  <a:srgbClr val="C8A84B"/>
                </a:solidFill>
              </a:rPr>
              <a:t>EJERCICIOS</a:t>
            </a:r>
            <a:r>
              <a:rPr dirty="0" sz="3000" spc="-50">
                <a:solidFill>
                  <a:srgbClr val="C8A84B"/>
                </a:solidFill>
              </a:rPr>
              <a:t> </a:t>
            </a:r>
            <a:r>
              <a:rPr dirty="0" sz="3000" spc="-10">
                <a:solidFill>
                  <a:srgbClr val="C8A84B"/>
                </a:solidFill>
              </a:rPr>
              <a:t>PRÁCTICOS</a:t>
            </a:r>
            <a:endParaRPr sz="3000"/>
          </a:p>
        </p:txBody>
      </p:sp>
      <p:sp>
        <p:nvSpPr>
          <p:cNvPr id="14" name="object 14"/>
          <p:cNvSpPr txBox="1"/>
          <p:nvPr/>
        </p:nvSpPr>
        <p:spPr>
          <a:xfrm>
            <a:off x="2893314" y="2460116"/>
            <a:ext cx="335851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Especificación</a:t>
            </a:r>
            <a:r>
              <a:rPr dirty="0" sz="16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dirty="0" sz="1600" spc="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requisitos</a:t>
            </a:r>
            <a:r>
              <a:rPr dirty="0" sz="1600">
                <a:solidFill>
                  <a:srgbClr val="FFFFFF"/>
                </a:solidFill>
                <a:latin typeface="Calibri"/>
                <a:cs typeface="Calibri"/>
              </a:rPr>
              <a:t> del</a:t>
            </a:r>
            <a:r>
              <a:rPr dirty="0" sz="1600" spc="-10">
                <a:solidFill>
                  <a:srgbClr val="FFFFFF"/>
                </a:solidFill>
                <a:latin typeface="Calibri"/>
                <a:cs typeface="Calibri"/>
              </a:rPr>
              <a:t> software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286000" y="2880360"/>
            <a:ext cx="4572000" cy="0"/>
          </a:xfrm>
          <a:custGeom>
            <a:avLst/>
            <a:gdLst/>
            <a:ahLst/>
            <a:cxnLst/>
            <a:rect l="l" t="t" r="r" b="b"/>
            <a:pathLst>
              <a:path w="4572000" h="0">
                <a:moveTo>
                  <a:pt x="0" y="0"/>
                </a:moveTo>
                <a:lnTo>
                  <a:pt x="4572000" y="0"/>
                </a:lnTo>
              </a:path>
            </a:pathLst>
          </a:custGeom>
          <a:ln w="25400">
            <a:solidFill>
              <a:srgbClr val="C8A84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2711576" y="3104768"/>
            <a:ext cx="371792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i="1">
                <a:solidFill>
                  <a:srgbClr val="AAAACC"/>
                </a:solidFill>
                <a:latin typeface="Calibri"/>
                <a:cs typeface="Calibri"/>
              </a:rPr>
              <a:t>Basado</a:t>
            </a:r>
            <a:r>
              <a:rPr dirty="0" sz="1000" spc="-15" i="1">
                <a:solidFill>
                  <a:srgbClr val="AAAACC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AAAACC"/>
                </a:solidFill>
                <a:latin typeface="Calibri"/>
                <a:cs typeface="Calibri"/>
              </a:rPr>
              <a:t>en:</a:t>
            </a:r>
            <a:r>
              <a:rPr dirty="0" sz="1000" spc="-20" i="1">
                <a:solidFill>
                  <a:srgbClr val="AAAACC"/>
                </a:solidFill>
                <a:latin typeface="Calibri"/>
                <a:cs typeface="Calibri"/>
              </a:rPr>
              <a:t> </a:t>
            </a:r>
            <a:r>
              <a:rPr dirty="0" sz="1000" spc="-10" i="1">
                <a:solidFill>
                  <a:srgbClr val="AAAACC"/>
                </a:solidFill>
                <a:latin typeface="Calibri"/>
                <a:cs typeface="Calibri"/>
              </a:rPr>
              <a:t>Cornejo-Aparicio</a:t>
            </a:r>
            <a:r>
              <a:rPr dirty="0" sz="1000" spc="-45" i="1">
                <a:solidFill>
                  <a:srgbClr val="AAAACC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AAAACC"/>
                </a:solidFill>
                <a:latin typeface="Calibri"/>
                <a:cs typeface="Calibri"/>
              </a:rPr>
              <a:t>et</a:t>
            </a:r>
            <a:r>
              <a:rPr dirty="0" sz="1000" spc="-20" i="1">
                <a:solidFill>
                  <a:srgbClr val="AAAACC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AAAACC"/>
                </a:solidFill>
                <a:latin typeface="Calibri"/>
                <a:cs typeface="Calibri"/>
              </a:rPr>
              <a:t>al.</a:t>
            </a:r>
            <a:r>
              <a:rPr dirty="0" sz="1000" spc="-25" i="1">
                <a:solidFill>
                  <a:srgbClr val="AAAACC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AAAACC"/>
                </a:solidFill>
                <a:latin typeface="Calibri"/>
                <a:cs typeface="Calibri"/>
              </a:rPr>
              <a:t>(2020)</a:t>
            </a:r>
            <a:r>
              <a:rPr dirty="0" sz="1000" spc="15" i="1">
                <a:solidFill>
                  <a:srgbClr val="AAAACC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AAAACC"/>
                </a:solidFill>
                <a:latin typeface="Calibri"/>
                <a:cs typeface="Calibri"/>
              </a:rPr>
              <a:t>·</a:t>
            </a:r>
            <a:r>
              <a:rPr dirty="0" sz="1000" spc="-15" i="1">
                <a:solidFill>
                  <a:srgbClr val="AAAACC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AAAACC"/>
                </a:solidFill>
                <a:latin typeface="Calibri"/>
                <a:cs typeface="Calibri"/>
              </a:rPr>
              <a:t>Espejo</a:t>
            </a:r>
            <a:r>
              <a:rPr dirty="0" sz="1000" spc="-20" i="1">
                <a:solidFill>
                  <a:srgbClr val="AAAACC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AAAACC"/>
                </a:solidFill>
                <a:latin typeface="Calibri"/>
                <a:cs typeface="Calibri"/>
              </a:rPr>
              <a:t>Chavarría</a:t>
            </a:r>
            <a:r>
              <a:rPr dirty="0" sz="1000" spc="-10" i="1">
                <a:solidFill>
                  <a:srgbClr val="AAAACC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AAAACC"/>
                </a:solidFill>
                <a:latin typeface="Calibri"/>
                <a:cs typeface="Calibri"/>
              </a:rPr>
              <a:t>et</a:t>
            </a:r>
            <a:r>
              <a:rPr dirty="0" sz="1000" spc="-20" i="1">
                <a:solidFill>
                  <a:srgbClr val="AAAACC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AAAACC"/>
                </a:solidFill>
                <a:latin typeface="Calibri"/>
                <a:cs typeface="Calibri"/>
              </a:rPr>
              <a:t>al.</a:t>
            </a:r>
            <a:r>
              <a:rPr dirty="0" sz="1000" spc="-20" i="1">
                <a:solidFill>
                  <a:srgbClr val="AAAACC"/>
                </a:solidFill>
                <a:latin typeface="Calibri"/>
                <a:cs typeface="Calibri"/>
              </a:rPr>
              <a:t> </a:t>
            </a:r>
            <a:r>
              <a:rPr dirty="0" sz="1000" spc="-10" i="1">
                <a:solidFill>
                  <a:srgbClr val="AAAACC"/>
                </a:solidFill>
                <a:latin typeface="Calibri"/>
                <a:cs typeface="Calibri"/>
              </a:rPr>
              <a:t>(2016)</a:t>
            </a:r>
            <a:endParaRPr sz="10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53059" y="4509922"/>
            <a:ext cx="1530985" cy="54356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 b="1">
                <a:solidFill>
                  <a:srgbClr val="C8A84B"/>
                </a:solidFill>
                <a:latin typeface="Calibri"/>
                <a:cs typeface="Calibri"/>
              </a:rPr>
              <a:t>UNIMINUTO</a:t>
            </a:r>
            <a:endParaRPr sz="14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715"/>
              </a:spcBef>
            </a:pPr>
            <a:r>
              <a:rPr dirty="0" sz="700" spc="-10">
                <a:solidFill>
                  <a:srgbClr val="FFFFFF"/>
                </a:solidFill>
                <a:latin typeface="Calibri"/>
                <a:cs typeface="Calibri"/>
              </a:rPr>
              <a:t>Corporación</a:t>
            </a:r>
            <a:r>
              <a:rPr dirty="0" sz="700" spc="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FFFFFF"/>
                </a:solidFill>
                <a:latin typeface="Calibri"/>
                <a:cs typeface="Calibri"/>
              </a:rPr>
              <a:t>Universitaria</a:t>
            </a:r>
            <a:r>
              <a:rPr dirty="0" sz="700" spc="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FFFFFF"/>
                </a:solidFill>
                <a:latin typeface="Calibri"/>
                <a:cs typeface="Calibri"/>
              </a:rPr>
              <a:t>Minuto</a:t>
            </a:r>
            <a:r>
              <a:rPr dirty="0" sz="700" spc="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dirty="0" sz="7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700" spc="-20">
                <a:solidFill>
                  <a:srgbClr val="FFFFFF"/>
                </a:solidFill>
                <a:latin typeface="Calibri"/>
                <a:cs typeface="Calibri"/>
              </a:rPr>
              <a:t>Dios</a:t>
            </a:r>
            <a:r>
              <a:rPr dirty="0" sz="700" spc="5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FFFFFF"/>
                </a:solidFill>
                <a:latin typeface="Calibri"/>
                <a:cs typeface="Calibri"/>
              </a:rPr>
              <a:t>Educación</a:t>
            </a:r>
            <a:r>
              <a:rPr dirty="0" sz="7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dirty="0" sz="7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FFFFFF"/>
                </a:solidFill>
                <a:latin typeface="Calibri"/>
                <a:cs typeface="Calibri"/>
              </a:rPr>
              <a:t>calidad</a:t>
            </a:r>
            <a:r>
              <a:rPr dirty="0" sz="7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FFFFFF"/>
                </a:solidFill>
                <a:latin typeface="Calibri"/>
                <a:cs typeface="Calibri"/>
              </a:rPr>
              <a:t>al</a:t>
            </a:r>
            <a:r>
              <a:rPr dirty="0" sz="7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FFFFFF"/>
                </a:solidFill>
                <a:latin typeface="Calibri"/>
                <a:cs typeface="Calibri"/>
              </a:rPr>
              <a:t>alcance</a:t>
            </a:r>
            <a:r>
              <a:rPr dirty="0" sz="7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dirty="0" sz="700" spc="-20">
                <a:solidFill>
                  <a:srgbClr val="FFFFFF"/>
                </a:solidFill>
                <a:latin typeface="Calibri"/>
                <a:cs typeface="Calibri"/>
              </a:rPr>
              <a:t> todos</a:t>
            </a:r>
            <a:endParaRPr sz="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7027" y="99440"/>
            <a:ext cx="3126740" cy="1701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 spc="-10" b="1">
                <a:solidFill>
                  <a:srgbClr val="FFFFFF"/>
                </a:solidFill>
                <a:latin typeface="Calibri"/>
                <a:cs typeface="Calibri"/>
              </a:rPr>
              <a:t>Estándares</a:t>
            </a:r>
            <a:r>
              <a:rPr dirty="0" sz="950" spc="-1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r>
              <a:rPr dirty="0" sz="950" spc="-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FFFFFF"/>
                </a:solidFill>
                <a:latin typeface="Calibri"/>
                <a:cs typeface="Calibri"/>
              </a:rPr>
              <a:t>Métricas</a:t>
            </a:r>
            <a:r>
              <a:rPr dirty="0" sz="950" spc="-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dirty="0" sz="950" spc="-1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FFFFFF"/>
                </a:solidFill>
                <a:latin typeface="Calibri"/>
                <a:cs typeface="Calibri"/>
              </a:rPr>
              <a:t>Calidad</a:t>
            </a:r>
            <a:r>
              <a:rPr dirty="0" sz="950" spc="1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FFFFFF"/>
                </a:solidFill>
                <a:latin typeface="Calibri"/>
                <a:cs typeface="Calibri"/>
              </a:rPr>
              <a:t>en</a:t>
            </a:r>
            <a:r>
              <a:rPr dirty="0" sz="950" spc="-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FFFFFF"/>
                </a:solidFill>
                <a:latin typeface="Calibri"/>
                <a:cs typeface="Calibri"/>
              </a:rPr>
              <a:t>el</a:t>
            </a:r>
            <a:r>
              <a:rPr dirty="0" sz="950" spc="-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FFFFFF"/>
                </a:solidFill>
                <a:latin typeface="Calibri"/>
                <a:cs typeface="Calibri"/>
              </a:rPr>
              <a:t>Desarrollo</a:t>
            </a:r>
            <a:r>
              <a:rPr dirty="0" sz="950" spc="1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dirty="0" sz="950" spc="-1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spc="-10" b="1">
                <a:solidFill>
                  <a:srgbClr val="FFFFFF"/>
                </a:solidFill>
                <a:latin typeface="Calibri"/>
                <a:cs typeface="Calibri"/>
              </a:rPr>
              <a:t>Software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67970" y="745000"/>
            <a:ext cx="1033144" cy="300000"/>
          </a:xfrm>
          <a:prstGeom prst="rect">
            <a:avLst/>
          </a:prstGeom>
          <a:solidFill>
            <a:srgbClr val="1B2A49"/>
          </a:solidFill>
          <a:ln w="3175">
            <a:solidFill>
              <a:srgbClr val="1B2A49"/>
            </a:solidFill>
          </a:ln>
        </p:spPr>
        <p:txBody>
          <a:bodyPr wrap="square" lIns="0" tIns="50000" rIns="0" bIns="0" rtlCol="0" vert="horz">
            <a:spAutoFit/>
          </a:bodyPr>
          <a:lstStyle/>
          <a:p>
            <a:pPr marL="97155">
              <a:lnSpc>
                <a:spcPct val="100000"/>
              </a:lnSpc>
              <a:spcBef>
                <a:spcPts val="690"/>
              </a:spcBef>
            </a:pPr>
            <a:r>
              <a:rPr dirty="0" sz="1100" b="1">
                <a:solidFill>
                  <a:srgbClr val="C8A84B"/>
                </a:solidFill>
                <a:latin typeface="Calibri"/>
                <a:cs typeface="Calibri"/>
              </a:rPr>
              <a:t>EJERCICIO.</a:t>
            </a:r>
            <a:r>
              <a:rPr dirty="0" sz="1100" spc="-60" b="1">
                <a:solidFill>
                  <a:srgbClr val="C8A84B"/>
                </a:solidFill>
                <a:latin typeface="Calibri"/>
                <a:cs typeface="Calibri"/>
              </a:rPr>
              <a:t> </a:t>
            </a:r>
            <a:r>
              <a:rPr dirty="0" sz="1100" spc="-50" b="1">
                <a:solidFill>
                  <a:srgbClr val="C8A84B"/>
                </a:solidFill>
                <a:latin typeface="Calibri"/>
                <a:cs typeface="Calibri"/>
              </a:rPr>
              <a:t>1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392879" y="775000"/>
            <a:ext cx="5000000" cy="23939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/>
              <a:t>Sistema de citas médicas en línea</a:t>
            </a:r>
            <a:endParaRPr sz="1400"/>
          </a:p>
        </p:txBody>
      </p:sp>
      <p:sp>
        <p:nvSpPr>
          <p:cNvPr id="5" name="object 5"/>
          <p:cNvSpPr txBox="1"/>
          <p:nvPr/>
        </p:nvSpPr>
        <p:spPr>
          <a:xfrm>
            <a:off x="274320" y="1050119"/>
            <a:ext cx="8595360" cy="457200"/>
          </a:xfrm>
          <a:prstGeom prst="rect">
            <a:avLst/>
          </a:prstGeom>
          <a:solidFill>
            <a:srgbClr val="E8F4FC"/>
          </a:solidFill>
          <a:ln w="12700">
            <a:solidFill>
              <a:srgbClr val="1F4E79"/>
            </a:solidFill>
          </a:ln>
        </p:spPr>
        <p:txBody>
          <a:bodyPr wrap="square" lIns="0" tIns="144145" rIns="0" bIns="0" rtlCol="0" vert="horz">
            <a:spAutoFit/>
          </a:bodyPr>
          <a:lstStyle/>
          <a:p>
            <a:pPr marL="228600">
              <a:lnSpc>
                <a:spcPct val="100000"/>
              </a:lnSpc>
              <a:spcBef>
                <a:spcPts val="1135"/>
              </a:spcBef>
            </a:pPr>
            <a:r>
              <a:rPr dirty="0" sz="1000" spc="-10" i="1">
                <a:solidFill>
                  <a:srgbClr val="1A1A2D"/>
                </a:solidFill>
                <a:latin typeface="Calibri"/>
                <a:cs typeface="Calibri"/>
              </a:rPr>
              <a:t>ESCENARIO:</a:t>
            </a:r>
            <a:r>
              <a:rPr dirty="0" sz="1000" spc="-30" i="1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1A1A2D"/>
                </a:solidFill>
                <a:latin typeface="Calibri"/>
                <a:cs typeface="Calibri"/>
              </a:rPr>
              <a:t>Clínica</a:t>
            </a:r>
            <a:r>
              <a:rPr dirty="0" sz="1000" spc="-20" i="1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1A1A2D"/>
                </a:solidFill>
                <a:latin typeface="Calibri"/>
                <a:cs typeface="Calibri"/>
              </a:rPr>
              <a:t>privada</a:t>
            </a:r>
            <a:r>
              <a:rPr dirty="0" sz="1000" spc="-15" i="1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1A1A2D"/>
                </a:solidFill>
                <a:latin typeface="Calibri"/>
                <a:cs typeface="Calibri"/>
              </a:rPr>
              <a:t>–</a:t>
            </a:r>
            <a:r>
              <a:rPr dirty="0" sz="1000" spc="-5" i="1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1A1A2D"/>
                </a:solidFill>
                <a:latin typeface="Calibri"/>
                <a:cs typeface="Calibri"/>
              </a:rPr>
              <a:t>portal</a:t>
            </a:r>
            <a:r>
              <a:rPr dirty="0" sz="1000" spc="-20" i="1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1A1A2D"/>
                </a:solidFill>
                <a:latin typeface="Calibri"/>
                <a:cs typeface="Calibri"/>
              </a:rPr>
              <a:t>web/móvil</a:t>
            </a:r>
            <a:r>
              <a:rPr dirty="0" sz="1000" spc="-25" i="1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1A1A2D"/>
                </a:solidFill>
                <a:latin typeface="Calibri"/>
                <a:cs typeface="Calibri"/>
              </a:rPr>
              <a:t>para</a:t>
            </a:r>
            <a:r>
              <a:rPr dirty="0" sz="1000" spc="-15" i="1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1A1A2D"/>
                </a:solidFill>
                <a:latin typeface="Calibri"/>
                <a:cs typeface="Calibri"/>
              </a:rPr>
              <a:t>agendar</a:t>
            </a:r>
            <a:r>
              <a:rPr dirty="0" sz="1000" spc="-40" i="1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1A1A2D"/>
                </a:solidFill>
                <a:latin typeface="Calibri"/>
                <a:cs typeface="Calibri"/>
              </a:rPr>
              <a:t>citas,</a:t>
            </a:r>
            <a:r>
              <a:rPr dirty="0" sz="1000" spc="-15" i="1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1A1A2D"/>
                </a:solidFill>
                <a:latin typeface="Calibri"/>
                <a:cs typeface="Calibri"/>
              </a:rPr>
              <a:t>módulo</a:t>
            </a:r>
            <a:r>
              <a:rPr dirty="0" sz="1000" spc="-30" i="1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1A1A2D"/>
                </a:solidFill>
                <a:latin typeface="Calibri"/>
                <a:cs typeface="Calibri"/>
              </a:rPr>
              <a:t>de</a:t>
            </a:r>
            <a:r>
              <a:rPr dirty="0" sz="1000" spc="-15" i="1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00" spc="-10" i="1">
                <a:solidFill>
                  <a:srgbClr val="1A1A2D"/>
                </a:solidFill>
                <a:latin typeface="Calibri"/>
                <a:cs typeface="Calibri"/>
              </a:rPr>
              <a:t>recepción</a:t>
            </a:r>
            <a:r>
              <a:rPr dirty="0" sz="1000" spc="-45" i="1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1A1A2D"/>
                </a:solidFill>
                <a:latin typeface="Calibri"/>
                <a:cs typeface="Calibri"/>
              </a:rPr>
              <a:t>y panel</a:t>
            </a:r>
            <a:r>
              <a:rPr dirty="0" sz="1000" spc="-30" i="1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1A1A2D"/>
                </a:solidFill>
                <a:latin typeface="Calibri"/>
                <a:cs typeface="Calibri"/>
              </a:rPr>
              <a:t>del</a:t>
            </a:r>
            <a:r>
              <a:rPr dirty="0" sz="1000" spc="-25" i="1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00" spc="-10" i="1">
                <a:solidFill>
                  <a:srgbClr val="1A1A2D"/>
                </a:solidFill>
                <a:latin typeface="Calibri"/>
                <a:cs typeface="Calibri"/>
              </a:rPr>
              <a:t>médico.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67970" y="1656417"/>
            <a:ext cx="433705" cy="433705"/>
            <a:chOff x="267970" y="1566417"/>
            <a:chExt cx="433705" cy="433705"/>
          </a:xfrm>
        </p:grpSpPr>
        <p:sp>
          <p:nvSpPr>
            <p:cNvPr id="7" name="object 7"/>
            <p:cNvSpPr/>
            <p:nvPr/>
          </p:nvSpPr>
          <p:spPr>
            <a:xfrm>
              <a:off x="274320" y="1572767"/>
              <a:ext cx="421005" cy="421005"/>
            </a:xfrm>
            <a:custGeom>
              <a:avLst/>
              <a:gdLst/>
              <a:ahLst/>
              <a:cxnLst/>
              <a:rect l="l" t="t" r="r" b="b"/>
              <a:pathLst>
                <a:path w="421005" h="421005">
                  <a:moveTo>
                    <a:pt x="210311" y="0"/>
                  </a:moveTo>
                  <a:lnTo>
                    <a:pt x="162088" y="5551"/>
                  </a:lnTo>
                  <a:lnTo>
                    <a:pt x="117821" y="21367"/>
                  </a:lnTo>
                  <a:lnTo>
                    <a:pt x="78771" y="46186"/>
                  </a:lnTo>
                  <a:lnTo>
                    <a:pt x="46202" y="78750"/>
                  </a:lnTo>
                  <a:lnTo>
                    <a:pt x="21375" y="117798"/>
                  </a:lnTo>
                  <a:lnTo>
                    <a:pt x="5554" y="162072"/>
                  </a:lnTo>
                  <a:lnTo>
                    <a:pt x="0" y="210312"/>
                  </a:lnTo>
                  <a:lnTo>
                    <a:pt x="5554" y="258551"/>
                  </a:lnTo>
                  <a:lnTo>
                    <a:pt x="21375" y="302825"/>
                  </a:lnTo>
                  <a:lnTo>
                    <a:pt x="46202" y="341873"/>
                  </a:lnTo>
                  <a:lnTo>
                    <a:pt x="78771" y="374437"/>
                  </a:lnTo>
                  <a:lnTo>
                    <a:pt x="117821" y="399256"/>
                  </a:lnTo>
                  <a:lnTo>
                    <a:pt x="162088" y="415072"/>
                  </a:lnTo>
                  <a:lnTo>
                    <a:pt x="210311" y="420624"/>
                  </a:lnTo>
                  <a:lnTo>
                    <a:pt x="258535" y="415072"/>
                  </a:lnTo>
                  <a:lnTo>
                    <a:pt x="302802" y="399256"/>
                  </a:lnTo>
                  <a:lnTo>
                    <a:pt x="341852" y="374437"/>
                  </a:lnTo>
                  <a:lnTo>
                    <a:pt x="374421" y="341873"/>
                  </a:lnTo>
                  <a:lnTo>
                    <a:pt x="399248" y="302825"/>
                  </a:lnTo>
                  <a:lnTo>
                    <a:pt x="415069" y="258551"/>
                  </a:lnTo>
                  <a:lnTo>
                    <a:pt x="420623" y="210312"/>
                  </a:lnTo>
                  <a:lnTo>
                    <a:pt x="415069" y="162072"/>
                  </a:lnTo>
                  <a:lnTo>
                    <a:pt x="399248" y="117798"/>
                  </a:lnTo>
                  <a:lnTo>
                    <a:pt x="374421" y="78750"/>
                  </a:lnTo>
                  <a:lnTo>
                    <a:pt x="341852" y="46186"/>
                  </a:lnTo>
                  <a:lnTo>
                    <a:pt x="302802" y="21367"/>
                  </a:lnTo>
                  <a:lnTo>
                    <a:pt x="258535" y="5551"/>
                  </a:lnTo>
                  <a:lnTo>
                    <a:pt x="210311" y="0"/>
                  </a:lnTo>
                  <a:close/>
                </a:path>
              </a:pathLst>
            </a:custGeom>
            <a:solidFill>
              <a:srgbClr val="C8A84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274320" y="1572767"/>
              <a:ext cx="421005" cy="421005"/>
            </a:xfrm>
            <a:custGeom>
              <a:avLst/>
              <a:gdLst/>
              <a:ahLst/>
              <a:cxnLst/>
              <a:rect l="l" t="t" r="r" b="b"/>
              <a:pathLst>
                <a:path w="421005" h="421005">
                  <a:moveTo>
                    <a:pt x="0" y="210312"/>
                  </a:moveTo>
                  <a:lnTo>
                    <a:pt x="5554" y="162072"/>
                  </a:lnTo>
                  <a:lnTo>
                    <a:pt x="21375" y="117798"/>
                  </a:lnTo>
                  <a:lnTo>
                    <a:pt x="46202" y="78750"/>
                  </a:lnTo>
                  <a:lnTo>
                    <a:pt x="78771" y="46186"/>
                  </a:lnTo>
                  <a:lnTo>
                    <a:pt x="117821" y="21367"/>
                  </a:lnTo>
                  <a:lnTo>
                    <a:pt x="162088" y="5551"/>
                  </a:lnTo>
                  <a:lnTo>
                    <a:pt x="210311" y="0"/>
                  </a:lnTo>
                  <a:lnTo>
                    <a:pt x="258535" y="5551"/>
                  </a:lnTo>
                  <a:lnTo>
                    <a:pt x="302802" y="21367"/>
                  </a:lnTo>
                  <a:lnTo>
                    <a:pt x="341852" y="46186"/>
                  </a:lnTo>
                  <a:lnTo>
                    <a:pt x="374421" y="78750"/>
                  </a:lnTo>
                  <a:lnTo>
                    <a:pt x="399248" y="117798"/>
                  </a:lnTo>
                  <a:lnTo>
                    <a:pt x="415069" y="162072"/>
                  </a:lnTo>
                  <a:lnTo>
                    <a:pt x="420623" y="210312"/>
                  </a:lnTo>
                  <a:lnTo>
                    <a:pt x="415069" y="258551"/>
                  </a:lnTo>
                  <a:lnTo>
                    <a:pt x="399248" y="302825"/>
                  </a:lnTo>
                  <a:lnTo>
                    <a:pt x="374421" y="341873"/>
                  </a:lnTo>
                  <a:lnTo>
                    <a:pt x="341852" y="374437"/>
                  </a:lnTo>
                  <a:lnTo>
                    <a:pt x="302802" y="399256"/>
                  </a:lnTo>
                  <a:lnTo>
                    <a:pt x="258535" y="415072"/>
                  </a:lnTo>
                  <a:lnTo>
                    <a:pt x="210311" y="420624"/>
                  </a:lnTo>
                  <a:lnTo>
                    <a:pt x="162088" y="415072"/>
                  </a:lnTo>
                  <a:lnTo>
                    <a:pt x="117821" y="399256"/>
                  </a:lnTo>
                  <a:lnTo>
                    <a:pt x="78771" y="374437"/>
                  </a:lnTo>
                  <a:lnTo>
                    <a:pt x="46202" y="341873"/>
                  </a:lnTo>
                  <a:lnTo>
                    <a:pt x="21375" y="302825"/>
                  </a:lnTo>
                  <a:lnTo>
                    <a:pt x="5554" y="258551"/>
                  </a:lnTo>
                  <a:lnTo>
                    <a:pt x="0" y="210312"/>
                  </a:lnTo>
                  <a:close/>
                </a:path>
              </a:pathLst>
            </a:custGeom>
            <a:ln w="12700">
              <a:solidFill>
                <a:srgbClr val="C8A84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426821" y="1742143"/>
            <a:ext cx="11620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50" b="1">
                <a:solidFill>
                  <a:srgbClr val="1B2A49"/>
                </a:solidFill>
                <a:latin typeface="Calibri"/>
                <a:cs typeface="Calibri"/>
              </a:rPr>
              <a:t>1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01700" y="1713187"/>
            <a:ext cx="1104265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spc="-10" b="1">
                <a:solidFill>
                  <a:srgbClr val="1B2A49"/>
                </a:solidFill>
                <a:latin typeface="Calibri"/>
                <a:cs typeface="Calibri"/>
              </a:rPr>
              <a:t>Contextualización: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051175" y="1780878"/>
            <a:ext cx="360489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Describir</a:t>
            </a:r>
            <a:r>
              <a:rPr dirty="0" sz="1050" spc="-3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para</a:t>
            </a:r>
            <a:r>
              <a:rPr dirty="0" sz="1050" spc="-2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qué,</a:t>
            </a:r>
            <a:r>
              <a:rPr dirty="0" sz="1050" spc="-2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en</a:t>
            </a:r>
            <a:r>
              <a:rPr dirty="0" sz="1050" spc="-2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qué</a:t>
            </a:r>
            <a:r>
              <a:rPr dirty="0" sz="1050" spc="-2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escenarios</a:t>
            </a:r>
            <a:r>
              <a:rPr dirty="0" sz="1050" spc="-2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y</a:t>
            </a:r>
            <a:r>
              <a:rPr dirty="0" sz="1050" spc="-1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quiénes</a:t>
            </a:r>
            <a:r>
              <a:rPr dirty="0" sz="1050" spc="-3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usarán</a:t>
            </a:r>
            <a:r>
              <a:rPr dirty="0" sz="1050" spc="-2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el</a:t>
            </a:r>
            <a:r>
              <a:rPr dirty="0" sz="1050" spc="-2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1A1A2D"/>
                </a:solidFill>
                <a:latin typeface="Calibri"/>
                <a:cs typeface="Calibri"/>
              </a:rPr>
              <a:t>sistema.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67970" y="2433657"/>
            <a:ext cx="433705" cy="433705"/>
            <a:chOff x="267970" y="2343657"/>
            <a:chExt cx="433705" cy="433705"/>
          </a:xfrm>
        </p:grpSpPr>
        <p:sp>
          <p:nvSpPr>
            <p:cNvPr id="13" name="object 13"/>
            <p:cNvSpPr/>
            <p:nvPr/>
          </p:nvSpPr>
          <p:spPr>
            <a:xfrm>
              <a:off x="274320" y="2350007"/>
              <a:ext cx="421005" cy="421005"/>
            </a:xfrm>
            <a:custGeom>
              <a:avLst/>
              <a:gdLst/>
              <a:ahLst/>
              <a:cxnLst/>
              <a:rect l="l" t="t" r="r" b="b"/>
              <a:pathLst>
                <a:path w="421005" h="421005">
                  <a:moveTo>
                    <a:pt x="210311" y="0"/>
                  </a:moveTo>
                  <a:lnTo>
                    <a:pt x="162088" y="5551"/>
                  </a:lnTo>
                  <a:lnTo>
                    <a:pt x="117821" y="21367"/>
                  </a:lnTo>
                  <a:lnTo>
                    <a:pt x="78771" y="46186"/>
                  </a:lnTo>
                  <a:lnTo>
                    <a:pt x="46202" y="78750"/>
                  </a:lnTo>
                  <a:lnTo>
                    <a:pt x="21375" y="117798"/>
                  </a:lnTo>
                  <a:lnTo>
                    <a:pt x="5554" y="162072"/>
                  </a:lnTo>
                  <a:lnTo>
                    <a:pt x="0" y="210312"/>
                  </a:lnTo>
                  <a:lnTo>
                    <a:pt x="5554" y="258551"/>
                  </a:lnTo>
                  <a:lnTo>
                    <a:pt x="21375" y="302825"/>
                  </a:lnTo>
                  <a:lnTo>
                    <a:pt x="46202" y="341873"/>
                  </a:lnTo>
                  <a:lnTo>
                    <a:pt x="78771" y="374437"/>
                  </a:lnTo>
                  <a:lnTo>
                    <a:pt x="117821" y="399256"/>
                  </a:lnTo>
                  <a:lnTo>
                    <a:pt x="162088" y="415072"/>
                  </a:lnTo>
                  <a:lnTo>
                    <a:pt x="210311" y="420624"/>
                  </a:lnTo>
                  <a:lnTo>
                    <a:pt x="258535" y="415072"/>
                  </a:lnTo>
                  <a:lnTo>
                    <a:pt x="302802" y="399256"/>
                  </a:lnTo>
                  <a:lnTo>
                    <a:pt x="341852" y="374437"/>
                  </a:lnTo>
                  <a:lnTo>
                    <a:pt x="374421" y="341873"/>
                  </a:lnTo>
                  <a:lnTo>
                    <a:pt x="399248" y="302825"/>
                  </a:lnTo>
                  <a:lnTo>
                    <a:pt x="415069" y="258551"/>
                  </a:lnTo>
                  <a:lnTo>
                    <a:pt x="420623" y="210312"/>
                  </a:lnTo>
                  <a:lnTo>
                    <a:pt x="415069" y="162072"/>
                  </a:lnTo>
                  <a:lnTo>
                    <a:pt x="399248" y="117798"/>
                  </a:lnTo>
                  <a:lnTo>
                    <a:pt x="374421" y="78750"/>
                  </a:lnTo>
                  <a:lnTo>
                    <a:pt x="341852" y="46186"/>
                  </a:lnTo>
                  <a:lnTo>
                    <a:pt x="302802" y="21367"/>
                  </a:lnTo>
                  <a:lnTo>
                    <a:pt x="258535" y="5551"/>
                  </a:lnTo>
                  <a:lnTo>
                    <a:pt x="210311" y="0"/>
                  </a:lnTo>
                  <a:close/>
                </a:path>
              </a:pathLst>
            </a:custGeom>
            <a:solidFill>
              <a:srgbClr val="C8A84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274320" y="2350007"/>
              <a:ext cx="421005" cy="421005"/>
            </a:xfrm>
            <a:custGeom>
              <a:avLst/>
              <a:gdLst/>
              <a:ahLst/>
              <a:cxnLst/>
              <a:rect l="l" t="t" r="r" b="b"/>
              <a:pathLst>
                <a:path w="421005" h="421005">
                  <a:moveTo>
                    <a:pt x="0" y="210312"/>
                  </a:moveTo>
                  <a:lnTo>
                    <a:pt x="5554" y="162072"/>
                  </a:lnTo>
                  <a:lnTo>
                    <a:pt x="21375" y="117798"/>
                  </a:lnTo>
                  <a:lnTo>
                    <a:pt x="46202" y="78750"/>
                  </a:lnTo>
                  <a:lnTo>
                    <a:pt x="78771" y="46186"/>
                  </a:lnTo>
                  <a:lnTo>
                    <a:pt x="117821" y="21367"/>
                  </a:lnTo>
                  <a:lnTo>
                    <a:pt x="162088" y="5551"/>
                  </a:lnTo>
                  <a:lnTo>
                    <a:pt x="210311" y="0"/>
                  </a:lnTo>
                  <a:lnTo>
                    <a:pt x="258535" y="5551"/>
                  </a:lnTo>
                  <a:lnTo>
                    <a:pt x="302802" y="21367"/>
                  </a:lnTo>
                  <a:lnTo>
                    <a:pt x="341852" y="46186"/>
                  </a:lnTo>
                  <a:lnTo>
                    <a:pt x="374421" y="78750"/>
                  </a:lnTo>
                  <a:lnTo>
                    <a:pt x="399248" y="117798"/>
                  </a:lnTo>
                  <a:lnTo>
                    <a:pt x="415069" y="162072"/>
                  </a:lnTo>
                  <a:lnTo>
                    <a:pt x="420623" y="210312"/>
                  </a:lnTo>
                  <a:lnTo>
                    <a:pt x="415069" y="258551"/>
                  </a:lnTo>
                  <a:lnTo>
                    <a:pt x="399248" y="302825"/>
                  </a:lnTo>
                  <a:lnTo>
                    <a:pt x="374421" y="341873"/>
                  </a:lnTo>
                  <a:lnTo>
                    <a:pt x="341852" y="374437"/>
                  </a:lnTo>
                  <a:lnTo>
                    <a:pt x="302802" y="399256"/>
                  </a:lnTo>
                  <a:lnTo>
                    <a:pt x="258535" y="415072"/>
                  </a:lnTo>
                  <a:lnTo>
                    <a:pt x="210311" y="420624"/>
                  </a:lnTo>
                  <a:lnTo>
                    <a:pt x="162088" y="415072"/>
                  </a:lnTo>
                  <a:lnTo>
                    <a:pt x="117821" y="399256"/>
                  </a:lnTo>
                  <a:lnTo>
                    <a:pt x="78771" y="374437"/>
                  </a:lnTo>
                  <a:lnTo>
                    <a:pt x="46202" y="341873"/>
                  </a:lnTo>
                  <a:lnTo>
                    <a:pt x="21375" y="302825"/>
                  </a:lnTo>
                  <a:lnTo>
                    <a:pt x="5554" y="258551"/>
                  </a:lnTo>
                  <a:lnTo>
                    <a:pt x="0" y="210312"/>
                  </a:lnTo>
                  <a:close/>
                </a:path>
              </a:pathLst>
            </a:custGeom>
            <a:ln w="12700">
              <a:solidFill>
                <a:srgbClr val="C8A84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426821" y="2519078"/>
            <a:ext cx="11620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50" b="1">
                <a:solidFill>
                  <a:srgbClr val="1B2A49"/>
                </a:solidFill>
                <a:latin typeface="Calibri"/>
                <a:cs typeface="Calibri"/>
              </a:rPr>
              <a:t>2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01700" y="2490122"/>
            <a:ext cx="1296670" cy="1943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b="1">
                <a:solidFill>
                  <a:srgbClr val="1B2A49"/>
                </a:solidFill>
                <a:latin typeface="Calibri"/>
                <a:cs typeface="Calibri"/>
              </a:rPr>
              <a:t>Escenarios</a:t>
            </a:r>
            <a:r>
              <a:rPr dirty="0" sz="1100" spc="-30" b="1">
                <a:solidFill>
                  <a:srgbClr val="1B2A49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1B2A49"/>
                </a:solidFill>
                <a:latin typeface="Calibri"/>
                <a:cs typeface="Calibri"/>
              </a:rPr>
              <a:t>y</a:t>
            </a:r>
            <a:r>
              <a:rPr dirty="0" sz="1100" spc="-5" b="1">
                <a:solidFill>
                  <a:srgbClr val="1B2A49"/>
                </a:solidFill>
                <a:latin typeface="Calibri"/>
                <a:cs typeface="Calibri"/>
              </a:rPr>
              <a:t> </a:t>
            </a:r>
            <a:r>
              <a:rPr dirty="0" sz="1100" spc="-10" b="1">
                <a:solidFill>
                  <a:srgbClr val="1B2A49"/>
                </a:solidFill>
                <a:latin typeface="Calibri"/>
                <a:cs typeface="Calibri"/>
              </a:rPr>
              <a:t>usuarios: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051175" y="2558372"/>
            <a:ext cx="3827779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Construir</a:t>
            </a:r>
            <a:r>
              <a:rPr dirty="0" sz="1050" spc="-2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tabla</a:t>
            </a:r>
            <a:r>
              <a:rPr dirty="0" sz="1050" spc="-1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de</a:t>
            </a:r>
            <a:r>
              <a:rPr dirty="0" sz="1050" spc="-1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escenarios</a:t>
            </a:r>
            <a:r>
              <a:rPr dirty="0" sz="1050" spc="-1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(E1-E3)</a:t>
            </a:r>
            <a:r>
              <a:rPr dirty="0" sz="1050" spc="-3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y</a:t>
            </a:r>
            <a:r>
              <a:rPr dirty="0" sz="1050" spc="-1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tabla</a:t>
            </a:r>
            <a:r>
              <a:rPr dirty="0" sz="1050" spc="-1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de usuarios</a:t>
            </a:r>
            <a:r>
              <a:rPr dirty="0" sz="1050" spc="-3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1A1A2D"/>
                </a:solidFill>
                <a:latin typeface="Calibri"/>
                <a:cs typeface="Calibri"/>
              </a:rPr>
              <a:t>(U001-U003).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267970" y="3210898"/>
            <a:ext cx="433705" cy="433705"/>
            <a:chOff x="267970" y="3120898"/>
            <a:chExt cx="433705" cy="433705"/>
          </a:xfrm>
        </p:grpSpPr>
        <p:sp>
          <p:nvSpPr>
            <p:cNvPr id="19" name="object 19"/>
            <p:cNvSpPr/>
            <p:nvPr/>
          </p:nvSpPr>
          <p:spPr>
            <a:xfrm>
              <a:off x="274320" y="3127248"/>
              <a:ext cx="421005" cy="421005"/>
            </a:xfrm>
            <a:custGeom>
              <a:avLst/>
              <a:gdLst/>
              <a:ahLst/>
              <a:cxnLst/>
              <a:rect l="l" t="t" r="r" b="b"/>
              <a:pathLst>
                <a:path w="421005" h="421004">
                  <a:moveTo>
                    <a:pt x="210311" y="0"/>
                  </a:moveTo>
                  <a:lnTo>
                    <a:pt x="162088" y="5551"/>
                  </a:lnTo>
                  <a:lnTo>
                    <a:pt x="117821" y="21367"/>
                  </a:lnTo>
                  <a:lnTo>
                    <a:pt x="78771" y="46186"/>
                  </a:lnTo>
                  <a:lnTo>
                    <a:pt x="46202" y="78750"/>
                  </a:lnTo>
                  <a:lnTo>
                    <a:pt x="21375" y="117798"/>
                  </a:lnTo>
                  <a:lnTo>
                    <a:pt x="5554" y="162072"/>
                  </a:lnTo>
                  <a:lnTo>
                    <a:pt x="0" y="210312"/>
                  </a:lnTo>
                  <a:lnTo>
                    <a:pt x="5554" y="258551"/>
                  </a:lnTo>
                  <a:lnTo>
                    <a:pt x="21375" y="302825"/>
                  </a:lnTo>
                  <a:lnTo>
                    <a:pt x="46202" y="341873"/>
                  </a:lnTo>
                  <a:lnTo>
                    <a:pt x="78771" y="374437"/>
                  </a:lnTo>
                  <a:lnTo>
                    <a:pt x="117821" y="399256"/>
                  </a:lnTo>
                  <a:lnTo>
                    <a:pt x="162088" y="415072"/>
                  </a:lnTo>
                  <a:lnTo>
                    <a:pt x="210311" y="420623"/>
                  </a:lnTo>
                  <a:lnTo>
                    <a:pt x="258535" y="415072"/>
                  </a:lnTo>
                  <a:lnTo>
                    <a:pt x="302802" y="399256"/>
                  </a:lnTo>
                  <a:lnTo>
                    <a:pt x="341852" y="374437"/>
                  </a:lnTo>
                  <a:lnTo>
                    <a:pt x="374421" y="341873"/>
                  </a:lnTo>
                  <a:lnTo>
                    <a:pt x="399248" y="302825"/>
                  </a:lnTo>
                  <a:lnTo>
                    <a:pt x="415069" y="258551"/>
                  </a:lnTo>
                  <a:lnTo>
                    <a:pt x="420623" y="210312"/>
                  </a:lnTo>
                  <a:lnTo>
                    <a:pt x="415069" y="162072"/>
                  </a:lnTo>
                  <a:lnTo>
                    <a:pt x="399248" y="117798"/>
                  </a:lnTo>
                  <a:lnTo>
                    <a:pt x="374421" y="78750"/>
                  </a:lnTo>
                  <a:lnTo>
                    <a:pt x="341852" y="46186"/>
                  </a:lnTo>
                  <a:lnTo>
                    <a:pt x="302802" y="21367"/>
                  </a:lnTo>
                  <a:lnTo>
                    <a:pt x="258535" y="5551"/>
                  </a:lnTo>
                  <a:lnTo>
                    <a:pt x="210311" y="0"/>
                  </a:lnTo>
                  <a:close/>
                </a:path>
              </a:pathLst>
            </a:custGeom>
            <a:solidFill>
              <a:srgbClr val="C8A84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274320" y="3127248"/>
              <a:ext cx="421005" cy="421005"/>
            </a:xfrm>
            <a:custGeom>
              <a:avLst/>
              <a:gdLst/>
              <a:ahLst/>
              <a:cxnLst/>
              <a:rect l="l" t="t" r="r" b="b"/>
              <a:pathLst>
                <a:path w="421005" h="421004">
                  <a:moveTo>
                    <a:pt x="0" y="210312"/>
                  </a:moveTo>
                  <a:lnTo>
                    <a:pt x="5554" y="162072"/>
                  </a:lnTo>
                  <a:lnTo>
                    <a:pt x="21375" y="117798"/>
                  </a:lnTo>
                  <a:lnTo>
                    <a:pt x="46202" y="78750"/>
                  </a:lnTo>
                  <a:lnTo>
                    <a:pt x="78771" y="46186"/>
                  </a:lnTo>
                  <a:lnTo>
                    <a:pt x="117821" y="21367"/>
                  </a:lnTo>
                  <a:lnTo>
                    <a:pt x="162088" y="5551"/>
                  </a:lnTo>
                  <a:lnTo>
                    <a:pt x="210311" y="0"/>
                  </a:lnTo>
                  <a:lnTo>
                    <a:pt x="258535" y="5551"/>
                  </a:lnTo>
                  <a:lnTo>
                    <a:pt x="302802" y="21367"/>
                  </a:lnTo>
                  <a:lnTo>
                    <a:pt x="341852" y="46186"/>
                  </a:lnTo>
                  <a:lnTo>
                    <a:pt x="374421" y="78750"/>
                  </a:lnTo>
                  <a:lnTo>
                    <a:pt x="399248" y="117798"/>
                  </a:lnTo>
                  <a:lnTo>
                    <a:pt x="415069" y="162072"/>
                  </a:lnTo>
                  <a:lnTo>
                    <a:pt x="420623" y="210312"/>
                  </a:lnTo>
                  <a:lnTo>
                    <a:pt x="415069" y="258551"/>
                  </a:lnTo>
                  <a:lnTo>
                    <a:pt x="399248" y="302825"/>
                  </a:lnTo>
                  <a:lnTo>
                    <a:pt x="374421" y="341873"/>
                  </a:lnTo>
                  <a:lnTo>
                    <a:pt x="341852" y="374437"/>
                  </a:lnTo>
                  <a:lnTo>
                    <a:pt x="302802" y="399256"/>
                  </a:lnTo>
                  <a:lnTo>
                    <a:pt x="258535" y="415072"/>
                  </a:lnTo>
                  <a:lnTo>
                    <a:pt x="210311" y="420623"/>
                  </a:lnTo>
                  <a:lnTo>
                    <a:pt x="162088" y="415072"/>
                  </a:lnTo>
                  <a:lnTo>
                    <a:pt x="117821" y="399256"/>
                  </a:lnTo>
                  <a:lnTo>
                    <a:pt x="78771" y="374437"/>
                  </a:lnTo>
                  <a:lnTo>
                    <a:pt x="46202" y="341873"/>
                  </a:lnTo>
                  <a:lnTo>
                    <a:pt x="21375" y="302825"/>
                  </a:lnTo>
                  <a:lnTo>
                    <a:pt x="5554" y="258551"/>
                  </a:lnTo>
                  <a:lnTo>
                    <a:pt x="0" y="210312"/>
                  </a:lnTo>
                  <a:close/>
                </a:path>
              </a:pathLst>
            </a:custGeom>
            <a:ln w="12700">
              <a:solidFill>
                <a:srgbClr val="C8A84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426821" y="3296877"/>
            <a:ext cx="11620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0" b="1">
                <a:solidFill>
                  <a:srgbClr val="1B2A49"/>
                </a:solidFill>
                <a:latin typeface="Calibri"/>
                <a:cs typeface="Calibri"/>
              </a:rPr>
              <a:t>3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01700" y="3267921"/>
            <a:ext cx="58674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 b="1">
                <a:solidFill>
                  <a:srgbClr val="1B2A49"/>
                </a:solidFill>
                <a:latin typeface="Calibri"/>
                <a:cs typeface="Calibri"/>
              </a:rPr>
              <a:t>Educción: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051175" y="3335866"/>
            <a:ext cx="3738879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5</a:t>
            </a:r>
            <a:r>
              <a:rPr dirty="0" sz="1050" spc="-1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preguntas</a:t>
            </a:r>
            <a:r>
              <a:rPr dirty="0" sz="1050" spc="-3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al</a:t>
            </a:r>
            <a:r>
              <a:rPr dirty="0" sz="1050" spc="-3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recepcionista</a:t>
            </a:r>
            <a:r>
              <a:rPr dirty="0" sz="1050" spc="-3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+</a:t>
            </a:r>
            <a:r>
              <a:rPr dirty="0" sz="1050" spc="-2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acta</a:t>
            </a:r>
            <a:r>
              <a:rPr dirty="0" sz="1050" spc="-1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de</a:t>
            </a:r>
            <a:r>
              <a:rPr dirty="0" sz="1050" spc="-2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entrevista</a:t>
            </a:r>
            <a:r>
              <a:rPr dirty="0" sz="1050" spc="-3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con</a:t>
            </a:r>
            <a:r>
              <a:rPr dirty="0" sz="1050" spc="-1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hallazgos</a:t>
            </a:r>
            <a:r>
              <a:rPr dirty="0" sz="1050" spc="-4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1A1A2D"/>
                </a:solidFill>
                <a:latin typeface="Calibri"/>
                <a:cs typeface="Calibri"/>
              </a:rPr>
              <a:t>clave.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267970" y="3988138"/>
            <a:ext cx="433705" cy="433705"/>
            <a:chOff x="267970" y="3898138"/>
            <a:chExt cx="433705" cy="433705"/>
          </a:xfrm>
        </p:grpSpPr>
        <p:sp>
          <p:nvSpPr>
            <p:cNvPr id="25" name="object 25"/>
            <p:cNvSpPr/>
            <p:nvPr/>
          </p:nvSpPr>
          <p:spPr>
            <a:xfrm>
              <a:off x="274320" y="3904488"/>
              <a:ext cx="421005" cy="421005"/>
            </a:xfrm>
            <a:custGeom>
              <a:avLst/>
              <a:gdLst/>
              <a:ahLst/>
              <a:cxnLst/>
              <a:rect l="l" t="t" r="r" b="b"/>
              <a:pathLst>
                <a:path w="421005" h="421004">
                  <a:moveTo>
                    <a:pt x="210311" y="0"/>
                  </a:moveTo>
                  <a:lnTo>
                    <a:pt x="162088" y="5554"/>
                  </a:lnTo>
                  <a:lnTo>
                    <a:pt x="117821" y="21375"/>
                  </a:lnTo>
                  <a:lnTo>
                    <a:pt x="78771" y="46202"/>
                  </a:lnTo>
                  <a:lnTo>
                    <a:pt x="46202" y="78771"/>
                  </a:lnTo>
                  <a:lnTo>
                    <a:pt x="21375" y="117821"/>
                  </a:lnTo>
                  <a:lnTo>
                    <a:pt x="5554" y="162088"/>
                  </a:lnTo>
                  <a:lnTo>
                    <a:pt x="0" y="210312"/>
                  </a:lnTo>
                  <a:lnTo>
                    <a:pt x="5554" y="258535"/>
                  </a:lnTo>
                  <a:lnTo>
                    <a:pt x="21375" y="302802"/>
                  </a:lnTo>
                  <a:lnTo>
                    <a:pt x="46202" y="341852"/>
                  </a:lnTo>
                  <a:lnTo>
                    <a:pt x="78771" y="374421"/>
                  </a:lnTo>
                  <a:lnTo>
                    <a:pt x="117821" y="399248"/>
                  </a:lnTo>
                  <a:lnTo>
                    <a:pt x="162088" y="415069"/>
                  </a:lnTo>
                  <a:lnTo>
                    <a:pt x="210311" y="420624"/>
                  </a:lnTo>
                  <a:lnTo>
                    <a:pt x="258535" y="415069"/>
                  </a:lnTo>
                  <a:lnTo>
                    <a:pt x="302802" y="399248"/>
                  </a:lnTo>
                  <a:lnTo>
                    <a:pt x="341852" y="374421"/>
                  </a:lnTo>
                  <a:lnTo>
                    <a:pt x="374421" y="341852"/>
                  </a:lnTo>
                  <a:lnTo>
                    <a:pt x="399248" y="302802"/>
                  </a:lnTo>
                  <a:lnTo>
                    <a:pt x="415069" y="258535"/>
                  </a:lnTo>
                  <a:lnTo>
                    <a:pt x="420623" y="210312"/>
                  </a:lnTo>
                  <a:lnTo>
                    <a:pt x="415069" y="162088"/>
                  </a:lnTo>
                  <a:lnTo>
                    <a:pt x="399248" y="117821"/>
                  </a:lnTo>
                  <a:lnTo>
                    <a:pt x="374421" y="78771"/>
                  </a:lnTo>
                  <a:lnTo>
                    <a:pt x="341852" y="46202"/>
                  </a:lnTo>
                  <a:lnTo>
                    <a:pt x="302802" y="21375"/>
                  </a:lnTo>
                  <a:lnTo>
                    <a:pt x="258535" y="5554"/>
                  </a:lnTo>
                  <a:lnTo>
                    <a:pt x="210311" y="0"/>
                  </a:lnTo>
                  <a:close/>
                </a:path>
              </a:pathLst>
            </a:custGeom>
            <a:solidFill>
              <a:srgbClr val="C8A84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274320" y="3904488"/>
              <a:ext cx="421005" cy="421005"/>
            </a:xfrm>
            <a:custGeom>
              <a:avLst/>
              <a:gdLst/>
              <a:ahLst/>
              <a:cxnLst/>
              <a:rect l="l" t="t" r="r" b="b"/>
              <a:pathLst>
                <a:path w="421005" h="421004">
                  <a:moveTo>
                    <a:pt x="0" y="210312"/>
                  </a:moveTo>
                  <a:lnTo>
                    <a:pt x="5554" y="162088"/>
                  </a:lnTo>
                  <a:lnTo>
                    <a:pt x="21375" y="117821"/>
                  </a:lnTo>
                  <a:lnTo>
                    <a:pt x="46202" y="78771"/>
                  </a:lnTo>
                  <a:lnTo>
                    <a:pt x="78771" y="46202"/>
                  </a:lnTo>
                  <a:lnTo>
                    <a:pt x="117821" y="21375"/>
                  </a:lnTo>
                  <a:lnTo>
                    <a:pt x="162088" y="5554"/>
                  </a:lnTo>
                  <a:lnTo>
                    <a:pt x="210311" y="0"/>
                  </a:lnTo>
                  <a:lnTo>
                    <a:pt x="258535" y="5554"/>
                  </a:lnTo>
                  <a:lnTo>
                    <a:pt x="302802" y="21375"/>
                  </a:lnTo>
                  <a:lnTo>
                    <a:pt x="341852" y="46202"/>
                  </a:lnTo>
                  <a:lnTo>
                    <a:pt x="374421" y="78771"/>
                  </a:lnTo>
                  <a:lnTo>
                    <a:pt x="399248" y="117821"/>
                  </a:lnTo>
                  <a:lnTo>
                    <a:pt x="415069" y="162088"/>
                  </a:lnTo>
                  <a:lnTo>
                    <a:pt x="420623" y="210312"/>
                  </a:lnTo>
                  <a:lnTo>
                    <a:pt x="415069" y="258535"/>
                  </a:lnTo>
                  <a:lnTo>
                    <a:pt x="399248" y="302802"/>
                  </a:lnTo>
                  <a:lnTo>
                    <a:pt x="374421" y="341852"/>
                  </a:lnTo>
                  <a:lnTo>
                    <a:pt x="341852" y="374421"/>
                  </a:lnTo>
                  <a:lnTo>
                    <a:pt x="302802" y="399248"/>
                  </a:lnTo>
                  <a:lnTo>
                    <a:pt x="258535" y="415069"/>
                  </a:lnTo>
                  <a:lnTo>
                    <a:pt x="210311" y="420624"/>
                  </a:lnTo>
                  <a:lnTo>
                    <a:pt x="162088" y="415069"/>
                  </a:lnTo>
                  <a:lnTo>
                    <a:pt x="117821" y="399248"/>
                  </a:lnTo>
                  <a:lnTo>
                    <a:pt x="78771" y="374421"/>
                  </a:lnTo>
                  <a:lnTo>
                    <a:pt x="46202" y="341852"/>
                  </a:lnTo>
                  <a:lnTo>
                    <a:pt x="21375" y="302802"/>
                  </a:lnTo>
                  <a:lnTo>
                    <a:pt x="5554" y="258535"/>
                  </a:lnTo>
                  <a:lnTo>
                    <a:pt x="0" y="210312"/>
                  </a:lnTo>
                  <a:close/>
                </a:path>
              </a:pathLst>
            </a:custGeom>
            <a:ln w="12700">
              <a:solidFill>
                <a:srgbClr val="C8A84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426821" y="4074447"/>
            <a:ext cx="11620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0" b="1">
                <a:solidFill>
                  <a:srgbClr val="1B2A49"/>
                </a:solidFill>
                <a:latin typeface="Calibri"/>
                <a:cs typeface="Calibri"/>
              </a:rPr>
              <a:t>4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01700" y="4045491"/>
            <a:ext cx="880744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 b="1">
                <a:solidFill>
                  <a:srgbClr val="1B2A49"/>
                </a:solidFill>
                <a:latin typeface="Calibri"/>
                <a:cs typeface="Calibri"/>
              </a:rPr>
              <a:t>Especificación: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051175" y="4112852"/>
            <a:ext cx="3818254" cy="1873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Catálogo</a:t>
            </a:r>
            <a:r>
              <a:rPr dirty="0" sz="1050" spc="-3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1A1A2D"/>
                </a:solidFill>
                <a:latin typeface="Calibri"/>
                <a:cs typeface="Calibri"/>
              </a:rPr>
              <a:t>RF01–</a:t>
            </a: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RF05</a:t>
            </a:r>
            <a:r>
              <a:rPr dirty="0" sz="1050" spc="-1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+</a:t>
            </a:r>
            <a:r>
              <a:rPr dirty="0" sz="1050" spc="-1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ficha</a:t>
            </a:r>
            <a:r>
              <a:rPr dirty="0" sz="1050" spc="-3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completa</a:t>
            </a:r>
            <a:r>
              <a:rPr dirty="0" sz="1050" spc="-3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de</a:t>
            </a:r>
            <a:r>
              <a:rPr dirty="0" sz="1050" spc="-1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RF01</a:t>
            </a:r>
            <a:r>
              <a:rPr dirty="0" sz="1050" spc="-1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(Registrar</a:t>
            </a:r>
            <a:r>
              <a:rPr dirty="0" sz="1050" spc="-5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cita</a:t>
            </a:r>
            <a:r>
              <a:rPr dirty="0" sz="1050" spc="-1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1A1A2D"/>
                </a:solidFill>
                <a:latin typeface="Calibri"/>
                <a:cs typeface="Calibri"/>
              </a:rPr>
              <a:t>médica).</a:t>
            </a:r>
            <a:endParaRPr sz="1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350" y="99440"/>
            <a:ext cx="8034020" cy="1701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02870">
              <a:lnSpc>
                <a:spcPct val="100000"/>
              </a:lnSpc>
              <a:spcBef>
                <a:spcPts val="95"/>
              </a:spcBef>
            </a:pPr>
            <a:r>
              <a:rPr dirty="0" sz="950" spc="-10" b="1">
                <a:solidFill>
                  <a:srgbClr val="FFFFFF"/>
                </a:solidFill>
                <a:latin typeface="Calibri"/>
                <a:cs typeface="Calibri"/>
              </a:rPr>
              <a:t>Estándares</a:t>
            </a:r>
            <a:r>
              <a:rPr dirty="0" sz="950" spc="-1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r>
              <a:rPr dirty="0" sz="950" spc="-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FFFFFF"/>
                </a:solidFill>
                <a:latin typeface="Calibri"/>
                <a:cs typeface="Calibri"/>
              </a:rPr>
              <a:t>Métricas</a:t>
            </a:r>
            <a:r>
              <a:rPr dirty="0" sz="950" spc="-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dirty="0" sz="950" spc="-1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FFFFFF"/>
                </a:solidFill>
                <a:latin typeface="Calibri"/>
                <a:cs typeface="Calibri"/>
              </a:rPr>
              <a:t>Calidad</a:t>
            </a:r>
            <a:r>
              <a:rPr dirty="0" sz="950" spc="1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FFFFFF"/>
                </a:solidFill>
                <a:latin typeface="Calibri"/>
                <a:cs typeface="Calibri"/>
              </a:rPr>
              <a:t>en</a:t>
            </a:r>
            <a:r>
              <a:rPr dirty="0" sz="950" spc="-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FFFFFF"/>
                </a:solidFill>
                <a:latin typeface="Calibri"/>
                <a:cs typeface="Calibri"/>
              </a:rPr>
              <a:t>el</a:t>
            </a:r>
            <a:r>
              <a:rPr dirty="0" sz="950" spc="-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FFFFFF"/>
                </a:solidFill>
                <a:latin typeface="Calibri"/>
                <a:cs typeface="Calibri"/>
              </a:rPr>
              <a:t>Desarrollo</a:t>
            </a:r>
            <a:r>
              <a:rPr dirty="0" sz="950" spc="1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dirty="0" sz="950" spc="-1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spc="-10" b="1">
                <a:solidFill>
                  <a:srgbClr val="FFFFFF"/>
                </a:solidFill>
                <a:latin typeface="Calibri"/>
                <a:cs typeface="Calibri"/>
              </a:rPr>
              <a:t>Software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74320" y="738000"/>
            <a:ext cx="1463040" cy="262000"/>
          </a:xfrm>
          <a:prstGeom prst="rect">
            <a:avLst/>
          </a:prstGeom>
          <a:solidFill>
            <a:srgbClr val="2D7C31"/>
          </a:solidFill>
          <a:ln w="12700">
            <a:solidFill>
              <a:srgbClr val="2D7C31"/>
            </a:solidFill>
          </a:ln>
        </p:spPr>
        <p:txBody>
          <a:bodyPr wrap="square" lIns="0" tIns="81280" rIns="0" bIns="0" rtlCol="0" vert="horz">
            <a:spAutoFit/>
          </a:bodyPr>
          <a:lstStyle/>
          <a:p>
            <a:pPr marL="396240">
              <a:lnSpc>
                <a:spcPct val="100000"/>
              </a:lnSpc>
              <a:spcBef>
                <a:spcPts val="640"/>
              </a:spcBef>
            </a:pPr>
            <a:r>
              <a:rPr dirty="0" sz="1100" spc="-10" b="1">
                <a:solidFill>
                  <a:srgbClr val="FFFFFF"/>
                </a:solidFill>
                <a:latin typeface="Calibri"/>
                <a:cs typeface="Calibri"/>
              </a:rPr>
              <a:t>RESPUESTA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953514" y="749000"/>
            <a:ext cx="5000000" cy="23939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/>
              <a:t>Ejercicio </a:t>
            </a:r>
            <a:r>
              <a:rPr dirty="0" sz="1400"/>
              <a:t>1</a:t>
            </a:r>
            <a:r>
              <a:rPr dirty="0" sz="1400" spc="-20"/>
              <a:t> </a:t>
            </a:r>
            <a:r>
              <a:rPr dirty="0" sz="1400"/>
              <a:t>–</a:t>
            </a:r>
            <a:r>
              <a:rPr dirty="0" sz="1400" spc="-20"/>
              <a:t> </a:t>
            </a:r>
            <a:r>
              <a:rPr dirty="0" sz="1400"/>
              <a:t>Clasificación</a:t>
            </a:r>
            <a:r>
              <a:rPr dirty="0" sz="1400" spc="-40"/>
              <a:t> </a:t>
            </a:r>
            <a:r>
              <a:rPr dirty="0" sz="1400" spc="-10"/>
              <a:t>esperada</a:t>
            </a:r>
            <a:endParaRPr sz="1400"/>
          </a:p>
        </p:txBody>
      </p:sp>
      <p:grpSp>
        <p:nvGrpSpPr>
          <p:cNvPr id="5" name="object 5"/>
          <p:cNvGrpSpPr/>
          <p:nvPr/>
        </p:nvGrpSpPr>
        <p:grpSpPr>
          <a:xfrm>
            <a:off x="267970" y="1014489"/>
            <a:ext cx="67945" cy="927100"/>
            <a:chOff x="267970" y="999489"/>
            <a:chExt cx="67945" cy="927100"/>
          </a:xfrm>
        </p:grpSpPr>
        <p:sp>
          <p:nvSpPr>
            <p:cNvPr id="6" name="object 6"/>
            <p:cNvSpPr/>
            <p:nvPr/>
          </p:nvSpPr>
          <p:spPr>
            <a:xfrm>
              <a:off x="274320" y="1005839"/>
              <a:ext cx="55244" cy="914400"/>
            </a:xfrm>
            <a:custGeom>
              <a:avLst/>
              <a:gdLst/>
              <a:ahLst/>
              <a:cxnLst/>
              <a:rect l="l" t="t" r="r" b="b"/>
              <a:pathLst>
                <a:path w="55245" h="914400">
                  <a:moveTo>
                    <a:pt x="54864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54864" y="914400"/>
                  </a:lnTo>
                  <a:lnTo>
                    <a:pt x="54864" y="0"/>
                  </a:lnTo>
                  <a:close/>
                </a:path>
              </a:pathLst>
            </a:custGeom>
            <a:solidFill>
              <a:srgbClr val="C8A84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274320" y="1005839"/>
              <a:ext cx="55244" cy="914400"/>
            </a:xfrm>
            <a:custGeom>
              <a:avLst/>
              <a:gdLst/>
              <a:ahLst/>
              <a:cxnLst/>
              <a:rect l="l" t="t" r="r" b="b"/>
              <a:pathLst>
                <a:path w="55245" h="914400">
                  <a:moveTo>
                    <a:pt x="0" y="914400"/>
                  </a:moveTo>
                  <a:lnTo>
                    <a:pt x="54864" y="914400"/>
                  </a:lnTo>
                  <a:lnTo>
                    <a:pt x="54864" y="0"/>
                  </a:lnTo>
                  <a:lnTo>
                    <a:pt x="0" y="0"/>
                  </a:lnTo>
                  <a:lnTo>
                    <a:pt x="0" y="914400"/>
                  </a:lnTo>
                  <a:close/>
                </a:path>
              </a:pathLst>
            </a:custGeom>
            <a:ln w="12700">
              <a:solidFill>
                <a:srgbClr val="C8A84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/>
          <p:cNvSpPr txBox="1"/>
          <p:nvPr/>
        </p:nvSpPr>
        <p:spPr>
          <a:xfrm>
            <a:off x="535940" y="1043445"/>
            <a:ext cx="3626485" cy="7937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b="1">
                <a:solidFill>
                  <a:srgbClr val="1B2A49"/>
                </a:solidFill>
                <a:latin typeface="Calibri"/>
                <a:cs typeface="Calibri"/>
              </a:rPr>
              <a:t>Catálogo</a:t>
            </a:r>
            <a:r>
              <a:rPr dirty="0" sz="1100" spc="-30" b="1">
                <a:solidFill>
                  <a:srgbClr val="1B2A49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1B2A49"/>
                </a:solidFill>
                <a:latin typeface="Calibri"/>
                <a:cs typeface="Calibri"/>
              </a:rPr>
              <a:t>de</a:t>
            </a:r>
            <a:r>
              <a:rPr dirty="0" sz="1100" spc="-15" b="1">
                <a:solidFill>
                  <a:srgbClr val="1B2A49"/>
                </a:solidFill>
                <a:latin typeface="Calibri"/>
                <a:cs typeface="Calibri"/>
              </a:rPr>
              <a:t> </a:t>
            </a:r>
            <a:r>
              <a:rPr dirty="0" sz="1100" spc="-10" b="1">
                <a:solidFill>
                  <a:srgbClr val="1B2A49"/>
                </a:solidFill>
                <a:latin typeface="Calibri"/>
                <a:cs typeface="Calibri"/>
              </a:rPr>
              <a:t>requisitos: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75"/>
              </a:spcBef>
            </a:pPr>
            <a:endParaRPr sz="11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dirty="0" sz="1000">
                <a:solidFill>
                  <a:srgbClr val="1A1A2D"/>
                </a:solidFill>
                <a:latin typeface="Calibri"/>
                <a:cs typeface="Calibri"/>
              </a:rPr>
              <a:t>RF01</a:t>
            </a:r>
            <a:r>
              <a:rPr dirty="0" sz="1000" spc="-2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A2D"/>
                </a:solidFill>
                <a:latin typeface="Calibri"/>
                <a:cs typeface="Calibri"/>
              </a:rPr>
              <a:t>Registrar</a:t>
            </a:r>
            <a:r>
              <a:rPr dirty="0" sz="1000" spc="-1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A2D"/>
                </a:solidFill>
                <a:latin typeface="Calibri"/>
                <a:cs typeface="Calibri"/>
              </a:rPr>
              <a:t>cita</a:t>
            </a:r>
            <a:r>
              <a:rPr dirty="0" sz="1000" spc="-2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A2D"/>
                </a:solidFill>
                <a:latin typeface="Calibri"/>
                <a:cs typeface="Calibri"/>
              </a:rPr>
              <a:t>·</a:t>
            </a:r>
            <a:r>
              <a:rPr dirty="0" sz="1000" spc="-2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A2D"/>
                </a:solidFill>
                <a:latin typeface="Calibri"/>
                <a:cs typeface="Calibri"/>
              </a:rPr>
              <a:t>RF02</a:t>
            </a:r>
            <a:r>
              <a:rPr dirty="0" sz="1000" spc="-2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A2D"/>
                </a:solidFill>
                <a:latin typeface="Calibri"/>
                <a:cs typeface="Calibri"/>
              </a:rPr>
              <a:t>Reprogramar</a:t>
            </a:r>
            <a:r>
              <a:rPr dirty="0" sz="1000" spc="-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A2D"/>
                </a:solidFill>
                <a:latin typeface="Calibri"/>
                <a:cs typeface="Calibri"/>
              </a:rPr>
              <a:t>·</a:t>
            </a:r>
            <a:r>
              <a:rPr dirty="0" sz="1000" spc="-3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A2D"/>
                </a:solidFill>
                <a:latin typeface="Calibri"/>
                <a:cs typeface="Calibri"/>
              </a:rPr>
              <a:t>RF03</a:t>
            </a:r>
            <a:r>
              <a:rPr dirty="0" sz="1000" spc="-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A2D"/>
                </a:solidFill>
                <a:latin typeface="Calibri"/>
                <a:cs typeface="Calibri"/>
              </a:rPr>
              <a:t>Cancelar</a:t>
            </a:r>
            <a:r>
              <a:rPr dirty="0" sz="1000" spc="-2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A2D"/>
                </a:solidFill>
                <a:latin typeface="Calibri"/>
                <a:cs typeface="Calibri"/>
              </a:rPr>
              <a:t>·</a:t>
            </a:r>
            <a:r>
              <a:rPr dirty="0" sz="1000" spc="-2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A2D"/>
                </a:solidFill>
                <a:latin typeface="Calibri"/>
                <a:cs typeface="Calibri"/>
              </a:rPr>
              <a:t>RF04</a:t>
            </a:r>
            <a:r>
              <a:rPr dirty="0" sz="1000" spc="-2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1A1A2D"/>
                </a:solidFill>
                <a:latin typeface="Calibri"/>
                <a:cs typeface="Calibri"/>
              </a:rPr>
              <a:t>Agenda </a:t>
            </a:r>
            <a:r>
              <a:rPr dirty="0" sz="1000">
                <a:solidFill>
                  <a:srgbClr val="1A1A2D"/>
                </a:solidFill>
                <a:latin typeface="Calibri"/>
                <a:cs typeface="Calibri"/>
              </a:rPr>
              <a:t>por</a:t>
            </a:r>
            <a:r>
              <a:rPr dirty="0" sz="1000" spc="-3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A2D"/>
                </a:solidFill>
                <a:latin typeface="Calibri"/>
                <a:cs typeface="Calibri"/>
              </a:rPr>
              <a:t>médico</a:t>
            </a:r>
            <a:r>
              <a:rPr dirty="0" sz="1000" spc="-1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A2D"/>
                </a:solidFill>
                <a:latin typeface="Calibri"/>
                <a:cs typeface="Calibri"/>
              </a:rPr>
              <a:t>·</a:t>
            </a:r>
            <a:r>
              <a:rPr dirty="0" sz="1000" spc="-2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A2D"/>
                </a:solidFill>
                <a:latin typeface="Calibri"/>
                <a:cs typeface="Calibri"/>
              </a:rPr>
              <a:t>RF05</a:t>
            </a:r>
            <a:r>
              <a:rPr dirty="0" sz="1000" spc="-2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A2D"/>
                </a:solidFill>
                <a:latin typeface="Calibri"/>
                <a:cs typeface="Calibri"/>
              </a:rPr>
              <a:t>Lista</a:t>
            </a:r>
            <a:r>
              <a:rPr dirty="0" sz="1000" spc="-2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A2D"/>
                </a:solidFill>
                <a:latin typeface="Calibri"/>
                <a:cs typeface="Calibri"/>
              </a:rPr>
              <a:t>de</a:t>
            </a:r>
            <a:r>
              <a:rPr dirty="0" sz="1000" spc="-2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1A1A2D"/>
                </a:solidFill>
                <a:latin typeface="Calibri"/>
                <a:cs typeface="Calibri"/>
              </a:rPr>
              <a:t>espera.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67970" y="2203210"/>
            <a:ext cx="67945" cy="927100"/>
            <a:chOff x="267970" y="2188210"/>
            <a:chExt cx="67945" cy="927100"/>
          </a:xfrm>
        </p:grpSpPr>
        <p:sp>
          <p:nvSpPr>
            <p:cNvPr id="10" name="object 10"/>
            <p:cNvSpPr/>
            <p:nvPr/>
          </p:nvSpPr>
          <p:spPr>
            <a:xfrm>
              <a:off x="274320" y="2194560"/>
              <a:ext cx="55244" cy="914400"/>
            </a:xfrm>
            <a:custGeom>
              <a:avLst/>
              <a:gdLst/>
              <a:ahLst/>
              <a:cxnLst/>
              <a:rect l="l" t="t" r="r" b="b"/>
              <a:pathLst>
                <a:path w="55245" h="914400">
                  <a:moveTo>
                    <a:pt x="54864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54864" y="914400"/>
                  </a:lnTo>
                  <a:lnTo>
                    <a:pt x="54864" y="0"/>
                  </a:lnTo>
                  <a:close/>
                </a:path>
              </a:pathLst>
            </a:custGeom>
            <a:solidFill>
              <a:srgbClr val="C8A84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274320" y="2194560"/>
              <a:ext cx="55244" cy="914400"/>
            </a:xfrm>
            <a:custGeom>
              <a:avLst/>
              <a:gdLst/>
              <a:ahLst/>
              <a:cxnLst/>
              <a:rect l="l" t="t" r="r" b="b"/>
              <a:pathLst>
                <a:path w="55245" h="914400">
                  <a:moveTo>
                    <a:pt x="0" y="914400"/>
                  </a:moveTo>
                  <a:lnTo>
                    <a:pt x="54864" y="914400"/>
                  </a:lnTo>
                  <a:lnTo>
                    <a:pt x="54864" y="0"/>
                  </a:lnTo>
                  <a:lnTo>
                    <a:pt x="0" y="0"/>
                  </a:lnTo>
                  <a:lnTo>
                    <a:pt x="0" y="914400"/>
                  </a:lnTo>
                  <a:close/>
                </a:path>
              </a:pathLst>
            </a:custGeom>
            <a:ln w="12700">
              <a:solidFill>
                <a:srgbClr val="C8A84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535940" y="2232547"/>
            <a:ext cx="3446779" cy="7937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solidFill>
                  <a:srgbClr val="1B2A49"/>
                </a:solidFill>
                <a:latin typeface="Calibri"/>
                <a:cs typeface="Calibri"/>
              </a:rPr>
              <a:t>Ficha</a:t>
            </a:r>
            <a:r>
              <a:rPr dirty="0" sz="1100" spc="-20" b="1">
                <a:solidFill>
                  <a:srgbClr val="1B2A49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1B2A49"/>
                </a:solidFill>
                <a:latin typeface="Calibri"/>
                <a:cs typeface="Calibri"/>
              </a:rPr>
              <a:t>RF01</a:t>
            </a:r>
            <a:r>
              <a:rPr dirty="0" sz="1100" spc="-10" b="1">
                <a:solidFill>
                  <a:srgbClr val="1B2A49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1B2A49"/>
                </a:solidFill>
                <a:latin typeface="Calibri"/>
                <a:cs typeface="Calibri"/>
              </a:rPr>
              <a:t>– </a:t>
            </a:r>
            <a:r>
              <a:rPr dirty="0" sz="1100" spc="-10" b="1">
                <a:solidFill>
                  <a:srgbClr val="1B2A49"/>
                </a:solidFill>
                <a:latin typeface="Calibri"/>
                <a:cs typeface="Calibri"/>
              </a:rPr>
              <a:t>Precondiciones: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80"/>
              </a:spcBef>
            </a:pPr>
            <a:endParaRPr sz="11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dirty="0" sz="1000">
                <a:solidFill>
                  <a:srgbClr val="1A1A2D"/>
                </a:solidFill>
                <a:latin typeface="Calibri"/>
                <a:cs typeface="Calibri"/>
              </a:rPr>
              <a:t>Paciente</a:t>
            </a:r>
            <a:r>
              <a:rPr dirty="0" sz="1000" spc="-3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A2D"/>
                </a:solidFill>
                <a:latin typeface="Calibri"/>
                <a:cs typeface="Calibri"/>
              </a:rPr>
              <a:t>registrado</a:t>
            </a:r>
            <a:r>
              <a:rPr dirty="0" sz="1000" spc="-1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A2D"/>
                </a:solidFill>
                <a:latin typeface="Calibri"/>
                <a:cs typeface="Calibri"/>
              </a:rPr>
              <a:t>en</a:t>
            </a:r>
            <a:r>
              <a:rPr dirty="0" sz="1000" spc="-3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A2D"/>
                </a:solidFill>
                <a:latin typeface="Calibri"/>
                <a:cs typeface="Calibri"/>
              </a:rPr>
              <a:t>el</a:t>
            </a:r>
            <a:r>
              <a:rPr dirty="0" sz="1000" spc="-3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A2D"/>
                </a:solidFill>
                <a:latin typeface="Calibri"/>
                <a:cs typeface="Calibri"/>
              </a:rPr>
              <a:t>sistema;</a:t>
            </a:r>
            <a:r>
              <a:rPr dirty="0" sz="1000" spc="-2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A2D"/>
                </a:solidFill>
                <a:latin typeface="Calibri"/>
                <a:cs typeface="Calibri"/>
              </a:rPr>
              <a:t>al</a:t>
            </a:r>
            <a:r>
              <a:rPr dirty="0" sz="1000" spc="-3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A2D"/>
                </a:solidFill>
                <a:latin typeface="Calibri"/>
                <a:cs typeface="Calibri"/>
              </a:rPr>
              <a:t>menos</a:t>
            </a:r>
            <a:r>
              <a:rPr dirty="0" sz="1000" spc="-2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A2D"/>
                </a:solidFill>
                <a:latin typeface="Calibri"/>
                <a:cs typeface="Calibri"/>
              </a:rPr>
              <a:t>un</a:t>
            </a:r>
            <a:r>
              <a:rPr dirty="0" sz="1000" spc="-3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A2D"/>
                </a:solidFill>
                <a:latin typeface="Calibri"/>
                <a:cs typeface="Calibri"/>
              </a:rPr>
              <a:t>médico</a:t>
            </a:r>
            <a:r>
              <a:rPr dirty="0" sz="1000" spc="-3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A2D"/>
                </a:solidFill>
                <a:latin typeface="Calibri"/>
                <a:cs typeface="Calibri"/>
              </a:rPr>
              <a:t>con</a:t>
            </a:r>
            <a:r>
              <a:rPr dirty="0" sz="1000" spc="-2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1A1A2D"/>
                </a:solidFill>
                <a:latin typeface="Calibri"/>
                <a:cs typeface="Calibri"/>
              </a:rPr>
              <a:t>agenda configurada.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67970" y="3391929"/>
            <a:ext cx="67945" cy="927100"/>
            <a:chOff x="267970" y="3376929"/>
            <a:chExt cx="67945" cy="927100"/>
          </a:xfrm>
        </p:grpSpPr>
        <p:sp>
          <p:nvSpPr>
            <p:cNvPr id="14" name="object 14"/>
            <p:cNvSpPr/>
            <p:nvPr/>
          </p:nvSpPr>
          <p:spPr>
            <a:xfrm>
              <a:off x="274320" y="3383279"/>
              <a:ext cx="55244" cy="914400"/>
            </a:xfrm>
            <a:custGeom>
              <a:avLst/>
              <a:gdLst/>
              <a:ahLst/>
              <a:cxnLst/>
              <a:rect l="l" t="t" r="r" b="b"/>
              <a:pathLst>
                <a:path w="55245" h="914400">
                  <a:moveTo>
                    <a:pt x="54864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54864" y="914400"/>
                  </a:lnTo>
                  <a:lnTo>
                    <a:pt x="54864" y="0"/>
                  </a:lnTo>
                  <a:close/>
                </a:path>
              </a:pathLst>
            </a:custGeom>
            <a:solidFill>
              <a:srgbClr val="C8A84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274320" y="3383279"/>
              <a:ext cx="55244" cy="914400"/>
            </a:xfrm>
            <a:custGeom>
              <a:avLst/>
              <a:gdLst/>
              <a:ahLst/>
              <a:cxnLst/>
              <a:rect l="l" t="t" r="r" b="b"/>
              <a:pathLst>
                <a:path w="55245" h="914400">
                  <a:moveTo>
                    <a:pt x="0" y="914400"/>
                  </a:moveTo>
                  <a:lnTo>
                    <a:pt x="54864" y="914400"/>
                  </a:lnTo>
                  <a:lnTo>
                    <a:pt x="54864" y="0"/>
                  </a:lnTo>
                  <a:lnTo>
                    <a:pt x="0" y="0"/>
                  </a:lnTo>
                  <a:lnTo>
                    <a:pt x="0" y="914400"/>
                  </a:lnTo>
                  <a:close/>
                </a:path>
              </a:pathLst>
            </a:custGeom>
            <a:ln w="12700">
              <a:solidFill>
                <a:srgbClr val="C8A84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535940" y="3421521"/>
            <a:ext cx="3312795" cy="7175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solidFill>
                  <a:srgbClr val="1B2A49"/>
                </a:solidFill>
                <a:latin typeface="Calibri"/>
                <a:cs typeface="Calibri"/>
              </a:rPr>
              <a:t>Ficha</a:t>
            </a:r>
            <a:r>
              <a:rPr dirty="0" sz="1100" spc="-20" b="1">
                <a:solidFill>
                  <a:srgbClr val="1B2A49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1B2A49"/>
                </a:solidFill>
                <a:latin typeface="Calibri"/>
                <a:cs typeface="Calibri"/>
              </a:rPr>
              <a:t>RF01</a:t>
            </a:r>
            <a:r>
              <a:rPr dirty="0" sz="1100" spc="-10" b="1">
                <a:solidFill>
                  <a:srgbClr val="1B2A49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1B2A49"/>
                </a:solidFill>
                <a:latin typeface="Calibri"/>
                <a:cs typeface="Calibri"/>
              </a:rPr>
              <a:t>– </a:t>
            </a:r>
            <a:r>
              <a:rPr dirty="0" sz="1100" spc="-10" b="1">
                <a:solidFill>
                  <a:srgbClr val="1B2A49"/>
                </a:solidFill>
                <a:latin typeface="Calibri"/>
                <a:cs typeface="Calibri"/>
              </a:rPr>
              <a:t>Poscondiciones: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40"/>
              </a:spcBef>
            </a:pP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000">
                <a:solidFill>
                  <a:srgbClr val="1A1A2D"/>
                </a:solidFill>
                <a:latin typeface="Calibri"/>
                <a:cs typeface="Calibri"/>
              </a:rPr>
              <a:t>Cita</a:t>
            </a:r>
            <a:r>
              <a:rPr dirty="0" sz="1000" spc="-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A2D"/>
                </a:solidFill>
                <a:latin typeface="Calibri"/>
                <a:cs typeface="Calibri"/>
              </a:rPr>
              <a:t>en estado </a:t>
            </a:r>
            <a:r>
              <a:rPr dirty="0" sz="1000" spc="-10">
                <a:solidFill>
                  <a:srgbClr val="1A1A2D"/>
                </a:solidFill>
                <a:latin typeface="Calibri"/>
                <a:cs typeface="Calibri"/>
              </a:rPr>
              <a:t>"Programada";</a:t>
            </a:r>
            <a:r>
              <a:rPr dirty="0" sz="1000" spc="-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1A1A2D"/>
                </a:solidFill>
                <a:latin typeface="Calibri"/>
                <a:cs typeface="Calibri"/>
              </a:rPr>
              <a:t>confirmación</a:t>
            </a:r>
            <a:r>
              <a:rPr dirty="0" sz="1000" spc="-1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A2D"/>
                </a:solidFill>
                <a:latin typeface="Calibri"/>
                <a:cs typeface="Calibri"/>
              </a:rPr>
              <a:t>enviada al</a:t>
            </a:r>
            <a:r>
              <a:rPr dirty="0" sz="1000" spc="-10">
                <a:solidFill>
                  <a:srgbClr val="1A1A2D"/>
                </a:solidFill>
                <a:latin typeface="Calibri"/>
                <a:cs typeface="Calibri"/>
              </a:rPr>
              <a:t> paciente.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702809" y="1014489"/>
            <a:ext cx="67945" cy="927100"/>
            <a:chOff x="4702809" y="999489"/>
            <a:chExt cx="67945" cy="927100"/>
          </a:xfrm>
        </p:grpSpPr>
        <p:sp>
          <p:nvSpPr>
            <p:cNvPr id="18" name="object 18"/>
            <p:cNvSpPr/>
            <p:nvPr/>
          </p:nvSpPr>
          <p:spPr>
            <a:xfrm>
              <a:off x="4709159" y="1005839"/>
              <a:ext cx="55244" cy="914400"/>
            </a:xfrm>
            <a:custGeom>
              <a:avLst/>
              <a:gdLst/>
              <a:ahLst/>
              <a:cxnLst/>
              <a:rect l="l" t="t" r="r" b="b"/>
              <a:pathLst>
                <a:path w="55245" h="914400">
                  <a:moveTo>
                    <a:pt x="54863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54863" y="914400"/>
                  </a:lnTo>
                  <a:lnTo>
                    <a:pt x="54863" y="0"/>
                  </a:lnTo>
                  <a:close/>
                </a:path>
              </a:pathLst>
            </a:custGeom>
            <a:solidFill>
              <a:srgbClr val="C8A84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4709159" y="1005839"/>
              <a:ext cx="55244" cy="914400"/>
            </a:xfrm>
            <a:custGeom>
              <a:avLst/>
              <a:gdLst/>
              <a:ahLst/>
              <a:cxnLst/>
              <a:rect l="l" t="t" r="r" b="b"/>
              <a:pathLst>
                <a:path w="55245" h="914400">
                  <a:moveTo>
                    <a:pt x="0" y="914400"/>
                  </a:moveTo>
                  <a:lnTo>
                    <a:pt x="54863" y="914400"/>
                  </a:lnTo>
                  <a:lnTo>
                    <a:pt x="54863" y="0"/>
                  </a:lnTo>
                  <a:lnTo>
                    <a:pt x="0" y="0"/>
                  </a:lnTo>
                  <a:lnTo>
                    <a:pt x="0" y="914400"/>
                  </a:lnTo>
                  <a:close/>
                </a:path>
              </a:pathLst>
            </a:custGeom>
            <a:ln w="12700">
              <a:solidFill>
                <a:srgbClr val="C8A84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/>
          <p:cNvSpPr txBox="1"/>
          <p:nvPr/>
        </p:nvSpPr>
        <p:spPr>
          <a:xfrm>
            <a:off x="4971415" y="1043445"/>
            <a:ext cx="2695575" cy="7175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b="1">
                <a:solidFill>
                  <a:srgbClr val="1B2A49"/>
                </a:solidFill>
                <a:latin typeface="Calibri"/>
                <a:cs typeface="Calibri"/>
              </a:rPr>
              <a:t>Usuarios</a:t>
            </a:r>
            <a:r>
              <a:rPr dirty="0" sz="1100" spc="-30" b="1">
                <a:solidFill>
                  <a:srgbClr val="1B2A49"/>
                </a:solidFill>
                <a:latin typeface="Calibri"/>
                <a:cs typeface="Calibri"/>
              </a:rPr>
              <a:t> </a:t>
            </a:r>
            <a:r>
              <a:rPr dirty="0" sz="1100" spc="-10" b="1">
                <a:solidFill>
                  <a:srgbClr val="1B2A49"/>
                </a:solidFill>
                <a:latin typeface="Calibri"/>
                <a:cs typeface="Calibri"/>
              </a:rPr>
              <a:t>identificados: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35"/>
              </a:spcBef>
            </a:pP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000">
                <a:solidFill>
                  <a:srgbClr val="1A1A2D"/>
                </a:solidFill>
                <a:latin typeface="Calibri"/>
                <a:cs typeface="Calibri"/>
              </a:rPr>
              <a:t>U001</a:t>
            </a:r>
            <a:r>
              <a:rPr dirty="0" sz="1000" spc="1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A2D"/>
                </a:solidFill>
                <a:latin typeface="Calibri"/>
                <a:cs typeface="Calibri"/>
              </a:rPr>
              <a:t>Paciente</a:t>
            </a:r>
            <a:r>
              <a:rPr dirty="0" sz="1000" spc="-1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A2D"/>
                </a:solidFill>
                <a:latin typeface="Calibri"/>
                <a:cs typeface="Calibri"/>
              </a:rPr>
              <a:t>·</a:t>
            </a:r>
            <a:r>
              <a:rPr dirty="0" sz="1000" spc="-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A2D"/>
                </a:solidFill>
                <a:latin typeface="Calibri"/>
                <a:cs typeface="Calibri"/>
              </a:rPr>
              <a:t>U002</a:t>
            </a:r>
            <a:r>
              <a:rPr dirty="0" sz="1000" spc="1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1A1A2D"/>
                </a:solidFill>
                <a:latin typeface="Calibri"/>
                <a:cs typeface="Calibri"/>
              </a:rPr>
              <a:t>Recepcionista</a:t>
            </a:r>
            <a:r>
              <a:rPr dirty="0" sz="1000" spc="-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A2D"/>
                </a:solidFill>
                <a:latin typeface="Calibri"/>
                <a:cs typeface="Calibri"/>
              </a:rPr>
              <a:t>·</a:t>
            </a:r>
            <a:r>
              <a:rPr dirty="0" sz="1000" spc="-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A2D"/>
                </a:solidFill>
                <a:latin typeface="Calibri"/>
                <a:cs typeface="Calibri"/>
              </a:rPr>
              <a:t>U003</a:t>
            </a:r>
            <a:r>
              <a:rPr dirty="0" sz="1000" spc="1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1A1A2D"/>
                </a:solidFill>
                <a:latin typeface="Calibri"/>
                <a:cs typeface="Calibri"/>
              </a:rPr>
              <a:t>Médico.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4702809" y="2203210"/>
            <a:ext cx="67945" cy="927100"/>
            <a:chOff x="4702809" y="2188210"/>
            <a:chExt cx="67945" cy="927100"/>
          </a:xfrm>
        </p:grpSpPr>
        <p:sp>
          <p:nvSpPr>
            <p:cNvPr id="22" name="object 22"/>
            <p:cNvSpPr/>
            <p:nvPr/>
          </p:nvSpPr>
          <p:spPr>
            <a:xfrm>
              <a:off x="4709159" y="2194560"/>
              <a:ext cx="55244" cy="914400"/>
            </a:xfrm>
            <a:custGeom>
              <a:avLst/>
              <a:gdLst/>
              <a:ahLst/>
              <a:cxnLst/>
              <a:rect l="l" t="t" r="r" b="b"/>
              <a:pathLst>
                <a:path w="55245" h="914400">
                  <a:moveTo>
                    <a:pt x="54863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54863" y="914400"/>
                  </a:lnTo>
                  <a:lnTo>
                    <a:pt x="54863" y="0"/>
                  </a:lnTo>
                  <a:close/>
                </a:path>
              </a:pathLst>
            </a:custGeom>
            <a:solidFill>
              <a:srgbClr val="C8A84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4709159" y="2194560"/>
              <a:ext cx="55244" cy="914400"/>
            </a:xfrm>
            <a:custGeom>
              <a:avLst/>
              <a:gdLst/>
              <a:ahLst/>
              <a:cxnLst/>
              <a:rect l="l" t="t" r="r" b="b"/>
              <a:pathLst>
                <a:path w="55245" h="914400">
                  <a:moveTo>
                    <a:pt x="0" y="914400"/>
                  </a:moveTo>
                  <a:lnTo>
                    <a:pt x="54863" y="914400"/>
                  </a:lnTo>
                  <a:lnTo>
                    <a:pt x="54863" y="0"/>
                  </a:lnTo>
                  <a:lnTo>
                    <a:pt x="0" y="0"/>
                  </a:lnTo>
                  <a:lnTo>
                    <a:pt x="0" y="914400"/>
                  </a:lnTo>
                  <a:close/>
                </a:path>
              </a:pathLst>
            </a:custGeom>
            <a:ln w="12700">
              <a:solidFill>
                <a:srgbClr val="C8A84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/>
          <p:cNvSpPr txBox="1"/>
          <p:nvPr/>
        </p:nvSpPr>
        <p:spPr>
          <a:xfrm>
            <a:off x="4971415" y="2232547"/>
            <a:ext cx="67945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0" b="1">
                <a:solidFill>
                  <a:srgbClr val="1B2A49"/>
                </a:solidFill>
                <a:latin typeface="Calibri"/>
                <a:cs typeface="Calibri"/>
              </a:rPr>
              <a:t>Escenarios: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971415" y="2772297"/>
            <a:ext cx="3118485" cy="17780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>
                <a:solidFill>
                  <a:srgbClr val="1A1A2D"/>
                </a:solidFill>
                <a:latin typeface="Calibri"/>
                <a:cs typeface="Calibri"/>
              </a:rPr>
              <a:t>E1</a:t>
            </a:r>
            <a:r>
              <a:rPr dirty="0" sz="1000" spc="-2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A2D"/>
                </a:solidFill>
                <a:latin typeface="Calibri"/>
                <a:cs typeface="Calibri"/>
              </a:rPr>
              <a:t>Portal</a:t>
            </a:r>
            <a:r>
              <a:rPr dirty="0" sz="1000" spc="-3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A2D"/>
                </a:solidFill>
                <a:latin typeface="Calibri"/>
                <a:cs typeface="Calibri"/>
              </a:rPr>
              <a:t>paciente</a:t>
            </a:r>
            <a:r>
              <a:rPr dirty="0" sz="1000" spc="-2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A2D"/>
                </a:solidFill>
                <a:latin typeface="Calibri"/>
                <a:cs typeface="Calibri"/>
              </a:rPr>
              <a:t>·</a:t>
            </a:r>
            <a:r>
              <a:rPr dirty="0" sz="1000" spc="-1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A2D"/>
                </a:solidFill>
                <a:latin typeface="Calibri"/>
                <a:cs typeface="Calibri"/>
              </a:rPr>
              <a:t>E2</a:t>
            </a:r>
            <a:r>
              <a:rPr dirty="0" sz="1000" spc="-2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A2D"/>
                </a:solidFill>
                <a:latin typeface="Calibri"/>
                <a:cs typeface="Calibri"/>
              </a:rPr>
              <a:t>Módulo</a:t>
            </a:r>
            <a:r>
              <a:rPr dirty="0" sz="1000" spc="-3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A2D"/>
                </a:solidFill>
                <a:latin typeface="Calibri"/>
                <a:cs typeface="Calibri"/>
              </a:rPr>
              <a:t>recepción ·</a:t>
            </a:r>
            <a:r>
              <a:rPr dirty="0" sz="1000" spc="-1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A2D"/>
                </a:solidFill>
                <a:latin typeface="Calibri"/>
                <a:cs typeface="Calibri"/>
              </a:rPr>
              <a:t>E3</a:t>
            </a:r>
            <a:r>
              <a:rPr dirty="0" sz="1000" spc="-2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A2D"/>
                </a:solidFill>
                <a:latin typeface="Calibri"/>
                <a:cs typeface="Calibri"/>
              </a:rPr>
              <a:t>Panel</a:t>
            </a:r>
            <a:r>
              <a:rPr dirty="0" sz="1000" spc="-3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1A1A2D"/>
                </a:solidFill>
                <a:latin typeface="Calibri"/>
                <a:cs typeface="Calibri"/>
              </a:rPr>
              <a:t>médico.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4702809" y="3391929"/>
            <a:ext cx="67945" cy="927100"/>
            <a:chOff x="4702809" y="3376929"/>
            <a:chExt cx="67945" cy="927100"/>
          </a:xfrm>
        </p:grpSpPr>
        <p:sp>
          <p:nvSpPr>
            <p:cNvPr id="27" name="object 27"/>
            <p:cNvSpPr/>
            <p:nvPr/>
          </p:nvSpPr>
          <p:spPr>
            <a:xfrm>
              <a:off x="4709159" y="3383279"/>
              <a:ext cx="55244" cy="914400"/>
            </a:xfrm>
            <a:custGeom>
              <a:avLst/>
              <a:gdLst/>
              <a:ahLst/>
              <a:cxnLst/>
              <a:rect l="l" t="t" r="r" b="b"/>
              <a:pathLst>
                <a:path w="55245" h="914400">
                  <a:moveTo>
                    <a:pt x="54863" y="0"/>
                  </a:moveTo>
                  <a:lnTo>
                    <a:pt x="0" y="0"/>
                  </a:lnTo>
                  <a:lnTo>
                    <a:pt x="0" y="914400"/>
                  </a:lnTo>
                  <a:lnTo>
                    <a:pt x="54863" y="914400"/>
                  </a:lnTo>
                  <a:lnTo>
                    <a:pt x="54863" y="0"/>
                  </a:lnTo>
                  <a:close/>
                </a:path>
              </a:pathLst>
            </a:custGeom>
            <a:solidFill>
              <a:srgbClr val="C8A84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/>
            <p:cNvSpPr/>
            <p:nvPr/>
          </p:nvSpPr>
          <p:spPr>
            <a:xfrm>
              <a:off x="4709159" y="3383279"/>
              <a:ext cx="55244" cy="914400"/>
            </a:xfrm>
            <a:custGeom>
              <a:avLst/>
              <a:gdLst/>
              <a:ahLst/>
              <a:cxnLst/>
              <a:rect l="l" t="t" r="r" b="b"/>
              <a:pathLst>
                <a:path w="55245" h="914400">
                  <a:moveTo>
                    <a:pt x="0" y="914400"/>
                  </a:moveTo>
                  <a:lnTo>
                    <a:pt x="54863" y="914400"/>
                  </a:lnTo>
                  <a:lnTo>
                    <a:pt x="54863" y="0"/>
                  </a:lnTo>
                  <a:lnTo>
                    <a:pt x="0" y="0"/>
                  </a:lnTo>
                  <a:lnTo>
                    <a:pt x="0" y="914400"/>
                  </a:lnTo>
                  <a:close/>
                </a:path>
              </a:pathLst>
            </a:custGeom>
            <a:ln w="12700">
              <a:solidFill>
                <a:srgbClr val="C8A84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9" name="object 29"/>
          <p:cNvSpPr txBox="1"/>
          <p:nvPr/>
        </p:nvSpPr>
        <p:spPr>
          <a:xfrm>
            <a:off x="4971415" y="3421521"/>
            <a:ext cx="3630929" cy="7937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solidFill>
                  <a:srgbClr val="1B2A49"/>
                </a:solidFill>
                <a:latin typeface="Calibri"/>
                <a:cs typeface="Calibri"/>
              </a:rPr>
              <a:t>Hallazgos</a:t>
            </a:r>
            <a:r>
              <a:rPr dirty="0" sz="1100" spc="-35" b="1">
                <a:solidFill>
                  <a:srgbClr val="1B2A49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1B2A49"/>
                </a:solidFill>
                <a:latin typeface="Calibri"/>
                <a:cs typeface="Calibri"/>
              </a:rPr>
              <a:t>acta</a:t>
            </a:r>
            <a:r>
              <a:rPr dirty="0" sz="1100" spc="-20" b="1">
                <a:solidFill>
                  <a:srgbClr val="1B2A49"/>
                </a:solidFill>
                <a:latin typeface="Calibri"/>
                <a:cs typeface="Calibri"/>
              </a:rPr>
              <a:t> </a:t>
            </a:r>
            <a:r>
              <a:rPr dirty="0" sz="1100" spc="-10" b="1">
                <a:solidFill>
                  <a:srgbClr val="1B2A49"/>
                </a:solidFill>
                <a:latin typeface="Calibri"/>
                <a:cs typeface="Calibri"/>
              </a:rPr>
              <a:t>entrevista:</a:t>
            </a:r>
            <a:endParaRPr sz="11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980"/>
              </a:spcBef>
            </a:pPr>
            <a:endParaRPr sz="11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dirty="0" sz="1000" spc="-10">
                <a:solidFill>
                  <a:srgbClr val="1A1A2D"/>
                </a:solidFill>
                <a:latin typeface="Calibri"/>
                <a:cs typeface="Calibri"/>
              </a:rPr>
              <a:t>Disponibilidad</a:t>
            </a:r>
            <a:r>
              <a:rPr dirty="0" sz="1000" spc="-3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A2D"/>
                </a:solidFill>
                <a:latin typeface="Calibri"/>
                <a:cs typeface="Calibri"/>
              </a:rPr>
              <a:t>en una</a:t>
            </a:r>
            <a:r>
              <a:rPr dirty="0" sz="1000" spc="-1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A2D"/>
                </a:solidFill>
                <a:latin typeface="Calibri"/>
                <a:cs typeface="Calibri"/>
              </a:rPr>
              <a:t>pantalla,</a:t>
            </a:r>
            <a:r>
              <a:rPr dirty="0" sz="1000" spc="-3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A2D"/>
                </a:solidFill>
                <a:latin typeface="Calibri"/>
                <a:cs typeface="Calibri"/>
              </a:rPr>
              <a:t>datos</a:t>
            </a:r>
            <a:r>
              <a:rPr dirty="0" sz="1000" spc="-1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A2D"/>
                </a:solidFill>
                <a:latin typeface="Calibri"/>
                <a:cs typeface="Calibri"/>
              </a:rPr>
              <a:t>mínimos</a:t>
            </a:r>
            <a:r>
              <a:rPr dirty="0" sz="1000" spc="-1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A2D"/>
                </a:solidFill>
                <a:latin typeface="Calibri"/>
                <a:cs typeface="Calibri"/>
              </a:rPr>
              <a:t>del</a:t>
            </a:r>
            <a:r>
              <a:rPr dirty="0" sz="1000" spc="-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A2D"/>
                </a:solidFill>
                <a:latin typeface="Calibri"/>
                <a:cs typeface="Calibri"/>
              </a:rPr>
              <a:t>paciente,</a:t>
            </a:r>
            <a:r>
              <a:rPr dirty="0" sz="1000" spc="-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A2D"/>
                </a:solidFill>
                <a:latin typeface="Calibri"/>
                <a:cs typeface="Calibri"/>
              </a:rPr>
              <a:t>alertas</a:t>
            </a:r>
            <a:r>
              <a:rPr dirty="0" sz="1000" spc="-1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00" spc="-25">
                <a:solidFill>
                  <a:srgbClr val="1A1A2D"/>
                </a:solidFill>
                <a:latin typeface="Calibri"/>
                <a:cs typeface="Calibri"/>
              </a:rPr>
              <a:t>de</a:t>
            </a:r>
            <a:r>
              <a:rPr dirty="0" sz="1000">
                <a:solidFill>
                  <a:srgbClr val="1A1A2D"/>
                </a:solidFill>
                <a:latin typeface="Calibri"/>
                <a:cs typeface="Calibri"/>
              </a:rPr>
              <a:t> duplicados</a:t>
            </a:r>
            <a:r>
              <a:rPr dirty="0" sz="1000" spc="-4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A2D"/>
                </a:solidFill>
                <a:latin typeface="Calibri"/>
                <a:cs typeface="Calibri"/>
              </a:rPr>
              <a:t>y</a:t>
            </a:r>
            <a:r>
              <a:rPr dirty="0" sz="1000" spc="-1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A2D"/>
                </a:solidFill>
                <a:latin typeface="Calibri"/>
                <a:cs typeface="Calibri"/>
              </a:rPr>
              <a:t>lista</a:t>
            </a:r>
            <a:r>
              <a:rPr dirty="0" sz="1000" spc="-1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00">
                <a:solidFill>
                  <a:srgbClr val="1A1A2D"/>
                </a:solidFill>
                <a:latin typeface="Calibri"/>
                <a:cs typeface="Calibri"/>
              </a:rPr>
              <a:t>de</a:t>
            </a:r>
            <a:r>
              <a:rPr dirty="0" sz="1000" spc="-1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00" spc="-10">
                <a:solidFill>
                  <a:srgbClr val="1A1A2D"/>
                </a:solidFill>
                <a:latin typeface="Calibri"/>
                <a:cs typeface="Calibri"/>
              </a:rPr>
              <a:t>espera.</a:t>
            </a:r>
            <a:endParaRPr sz="1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7027" y="99440"/>
            <a:ext cx="3126740" cy="1701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 spc="-10" b="1">
                <a:solidFill>
                  <a:srgbClr val="FFFFFF"/>
                </a:solidFill>
                <a:latin typeface="Calibri"/>
                <a:cs typeface="Calibri"/>
              </a:rPr>
              <a:t>Estándares</a:t>
            </a:r>
            <a:r>
              <a:rPr dirty="0" sz="950" spc="-1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r>
              <a:rPr dirty="0" sz="950" spc="-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FFFFFF"/>
                </a:solidFill>
                <a:latin typeface="Calibri"/>
                <a:cs typeface="Calibri"/>
              </a:rPr>
              <a:t>Métricas</a:t>
            </a:r>
            <a:r>
              <a:rPr dirty="0" sz="950" spc="-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dirty="0" sz="950" spc="-1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FFFFFF"/>
                </a:solidFill>
                <a:latin typeface="Calibri"/>
                <a:cs typeface="Calibri"/>
              </a:rPr>
              <a:t>Calidad</a:t>
            </a:r>
            <a:r>
              <a:rPr dirty="0" sz="950" spc="1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FFFFFF"/>
                </a:solidFill>
                <a:latin typeface="Calibri"/>
                <a:cs typeface="Calibri"/>
              </a:rPr>
              <a:t>en</a:t>
            </a:r>
            <a:r>
              <a:rPr dirty="0" sz="950" spc="-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FFFFFF"/>
                </a:solidFill>
                <a:latin typeface="Calibri"/>
                <a:cs typeface="Calibri"/>
              </a:rPr>
              <a:t>el</a:t>
            </a:r>
            <a:r>
              <a:rPr dirty="0" sz="950" spc="-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FFFFFF"/>
                </a:solidFill>
                <a:latin typeface="Calibri"/>
                <a:cs typeface="Calibri"/>
              </a:rPr>
              <a:t>Desarrollo</a:t>
            </a:r>
            <a:r>
              <a:rPr dirty="0" sz="950" spc="1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dirty="0" sz="950" spc="-1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spc="-10" b="1">
                <a:solidFill>
                  <a:srgbClr val="FFFFFF"/>
                </a:solidFill>
                <a:latin typeface="Calibri"/>
                <a:cs typeface="Calibri"/>
              </a:rPr>
              <a:t>Software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67970" y="745000"/>
            <a:ext cx="652780" cy="300000"/>
          </a:xfrm>
          <a:prstGeom prst="rect">
            <a:avLst/>
          </a:prstGeom>
          <a:solidFill>
            <a:srgbClr val="1B2A49"/>
          </a:solidFill>
          <a:ln w="3175">
            <a:solidFill>
              <a:srgbClr val="1B2A49"/>
            </a:solidFill>
          </a:ln>
        </p:spPr>
        <p:txBody>
          <a:bodyPr wrap="square" lIns="0" tIns="50000" rIns="0" bIns="0" rtlCol="0" vert="horz">
            <a:spAutoFit/>
          </a:bodyPr>
          <a:lstStyle/>
          <a:p>
            <a:pPr marL="198120">
              <a:lnSpc>
                <a:spcPct val="100000"/>
              </a:lnSpc>
              <a:spcBef>
                <a:spcPts val="690"/>
              </a:spcBef>
            </a:pPr>
            <a:r>
              <a:rPr dirty="0" sz="1100" b="1">
                <a:solidFill>
                  <a:srgbClr val="C8A84B"/>
                </a:solidFill>
                <a:latin typeface="Calibri"/>
                <a:cs typeface="Calibri"/>
              </a:rPr>
              <a:t>EJ.</a:t>
            </a:r>
            <a:r>
              <a:rPr dirty="0" sz="1100" spc="-15" b="1">
                <a:solidFill>
                  <a:srgbClr val="C8A84B"/>
                </a:solidFill>
                <a:latin typeface="Calibri"/>
                <a:cs typeface="Calibri"/>
              </a:rPr>
              <a:t> </a:t>
            </a:r>
            <a:r>
              <a:rPr dirty="0" sz="1100" spc="-50" b="1">
                <a:solidFill>
                  <a:srgbClr val="C8A84B"/>
                </a:solidFill>
                <a:latin typeface="Calibri"/>
                <a:cs typeface="Calibri"/>
              </a:rPr>
              <a:t>2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194884" y="775000"/>
            <a:ext cx="6000000" cy="23939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20"/>
              <a:t>Trazabilidad</a:t>
            </a:r>
            <a:r>
              <a:rPr dirty="0" sz="1400" spc="-40"/>
              <a:t> </a:t>
            </a:r>
            <a:r>
              <a:rPr dirty="0" sz="1400"/>
              <a:t>entre</a:t>
            </a:r>
            <a:r>
              <a:rPr dirty="0" sz="1400" spc="-40"/>
              <a:t> </a:t>
            </a:r>
            <a:r>
              <a:rPr dirty="0" sz="1400"/>
              <a:t>requisitos</a:t>
            </a:r>
            <a:r>
              <a:rPr dirty="0" sz="1400" spc="-35"/>
              <a:t> </a:t>
            </a:r>
            <a:r>
              <a:rPr dirty="0" sz="1400"/>
              <a:t>y</a:t>
            </a:r>
            <a:r>
              <a:rPr dirty="0" sz="1400" spc="-10"/>
              <a:t> métricas</a:t>
            </a:r>
            <a:r>
              <a:rPr dirty="0" sz="1400" spc="-20"/>
              <a:t> </a:t>
            </a:r>
            <a:r>
              <a:rPr dirty="0" sz="1400"/>
              <a:t>de</a:t>
            </a:r>
            <a:r>
              <a:rPr dirty="0" sz="1400" spc="-15"/>
              <a:t> </a:t>
            </a:r>
            <a:r>
              <a:rPr dirty="0" sz="1400"/>
              <a:t>calidad</a:t>
            </a:r>
            <a:r>
              <a:rPr dirty="0" sz="1400" spc="-30"/>
              <a:t> </a:t>
            </a:r>
            <a:r>
              <a:rPr dirty="0" sz="1400" spc="-10"/>
              <a:t>(Fintech)</a:t>
            </a:r>
            <a:endParaRPr sz="1400"/>
          </a:p>
        </p:txBody>
      </p:sp>
      <p:sp>
        <p:nvSpPr>
          <p:cNvPr id="5" name="object 5"/>
          <p:cNvSpPr txBox="1"/>
          <p:nvPr/>
        </p:nvSpPr>
        <p:spPr>
          <a:xfrm>
            <a:off x="274320" y="1050119"/>
            <a:ext cx="8595360" cy="439420"/>
          </a:xfrm>
          <a:prstGeom prst="rect">
            <a:avLst/>
          </a:prstGeom>
          <a:solidFill>
            <a:srgbClr val="E8F4FC"/>
          </a:solidFill>
          <a:ln w="12700">
            <a:solidFill>
              <a:srgbClr val="1F4E79"/>
            </a:solidFill>
          </a:ln>
        </p:spPr>
        <p:txBody>
          <a:bodyPr wrap="square" lIns="0" tIns="135255" rIns="0" bIns="0" rtlCol="0" vert="horz">
            <a:spAutoFit/>
          </a:bodyPr>
          <a:lstStyle/>
          <a:p>
            <a:pPr marL="228600">
              <a:lnSpc>
                <a:spcPct val="100000"/>
              </a:lnSpc>
              <a:spcBef>
                <a:spcPts val="1065"/>
              </a:spcBef>
            </a:pPr>
            <a:r>
              <a:rPr dirty="0" sz="1000" spc="-10" i="1">
                <a:solidFill>
                  <a:srgbClr val="1A1A2D"/>
                </a:solidFill>
                <a:latin typeface="Calibri"/>
                <a:cs typeface="Calibri"/>
              </a:rPr>
              <a:t>ESCENARIO:</a:t>
            </a:r>
            <a:r>
              <a:rPr dirty="0" sz="1000" spc="-15" i="1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1A1A2D"/>
                </a:solidFill>
                <a:latin typeface="Calibri"/>
                <a:cs typeface="Calibri"/>
              </a:rPr>
              <a:t>App</a:t>
            </a:r>
            <a:r>
              <a:rPr dirty="0" sz="1000" spc="-10" i="1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1A1A2D"/>
                </a:solidFill>
                <a:latin typeface="Calibri"/>
                <a:cs typeface="Calibri"/>
              </a:rPr>
              <a:t>móvil</a:t>
            </a:r>
            <a:r>
              <a:rPr dirty="0" sz="1000" spc="-15" i="1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1A1A2D"/>
                </a:solidFill>
                <a:latin typeface="Calibri"/>
                <a:cs typeface="Calibri"/>
              </a:rPr>
              <a:t>de</a:t>
            </a:r>
            <a:r>
              <a:rPr dirty="0" sz="1000" spc="-5" i="1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1A1A2D"/>
                </a:solidFill>
                <a:latin typeface="Calibri"/>
                <a:cs typeface="Calibri"/>
              </a:rPr>
              <a:t>pagos</a:t>
            </a:r>
            <a:r>
              <a:rPr dirty="0" sz="1000" spc="-15" i="1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00" spc="-10" i="1">
                <a:solidFill>
                  <a:srgbClr val="1A1A2D"/>
                </a:solidFill>
                <a:latin typeface="Calibri"/>
                <a:cs typeface="Calibri"/>
              </a:rPr>
              <a:t>instantáneos</a:t>
            </a:r>
            <a:r>
              <a:rPr dirty="0" sz="1000" spc="-25" i="1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1A1A2D"/>
                </a:solidFill>
                <a:latin typeface="Calibri"/>
                <a:cs typeface="Calibri"/>
              </a:rPr>
              <a:t>P2P</a:t>
            </a:r>
            <a:r>
              <a:rPr dirty="0" sz="1000" spc="5" i="1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1A1A2D"/>
                </a:solidFill>
                <a:latin typeface="Calibri"/>
                <a:cs typeface="Calibri"/>
              </a:rPr>
              <a:t>para</a:t>
            </a:r>
            <a:r>
              <a:rPr dirty="0" sz="1000" spc="20" i="1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1A1A2D"/>
                </a:solidFill>
                <a:latin typeface="Calibri"/>
                <a:cs typeface="Calibri"/>
              </a:rPr>
              <a:t>fintech</a:t>
            </a:r>
            <a:r>
              <a:rPr dirty="0" sz="1000" spc="-10" i="1">
                <a:solidFill>
                  <a:srgbClr val="1A1A2D"/>
                </a:solidFill>
                <a:latin typeface="Calibri"/>
                <a:cs typeface="Calibri"/>
              </a:rPr>
              <a:t> latinoamericana</a:t>
            </a:r>
            <a:r>
              <a:rPr dirty="0" sz="1000" spc="-35" i="1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1A1A2D"/>
                </a:solidFill>
                <a:latin typeface="Calibri"/>
                <a:cs typeface="Calibri"/>
              </a:rPr>
              <a:t>(usuarios,</a:t>
            </a:r>
            <a:r>
              <a:rPr dirty="0" sz="1000" spc="-10" i="1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1A1A2D"/>
                </a:solidFill>
                <a:latin typeface="Calibri"/>
                <a:cs typeface="Calibri"/>
              </a:rPr>
              <a:t>comercios</a:t>
            </a:r>
            <a:r>
              <a:rPr dirty="0" sz="1000" spc="-40" i="1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00" i="1">
                <a:solidFill>
                  <a:srgbClr val="1A1A2D"/>
                </a:solidFill>
                <a:latin typeface="Calibri"/>
                <a:cs typeface="Calibri"/>
              </a:rPr>
              <a:t>y soporte</a:t>
            </a:r>
            <a:r>
              <a:rPr dirty="0" sz="1000" spc="-5" i="1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00" spc="-10" i="1">
                <a:solidFill>
                  <a:srgbClr val="1A1A2D"/>
                </a:solidFill>
                <a:latin typeface="Calibri"/>
                <a:cs typeface="Calibri"/>
              </a:rPr>
              <a:t>antifraude).</a:t>
            </a:r>
            <a:endParaRPr sz="1000">
              <a:latin typeface="Calibri"/>
              <a:cs typeface="Calibri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67970" y="1638130"/>
            <a:ext cx="433705" cy="433705"/>
            <a:chOff x="267970" y="1548130"/>
            <a:chExt cx="433705" cy="433705"/>
          </a:xfrm>
        </p:grpSpPr>
        <p:sp>
          <p:nvSpPr>
            <p:cNvPr id="7" name="object 7"/>
            <p:cNvSpPr/>
            <p:nvPr/>
          </p:nvSpPr>
          <p:spPr>
            <a:xfrm>
              <a:off x="274320" y="1554480"/>
              <a:ext cx="421005" cy="421005"/>
            </a:xfrm>
            <a:custGeom>
              <a:avLst/>
              <a:gdLst/>
              <a:ahLst/>
              <a:cxnLst/>
              <a:rect l="l" t="t" r="r" b="b"/>
              <a:pathLst>
                <a:path w="421005" h="421005">
                  <a:moveTo>
                    <a:pt x="210311" y="0"/>
                  </a:moveTo>
                  <a:lnTo>
                    <a:pt x="162088" y="5551"/>
                  </a:lnTo>
                  <a:lnTo>
                    <a:pt x="117821" y="21367"/>
                  </a:lnTo>
                  <a:lnTo>
                    <a:pt x="78771" y="46186"/>
                  </a:lnTo>
                  <a:lnTo>
                    <a:pt x="46202" y="78750"/>
                  </a:lnTo>
                  <a:lnTo>
                    <a:pt x="21375" y="117798"/>
                  </a:lnTo>
                  <a:lnTo>
                    <a:pt x="5554" y="162072"/>
                  </a:lnTo>
                  <a:lnTo>
                    <a:pt x="0" y="210312"/>
                  </a:lnTo>
                  <a:lnTo>
                    <a:pt x="5554" y="258551"/>
                  </a:lnTo>
                  <a:lnTo>
                    <a:pt x="21375" y="302825"/>
                  </a:lnTo>
                  <a:lnTo>
                    <a:pt x="46202" y="341873"/>
                  </a:lnTo>
                  <a:lnTo>
                    <a:pt x="78771" y="374437"/>
                  </a:lnTo>
                  <a:lnTo>
                    <a:pt x="117821" y="399256"/>
                  </a:lnTo>
                  <a:lnTo>
                    <a:pt x="162088" y="415072"/>
                  </a:lnTo>
                  <a:lnTo>
                    <a:pt x="210311" y="420624"/>
                  </a:lnTo>
                  <a:lnTo>
                    <a:pt x="258535" y="415072"/>
                  </a:lnTo>
                  <a:lnTo>
                    <a:pt x="302802" y="399256"/>
                  </a:lnTo>
                  <a:lnTo>
                    <a:pt x="341852" y="374437"/>
                  </a:lnTo>
                  <a:lnTo>
                    <a:pt x="374421" y="341873"/>
                  </a:lnTo>
                  <a:lnTo>
                    <a:pt x="399248" y="302825"/>
                  </a:lnTo>
                  <a:lnTo>
                    <a:pt x="415069" y="258551"/>
                  </a:lnTo>
                  <a:lnTo>
                    <a:pt x="420623" y="210312"/>
                  </a:lnTo>
                  <a:lnTo>
                    <a:pt x="415069" y="162072"/>
                  </a:lnTo>
                  <a:lnTo>
                    <a:pt x="399248" y="117798"/>
                  </a:lnTo>
                  <a:lnTo>
                    <a:pt x="374421" y="78750"/>
                  </a:lnTo>
                  <a:lnTo>
                    <a:pt x="341852" y="46186"/>
                  </a:lnTo>
                  <a:lnTo>
                    <a:pt x="302802" y="21367"/>
                  </a:lnTo>
                  <a:lnTo>
                    <a:pt x="258535" y="5551"/>
                  </a:lnTo>
                  <a:lnTo>
                    <a:pt x="210311" y="0"/>
                  </a:lnTo>
                  <a:close/>
                </a:path>
              </a:pathLst>
            </a:custGeom>
            <a:solidFill>
              <a:srgbClr val="C8A84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274320" y="1554480"/>
              <a:ext cx="421005" cy="421005"/>
            </a:xfrm>
            <a:custGeom>
              <a:avLst/>
              <a:gdLst/>
              <a:ahLst/>
              <a:cxnLst/>
              <a:rect l="l" t="t" r="r" b="b"/>
              <a:pathLst>
                <a:path w="421005" h="421005">
                  <a:moveTo>
                    <a:pt x="0" y="210312"/>
                  </a:moveTo>
                  <a:lnTo>
                    <a:pt x="5554" y="162072"/>
                  </a:lnTo>
                  <a:lnTo>
                    <a:pt x="21375" y="117798"/>
                  </a:lnTo>
                  <a:lnTo>
                    <a:pt x="46202" y="78750"/>
                  </a:lnTo>
                  <a:lnTo>
                    <a:pt x="78771" y="46186"/>
                  </a:lnTo>
                  <a:lnTo>
                    <a:pt x="117821" y="21367"/>
                  </a:lnTo>
                  <a:lnTo>
                    <a:pt x="162088" y="5551"/>
                  </a:lnTo>
                  <a:lnTo>
                    <a:pt x="210311" y="0"/>
                  </a:lnTo>
                  <a:lnTo>
                    <a:pt x="258535" y="5551"/>
                  </a:lnTo>
                  <a:lnTo>
                    <a:pt x="302802" y="21367"/>
                  </a:lnTo>
                  <a:lnTo>
                    <a:pt x="341852" y="46186"/>
                  </a:lnTo>
                  <a:lnTo>
                    <a:pt x="374421" y="78750"/>
                  </a:lnTo>
                  <a:lnTo>
                    <a:pt x="399248" y="117798"/>
                  </a:lnTo>
                  <a:lnTo>
                    <a:pt x="415069" y="162072"/>
                  </a:lnTo>
                  <a:lnTo>
                    <a:pt x="420623" y="210312"/>
                  </a:lnTo>
                  <a:lnTo>
                    <a:pt x="415069" y="258551"/>
                  </a:lnTo>
                  <a:lnTo>
                    <a:pt x="399248" y="302825"/>
                  </a:lnTo>
                  <a:lnTo>
                    <a:pt x="374421" y="341873"/>
                  </a:lnTo>
                  <a:lnTo>
                    <a:pt x="341852" y="374437"/>
                  </a:lnTo>
                  <a:lnTo>
                    <a:pt x="302802" y="399256"/>
                  </a:lnTo>
                  <a:lnTo>
                    <a:pt x="258535" y="415072"/>
                  </a:lnTo>
                  <a:lnTo>
                    <a:pt x="210311" y="420624"/>
                  </a:lnTo>
                  <a:lnTo>
                    <a:pt x="162088" y="415072"/>
                  </a:lnTo>
                  <a:lnTo>
                    <a:pt x="117821" y="399256"/>
                  </a:lnTo>
                  <a:lnTo>
                    <a:pt x="78771" y="374437"/>
                  </a:lnTo>
                  <a:lnTo>
                    <a:pt x="46202" y="341873"/>
                  </a:lnTo>
                  <a:lnTo>
                    <a:pt x="21375" y="302825"/>
                  </a:lnTo>
                  <a:lnTo>
                    <a:pt x="5554" y="258551"/>
                  </a:lnTo>
                  <a:lnTo>
                    <a:pt x="0" y="210312"/>
                  </a:lnTo>
                  <a:close/>
                </a:path>
              </a:pathLst>
            </a:custGeom>
            <a:ln w="12700">
              <a:solidFill>
                <a:srgbClr val="C8A84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426821" y="1723855"/>
            <a:ext cx="116205" cy="23939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50" b="1">
                <a:solidFill>
                  <a:srgbClr val="1B2A49"/>
                </a:solidFill>
                <a:latin typeface="Calibri"/>
                <a:cs typeface="Calibri"/>
              </a:rPr>
              <a:t>1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01700" y="1694899"/>
            <a:ext cx="1221740" cy="193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b="1">
                <a:solidFill>
                  <a:srgbClr val="1B2A49"/>
                </a:solidFill>
                <a:latin typeface="Calibri"/>
                <a:cs typeface="Calibri"/>
              </a:rPr>
              <a:t>5</a:t>
            </a:r>
            <a:r>
              <a:rPr dirty="0" sz="1100" spc="-5" b="1">
                <a:solidFill>
                  <a:srgbClr val="1B2A49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1B2A49"/>
                </a:solidFill>
                <a:latin typeface="Calibri"/>
                <a:cs typeface="Calibri"/>
              </a:rPr>
              <a:t>Requisitos</a:t>
            </a:r>
            <a:r>
              <a:rPr dirty="0" sz="1100" spc="-35" b="1">
                <a:solidFill>
                  <a:srgbClr val="1B2A49"/>
                </a:solidFill>
                <a:latin typeface="Calibri"/>
                <a:cs typeface="Calibri"/>
              </a:rPr>
              <a:t> </a:t>
            </a:r>
            <a:r>
              <a:rPr dirty="0" sz="1100" spc="-10" b="1">
                <a:solidFill>
                  <a:srgbClr val="1B2A49"/>
                </a:solidFill>
                <a:latin typeface="Calibri"/>
                <a:cs typeface="Calibri"/>
              </a:rPr>
              <a:t>críticos: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142614" y="1682707"/>
            <a:ext cx="5285105" cy="3467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RF01</a:t>
            </a:r>
            <a:r>
              <a:rPr dirty="0" sz="1050" spc="-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Registrar</a:t>
            </a:r>
            <a:r>
              <a:rPr dirty="0" sz="1050" spc="-2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usuario</a:t>
            </a:r>
            <a:r>
              <a:rPr dirty="0" sz="1050" spc="-3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·</a:t>
            </a:r>
            <a:r>
              <a:rPr dirty="0" sz="1050" spc="-2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RF02 Vincular</a:t>
            </a:r>
            <a:r>
              <a:rPr dirty="0" sz="1050" spc="-2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cuenta</a:t>
            </a:r>
            <a:r>
              <a:rPr dirty="0" sz="1050" spc="-2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·</a:t>
            </a:r>
            <a:r>
              <a:rPr dirty="0" sz="1050" spc="-1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RF03 Pago</a:t>
            </a:r>
            <a:r>
              <a:rPr dirty="0" sz="1050" spc="-1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P2P</a:t>
            </a:r>
            <a:r>
              <a:rPr dirty="0" sz="1050" spc="-2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·</a:t>
            </a:r>
            <a:r>
              <a:rPr dirty="0" sz="1050" spc="-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RF04</a:t>
            </a:r>
            <a:r>
              <a:rPr dirty="0" sz="1050" spc="-1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Historial</a:t>
            </a:r>
            <a:r>
              <a:rPr dirty="0" sz="1050" spc="-3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·</a:t>
            </a:r>
            <a:r>
              <a:rPr dirty="0" sz="1050" spc="-1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RF05 </a:t>
            </a:r>
            <a:r>
              <a:rPr dirty="0" sz="1050" spc="-10">
                <a:solidFill>
                  <a:srgbClr val="1A1A2D"/>
                </a:solidFill>
                <a:latin typeface="Calibri"/>
                <a:cs typeface="Calibri"/>
              </a:rPr>
              <a:t>Bloqueo</a:t>
            </a:r>
            <a:r>
              <a:rPr dirty="0" sz="1050" spc="-3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 spc="-25">
                <a:solidFill>
                  <a:srgbClr val="1A1A2D"/>
                </a:solidFill>
                <a:latin typeface="Calibri"/>
                <a:cs typeface="Calibri"/>
              </a:rPr>
              <a:t>por </a:t>
            </a:r>
            <a:r>
              <a:rPr dirty="0" sz="1050" spc="-10">
                <a:solidFill>
                  <a:srgbClr val="1A1A2D"/>
                </a:solidFill>
                <a:latin typeface="Calibri"/>
                <a:cs typeface="Calibri"/>
              </a:rPr>
              <a:t>fraude.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67970" y="2424514"/>
            <a:ext cx="433705" cy="433705"/>
            <a:chOff x="267970" y="2334514"/>
            <a:chExt cx="433705" cy="433705"/>
          </a:xfrm>
        </p:grpSpPr>
        <p:sp>
          <p:nvSpPr>
            <p:cNvPr id="13" name="object 13"/>
            <p:cNvSpPr/>
            <p:nvPr/>
          </p:nvSpPr>
          <p:spPr>
            <a:xfrm>
              <a:off x="274320" y="2340864"/>
              <a:ext cx="421005" cy="421005"/>
            </a:xfrm>
            <a:custGeom>
              <a:avLst/>
              <a:gdLst/>
              <a:ahLst/>
              <a:cxnLst/>
              <a:rect l="l" t="t" r="r" b="b"/>
              <a:pathLst>
                <a:path w="421005" h="421005">
                  <a:moveTo>
                    <a:pt x="210311" y="0"/>
                  </a:moveTo>
                  <a:lnTo>
                    <a:pt x="162088" y="5551"/>
                  </a:lnTo>
                  <a:lnTo>
                    <a:pt x="117821" y="21367"/>
                  </a:lnTo>
                  <a:lnTo>
                    <a:pt x="78771" y="46186"/>
                  </a:lnTo>
                  <a:lnTo>
                    <a:pt x="46202" y="78750"/>
                  </a:lnTo>
                  <a:lnTo>
                    <a:pt x="21375" y="117798"/>
                  </a:lnTo>
                  <a:lnTo>
                    <a:pt x="5554" y="162072"/>
                  </a:lnTo>
                  <a:lnTo>
                    <a:pt x="0" y="210312"/>
                  </a:lnTo>
                  <a:lnTo>
                    <a:pt x="5554" y="258551"/>
                  </a:lnTo>
                  <a:lnTo>
                    <a:pt x="21375" y="302825"/>
                  </a:lnTo>
                  <a:lnTo>
                    <a:pt x="46202" y="341873"/>
                  </a:lnTo>
                  <a:lnTo>
                    <a:pt x="78771" y="374437"/>
                  </a:lnTo>
                  <a:lnTo>
                    <a:pt x="117821" y="399256"/>
                  </a:lnTo>
                  <a:lnTo>
                    <a:pt x="162088" y="415072"/>
                  </a:lnTo>
                  <a:lnTo>
                    <a:pt x="210311" y="420624"/>
                  </a:lnTo>
                  <a:lnTo>
                    <a:pt x="258535" y="415072"/>
                  </a:lnTo>
                  <a:lnTo>
                    <a:pt x="302802" y="399256"/>
                  </a:lnTo>
                  <a:lnTo>
                    <a:pt x="341852" y="374437"/>
                  </a:lnTo>
                  <a:lnTo>
                    <a:pt x="374421" y="341873"/>
                  </a:lnTo>
                  <a:lnTo>
                    <a:pt x="399248" y="302825"/>
                  </a:lnTo>
                  <a:lnTo>
                    <a:pt x="415069" y="258551"/>
                  </a:lnTo>
                  <a:lnTo>
                    <a:pt x="420623" y="210312"/>
                  </a:lnTo>
                  <a:lnTo>
                    <a:pt x="415069" y="162072"/>
                  </a:lnTo>
                  <a:lnTo>
                    <a:pt x="399248" y="117798"/>
                  </a:lnTo>
                  <a:lnTo>
                    <a:pt x="374421" y="78750"/>
                  </a:lnTo>
                  <a:lnTo>
                    <a:pt x="341852" y="46186"/>
                  </a:lnTo>
                  <a:lnTo>
                    <a:pt x="302802" y="21367"/>
                  </a:lnTo>
                  <a:lnTo>
                    <a:pt x="258535" y="5551"/>
                  </a:lnTo>
                  <a:lnTo>
                    <a:pt x="210311" y="0"/>
                  </a:lnTo>
                  <a:close/>
                </a:path>
              </a:pathLst>
            </a:custGeom>
            <a:solidFill>
              <a:srgbClr val="C8A84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274320" y="2340864"/>
              <a:ext cx="421005" cy="421005"/>
            </a:xfrm>
            <a:custGeom>
              <a:avLst/>
              <a:gdLst/>
              <a:ahLst/>
              <a:cxnLst/>
              <a:rect l="l" t="t" r="r" b="b"/>
              <a:pathLst>
                <a:path w="421005" h="421005">
                  <a:moveTo>
                    <a:pt x="0" y="210312"/>
                  </a:moveTo>
                  <a:lnTo>
                    <a:pt x="5554" y="162072"/>
                  </a:lnTo>
                  <a:lnTo>
                    <a:pt x="21375" y="117798"/>
                  </a:lnTo>
                  <a:lnTo>
                    <a:pt x="46202" y="78750"/>
                  </a:lnTo>
                  <a:lnTo>
                    <a:pt x="78771" y="46186"/>
                  </a:lnTo>
                  <a:lnTo>
                    <a:pt x="117821" y="21367"/>
                  </a:lnTo>
                  <a:lnTo>
                    <a:pt x="162088" y="5551"/>
                  </a:lnTo>
                  <a:lnTo>
                    <a:pt x="210311" y="0"/>
                  </a:lnTo>
                  <a:lnTo>
                    <a:pt x="258535" y="5551"/>
                  </a:lnTo>
                  <a:lnTo>
                    <a:pt x="302802" y="21367"/>
                  </a:lnTo>
                  <a:lnTo>
                    <a:pt x="341852" y="46186"/>
                  </a:lnTo>
                  <a:lnTo>
                    <a:pt x="374421" y="78750"/>
                  </a:lnTo>
                  <a:lnTo>
                    <a:pt x="399248" y="117798"/>
                  </a:lnTo>
                  <a:lnTo>
                    <a:pt x="415069" y="162072"/>
                  </a:lnTo>
                  <a:lnTo>
                    <a:pt x="420623" y="210312"/>
                  </a:lnTo>
                  <a:lnTo>
                    <a:pt x="415069" y="258551"/>
                  </a:lnTo>
                  <a:lnTo>
                    <a:pt x="399248" y="302825"/>
                  </a:lnTo>
                  <a:lnTo>
                    <a:pt x="374421" y="341873"/>
                  </a:lnTo>
                  <a:lnTo>
                    <a:pt x="341852" y="374437"/>
                  </a:lnTo>
                  <a:lnTo>
                    <a:pt x="302802" y="399256"/>
                  </a:lnTo>
                  <a:lnTo>
                    <a:pt x="258535" y="415072"/>
                  </a:lnTo>
                  <a:lnTo>
                    <a:pt x="210311" y="420624"/>
                  </a:lnTo>
                  <a:lnTo>
                    <a:pt x="162088" y="415072"/>
                  </a:lnTo>
                  <a:lnTo>
                    <a:pt x="117821" y="399256"/>
                  </a:lnTo>
                  <a:lnTo>
                    <a:pt x="78771" y="374437"/>
                  </a:lnTo>
                  <a:lnTo>
                    <a:pt x="46202" y="341873"/>
                  </a:lnTo>
                  <a:lnTo>
                    <a:pt x="21375" y="302825"/>
                  </a:lnTo>
                  <a:lnTo>
                    <a:pt x="5554" y="258551"/>
                  </a:lnTo>
                  <a:lnTo>
                    <a:pt x="0" y="210312"/>
                  </a:lnTo>
                  <a:close/>
                </a:path>
              </a:pathLst>
            </a:custGeom>
            <a:ln w="12700">
              <a:solidFill>
                <a:srgbClr val="C8A84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426821" y="2509934"/>
            <a:ext cx="116205" cy="24002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50" b="1">
                <a:solidFill>
                  <a:srgbClr val="1B2A49"/>
                </a:solidFill>
                <a:latin typeface="Calibri"/>
                <a:cs typeface="Calibri"/>
              </a:rPr>
              <a:t>2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01700" y="2480978"/>
            <a:ext cx="1127125" cy="1943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 b="1">
                <a:solidFill>
                  <a:srgbClr val="1B2A49"/>
                </a:solidFill>
                <a:latin typeface="Calibri"/>
                <a:cs typeface="Calibri"/>
              </a:rPr>
              <a:t>Análisis</a:t>
            </a:r>
            <a:r>
              <a:rPr dirty="0" sz="1100" spc="-30" b="1">
                <a:solidFill>
                  <a:srgbClr val="1B2A49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1B2A49"/>
                </a:solidFill>
                <a:latin typeface="Calibri"/>
                <a:cs typeface="Calibri"/>
              </a:rPr>
              <a:t>de</a:t>
            </a:r>
            <a:r>
              <a:rPr dirty="0" sz="1100" spc="5" b="1">
                <a:solidFill>
                  <a:srgbClr val="1B2A49"/>
                </a:solidFill>
                <a:latin typeface="Calibri"/>
                <a:cs typeface="Calibri"/>
              </a:rPr>
              <a:t> </a:t>
            </a:r>
            <a:r>
              <a:rPr dirty="0" sz="1100" spc="-10" b="1">
                <a:solidFill>
                  <a:srgbClr val="1B2A49"/>
                </a:solidFill>
                <a:latin typeface="Calibri"/>
                <a:cs typeface="Calibri"/>
              </a:rPr>
              <a:t>riesgos: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142614" y="2468786"/>
            <a:ext cx="4792980" cy="34734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Para</a:t>
            </a:r>
            <a:r>
              <a:rPr dirty="0" sz="1050" spc="-4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cada</a:t>
            </a:r>
            <a:r>
              <a:rPr dirty="0" sz="1050" spc="-1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RF,</a:t>
            </a:r>
            <a:r>
              <a:rPr dirty="0" sz="1050" spc="-1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identificar</a:t>
            </a:r>
            <a:r>
              <a:rPr dirty="0" sz="1050" spc="-3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posible</a:t>
            </a:r>
            <a:r>
              <a:rPr dirty="0" sz="1050" spc="-2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defecto</a:t>
            </a:r>
            <a:r>
              <a:rPr dirty="0" sz="1050" spc="-2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por</a:t>
            </a:r>
            <a:r>
              <a:rPr dirty="0" sz="1050" spc="-3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ambigüedad,</a:t>
            </a:r>
            <a:r>
              <a:rPr dirty="0" sz="1050" spc="-2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omisión</a:t>
            </a:r>
            <a:r>
              <a:rPr dirty="0" sz="1050" spc="-2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o</a:t>
            </a:r>
            <a:r>
              <a:rPr dirty="0" sz="1050" spc="-3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inconsistencia</a:t>
            </a:r>
            <a:r>
              <a:rPr dirty="0" sz="1050" spc="-1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en</a:t>
            </a:r>
            <a:r>
              <a:rPr dirty="0" sz="1050" spc="-1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 spc="-25">
                <a:solidFill>
                  <a:srgbClr val="1A1A2D"/>
                </a:solidFill>
                <a:latin typeface="Calibri"/>
                <a:cs typeface="Calibri"/>
              </a:rPr>
              <a:t>la</a:t>
            </a:r>
            <a:endParaRPr sz="105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050" spc="-10">
                <a:solidFill>
                  <a:srgbClr val="1A1A2D"/>
                </a:solidFill>
                <a:latin typeface="Calibri"/>
                <a:cs typeface="Calibri"/>
              </a:rPr>
              <a:t>especificación.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267970" y="3210898"/>
            <a:ext cx="433705" cy="433705"/>
            <a:chOff x="267970" y="3120898"/>
            <a:chExt cx="433705" cy="433705"/>
          </a:xfrm>
        </p:grpSpPr>
        <p:sp>
          <p:nvSpPr>
            <p:cNvPr id="19" name="object 19"/>
            <p:cNvSpPr/>
            <p:nvPr/>
          </p:nvSpPr>
          <p:spPr>
            <a:xfrm>
              <a:off x="274320" y="3127248"/>
              <a:ext cx="421005" cy="421005"/>
            </a:xfrm>
            <a:custGeom>
              <a:avLst/>
              <a:gdLst/>
              <a:ahLst/>
              <a:cxnLst/>
              <a:rect l="l" t="t" r="r" b="b"/>
              <a:pathLst>
                <a:path w="421005" h="421004">
                  <a:moveTo>
                    <a:pt x="210311" y="0"/>
                  </a:moveTo>
                  <a:lnTo>
                    <a:pt x="162088" y="5551"/>
                  </a:lnTo>
                  <a:lnTo>
                    <a:pt x="117821" y="21367"/>
                  </a:lnTo>
                  <a:lnTo>
                    <a:pt x="78771" y="46186"/>
                  </a:lnTo>
                  <a:lnTo>
                    <a:pt x="46202" y="78750"/>
                  </a:lnTo>
                  <a:lnTo>
                    <a:pt x="21375" y="117798"/>
                  </a:lnTo>
                  <a:lnTo>
                    <a:pt x="5554" y="162072"/>
                  </a:lnTo>
                  <a:lnTo>
                    <a:pt x="0" y="210312"/>
                  </a:lnTo>
                  <a:lnTo>
                    <a:pt x="5554" y="258551"/>
                  </a:lnTo>
                  <a:lnTo>
                    <a:pt x="21375" y="302825"/>
                  </a:lnTo>
                  <a:lnTo>
                    <a:pt x="46202" y="341873"/>
                  </a:lnTo>
                  <a:lnTo>
                    <a:pt x="78771" y="374437"/>
                  </a:lnTo>
                  <a:lnTo>
                    <a:pt x="117821" y="399256"/>
                  </a:lnTo>
                  <a:lnTo>
                    <a:pt x="162088" y="415072"/>
                  </a:lnTo>
                  <a:lnTo>
                    <a:pt x="210311" y="420623"/>
                  </a:lnTo>
                  <a:lnTo>
                    <a:pt x="258535" y="415072"/>
                  </a:lnTo>
                  <a:lnTo>
                    <a:pt x="302802" y="399256"/>
                  </a:lnTo>
                  <a:lnTo>
                    <a:pt x="341852" y="374437"/>
                  </a:lnTo>
                  <a:lnTo>
                    <a:pt x="374421" y="341873"/>
                  </a:lnTo>
                  <a:lnTo>
                    <a:pt x="399248" y="302825"/>
                  </a:lnTo>
                  <a:lnTo>
                    <a:pt x="415069" y="258551"/>
                  </a:lnTo>
                  <a:lnTo>
                    <a:pt x="420623" y="210312"/>
                  </a:lnTo>
                  <a:lnTo>
                    <a:pt x="415069" y="162072"/>
                  </a:lnTo>
                  <a:lnTo>
                    <a:pt x="399248" y="117798"/>
                  </a:lnTo>
                  <a:lnTo>
                    <a:pt x="374421" y="78750"/>
                  </a:lnTo>
                  <a:lnTo>
                    <a:pt x="341852" y="46186"/>
                  </a:lnTo>
                  <a:lnTo>
                    <a:pt x="302802" y="21367"/>
                  </a:lnTo>
                  <a:lnTo>
                    <a:pt x="258535" y="5551"/>
                  </a:lnTo>
                  <a:lnTo>
                    <a:pt x="210311" y="0"/>
                  </a:lnTo>
                  <a:close/>
                </a:path>
              </a:pathLst>
            </a:custGeom>
            <a:solidFill>
              <a:srgbClr val="C8A84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274320" y="3127248"/>
              <a:ext cx="421005" cy="421005"/>
            </a:xfrm>
            <a:custGeom>
              <a:avLst/>
              <a:gdLst/>
              <a:ahLst/>
              <a:cxnLst/>
              <a:rect l="l" t="t" r="r" b="b"/>
              <a:pathLst>
                <a:path w="421005" h="421004">
                  <a:moveTo>
                    <a:pt x="0" y="210312"/>
                  </a:moveTo>
                  <a:lnTo>
                    <a:pt x="5554" y="162072"/>
                  </a:lnTo>
                  <a:lnTo>
                    <a:pt x="21375" y="117798"/>
                  </a:lnTo>
                  <a:lnTo>
                    <a:pt x="46202" y="78750"/>
                  </a:lnTo>
                  <a:lnTo>
                    <a:pt x="78771" y="46186"/>
                  </a:lnTo>
                  <a:lnTo>
                    <a:pt x="117821" y="21367"/>
                  </a:lnTo>
                  <a:lnTo>
                    <a:pt x="162088" y="5551"/>
                  </a:lnTo>
                  <a:lnTo>
                    <a:pt x="210311" y="0"/>
                  </a:lnTo>
                  <a:lnTo>
                    <a:pt x="258535" y="5551"/>
                  </a:lnTo>
                  <a:lnTo>
                    <a:pt x="302802" y="21367"/>
                  </a:lnTo>
                  <a:lnTo>
                    <a:pt x="341852" y="46186"/>
                  </a:lnTo>
                  <a:lnTo>
                    <a:pt x="374421" y="78750"/>
                  </a:lnTo>
                  <a:lnTo>
                    <a:pt x="399248" y="117798"/>
                  </a:lnTo>
                  <a:lnTo>
                    <a:pt x="415069" y="162072"/>
                  </a:lnTo>
                  <a:lnTo>
                    <a:pt x="420623" y="210312"/>
                  </a:lnTo>
                  <a:lnTo>
                    <a:pt x="415069" y="258551"/>
                  </a:lnTo>
                  <a:lnTo>
                    <a:pt x="399248" y="302825"/>
                  </a:lnTo>
                  <a:lnTo>
                    <a:pt x="374421" y="341873"/>
                  </a:lnTo>
                  <a:lnTo>
                    <a:pt x="341852" y="374437"/>
                  </a:lnTo>
                  <a:lnTo>
                    <a:pt x="302802" y="399256"/>
                  </a:lnTo>
                  <a:lnTo>
                    <a:pt x="258535" y="415072"/>
                  </a:lnTo>
                  <a:lnTo>
                    <a:pt x="210311" y="420623"/>
                  </a:lnTo>
                  <a:lnTo>
                    <a:pt x="162088" y="415072"/>
                  </a:lnTo>
                  <a:lnTo>
                    <a:pt x="117821" y="399256"/>
                  </a:lnTo>
                  <a:lnTo>
                    <a:pt x="78771" y="374437"/>
                  </a:lnTo>
                  <a:lnTo>
                    <a:pt x="46202" y="341873"/>
                  </a:lnTo>
                  <a:lnTo>
                    <a:pt x="21375" y="302825"/>
                  </a:lnTo>
                  <a:lnTo>
                    <a:pt x="5554" y="258551"/>
                  </a:lnTo>
                  <a:lnTo>
                    <a:pt x="0" y="210312"/>
                  </a:lnTo>
                  <a:close/>
                </a:path>
              </a:pathLst>
            </a:custGeom>
            <a:ln w="12700">
              <a:solidFill>
                <a:srgbClr val="C8A84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426821" y="3296877"/>
            <a:ext cx="11620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0" b="1">
                <a:solidFill>
                  <a:srgbClr val="1B2A49"/>
                </a:solidFill>
                <a:latin typeface="Calibri"/>
                <a:cs typeface="Calibri"/>
              </a:rPr>
              <a:t>3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01700" y="3267921"/>
            <a:ext cx="127063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solidFill>
                  <a:srgbClr val="1B2A49"/>
                </a:solidFill>
                <a:latin typeface="Calibri"/>
                <a:cs typeface="Calibri"/>
              </a:rPr>
              <a:t>Vinculación</a:t>
            </a:r>
            <a:r>
              <a:rPr dirty="0" sz="1100" spc="-55" b="1">
                <a:solidFill>
                  <a:srgbClr val="1B2A49"/>
                </a:solidFill>
                <a:latin typeface="Calibri"/>
                <a:cs typeface="Calibri"/>
              </a:rPr>
              <a:t> </a:t>
            </a:r>
            <a:r>
              <a:rPr dirty="0" sz="1100" spc="-10" b="1">
                <a:solidFill>
                  <a:srgbClr val="1B2A49"/>
                </a:solidFill>
                <a:latin typeface="Calibri"/>
                <a:cs typeface="Calibri"/>
              </a:rPr>
              <a:t>métricas: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142614" y="3335866"/>
            <a:ext cx="4958715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Impacto</a:t>
            </a:r>
            <a:r>
              <a:rPr dirty="0" sz="1050" spc="-3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en:</a:t>
            </a:r>
            <a:r>
              <a:rPr dirty="0" sz="1050" spc="-2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densidad</a:t>
            </a:r>
            <a:r>
              <a:rPr dirty="0" sz="1050" spc="-4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de</a:t>
            </a:r>
            <a:r>
              <a:rPr dirty="0" sz="1050" spc="-1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defectos,</a:t>
            </a:r>
            <a:r>
              <a:rPr dirty="0" sz="1050" spc="-1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porcentaje</a:t>
            </a:r>
            <a:r>
              <a:rPr dirty="0" sz="1050" spc="-3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de</a:t>
            </a:r>
            <a:r>
              <a:rPr dirty="0" sz="1050" spc="-2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costo</a:t>
            </a:r>
            <a:r>
              <a:rPr dirty="0" sz="1050" spc="-1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de</a:t>
            </a:r>
            <a:r>
              <a:rPr dirty="0" sz="1050" spc="-2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calidad</a:t>
            </a:r>
            <a:r>
              <a:rPr dirty="0" sz="1050" spc="-2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y</a:t>
            </a:r>
            <a:r>
              <a:rPr dirty="0" sz="1050" spc="-2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satisfacción</a:t>
            </a:r>
            <a:r>
              <a:rPr dirty="0" sz="1050" spc="-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del</a:t>
            </a:r>
            <a:r>
              <a:rPr dirty="0" sz="1050" spc="-2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1A1A2D"/>
                </a:solidFill>
                <a:latin typeface="Calibri"/>
                <a:cs typeface="Calibri"/>
              </a:rPr>
              <a:t>cliente.</a:t>
            </a:r>
            <a:endParaRPr sz="1050">
              <a:latin typeface="Calibri"/>
              <a:cs typeface="Calibr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267970" y="3997282"/>
            <a:ext cx="433705" cy="433705"/>
            <a:chOff x="267970" y="3907282"/>
            <a:chExt cx="433705" cy="433705"/>
          </a:xfrm>
        </p:grpSpPr>
        <p:sp>
          <p:nvSpPr>
            <p:cNvPr id="25" name="object 25"/>
            <p:cNvSpPr/>
            <p:nvPr/>
          </p:nvSpPr>
          <p:spPr>
            <a:xfrm>
              <a:off x="274320" y="3913632"/>
              <a:ext cx="421005" cy="421005"/>
            </a:xfrm>
            <a:custGeom>
              <a:avLst/>
              <a:gdLst/>
              <a:ahLst/>
              <a:cxnLst/>
              <a:rect l="l" t="t" r="r" b="b"/>
              <a:pathLst>
                <a:path w="421005" h="421004">
                  <a:moveTo>
                    <a:pt x="210311" y="0"/>
                  </a:moveTo>
                  <a:lnTo>
                    <a:pt x="162088" y="5554"/>
                  </a:lnTo>
                  <a:lnTo>
                    <a:pt x="117821" y="21375"/>
                  </a:lnTo>
                  <a:lnTo>
                    <a:pt x="78771" y="46202"/>
                  </a:lnTo>
                  <a:lnTo>
                    <a:pt x="46202" y="78771"/>
                  </a:lnTo>
                  <a:lnTo>
                    <a:pt x="21375" y="117821"/>
                  </a:lnTo>
                  <a:lnTo>
                    <a:pt x="5554" y="162088"/>
                  </a:lnTo>
                  <a:lnTo>
                    <a:pt x="0" y="210312"/>
                  </a:lnTo>
                  <a:lnTo>
                    <a:pt x="5554" y="258535"/>
                  </a:lnTo>
                  <a:lnTo>
                    <a:pt x="21375" y="302802"/>
                  </a:lnTo>
                  <a:lnTo>
                    <a:pt x="46202" y="341852"/>
                  </a:lnTo>
                  <a:lnTo>
                    <a:pt x="78771" y="374421"/>
                  </a:lnTo>
                  <a:lnTo>
                    <a:pt x="117821" y="399248"/>
                  </a:lnTo>
                  <a:lnTo>
                    <a:pt x="162088" y="415069"/>
                  </a:lnTo>
                  <a:lnTo>
                    <a:pt x="210311" y="420624"/>
                  </a:lnTo>
                  <a:lnTo>
                    <a:pt x="258535" y="415069"/>
                  </a:lnTo>
                  <a:lnTo>
                    <a:pt x="302802" y="399248"/>
                  </a:lnTo>
                  <a:lnTo>
                    <a:pt x="341852" y="374421"/>
                  </a:lnTo>
                  <a:lnTo>
                    <a:pt x="374421" y="341852"/>
                  </a:lnTo>
                  <a:lnTo>
                    <a:pt x="399248" y="302802"/>
                  </a:lnTo>
                  <a:lnTo>
                    <a:pt x="415069" y="258535"/>
                  </a:lnTo>
                  <a:lnTo>
                    <a:pt x="420623" y="210312"/>
                  </a:lnTo>
                  <a:lnTo>
                    <a:pt x="415069" y="162088"/>
                  </a:lnTo>
                  <a:lnTo>
                    <a:pt x="399248" y="117821"/>
                  </a:lnTo>
                  <a:lnTo>
                    <a:pt x="374421" y="78771"/>
                  </a:lnTo>
                  <a:lnTo>
                    <a:pt x="341852" y="46202"/>
                  </a:lnTo>
                  <a:lnTo>
                    <a:pt x="302802" y="21375"/>
                  </a:lnTo>
                  <a:lnTo>
                    <a:pt x="258535" y="5554"/>
                  </a:lnTo>
                  <a:lnTo>
                    <a:pt x="210311" y="0"/>
                  </a:lnTo>
                  <a:close/>
                </a:path>
              </a:pathLst>
            </a:custGeom>
            <a:solidFill>
              <a:srgbClr val="C8A84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274320" y="3913632"/>
              <a:ext cx="421005" cy="421005"/>
            </a:xfrm>
            <a:custGeom>
              <a:avLst/>
              <a:gdLst/>
              <a:ahLst/>
              <a:cxnLst/>
              <a:rect l="l" t="t" r="r" b="b"/>
              <a:pathLst>
                <a:path w="421005" h="421004">
                  <a:moveTo>
                    <a:pt x="0" y="210312"/>
                  </a:moveTo>
                  <a:lnTo>
                    <a:pt x="5554" y="162088"/>
                  </a:lnTo>
                  <a:lnTo>
                    <a:pt x="21375" y="117821"/>
                  </a:lnTo>
                  <a:lnTo>
                    <a:pt x="46202" y="78771"/>
                  </a:lnTo>
                  <a:lnTo>
                    <a:pt x="78771" y="46202"/>
                  </a:lnTo>
                  <a:lnTo>
                    <a:pt x="117821" y="21375"/>
                  </a:lnTo>
                  <a:lnTo>
                    <a:pt x="162088" y="5554"/>
                  </a:lnTo>
                  <a:lnTo>
                    <a:pt x="210311" y="0"/>
                  </a:lnTo>
                  <a:lnTo>
                    <a:pt x="258535" y="5554"/>
                  </a:lnTo>
                  <a:lnTo>
                    <a:pt x="302802" y="21375"/>
                  </a:lnTo>
                  <a:lnTo>
                    <a:pt x="341852" y="46202"/>
                  </a:lnTo>
                  <a:lnTo>
                    <a:pt x="374421" y="78771"/>
                  </a:lnTo>
                  <a:lnTo>
                    <a:pt x="399248" y="117821"/>
                  </a:lnTo>
                  <a:lnTo>
                    <a:pt x="415069" y="162088"/>
                  </a:lnTo>
                  <a:lnTo>
                    <a:pt x="420623" y="210312"/>
                  </a:lnTo>
                  <a:lnTo>
                    <a:pt x="415069" y="258535"/>
                  </a:lnTo>
                  <a:lnTo>
                    <a:pt x="399248" y="302802"/>
                  </a:lnTo>
                  <a:lnTo>
                    <a:pt x="374421" y="341852"/>
                  </a:lnTo>
                  <a:lnTo>
                    <a:pt x="341852" y="374421"/>
                  </a:lnTo>
                  <a:lnTo>
                    <a:pt x="302802" y="399248"/>
                  </a:lnTo>
                  <a:lnTo>
                    <a:pt x="258535" y="415069"/>
                  </a:lnTo>
                  <a:lnTo>
                    <a:pt x="210311" y="420624"/>
                  </a:lnTo>
                  <a:lnTo>
                    <a:pt x="162088" y="415069"/>
                  </a:lnTo>
                  <a:lnTo>
                    <a:pt x="117821" y="399248"/>
                  </a:lnTo>
                  <a:lnTo>
                    <a:pt x="78771" y="374421"/>
                  </a:lnTo>
                  <a:lnTo>
                    <a:pt x="46202" y="341852"/>
                  </a:lnTo>
                  <a:lnTo>
                    <a:pt x="21375" y="302802"/>
                  </a:lnTo>
                  <a:lnTo>
                    <a:pt x="5554" y="258535"/>
                  </a:lnTo>
                  <a:lnTo>
                    <a:pt x="0" y="210312"/>
                  </a:lnTo>
                  <a:close/>
                </a:path>
              </a:pathLst>
            </a:custGeom>
            <a:ln w="12700">
              <a:solidFill>
                <a:srgbClr val="C8A84B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426821" y="4083591"/>
            <a:ext cx="11620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0" b="1">
                <a:solidFill>
                  <a:srgbClr val="1B2A49"/>
                </a:solidFill>
                <a:latin typeface="Calibri"/>
                <a:cs typeface="Calibri"/>
              </a:rPr>
              <a:t>4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901700" y="4054635"/>
            <a:ext cx="120078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b="1">
                <a:solidFill>
                  <a:srgbClr val="1B2A49"/>
                </a:solidFill>
                <a:latin typeface="Calibri"/>
                <a:cs typeface="Calibri"/>
              </a:rPr>
              <a:t>Acciones</a:t>
            </a:r>
            <a:r>
              <a:rPr dirty="0" sz="1100" spc="-40" b="1">
                <a:solidFill>
                  <a:srgbClr val="1B2A49"/>
                </a:solidFill>
                <a:latin typeface="Calibri"/>
                <a:cs typeface="Calibri"/>
              </a:rPr>
              <a:t> </a:t>
            </a:r>
            <a:r>
              <a:rPr dirty="0" sz="1100" b="1">
                <a:solidFill>
                  <a:srgbClr val="1B2A49"/>
                </a:solidFill>
                <a:latin typeface="Calibri"/>
                <a:cs typeface="Calibri"/>
              </a:rPr>
              <a:t>de</a:t>
            </a:r>
            <a:r>
              <a:rPr dirty="0" sz="1100" spc="-15" b="1">
                <a:solidFill>
                  <a:srgbClr val="1B2A49"/>
                </a:solidFill>
                <a:latin typeface="Calibri"/>
                <a:cs typeface="Calibri"/>
              </a:rPr>
              <a:t> </a:t>
            </a:r>
            <a:r>
              <a:rPr dirty="0" sz="1100" spc="-10" b="1">
                <a:solidFill>
                  <a:srgbClr val="1B2A49"/>
                </a:solidFill>
                <a:latin typeface="Calibri"/>
                <a:cs typeface="Calibri"/>
              </a:rPr>
              <a:t>mejora: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142614" y="4121996"/>
            <a:ext cx="5518785" cy="1873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3</a:t>
            </a:r>
            <a:r>
              <a:rPr dirty="0" sz="1050" spc="-2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acciones</a:t>
            </a:r>
            <a:r>
              <a:rPr dirty="0" sz="1050" spc="-2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alineadas</a:t>
            </a:r>
            <a:r>
              <a:rPr dirty="0" sz="1050" spc="-5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con</a:t>
            </a:r>
            <a:r>
              <a:rPr dirty="0" sz="1050" spc="-2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CMMI</a:t>
            </a:r>
            <a:r>
              <a:rPr dirty="0" sz="1050" spc="-3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o</a:t>
            </a:r>
            <a:r>
              <a:rPr dirty="0" sz="1050" spc="-2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ISO/IEC</a:t>
            </a:r>
            <a:r>
              <a:rPr dirty="0" sz="1050" spc="-3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12207:</a:t>
            </a:r>
            <a:r>
              <a:rPr dirty="0" sz="1050" spc="-3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plantillas,</a:t>
            </a:r>
            <a:r>
              <a:rPr dirty="0" sz="1050" spc="-4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revisiones</a:t>
            </a:r>
            <a:r>
              <a:rPr dirty="0" sz="1050" spc="-4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de</a:t>
            </a:r>
            <a:r>
              <a:rPr dirty="0" sz="1050" spc="-1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pares,</a:t>
            </a:r>
            <a:r>
              <a:rPr dirty="0" sz="1050" spc="-4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>
                <a:solidFill>
                  <a:srgbClr val="1A1A2D"/>
                </a:solidFill>
                <a:latin typeface="Calibri"/>
                <a:cs typeface="Calibri"/>
              </a:rPr>
              <a:t>medición</a:t>
            </a:r>
            <a:r>
              <a:rPr dirty="0" sz="1050" spc="-3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050" spc="-10">
                <a:solidFill>
                  <a:srgbClr val="1A1A2D"/>
                </a:solidFill>
                <a:latin typeface="Calibri"/>
                <a:cs typeface="Calibri"/>
              </a:rPr>
              <a:t>sistemática.</a:t>
            </a:r>
            <a:endParaRPr sz="10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7027" y="99440"/>
            <a:ext cx="3126740" cy="1701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950" spc="-10" b="1">
                <a:solidFill>
                  <a:srgbClr val="FFFFFF"/>
                </a:solidFill>
                <a:latin typeface="Calibri"/>
                <a:cs typeface="Calibri"/>
              </a:rPr>
              <a:t>Estándares</a:t>
            </a:r>
            <a:r>
              <a:rPr dirty="0" sz="950" spc="-1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FFFFFF"/>
                </a:solidFill>
                <a:latin typeface="Calibri"/>
                <a:cs typeface="Calibri"/>
              </a:rPr>
              <a:t>y</a:t>
            </a:r>
            <a:r>
              <a:rPr dirty="0" sz="950" spc="-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FFFFFF"/>
                </a:solidFill>
                <a:latin typeface="Calibri"/>
                <a:cs typeface="Calibri"/>
              </a:rPr>
              <a:t>Métricas</a:t>
            </a:r>
            <a:r>
              <a:rPr dirty="0" sz="950" spc="-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dirty="0" sz="950" spc="-1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FFFFFF"/>
                </a:solidFill>
                <a:latin typeface="Calibri"/>
                <a:cs typeface="Calibri"/>
              </a:rPr>
              <a:t>Calidad</a:t>
            </a:r>
            <a:r>
              <a:rPr dirty="0" sz="950" spc="1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FFFFFF"/>
                </a:solidFill>
                <a:latin typeface="Calibri"/>
                <a:cs typeface="Calibri"/>
              </a:rPr>
              <a:t>en</a:t>
            </a:r>
            <a:r>
              <a:rPr dirty="0" sz="950" spc="-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FFFFFF"/>
                </a:solidFill>
                <a:latin typeface="Calibri"/>
                <a:cs typeface="Calibri"/>
              </a:rPr>
              <a:t>el</a:t>
            </a:r>
            <a:r>
              <a:rPr dirty="0" sz="950" spc="-2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FFFFFF"/>
                </a:solidFill>
                <a:latin typeface="Calibri"/>
                <a:cs typeface="Calibri"/>
              </a:rPr>
              <a:t>Desarrollo</a:t>
            </a:r>
            <a:r>
              <a:rPr dirty="0" sz="950" spc="10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b="1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dirty="0" sz="950" spc="-15" b="1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950" spc="-10" b="1">
                <a:solidFill>
                  <a:srgbClr val="FFFFFF"/>
                </a:solidFill>
                <a:latin typeface="Calibri"/>
                <a:cs typeface="Calibri"/>
              </a:rPr>
              <a:t>Software</a:t>
            </a:r>
            <a:endParaRPr sz="950">
              <a:latin typeface="Calibri"/>
              <a:cs typeface="Calibri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-10"/>
              <a:t>Conclusiones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67970" y="1026922"/>
            <a:ext cx="332740" cy="515620"/>
          </a:xfrm>
          <a:prstGeom prst="rect">
            <a:avLst/>
          </a:prstGeom>
          <a:solidFill>
            <a:srgbClr val="1B2A49"/>
          </a:solidFill>
          <a:ln w="3175">
            <a:solidFill>
              <a:srgbClr val="1B2A49"/>
            </a:solidFill>
          </a:ln>
        </p:spPr>
        <p:txBody>
          <a:bodyPr wrap="square" lIns="0" tIns="157480" rIns="0" bIns="0" rtlCol="0" vert="horz">
            <a:spAutoFit/>
          </a:bodyPr>
          <a:lstStyle/>
          <a:p>
            <a:pPr marL="102235">
              <a:lnSpc>
                <a:spcPct val="100000"/>
              </a:lnSpc>
              <a:spcBef>
                <a:spcPts val="1240"/>
              </a:spcBef>
            </a:pPr>
            <a:r>
              <a:rPr dirty="0" sz="1200" spc="-50" b="1">
                <a:solidFill>
                  <a:srgbClr val="C8A84B"/>
                </a:solidFill>
                <a:latin typeface="Segoe UI Symbol"/>
                <a:cs typeface="Segoe UI Symbol"/>
              </a:rPr>
              <a:t>✦</a:t>
            </a:r>
            <a:endParaRPr sz="1200">
              <a:latin typeface="Segoe UI Symbol"/>
              <a:cs typeface="Segoe UI Symbo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91972" y="1136650"/>
            <a:ext cx="7873365" cy="3619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IEEE</a:t>
            </a:r>
            <a:r>
              <a:rPr dirty="0" sz="1100" spc="-2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830</a:t>
            </a:r>
            <a:r>
              <a:rPr dirty="0" sz="1100" spc="-1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+</a:t>
            </a:r>
            <a:r>
              <a:rPr dirty="0" sz="1100" spc="-2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ISO/IEC</a:t>
            </a:r>
            <a:r>
              <a:rPr dirty="0" sz="1100" spc="-3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12207</a:t>
            </a:r>
            <a:r>
              <a:rPr dirty="0" sz="1100" spc="-2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+</a:t>
            </a:r>
            <a:r>
              <a:rPr dirty="0" sz="1100" spc="-1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Modelo</a:t>
            </a:r>
            <a:r>
              <a:rPr dirty="0" sz="1100" spc="-4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procedimental</a:t>
            </a:r>
            <a:r>
              <a:rPr dirty="0" sz="1100" spc="-4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forman</a:t>
            </a:r>
            <a:r>
              <a:rPr dirty="0" sz="1100" spc="-3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un</a:t>
            </a:r>
            <a:r>
              <a:rPr dirty="0" sz="1100" spc="-2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conjunto</a:t>
            </a:r>
            <a:r>
              <a:rPr dirty="0" sz="1100" spc="-4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integrado</a:t>
            </a:r>
            <a:r>
              <a:rPr dirty="0" sz="1100" spc="-2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y</a:t>
            </a:r>
            <a:r>
              <a:rPr dirty="0" sz="1100" spc="-2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complementario</a:t>
            </a:r>
            <a:r>
              <a:rPr dirty="0" sz="1100" spc="-5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para</a:t>
            </a:r>
            <a:r>
              <a:rPr dirty="0" sz="1100" spc="-2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la</a:t>
            </a:r>
            <a:r>
              <a:rPr dirty="0" sz="1100" spc="-1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especificación</a:t>
            </a:r>
            <a:r>
              <a:rPr dirty="0" sz="1100" spc="-4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de</a:t>
            </a:r>
            <a:r>
              <a:rPr dirty="0" sz="1100" spc="-1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requisitos</a:t>
            </a:r>
            <a:r>
              <a:rPr dirty="0" sz="1100" spc="-5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 spc="-25">
                <a:solidFill>
                  <a:srgbClr val="1A1A2D"/>
                </a:solidFill>
                <a:latin typeface="Calibri"/>
                <a:cs typeface="Calibri"/>
              </a:rPr>
              <a:t>de</a:t>
            </a:r>
            <a:endParaRPr sz="11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dirty="0" sz="1100" spc="-10">
                <a:solidFill>
                  <a:srgbClr val="1A1A2D"/>
                </a:solidFill>
                <a:latin typeface="Calibri"/>
                <a:cs typeface="Calibri"/>
              </a:rPr>
              <a:t>calidad.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67970" y="1740154"/>
            <a:ext cx="332740" cy="515620"/>
          </a:xfrm>
          <a:prstGeom prst="rect">
            <a:avLst/>
          </a:prstGeom>
          <a:solidFill>
            <a:srgbClr val="C8A84B"/>
          </a:solidFill>
          <a:ln w="3175">
            <a:solidFill>
              <a:srgbClr val="C8A84B"/>
            </a:solidFill>
          </a:ln>
        </p:spPr>
        <p:txBody>
          <a:bodyPr wrap="square" lIns="0" tIns="157480" rIns="0" bIns="0" rtlCol="0" vert="horz">
            <a:spAutoFit/>
          </a:bodyPr>
          <a:lstStyle/>
          <a:p>
            <a:pPr marL="102235">
              <a:lnSpc>
                <a:spcPct val="100000"/>
              </a:lnSpc>
              <a:spcBef>
                <a:spcPts val="1240"/>
              </a:spcBef>
            </a:pPr>
            <a:r>
              <a:rPr dirty="0" sz="1200" spc="-50" b="1">
                <a:solidFill>
                  <a:srgbClr val="1B2A49"/>
                </a:solidFill>
                <a:latin typeface="Segoe UI Symbol"/>
                <a:cs typeface="Segoe UI Symbol"/>
              </a:rPr>
              <a:t>✦</a:t>
            </a:r>
            <a:endParaRPr sz="1200">
              <a:latin typeface="Segoe UI Symbol"/>
              <a:cs typeface="Segoe UI Symbo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91972" y="1850263"/>
            <a:ext cx="7622540" cy="3613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Una</a:t>
            </a:r>
            <a:r>
              <a:rPr dirty="0" sz="1100" spc="-1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buena</a:t>
            </a:r>
            <a:r>
              <a:rPr dirty="0" sz="1100" spc="-1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1A1A2D"/>
                </a:solidFill>
                <a:latin typeface="Calibri"/>
                <a:cs typeface="Calibri"/>
              </a:rPr>
              <a:t>especificación</a:t>
            </a:r>
            <a:r>
              <a:rPr dirty="0" sz="1100" spc="-4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es</a:t>
            </a:r>
            <a:r>
              <a:rPr dirty="0" sz="1100" spc="-1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un</a:t>
            </a:r>
            <a:r>
              <a:rPr dirty="0" sz="1100" spc="-1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mecanismo</a:t>
            </a:r>
            <a:r>
              <a:rPr dirty="0" sz="1100" spc="-4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preventivo</a:t>
            </a:r>
            <a:r>
              <a:rPr dirty="0" sz="1100" spc="-3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clave:</a:t>
            </a:r>
            <a:r>
              <a:rPr dirty="0" sz="1100" spc="-1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reduce</a:t>
            </a:r>
            <a:r>
              <a:rPr dirty="0" sz="1100" spc="-1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la</a:t>
            </a:r>
            <a:r>
              <a:rPr dirty="0" sz="1100" spc="-1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densidad</a:t>
            </a:r>
            <a:r>
              <a:rPr dirty="0" sz="1100" spc="-1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de</a:t>
            </a:r>
            <a:r>
              <a:rPr dirty="0" sz="1100" spc="-1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defectos</a:t>
            </a:r>
            <a:r>
              <a:rPr dirty="0" sz="1100" spc="-3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y</a:t>
            </a:r>
            <a:r>
              <a:rPr dirty="0" sz="1100" spc="-1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los</a:t>
            </a:r>
            <a:r>
              <a:rPr dirty="0" sz="1100" spc="-3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costos</a:t>
            </a:r>
            <a:r>
              <a:rPr dirty="0" sz="1100" spc="-3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de</a:t>
            </a:r>
            <a:r>
              <a:rPr dirty="0" sz="1100" spc="-1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no</a:t>
            </a:r>
            <a:r>
              <a:rPr dirty="0" sz="1100" spc="-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calidad</a:t>
            </a:r>
            <a:r>
              <a:rPr dirty="0" sz="1100" spc="-2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desde</a:t>
            </a:r>
            <a:r>
              <a:rPr dirty="0" sz="1100" spc="-1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las</a:t>
            </a:r>
            <a:r>
              <a:rPr dirty="0" sz="1100" spc="-10">
                <a:solidFill>
                  <a:srgbClr val="1A1A2D"/>
                </a:solidFill>
                <a:latin typeface="Calibri"/>
                <a:cs typeface="Calibri"/>
              </a:rPr>
              <a:t> fases tempranas.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74320" y="2459735"/>
            <a:ext cx="320040" cy="502920"/>
          </a:xfrm>
          <a:custGeom>
            <a:avLst/>
            <a:gdLst/>
            <a:ahLst/>
            <a:cxnLst/>
            <a:rect l="l" t="t" r="r" b="b"/>
            <a:pathLst>
              <a:path w="320040" h="502919">
                <a:moveTo>
                  <a:pt x="0" y="502919"/>
                </a:moveTo>
                <a:lnTo>
                  <a:pt x="320039" y="502919"/>
                </a:lnTo>
                <a:lnTo>
                  <a:pt x="320039" y="0"/>
                </a:lnTo>
                <a:lnTo>
                  <a:pt x="0" y="0"/>
                </a:lnTo>
                <a:lnTo>
                  <a:pt x="0" y="502919"/>
                </a:lnTo>
                <a:close/>
              </a:path>
            </a:pathLst>
          </a:custGeom>
          <a:ln w="12700">
            <a:solidFill>
              <a:srgbClr val="1B2A4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267970" y="2453385"/>
            <a:ext cx="332740" cy="515620"/>
          </a:xfrm>
          <a:prstGeom prst="rect">
            <a:avLst/>
          </a:prstGeom>
          <a:solidFill>
            <a:srgbClr val="1B2A49"/>
          </a:solidFill>
        </p:spPr>
        <p:txBody>
          <a:bodyPr wrap="square" lIns="0" tIns="158115" rIns="0" bIns="0" rtlCol="0" vert="horz">
            <a:spAutoFit/>
          </a:bodyPr>
          <a:lstStyle/>
          <a:p>
            <a:pPr marL="102235">
              <a:lnSpc>
                <a:spcPct val="100000"/>
              </a:lnSpc>
              <a:spcBef>
                <a:spcPts val="1245"/>
              </a:spcBef>
            </a:pPr>
            <a:r>
              <a:rPr dirty="0" sz="1200" spc="-50" b="1">
                <a:solidFill>
                  <a:srgbClr val="C8A84B"/>
                </a:solidFill>
                <a:latin typeface="Segoe UI Symbol"/>
                <a:cs typeface="Segoe UI Symbol"/>
              </a:rPr>
              <a:t>✦</a:t>
            </a:r>
            <a:endParaRPr sz="1200">
              <a:latin typeface="Segoe UI Symbol"/>
              <a:cs typeface="Segoe UI Symbo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91972" y="2563749"/>
            <a:ext cx="7366000" cy="3613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La</a:t>
            </a:r>
            <a:r>
              <a:rPr dirty="0" sz="1100" spc="-1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elección</a:t>
            </a:r>
            <a:r>
              <a:rPr dirty="0" sz="1100" spc="-4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adecuada</a:t>
            </a:r>
            <a:r>
              <a:rPr dirty="0" sz="1100" spc="-2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del</a:t>
            </a:r>
            <a:r>
              <a:rPr dirty="0" sz="1100" spc="-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modelo</a:t>
            </a:r>
            <a:r>
              <a:rPr dirty="0" sz="1100" spc="-4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SPI</a:t>
            </a:r>
            <a:r>
              <a:rPr dirty="0" sz="1100" spc="-2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(CMMI,</a:t>
            </a:r>
            <a:r>
              <a:rPr dirty="0" sz="1100" spc="-3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MoProSoft,</a:t>
            </a:r>
            <a:r>
              <a:rPr dirty="0" sz="1100" spc="-3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etc.)</a:t>
            </a:r>
            <a:r>
              <a:rPr dirty="0" sz="1100" spc="-1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determina</a:t>
            </a:r>
            <a:r>
              <a:rPr dirty="0" sz="1100" spc="-3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el</a:t>
            </a:r>
            <a:r>
              <a:rPr dirty="0" sz="1100" spc="-1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marco</a:t>
            </a:r>
            <a:r>
              <a:rPr dirty="0" sz="1100" spc="-2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institucional</a:t>
            </a:r>
            <a:r>
              <a:rPr dirty="0" sz="1100" spc="-3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que</a:t>
            </a:r>
            <a:r>
              <a:rPr dirty="0" sz="1100" spc="-1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potencia</a:t>
            </a:r>
            <a:r>
              <a:rPr dirty="0" sz="1100" spc="-4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o</a:t>
            </a:r>
            <a:r>
              <a:rPr dirty="0" sz="1100" spc="-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limita</a:t>
            </a:r>
            <a:r>
              <a:rPr dirty="0" sz="1100" spc="-4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la</a:t>
            </a:r>
            <a:r>
              <a:rPr dirty="0" sz="1100" spc="-1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gestión</a:t>
            </a:r>
            <a:r>
              <a:rPr dirty="0" sz="1100" spc="-1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 spc="-25">
                <a:solidFill>
                  <a:srgbClr val="1A1A2D"/>
                </a:solidFill>
                <a:latin typeface="Calibri"/>
                <a:cs typeface="Calibri"/>
              </a:rPr>
              <a:t>de </a:t>
            </a:r>
            <a:r>
              <a:rPr dirty="0" sz="1100" spc="-10">
                <a:solidFill>
                  <a:srgbClr val="1A1A2D"/>
                </a:solidFill>
                <a:latin typeface="Calibri"/>
                <a:cs typeface="Calibri"/>
              </a:rPr>
              <a:t>requisitos.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74320" y="3172967"/>
            <a:ext cx="320040" cy="502920"/>
          </a:xfrm>
          <a:custGeom>
            <a:avLst/>
            <a:gdLst/>
            <a:ahLst/>
            <a:cxnLst/>
            <a:rect l="l" t="t" r="r" b="b"/>
            <a:pathLst>
              <a:path w="320040" h="502920">
                <a:moveTo>
                  <a:pt x="0" y="502919"/>
                </a:moveTo>
                <a:lnTo>
                  <a:pt x="320039" y="502919"/>
                </a:lnTo>
                <a:lnTo>
                  <a:pt x="320039" y="0"/>
                </a:lnTo>
                <a:lnTo>
                  <a:pt x="0" y="0"/>
                </a:lnTo>
                <a:lnTo>
                  <a:pt x="0" y="502919"/>
                </a:lnTo>
                <a:close/>
              </a:path>
            </a:pathLst>
          </a:custGeom>
          <a:ln w="12700">
            <a:solidFill>
              <a:srgbClr val="C8A84B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267970" y="3166617"/>
            <a:ext cx="332740" cy="515620"/>
          </a:xfrm>
          <a:prstGeom prst="rect">
            <a:avLst/>
          </a:prstGeom>
          <a:solidFill>
            <a:srgbClr val="C8A84B"/>
          </a:solidFill>
        </p:spPr>
        <p:txBody>
          <a:bodyPr wrap="square" lIns="0" tIns="158115" rIns="0" bIns="0" rtlCol="0" vert="horz">
            <a:spAutoFit/>
          </a:bodyPr>
          <a:lstStyle/>
          <a:p>
            <a:pPr marL="102235">
              <a:lnSpc>
                <a:spcPct val="100000"/>
              </a:lnSpc>
              <a:spcBef>
                <a:spcPts val="1245"/>
              </a:spcBef>
            </a:pPr>
            <a:r>
              <a:rPr dirty="0" sz="1200" spc="-50" b="1">
                <a:solidFill>
                  <a:srgbClr val="1B2A49"/>
                </a:solidFill>
                <a:latin typeface="Segoe UI Symbol"/>
                <a:cs typeface="Segoe UI Symbol"/>
              </a:rPr>
              <a:t>✦</a:t>
            </a:r>
            <a:endParaRPr sz="1200">
              <a:latin typeface="Segoe UI Symbol"/>
              <a:cs typeface="Segoe UI Symbo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91972" y="3360801"/>
            <a:ext cx="740600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La</a:t>
            </a:r>
            <a:r>
              <a:rPr dirty="0" sz="1100" spc="-1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trazabilidad</a:t>
            </a:r>
            <a:r>
              <a:rPr dirty="0" sz="1100" spc="-2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requisito</a:t>
            </a:r>
            <a:r>
              <a:rPr dirty="0" sz="1100" spc="-2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→</a:t>
            </a:r>
            <a:r>
              <a:rPr dirty="0" sz="1100" spc="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prueba</a:t>
            </a:r>
            <a:r>
              <a:rPr dirty="0" sz="1100" spc="-1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→ métrica</a:t>
            </a:r>
            <a:r>
              <a:rPr dirty="0" sz="1100" spc="-4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cierra</a:t>
            </a:r>
            <a:r>
              <a:rPr dirty="0" sz="1100" spc="-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el</a:t>
            </a:r>
            <a:r>
              <a:rPr dirty="0" sz="1100" spc="-1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ciclo</a:t>
            </a:r>
            <a:r>
              <a:rPr dirty="0" sz="1100" spc="-2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de</a:t>
            </a:r>
            <a:r>
              <a:rPr dirty="0" sz="1100" spc="-1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mejora</a:t>
            </a:r>
            <a:r>
              <a:rPr dirty="0" sz="1100" spc="-3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continua</a:t>
            </a:r>
            <a:r>
              <a:rPr dirty="0" sz="1100" spc="-3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y</a:t>
            </a:r>
            <a:r>
              <a:rPr dirty="0" sz="1100" spc="-1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es</a:t>
            </a:r>
            <a:r>
              <a:rPr dirty="0" sz="1100" spc="-1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esencial</a:t>
            </a:r>
            <a:r>
              <a:rPr dirty="0" sz="1100" spc="-3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en </a:t>
            </a:r>
            <a:r>
              <a:rPr dirty="0" sz="1100" spc="-10">
                <a:solidFill>
                  <a:srgbClr val="1A1A2D"/>
                </a:solidFill>
                <a:latin typeface="Calibri"/>
                <a:cs typeface="Calibri"/>
              </a:rPr>
              <a:t>organizaciones</a:t>
            </a:r>
            <a:r>
              <a:rPr dirty="0" sz="1100" spc="-3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de</a:t>
            </a:r>
            <a:r>
              <a:rPr dirty="0" sz="1100" spc="-1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alto</a:t>
            </a:r>
            <a:r>
              <a:rPr dirty="0" sz="1100" spc="-2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1A1A2D"/>
                </a:solidFill>
                <a:latin typeface="Calibri"/>
                <a:cs typeface="Calibri"/>
              </a:rPr>
              <a:t>despliegue.</a:t>
            </a:r>
            <a:endParaRPr sz="1100">
              <a:latin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67970" y="3879850"/>
            <a:ext cx="332740" cy="515620"/>
          </a:xfrm>
          <a:prstGeom prst="rect">
            <a:avLst/>
          </a:prstGeom>
          <a:solidFill>
            <a:srgbClr val="1B2A49"/>
          </a:solidFill>
          <a:ln w="3175">
            <a:solidFill>
              <a:srgbClr val="1B2A49"/>
            </a:solidFill>
          </a:ln>
        </p:spPr>
        <p:txBody>
          <a:bodyPr wrap="square" lIns="0" tIns="158115" rIns="0" bIns="0" rtlCol="0" vert="horz">
            <a:spAutoFit/>
          </a:bodyPr>
          <a:lstStyle/>
          <a:p>
            <a:pPr marL="102235">
              <a:lnSpc>
                <a:spcPct val="100000"/>
              </a:lnSpc>
              <a:spcBef>
                <a:spcPts val="1245"/>
              </a:spcBef>
            </a:pPr>
            <a:r>
              <a:rPr dirty="0" sz="1200" spc="-50" b="1">
                <a:solidFill>
                  <a:srgbClr val="C8A84B"/>
                </a:solidFill>
                <a:latin typeface="Segoe UI Symbol"/>
                <a:cs typeface="Segoe UI Symbol"/>
              </a:rPr>
              <a:t>✦</a:t>
            </a:r>
            <a:endParaRPr sz="1200">
              <a:latin typeface="Segoe UI Symbol"/>
              <a:cs typeface="Segoe UI Symbo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91972" y="4074363"/>
            <a:ext cx="7649209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El</a:t>
            </a:r>
            <a:r>
              <a:rPr dirty="0" sz="1100" spc="-1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reto</a:t>
            </a:r>
            <a:r>
              <a:rPr dirty="0" sz="1100" spc="-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1A1A2D"/>
                </a:solidFill>
                <a:latin typeface="Calibri"/>
                <a:cs typeface="Calibri"/>
              </a:rPr>
              <a:t>profesional</a:t>
            </a:r>
            <a:r>
              <a:rPr dirty="0" sz="1100" spc="-3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es</a:t>
            </a:r>
            <a:r>
              <a:rPr dirty="0" sz="1100" spc="-1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adaptar</a:t>
            </a:r>
            <a:r>
              <a:rPr dirty="0" sz="1100" spc="-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estos</a:t>
            </a:r>
            <a:r>
              <a:rPr dirty="0" sz="1100" spc="-4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marcos</a:t>
            </a:r>
            <a:r>
              <a:rPr dirty="0" sz="1100" spc="-3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a contextos</a:t>
            </a:r>
            <a:r>
              <a:rPr dirty="0" sz="1100" spc="-4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reales</a:t>
            </a:r>
            <a:r>
              <a:rPr dirty="0" sz="1100" spc="-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1A1A2D"/>
                </a:solidFill>
                <a:latin typeface="Calibri"/>
                <a:cs typeface="Calibri"/>
              </a:rPr>
              <a:t>manteniendo</a:t>
            </a:r>
            <a:r>
              <a:rPr dirty="0" sz="1100" spc="-5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el</a:t>
            </a:r>
            <a:r>
              <a:rPr dirty="0" sz="1100" spc="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equilibrio</a:t>
            </a:r>
            <a:r>
              <a:rPr dirty="0" sz="1100" spc="-2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entre</a:t>
            </a:r>
            <a:r>
              <a:rPr dirty="0" sz="1100" spc="-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rigor</a:t>
            </a:r>
            <a:r>
              <a:rPr dirty="0" sz="1100" spc="-1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metodológico</a:t>
            </a:r>
            <a:r>
              <a:rPr dirty="0" sz="1100" spc="-35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>
                <a:solidFill>
                  <a:srgbClr val="1A1A2D"/>
                </a:solidFill>
                <a:latin typeface="Calibri"/>
                <a:cs typeface="Calibri"/>
              </a:rPr>
              <a:t>y agilidad</a:t>
            </a:r>
            <a:r>
              <a:rPr dirty="0" sz="1100" spc="10">
                <a:solidFill>
                  <a:srgbClr val="1A1A2D"/>
                </a:solidFill>
                <a:latin typeface="Calibri"/>
                <a:cs typeface="Calibri"/>
              </a:rPr>
              <a:t> </a:t>
            </a:r>
            <a:r>
              <a:rPr dirty="0" sz="1100" spc="-10">
                <a:solidFill>
                  <a:srgbClr val="1A1A2D"/>
                </a:solidFill>
                <a:latin typeface="Calibri"/>
                <a:cs typeface="Calibri"/>
              </a:rPr>
              <a:t>operativa.</a:t>
            </a:r>
            <a:endParaRPr sz="11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304021" y="360375"/>
            <a:ext cx="401955" cy="2705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dirty="0" sz="800" spc="-20" b="1">
                <a:solidFill>
                  <a:srgbClr val="1B2A49"/>
                </a:solidFill>
                <a:latin typeface="Calibri"/>
                <a:cs typeface="Calibri"/>
              </a:rPr>
              <a:t>ALTA</a:t>
            </a:r>
            <a:endParaRPr sz="8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</a:pPr>
            <a:r>
              <a:rPr dirty="0" sz="800" spc="-10" b="1">
                <a:solidFill>
                  <a:srgbClr val="1B2A49"/>
                </a:solidFill>
                <a:latin typeface="Calibri"/>
                <a:cs typeface="Calibri"/>
              </a:rPr>
              <a:t>CALIDAD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27380" y="1815210"/>
            <a:ext cx="4545330" cy="10280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Especificación</a:t>
            </a:r>
            <a:r>
              <a:rPr dirty="0" sz="2200" spc="-5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dirty="0" sz="22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requisitos</a:t>
            </a:r>
            <a:r>
              <a:rPr dirty="0" sz="2200" spc="-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dirty="0" sz="2200" spc="-6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2200" spc="-10">
                <a:solidFill>
                  <a:srgbClr val="FFFFFF"/>
                </a:solidFill>
                <a:latin typeface="Calibri"/>
                <a:cs typeface="Calibri"/>
              </a:rPr>
              <a:t>software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135"/>
              </a:spcBef>
            </a:pPr>
            <a:r>
              <a:rPr dirty="0" sz="2600" b="1">
                <a:solidFill>
                  <a:srgbClr val="C8A84B"/>
                </a:solidFill>
                <a:latin typeface="Calibri"/>
                <a:cs typeface="Calibri"/>
              </a:rPr>
              <a:t>Muchas</a:t>
            </a:r>
            <a:r>
              <a:rPr dirty="0" sz="2600" spc="-85" b="1">
                <a:solidFill>
                  <a:srgbClr val="C8A84B"/>
                </a:solidFill>
                <a:latin typeface="Calibri"/>
                <a:cs typeface="Calibri"/>
              </a:rPr>
              <a:t> </a:t>
            </a:r>
            <a:r>
              <a:rPr dirty="0" sz="2600" spc="-10" b="1">
                <a:solidFill>
                  <a:srgbClr val="C8A84B"/>
                </a:solidFill>
                <a:latin typeface="Calibri"/>
                <a:cs typeface="Calibri"/>
              </a:rPr>
              <a:t>gracias</a:t>
            </a:r>
            <a:endParaRPr sz="26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3059" y="4509922"/>
            <a:ext cx="1530985" cy="54356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400" spc="-10" b="1">
                <a:solidFill>
                  <a:srgbClr val="C8A84B"/>
                </a:solidFill>
                <a:latin typeface="Calibri"/>
                <a:cs typeface="Calibri"/>
              </a:rPr>
              <a:t>UNIMINUTO</a:t>
            </a:r>
            <a:endParaRPr sz="14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spcBef>
                <a:spcPts val="715"/>
              </a:spcBef>
            </a:pPr>
            <a:r>
              <a:rPr dirty="0" sz="700" spc="-10">
                <a:solidFill>
                  <a:srgbClr val="FFFFFF"/>
                </a:solidFill>
                <a:latin typeface="Calibri"/>
                <a:cs typeface="Calibri"/>
              </a:rPr>
              <a:t>Corporación</a:t>
            </a:r>
            <a:r>
              <a:rPr dirty="0" sz="700" spc="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700" spc="-10">
                <a:solidFill>
                  <a:srgbClr val="FFFFFF"/>
                </a:solidFill>
                <a:latin typeface="Calibri"/>
                <a:cs typeface="Calibri"/>
              </a:rPr>
              <a:t>Universitaria</a:t>
            </a:r>
            <a:r>
              <a:rPr dirty="0" sz="700" spc="6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FFFFFF"/>
                </a:solidFill>
                <a:latin typeface="Calibri"/>
                <a:cs typeface="Calibri"/>
              </a:rPr>
              <a:t>Minuto</a:t>
            </a:r>
            <a:r>
              <a:rPr dirty="0" sz="700" spc="2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dirty="0" sz="700" spc="-1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700" spc="-20">
                <a:solidFill>
                  <a:srgbClr val="FFFFFF"/>
                </a:solidFill>
                <a:latin typeface="Calibri"/>
                <a:cs typeface="Calibri"/>
              </a:rPr>
              <a:t>Dios</a:t>
            </a:r>
            <a:r>
              <a:rPr dirty="0" sz="700" spc="50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FFFFFF"/>
                </a:solidFill>
                <a:latin typeface="Calibri"/>
                <a:cs typeface="Calibri"/>
              </a:rPr>
              <a:t>Educación</a:t>
            </a:r>
            <a:r>
              <a:rPr dirty="0" sz="7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dirty="0" sz="7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FFFFFF"/>
                </a:solidFill>
                <a:latin typeface="Calibri"/>
                <a:cs typeface="Calibri"/>
              </a:rPr>
              <a:t>calidad</a:t>
            </a:r>
            <a:r>
              <a:rPr dirty="0" sz="7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FFFFFF"/>
                </a:solidFill>
                <a:latin typeface="Calibri"/>
                <a:cs typeface="Calibri"/>
              </a:rPr>
              <a:t>al</a:t>
            </a:r>
            <a:r>
              <a:rPr dirty="0" sz="700" spc="-2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FFFFFF"/>
                </a:solidFill>
                <a:latin typeface="Calibri"/>
                <a:cs typeface="Calibri"/>
              </a:rPr>
              <a:t>alcance</a:t>
            </a:r>
            <a:r>
              <a:rPr dirty="0" sz="700" spc="-15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dirty="0" sz="700">
                <a:solidFill>
                  <a:srgbClr val="FFFFFF"/>
                </a:solidFill>
                <a:latin typeface="Calibri"/>
                <a:cs typeface="Calibri"/>
              </a:rPr>
              <a:t>de</a:t>
            </a:r>
            <a:r>
              <a:rPr dirty="0" sz="700" spc="-20">
                <a:solidFill>
                  <a:srgbClr val="FFFFFF"/>
                </a:solidFill>
                <a:latin typeface="Calibri"/>
                <a:cs typeface="Calibri"/>
              </a:rPr>
              <a:t> todos</a:t>
            </a:r>
            <a:endParaRPr sz="7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PptxGenJS</dc:creator>
  <dc:subject>PptxGenJS Presentation</dc:subject>
  <dc:title>Especificación de Requisitos y Calidad - Semana 4</dc:title>
  <dcterms:created xsi:type="dcterms:W3CDTF">2026-10-22T20:05:42Z</dcterms:created>
  <dcterms:modified xsi:type="dcterms:W3CDTF">2026-10-22T20:05:42Z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2026-07-27T00:00:00Z</vt:filetime>
  </property>
  <property fmtid="{D5CDD505-2E9C-101B-9397-08002B2CF9AE}" pid="3" name="Creator">
    <vt:lpwstr>Microsoft® PowerPoint® para Microsoft 365</vt:lpwstr>
  </property>
  <property fmtid="{D5CDD505-2E9C-101B-9397-08002B2CF9AE}" pid="4" name="LastSaved">
    <vt:filetime>2026-10-22T00:00:00Z</vt:filetime>
  </property>
  <property fmtid="{D5CDD505-2E9C-101B-9397-08002B2CF9AE}" pid="5" name="Producer">
    <vt:lpwstr>Microsoft® PowerPoint® para Microsoft 365</vt:lpwstr>
  </property>
</Properties>
</file>