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341" r:id="rId3"/>
    <p:sldId id="342" r:id="rId4"/>
    <p:sldId id="333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40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52C1F-6D6C-3ED2-B73E-A3EBECB4A953}" v="76" dt="2026-07-02T04:55:40.5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C1F3BA-561E-40F8-BA69-B9204D365301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27F4A-87DB-494C-94B7-1D15149278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469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D114D-178A-465A-B01D-00AE0C2E304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0552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E6465-9E2C-F7D1-1025-017C427D6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FCAB6-F63E-EA0F-01F2-8E3E1C2B7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9D3401-411E-EE18-DCDF-19B6CD4F8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F1AF5F-7707-9BBB-28C2-ECB54EF2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A4DE97-7E1B-9F6C-1FEE-5248F8457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22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438F18-1C0B-0749-058E-1B0E686B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53D8DE-7C2E-BD97-A2AA-88F4EE1D1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1F956-2A51-B46A-6C84-292248AB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87A6C4-FA66-E3C7-C032-D85598F3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C0D02B-4304-EE2A-7E8C-0B375B0E7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867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2CDD2-34BE-1894-DA03-D3798321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CB16E9-FD19-12B7-D1BA-245A6028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C213C5-1FA3-FA2A-3678-2ADA22CC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5E7D18-5809-0535-9B55-58679233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40B6F2-CB20-8B3A-9673-FAA2CDC1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739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0887D-BAD9-E85D-38D1-19C82452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A55F1D-7973-0849-FAC7-2ED08D995C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175A7-F5D8-ADBE-35ED-2EA07ECAC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5B74CC-3C64-9425-489C-24DB5B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49404E-8840-6F19-6ECE-CBDEE7D3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467B64-DB77-85DF-90EC-68DC705D5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151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812DA-5830-C2DA-FEC4-9F93505A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C15237-094B-515A-A77F-0F30C24DE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99354-1A5B-0CF0-3712-B0B77DEA3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B310BE-BFEF-A116-C85B-AC716031C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A1E757-3A71-28BB-8A9E-ECEA14D187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F01BB1-AD86-2BA0-55E8-8951173D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4BB14-7FDE-B22B-DBE5-F68508CF3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445680-3080-CA10-7F3C-A949E505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776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09DD37-5352-2F73-3A29-4538B3E9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B8BDF24-B2D4-B274-E41E-B863DADA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FFC90A-39FD-B1DE-A6E9-4C076C92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9F9A598-81CC-A97C-4ED5-351CC2B2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85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D21982-7EB1-D639-9FE6-2ED2E1E5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B4BA5B4-1ACB-A6E1-8153-F6017EC08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3346AA-BB89-908E-34AC-B5C0BB4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656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E547-B4C9-54C6-166C-68F57B52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5AAA1-ED18-5D90-54DF-27F28CDEB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AB449D-32A1-2028-FDD4-838932A96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5BA6E-6660-0920-EEC0-2CE2AA835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B30D8E-B087-EA02-03E2-521DFA49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C3B8D4-7896-270C-F6AB-532E0B8B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40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AE17D-485A-ECB9-B3CF-28BF2EED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86ACA8F-B1F8-B561-1D8A-F688DA25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E67B78-E7A8-5297-69F2-9F2F3E2F5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791531-116A-C123-A7D4-1AB359D9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162658-4EB8-E7B1-D7CD-832BF85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D045AE-C0E6-8B3A-974C-D535A281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345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68E0A-C617-9494-7FAF-EE98EDB3E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01092-4D79-7865-173C-3380705A5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B4A24B-2361-24B8-088C-8A82963B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B4E638-2A05-64BB-86B6-F7A751FA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6CA604-5EC2-B4B2-BCDA-A72C5B4B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2893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8B9AF1-B843-BB83-C453-61FDF2F92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26157F-1794-7926-228C-B16FC0F97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04E3A9-CC90-9107-B985-908B92FF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EB48AE-EC58-2E10-FC72-45F6A53E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0554D-9DB8-83AA-D250-A01E05DD5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948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9068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04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3323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307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9628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179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53357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9294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1122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5840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250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005C-7059-394A-5A7F-ADC560A00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1F0D5C-0C3B-8E6D-BFE1-56159D559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E041F9-8DD3-E69E-92E5-4B036E7F0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08EDE-BAAD-1743-A60D-6B891320FA4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60668-6D85-2862-B828-AA14A716B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7542E-F1B7-7AC5-E112-1617942BE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12EED-67C1-B54C-BDC1-C9887C8F6E9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1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22/10/2026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133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A636AB6E-D708-FC46-3E1B-AD35787DC531}"/>
              </a:ext>
            </a:extLst>
          </p:cNvPr>
          <p:cNvSpPr/>
          <p:nvPr/>
        </p:nvSpPr>
        <p:spPr>
          <a:xfrm>
            <a:off x="0" y="0"/>
            <a:ext cx="12192000" cy="68932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EBE24467-A941-3231-8A3E-21FD4EFF5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9328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B023E5-08B0-2427-9715-09205CDB1D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582" t="36088" r="1507" b="26199"/>
          <a:stretch/>
        </p:blipFill>
        <p:spPr>
          <a:xfrm>
            <a:off x="10060726" y="5395594"/>
            <a:ext cx="1806809" cy="132302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378A125-782B-9B4C-F519-EACF80EA5374}"/>
              </a:ext>
            </a:extLst>
          </p:cNvPr>
          <p:cNvSpPr txBox="1"/>
          <p:nvPr/>
        </p:nvSpPr>
        <p:spPr>
          <a:xfrm>
            <a:off x="4375678" y="5937607"/>
            <a:ext cx="5600856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s-CO" noProof="0" dirty="0">
                <a:latin typeface="Century Gothic"/>
              </a:rPr>
              <a:t>VERIFICACIÓN, VALIDACIÓN, REVISIONES Y AUDITORÍAS</a:t>
            </a:r>
            <a:endParaRPr lang="es-CO" noProof="0" dirty="0"/>
          </a:p>
          <a:p>
            <a:pPr algn="r"/>
            <a:r>
              <a:rPr lang="es-CO" noProof="0" dirty="0">
                <a:latin typeface="Century Gothic"/>
              </a:rPr>
              <a:t>Julio 2026</a:t>
            </a:r>
            <a:endParaRPr lang="es-CO" noProof="0" dirty="0">
              <a:latin typeface="Century Gothic" panose="020B0502020202020204" pitchFamily="34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5595C607-E050-1D31-A7F0-5C432315B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043" t="-3087" r="-3874" b="-2265"/>
          <a:stretch/>
        </p:blipFill>
        <p:spPr bwMode="auto">
          <a:xfrm rot="254132">
            <a:off x="1482100" y="1817745"/>
            <a:ext cx="3372018" cy="2165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942E92C-F850-AC01-A952-6D862E39B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533" y="274062"/>
            <a:ext cx="3782002" cy="123679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5B1B1DD-C336-11D0-3F79-3F350C0F3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5294" y="2825567"/>
            <a:ext cx="8120478" cy="1797326"/>
          </a:xfrm>
        </p:spPr>
        <p:txBody>
          <a:bodyPr>
            <a:normAutofit/>
          </a:bodyPr>
          <a:lstStyle/>
          <a:p>
            <a:r>
              <a:rPr lang="es-CO" sz="4400" b="1" noProof="0" dirty="0">
                <a:solidFill>
                  <a:srgbClr val="FFC000"/>
                </a:solidFill>
                <a:latin typeface="Century Gothic"/>
              </a:rPr>
              <a:t>ASEGURAMIENTO DE LA CALIDAD DEL SOFTWARE</a:t>
            </a:r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ítulo 1">
            <a:extLst>
              <a:ext uri="{FF2B5EF4-FFF2-40B4-BE49-F238E27FC236}">
                <a16:creationId xmlns:a16="http://schemas.microsoft.com/office/drawing/2014/main" id="{F0E97F75-4E8D-4225-ACDC-192F32266A97}"/>
              </a:ext>
            </a:extLst>
          </p:cNvPr>
          <p:cNvSpPr txBox="1">
            <a:spLocks/>
          </p:cNvSpPr>
          <p:nvPr/>
        </p:nvSpPr>
        <p:spPr>
          <a:xfrm>
            <a:off x="622716" y="139272"/>
            <a:ext cx="5913201" cy="5548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rdana"/>
                <a:ea typeface="+mj-ea"/>
                <a:cs typeface="+mj-cs"/>
              </a:rPr>
              <a:t>Tabla de contenido</a:t>
            </a:r>
          </a:p>
        </p:txBody>
      </p:sp>
      <p:sp>
        <p:nvSpPr>
          <p:cNvPr id="29" name="TextBox 4">
            <a:extLst>
              <a:ext uri="{FF2B5EF4-FFF2-40B4-BE49-F238E27FC236}">
                <a16:creationId xmlns:a16="http://schemas.microsoft.com/office/drawing/2014/main" id="{4AB2D2AB-799F-44C6-A8C2-F98B1C7C105E}"/>
              </a:ext>
            </a:extLst>
          </p:cNvPr>
          <p:cNvSpPr txBox="1"/>
          <p:nvPr/>
        </p:nvSpPr>
        <p:spPr>
          <a:xfrm>
            <a:off x="164505" y="1532450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01.</a:t>
            </a: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6DE6E35C-B117-43DD-A072-693CA0C8506F}"/>
              </a:ext>
            </a:extLst>
          </p:cNvPr>
          <p:cNvSpPr txBox="1"/>
          <p:nvPr/>
        </p:nvSpPr>
        <p:spPr>
          <a:xfrm>
            <a:off x="164505" y="3132567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02.</a:t>
            </a: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95FB1313-D0FA-4E96-B4A3-DD20E1991AC4}"/>
              </a:ext>
            </a:extLst>
          </p:cNvPr>
          <p:cNvSpPr txBox="1"/>
          <p:nvPr/>
        </p:nvSpPr>
        <p:spPr>
          <a:xfrm>
            <a:off x="893090" y="1532450"/>
            <a:ext cx="4484296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Aseguramiento de la calidad (SQA)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B0BE0913-DB4C-4916-9947-1697026CE0B3}"/>
              </a:ext>
            </a:extLst>
          </p:cNvPr>
          <p:cNvSpPr txBox="1"/>
          <p:nvPr/>
        </p:nvSpPr>
        <p:spPr>
          <a:xfrm>
            <a:off x="239764" y="4644334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03.</a:t>
            </a: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280CAB23-A6AD-465B-A138-12C209352194}"/>
              </a:ext>
            </a:extLst>
          </p:cNvPr>
          <p:cNvSpPr txBox="1"/>
          <p:nvPr/>
        </p:nvSpPr>
        <p:spPr>
          <a:xfrm>
            <a:off x="5413195" y="31072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05.</a:t>
            </a:r>
          </a:p>
        </p:txBody>
      </p:sp>
      <p:sp>
        <p:nvSpPr>
          <p:cNvPr id="34" name="TextBox 6">
            <a:extLst>
              <a:ext uri="{FF2B5EF4-FFF2-40B4-BE49-F238E27FC236}">
                <a16:creationId xmlns:a16="http://schemas.microsoft.com/office/drawing/2014/main" id="{A4090016-0F69-433E-8CC4-F84AD53DBE15}"/>
              </a:ext>
            </a:extLst>
          </p:cNvPr>
          <p:cNvSpPr txBox="1"/>
          <p:nvPr/>
        </p:nvSpPr>
        <p:spPr>
          <a:xfrm>
            <a:off x="1093029" y="4792737"/>
            <a:ext cx="4484296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Revisiones técnicas y auditorías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E8B458C-996C-4092-94D5-2AB68B70AD7F}"/>
              </a:ext>
            </a:extLst>
          </p:cNvPr>
          <p:cNvSpPr txBox="1"/>
          <p:nvPr/>
        </p:nvSpPr>
        <p:spPr>
          <a:xfrm>
            <a:off x="6241489" y="1573935"/>
            <a:ext cx="4484296" cy="32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6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Estándares e ISO/IEC 25010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C46DB1DF-06BF-4441-8C15-62E87A62DE40}"/>
              </a:ext>
            </a:extLst>
          </p:cNvPr>
          <p:cNvSpPr txBox="1"/>
          <p:nvPr/>
        </p:nvSpPr>
        <p:spPr>
          <a:xfrm>
            <a:off x="996573" y="3116745"/>
            <a:ext cx="4484296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Verificación y validación</a:t>
            </a:r>
            <a:endParaRPr kumimoji="0" lang="es-CO" sz="1400" b="0" i="0" u="none" strike="noStrike" kern="1200" cap="none" spc="0" normalizeH="0" baseline="0" noProof="0" dirty="0">
              <a:ln>
                <a:noFill/>
              </a:ln>
              <a:solidFill>
                <a:srgbClr val="737373"/>
              </a:solidFill>
              <a:effectLst/>
              <a:uLnTx/>
              <a:uFillTx/>
              <a:latin typeface="DM Sans Bold"/>
              <a:ea typeface="+mn-ea"/>
              <a:cs typeface="+mn-cs"/>
            </a:endParaRP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7CE022EF-58EB-42DD-AA75-5219C0440962}"/>
              </a:ext>
            </a:extLst>
          </p:cNvPr>
          <p:cNvSpPr txBox="1"/>
          <p:nvPr/>
        </p:nvSpPr>
        <p:spPr>
          <a:xfrm>
            <a:off x="6383859" y="3121556"/>
            <a:ext cx="496045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Calibri"/>
                <a:cs typeface="Calibri"/>
              </a:rPr>
              <a:t>Métricas de calidad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5">
            <a:extLst>
              <a:ext uri="{FF2B5EF4-FFF2-40B4-BE49-F238E27FC236}">
                <a16:creationId xmlns:a16="http://schemas.microsoft.com/office/drawing/2014/main" id="{F3A6312D-31F8-4D5C-8934-24A01ECA15C0}"/>
              </a:ext>
            </a:extLst>
          </p:cNvPr>
          <p:cNvSpPr txBox="1"/>
          <p:nvPr/>
        </p:nvSpPr>
        <p:spPr>
          <a:xfrm>
            <a:off x="5413728" y="1540473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04.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80A445F9-F3F3-4363-A875-A1E852063013}"/>
              </a:ext>
            </a:extLst>
          </p:cNvPr>
          <p:cNvSpPr txBox="1"/>
          <p:nvPr/>
        </p:nvSpPr>
        <p:spPr>
          <a:xfrm>
            <a:off x="5485614" y="4638365"/>
            <a:ext cx="1292275" cy="63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13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000" b="0" i="0" u="none" strike="noStrike" kern="1200" cap="none" spc="0" normalizeH="0" baseline="0" noProof="0" dirty="0">
                <a:ln>
                  <a:noFill/>
                </a:ln>
                <a:solidFill>
                  <a:srgbClr val="8CA9AD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06.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0F79177-F72B-A56A-B375-1ABE30756E86}"/>
              </a:ext>
            </a:extLst>
          </p:cNvPr>
          <p:cNvSpPr txBox="1"/>
          <p:nvPr/>
        </p:nvSpPr>
        <p:spPr>
          <a:xfrm>
            <a:off x="6380104" y="4602103"/>
            <a:ext cx="3928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sng" strike="noStrike" kern="1200" cap="none" spc="0" normalizeH="0" baseline="0" noProof="0" dirty="0">
                <a:ln>
                  <a:noFill/>
                </a:ln>
                <a:solidFill>
                  <a:srgbClr val="737373"/>
                </a:solidFill>
                <a:effectLst/>
                <a:uLnTx/>
                <a:uFillTx/>
                <a:latin typeface="DM Sans Bold"/>
                <a:ea typeface="+mn-ea"/>
                <a:cs typeface="+mn-cs"/>
              </a:rPr>
              <a:t>De la teoría a la práctica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3209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ASEGURAMIENTO DE LA CALIDAD DEL SOFTWARE (SQA)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Concepto, objetivo y relación con verificación, validación, revisiones y auditorías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6035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Conjunto planificado y sistemático de actividades que garantizan que el proceso y el producto de software cumplen los requisitos técnicos y los estándares establecidos (IEEE 730).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6035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El SQA no es una fase aislada: es una función paraguas que acompaña todo el ciclo de vida del software y se apoya en tres pilares operativos.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2103120"/>
            <a:ext cx="2743200" cy="9144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s-CO" sz="2000" b="1" noProof="0" dirty="0">
                <a:solidFill>
                  <a:srgbClr val="FFFFFF"/>
                </a:solidFill>
                <a:latin typeface="Cambria"/>
              </a:rPr>
              <a:t>SQA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3017520"/>
            <a:ext cx="0" cy="50292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23760" y="3520440"/>
            <a:ext cx="1417320" cy="1005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CO" sz="1200" b="1" noProof="0" dirty="0">
                <a:solidFill>
                  <a:srgbClr val="23325B"/>
                </a:solidFill>
                <a:latin typeface="Calibri"/>
              </a:rPr>
              <a:t>Verificación
y validación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72600" y="3017520"/>
            <a:ext cx="0" cy="50292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3960" y="3520440"/>
            <a:ext cx="1417320" cy="1005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CO" sz="1200" b="1" noProof="0" dirty="0">
                <a:solidFill>
                  <a:srgbClr val="23325B"/>
                </a:solidFill>
                <a:latin typeface="Calibri"/>
              </a:rPr>
              <a:t>Revisiones
técnicas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0" y="3017520"/>
            <a:ext cx="0" cy="50292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424160" y="3520440"/>
            <a:ext cx="1417320" cy="100584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CO" sz="1200" b="1" noProof="0" dirty="0">
                <a:solidFill>
                  <a:srgbClr val="23325B"/>
                </a:solidFill>
                <a:latin typeface="Calibri"/>
              </a:rPr>
              <a:t>Auditorías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709160"/>
            <a:ext cx="11183112" cy="141732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4864608"/>
            <a:ext cx="10634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400" b="1" i="0" noProof="0" dirty="0">
                <a:solidFill>
                  <a:srgbClr val="FFC000"/>
                </a:solidFill>
                <a:latin typeface="Calibri"/>
              </a:rPr>
              <a:t>Objetivo del SQA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30368"/>
            <a:ext cx="106344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>
                <a:solidFill>
                  <a:srgbClr val="FFFFFF"/>
                </a:solidFill>
                <a:latin typeface="Calibri"/>
              </a:rPr>
              <a:t>Detectar desviaciones respecto a requisitos y estándares lo más temprano posible en el ciclo de vida, reduciendo el costo de corrección y el riesgo de liberar un sistema defectuoso a producción.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VERIFICACIÓN VS. VALIDACIÓN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Diferencias fundamentales entre verificar y validar un producto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“¿Estamos construyendo el producto correctamente? vs. ¿Estamos construyendo el producto correcto?” — B. Boehm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5362956" cy="356616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47228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700" b="1" i="0" noProof="0" dirty="0">
                <a:solidFill>
                  <a:srgbClr val="FFC000"/>
                </a:solidFill>
                <a:latin typeface="Cambria"/>
              </a:rPr>
              <a:t>VERIFICACIÓN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47228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FFFFFF"/>
                </a:solidFill>
                <a:latin typeface="Calibri"/>
              </a:rPr>
              <a:t>Confirma que el producto se construye conforme a especificaciones, en cada etapa del ciclo de vida.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72287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CADCFC"/>
                </a:solidFill>
                <a:latin typeface="Calibri"/>
              </a:rPr>
              <a:t>•  Enfoque: especificaciones y artefactos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CADCFC"/>
                </a:solidFill>
                <a:latin typeface="Calibri"/>
              </a:rPr>
              <a:t>•  Momento: durante el desarrollo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CADCFC"/>
                </a:solidFill>
                <a:latin typeface="Calibri"/>
              </a:rPr>
              <a:t>•  Técnica típica: revisiones y pruebas unitarias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CADCFC"/>
                </a:solidFill>
                <a:latin typeface="Calibri"/>
              </a:rPr>
              <a:t>•  Pregunta clave: ¿cumple requisitos y estándares?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3076" y="2514600"/>
            <a:ext cx="5362956" cy="35661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643116" y="2743200"/>
            <a:ext cx="472287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700" b="1" i="0" noProof="0" dirty="0">
                <a:solidFill>
                  <a:srgbClr val="23325B"/>
                </a:solidFill>
                <a:latin typeface="Cambria"/>
              </a:rPr>
              <a:t>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3116" y="3200400"/>
            <a:ext cx="472287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Confirma que el producto satisface las necesidades reales del usuario y del negocio.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3116" y="4023360"/>
            <a:ext cx="4722876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262E40"/>
                </a:solidFill>
                <a:latin typeface="Calibri"/>
              </a:rPr>
              <a:t>•  Enfoque: producto ejecutable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262E40"/>
                </a:solidFill>
                <a:latin typeface="Calibri"/>
              </a:rPr>
              <a:t>•  Momento: al final de cada iteración o entrega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262E40"/>
                </a:solidFill>
                <a:latin typeface="Calibri"/>
              </a:rPr>
              <a:t>•  Técnica típica: pruebas dinámicas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lang="es-CO" sz="1200" noProof="0" dirty="0">
                <a:solidFill>
                  <a:srgbClr val="262E40"/>
                </a:solidFill>
                <a:latin typeface="Calibri"/>
              </a:rPr>
              <a:t>•  Pregunta clave: ¿resuelve el problema del usuario?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TÉCNICAS DE VERIFICACIÓN (ESTÁTICAS)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 aplican sobre artefactos sin ejecutar el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Se aplican sobre artefactos sin ejecutar el software: requisitos, diseño, código, planes de prueba.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475826"/>
              </p:ext>
            </p:extLst>
          </p:nvPr>
        </p:nvGraphicFramePr>
        <p:xfrm>
          <a:off x="502920" y="2468880"/>
          <a:ext cx="11183111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7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Inspecciones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Examen formal, guiado por un moderador entrenado, que busca defectos con listas de verificación y roles definidos (IEEE 1028).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Walkthroughs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(recorridos)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autor guía al equipo a través del artefacto para obtener retroalimentación temprana; formato menos formal que la inspección.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Revisiones técnicas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Evaluación por pares con conocimiento técnico del dominio, enfocada en la idoneidad técnica de la solución.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Análisis estático de código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Herramientas automatizadas que detectan patrones de error, vulnerabilidades y desviaciones de estándares de codificación.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 b="1" noProof="0" dirty="0">
                <a:solidFill>
                  <a:schemeClr val="bg1"/>
                </a:solidFill>
              </a:rPr>
              <a:t>TÉCNICAS DE VALIDACIÓN (DINÁMICAS)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 aplican sobre el software en ejecución, con foco en el usuario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Se aplican sobre el software en ejecución, con foco en la experiencia y necesidad real del usuario.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864602"/>
              </p:ext>
            </p:extLst>
          </p:nvPr>
        </p:nvGraphicFramePr>
        <p:xfrm>
          <a:off x="502920" y="2468880"/>
          <a:ext cx="11183111" cy="4005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7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de aceptación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Verifican que el sistema cumple los criterios pactados con el cliente antes de la liberación.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beta / piloto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Usuarios reales prueban el sistema en condiciones cercanas a producción antes del lanzamiento total.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funcionales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Confirman con usuarios que cada funcionalidad crítica cubre el proceso real de negocio.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de usabilidad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Evalúan facilidad de aprendizaje, eficiencia de uso y satisfacción del usuario final.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de regresión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Aseguran que cambios recientes no degradaron funcionalidades ya validadas.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Pruebas no funcionales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Rendimiento, seguridad y disponibilidad bajo condiciones reales de operación.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 b="1" noProof="0" dirty="0">
                <a:solidFill>
                  <a:schemeClr val="bg1"/>
                </a:solidFill>
              </a:rPr>
              <a:t>REVISIONES TÉCNICAS SEGÚN IEEE 1028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Cinco tipos de revisión aplicables a lo largo del ciclo de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El estándar IEEE 1028 define cinco tipos de revisión aplicables a lo largo del ciclo de vida.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585659"/>
              </p:ext>
            </p:extLst>
          </p:nvPr>
        </p:nvGraphicFramePr>
        <p:xfrm>
          <a:off x="502920" y="2423160"/>
          <a:ext cx="11183111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2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Tipo de revisión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Revisión de gestión (Management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review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Evalúa el avance del proyecto frente al plan y sustenta decisiones de dirección.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Revisión técnica (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Technical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 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review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Evalúa la idoneidad técnica de un producto respecto a especificaciones y estándares.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Inspección (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Inspection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Examen visual formal, con roles definidos, para detectar anomalías y desviaciones.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Recorrido (</a:t>
                      </a:r>
                      <a:r>
                        <a:rPr lang="es-CO" sz="1100" b="0" noProof="0" dirty="0" err="1">
                          <a:solidFill>
                            <a:srgbClr val="262E40"/>
                          </a:solidFill>
                          <a:latin typeface="Calibri"/>
                        </a:rPr>
                        <a:t>Walkthrough</a:t>
                      </a: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El autor presenta el artefacto al equipo para recoger comentarios y detectar defectos.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Auditoría (Audit)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Examen independiente realizado por un tercero para verificar cumplimiento de criterios.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AUDITORÍAS DE SOFTWARE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Examen independiente de un producto o proceso frente a criterios definidos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300" b="0" i="0" noProof="0" dirty="0">
                <a:solidFill>
                  <a:srgbClr val="262E40"/>
                </a:solidFill>
                <a:latin typeface="Calibri"/>
              </a:rPr>
              <a:t>Examen independiente de un producto, proceso o conjunto de procesos de software, realizado por un tercero imparcial, para evaluar el cumplimiento de especificaciones, estándares, contratos u otros criterios (IEEE 1028).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544824" cy="169164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704088" y="3044952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50" b="1" i="0" noProof="0" dirty="0">
                <a:solidFill>
                  <a:srgbClr val="FFC000"/>
                </a:solidFill>
                <a:latin typeface="Calibri"/>
              </a:rPr>
              <a:t>Auditoría de proceso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502152"/>
            <a:ext cx="31424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100" b="0" i="0" noProof="0" dirty="0">
                <a:solidFill>
                  <a:srgbClr val="FFFFFF"/>
                </a:solidFill>
                <a:latin typeface="Calibri"/>
              </a:rPr>
              <a:t>Evalúa si las actividades del ciclo de vida se ejecutan conforme al plan de calidad y los procedimientos de la organización.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2880360"/>
            <a:ext cx="3544824" cy="169164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523232" y="3044952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50" b="1" i="0" noProof="0" dirty="0">
                <a:solidFill>
                  <a:srgbClr val="FFC000"/>
                </a:solidFill>
                <a:latin typeface="Calibri"/>
              </a:rPr>
              <a:t>Auditoría de producto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232" y="3502152"/>
            <a:ext cx="31424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100" b="0" i="0" noProof="0" dirty="0">
                <a:solidFill>
                  <a:srgbClr val="FFFFFF"/>
                </a:solidFill>
                <a:latin typeface="Calibri"/>
              </a:rPr>
              <a:t>Evalúa si los entregables (código, documentación, casos de prueba) cumplen los requisitos y estándares establecidos.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1208" y="2880360"/>
            <a:ext cx="3544824" cy="169164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342376" y="3044952"/>
            <a:ext cx="3142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50" b="1" i="0" noProof="0" dirty="0">
                <a:solidFill>
                  <a:srgbClr val="FFC000"/>
                </a:solidFill>
                <a:latin typeface="Calibri"/>
              </a:rPr>
              <a:t>Auditoría de conformidad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2376" y="3502152"/>
            <a:ext cx="3142488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100" b="0" i="0" noProof="0" dirty="0">
                <a:solidFill>
                  <a:srgbClr val="FFFFFF"/>
                </a:solidFill>
                <a:latin typeface="Calibri"/>
              </a:rPr>
              <a:t>Verifica el cumplimiento de normas externas, regulaciones o cláusulas contractuales aplicables al sistema.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46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450" b="1" i="0" noProof="0" dirty="0">
                <a:solidFill>
                  <a:srgbClr val="23325B"/>
                </a:solidFill>
                <a:latin typeface="Calibri"/>
              </a:rPr>
              <a:t>Elementos de un plan de auditoría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03520"/>
            <a:ext cx="2590038" cy="7315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594360" y="5303520"/>
            <a:ext cx="240715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50" b="1" i="0" noProof="0" dirty="0">
                <a:solidFill>
                  <a:srgbClr val="23325B"/>
                </a:solidFill>
                <a:latin typeface="Calibri"/>
              </a:rPr>
              <a:t>Objetivo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7278" y="5303520"/>
            <a:ext cx="2590038" cy="7315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458718" y="5303520"/>
            <a:ext cx="240715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50" b="1" i="0" noProof="0" dirty="0">
                <a:solidFill>
                  <a:srgbClr val="23325B"/>
                </a:solidFill>
                <a:latin typeface="Calibri"/>
              </a:rPr>
              <a:t>Alcance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5303520"/>
            <a:ext cx="2590038" cy="7315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6323076" y="5303520"/>
            <a:ext cx="240715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50" b="1" i="0" noProof="0" dirty="0">
                <a:solidFill>
                  <a:srgbClr val="23325B"/>
                </a:solidFill>
                <a:latin typeface="Calibri"/>
              </a:rPr>
              <a:t>Criterios (normas/estándares)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5994" y="5303520"/>
            <a:ext cx="2590038" cy="73152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9187434" y="5303520"/>
            <a:ext cx="240715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150" b="1" i="0" noProof="0" dirty="0">
                <a:solidFill>
                  <a:srgbClr val="23325B"/>
                </a:solidFill>
                <a:latin typeface="Calibri"/>
              </a:rPr>
              <a:t>Evidencias a recolectar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COMPARATIVO: V&amp;V, REVISIONES Y AUDITORÍAS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Quien las realiza, cuando, que evalúan y que resultado producen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389446"/>
              </p:ext>
            </p:extLst>
          </p:nvPr>
        </p:nvGraphicFramePr>
        <p:xfrm>
          <a:off x="502920" y="205740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s-CO" noProof="0" dirty="0"/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Verificación y validación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Revisiones técnicas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5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Auditorías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¿Quién la realiza?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Desarrollo y QA; usuarios en validación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Pares y/o moderador entrenado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Un tercero independiente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¿Cuándo?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A lo largo de todo el ciclo de vida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En hitos definidos del proyecto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Periódica o ante un hito contractual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¿Qué evalúa?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Conformidad y adecuación al uso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Calidad técnica de un artefacto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Cumplimiento de normas y contratos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1" noProof="0" dirty="0">
                          <a:solidFill>
                            <a:srgbClr val="23325B"/>
                          </a:solidFill>
                          <a:latin typeface="Calibri"/>
                        </a:rPr>
                        <a:t>Resultado típico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Defectos corregidos, evidencia de pruebas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Lista de hallazgos y acciones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Informe de auditoría con no conformidades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ESTÁNDARES DE REFERENCIA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ISO/IEC 25010, IEEE 1028 e IEEE 730 aplicados a la calidad del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3544824" cy="265176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Oval 6"/>
          <p:cNvSpPr/>
          <p:nvPr/>
        </p:nvSpPr>
        <p:spPr>
          <a:xfrm>
            <a:off x="1909572" y="2331720"/>
            <a:ext cx="731520" cy="7315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2200" b="1" noProof="0" dirty="0">
                <a:solidFill>
                  <a:srgbClr val="23325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31790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550" b="1" i="0" noProof="0" dirty="0">
                <a:solidFill>
                  <a:srgbClr val="FFFFFF"/>
                </a:solidFill>
                <a:latin typeface="Cambria"/>
              </a:rPr>
              <a:t>ISO/IEC 25010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29961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s-CO" sz="1100" b="0" i="0" noProof="0" dirty="0">
                <a:solidFill>
                  <a:srgbClr val="CADCFC"/>
                </a:solidFill>
                <a:latin typeface="Calibri"/>
              </a:rPr>
              <a:t>Modelo de calidad del producto y de calidad en uso del software. Define características evaluables (9 en su revisión de 2023).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2057400"/>
            <a:ext cx="3544824" cy="265176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Oval 10"/>
          <p:cNvSpPr/>
          <p:nvPr/>
        </p:nvSpPr>
        <p:spPr>
          <a:xfrm>
            <a:off x="5728716" y="2331720"/>
            <a:ext cx="731520" cy="7315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2200" b="1" noProof="0" dirty="0">
                <a:solidFill>
                  <a:srgbClr val="23325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4944" y="3246120"/>
            <a:ext cx="31790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550" b="1" i="0" noProof="0" dirty="0">
                <a:solidFill>
                  <a:srgbClr val="FFFFFF"/>
                </a:solidFill>
                <a:latin typeface="Cambria"/>
              </a:rPr>
              <a:t>IEEE 1028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6384" y="3703320"/>
            <a:ext cx="29961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s-CO" sz="1100" b="0" i="0" noProof="0" dirty="0">
                <a:solidFill>
                  <a:srgbClr val="CADCFC"/>
                </a:solidFill>
                <a:latin typeface="Calibri"/>
              </a:rPr>
              <a:t>Estándar para revisiones y auditorías de software: define tipos, roles, entradas y salidas de cada revisión.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2057400"/>
            <a:ext cx="3544824" cy="265176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Oval 14"/>
          <p:cNvSpPr/>
          <p:nvPr/>
        </p:nvSpPr>
        <p:spPr>
          <a:xfrm>
            <a:off x="9547860" y="2331720"/>
            <a:ext cx="731520" cy="7315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2200" b="1" noProof="0" dirty="0">
                <a:solidFill>
                  <a:srgbClr val="23325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088" y="3246120"/>
            <a:ext cx="31790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550" b="1" i="0" noProof="0" dirty="0">
                <a:solidFill>
                  <a:srgbClr val="FFFFFF"/>
                </a:solidFill>
                <a:latin typeface="Cambria"/>
              </a:rPr>
              <a:t>IEEE 730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5528" y="3703320"/>
            <a:ext cx="299618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s-CO" sz="1100" b="0" i="0" noProof="0" dirty="0">
                <a:solidFill>
                  <a:srgbClr val="CADCFC"/>
                </a:solidFill>
                <a:latin typeface="Calibri"/>
              </a:rPr>
              <a:t>Estándar para los procesos de aseguramiento de la calidad del software: define las actividades de SQA y el contenido de su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37760"/>
            <a:ext cx="11183112" cy="105156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77240" y="5074920"/>
            <a:ext cx="1063447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1" noProof="0" dirty="0">
                <a:solidFill>
                  <a:srgbClr val="23325B"/>
                </a:solidFill>
                <a:latin typeface="Calibri"/>
              </a:rPr>
              <a:t>En la actividad de la semana: use ISO/IEC 25010 para justificar hallazgos y priorizar riesgos; use IEEE 1028 para diseñar la lista de control de revisión y el plan de auditoría.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noProof="0" dirty="0">
                <a:solidFill>
                  <a:schemeClr val="bg1"/>
                </a:solidFill>
              </a:rPr>
              <a:t>ISO/IEC 25010: CARACTERÍSTICAS DE CALIDAD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Nueve características evaluables del producto de software (revisión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Nueve características evaluables (revisión 2023), cada una con </a:t>
            </a:r>
            <a:r>
              <a:rPr lang="es-CO" sz="1250" b="0" i="1" noProof="0" dirty="0" err="1">
                <a:solidFill>
                  <a:srgbClr val="666E80"/>
                </a:solidFill>
                <a:latin typeface="Calibri"/>
              </a:rPr>
              <a:t>subcaracterísticas</a:t>
            </a: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 medibles.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688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Oval 7"/>
          <p:cNvSpPr/>
          <p:nvPr/>
        </p:nvSpPr>
        <p:spPr>
          <a:xfrm>
            <a:off x="667512" y="267462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Adecuación funcional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4688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Oval 10"/>
          <p:cNvSpPr/>
          <p:nvPr/>
        </p:nvSpPr>
        <p:spPr>
          <a:xfrm>
            <a:off x="4471416" y="267462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46888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Eficiencia de desempeño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246888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Oval 13"/>
          <p:cNvSpPr/>
          <p:nvPr/>
        </p:nvSpPr>
        <p:spPr>
          <a:xfrm>
            <a:off x="8275320" y="267462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46888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Compatibilidad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Oval 16"/>
          <p:cNvSpPr/>
          <p:nvPr/>
        </p:nvSpPr>
        <p:spPr>
          <a:xfrm>
            <a:off x="667512" y="372618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Capacidad de interacción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6824" y="352044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Oval 19"/>
          <p:cNvSpPr/>
          <p:nvPr/>
        </p:nvSpPr>
        <p:spPr>
          <a:xfrm>
            <a:off x="4471416" y="372618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352044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Fiabilidad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0728" y="352044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Oval 22"/>
          <p:cNvSpPr/>
          <p:nvPr/>
        </p:nvSpPr>
        <p:spPr>
          <a:xfrm>
            <a:off x="8275320" y="372618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352044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Seguridad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7200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Oval 25"/>
          <p:cNvSpPr/>
          <p:nvPr/>
        </p:nvSpPr>
        <p:spPr>
          <a:xfrm>
            <a:off x="667512" y="477774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7200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Mantenibilidad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457200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Oval 28"/>
          <p:cNvSpPr/>
          <p:nvPr/>
        </p:nvSpPr>
        <p:spPr>
          <a:xfrm>
            <a:off x="4471416" y="477774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457200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Flexibilidad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0728" y="4572000"/>
            <a:ext cx="3575304" cy="86868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Oval 31"/>
          <p:cNvSpPr/>
          <p:nvPr/>
        </p:nvSpPr>
        <p:spPr>
          <a:xfrm>
            <a:off x="8275320" y="4777740"/>
            <a:ext cx="457200" cy="457200"/>
          </a:xfrm>
          <a:prstGeom prst="ellipse">
            <a:avLst/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4572000"/>
            <a:ext cx="2615184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23325B"/>
                </a:solidFill>
                <a:latin typeface="Calibri"/>
              </a:rPr>
              <a:t>Seguridad de operación (Safety)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69280"/>
            <a:ext cx="1118311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000" b="0" i="1" noProof="0" dirty="0">
                <a:solidFill>
                  <a:srgbClr val="666E80"/>
                </a:solidFill>
                <a:latin typeface="Calibri"/>
              </a:rPr>
              <a:t>Fuente: ISO/IEC 25010:2023, </a:t>
            </a:r>
            <a:r>
              <a:rPr lang="es-CO" sz="1000" b="0" i="1" noProof="0" dirty="0" err="1">
                <a:solidFill>
                  <a:srgbClr val="666E80"/>
                </a:solidFill>
                <a:latin typeface="Calibri"/>
              </a:rPr>
              <a:t>Systems</a:t>
            </a:r>
            <a:r>
              <a:rPr lang="es-CO" sz="1000" b="0" i="1" noProof="0" dirty="0">
                <a:solidFill>
                  <a:srgbClr val="666E80"/>
                </a:solidFill>
                <a:latin typeface="Calibri"/>
              </a:rPr>
              <a:t> and software </a:t>
            </a:r>
            <a:r>
              <a:rPr lang="es-CO" sz="1000" b="0" i="1" noProof="0" dirty="0" err="1">
                <a:solidFill>
                  <a:srgbClr val="666E80"/>
                </a:solidFill>
                <a:latin typeface="Calibri"/>
              </a:rPr>
              <a:t>engineering</a:t>
            </a:r>
            <a:r>
              <a:rPr lang="es-CO" sz="1000" b="0" i="1" noProof="0" dirty="0">
                <a:solidFill>
                  <a:srgbClr val="666E80"/>
                </a:solidFill>
                <a:latin typeface="Calibri"/>
              </a:rPr>
              <a:t> — </a:t>
            </a:r>
            <a:r>
              <a:rPr lang="es-CO" sz="1000" b="0" i="1" noProof="0" dirty="0" err="1">
                <a:solidFill>
                  <a:srgbClr val="666E80"/>
                </a:solidFill>
                <a:latin typeface="Calibri"/>
              </a:rPr>
              <a:t>SQuaRE</a:t>
            </a:r>
            <a:r>
              <a:rPr lang="es-CO" sz="1000" b="0" i="1" noProof="0" dirty="0">
                <a:solidFill>
                  <a:srgbClr val="666E80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MÉTRICAS DE CALIDAD DEL SOFTWARE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292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Toda métrica útil combina una forma de medición con un criterio de aceptación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250" b="0" i="1" noProof="0" dirty="0">
                <a:solidFill>
                  <a:srgbClr val="666E80"/>
                </a:solidFill>
                <a:latin typeface="Calibri"/>
              </a:rPr>
              <a:t>Toda métrica útil combina una forma de medición con un criterio de aceptación claro.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79133"/>
              </p:ext>
            </p:extLst>
          </p:nvPr>
        </p:nvGraphicFramePr>
        <p:xfrm>
          <a:off x="502920" y="2468880"/>
          <a:ext cx="11183112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Métrica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Fórmula / forma de medición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200" b="1" noProof="0" dirty="0">
                          <a:solidFill>
                            <a:srgbClr val="FFC000"/>
                          </a:solidFill>
                          <a:latin typeface="Calibri"/>
                        </a:rPr>
                        <a:t>Criterio de aceptación</a:t>
                      </a:r>
                    </a:p>
                  </a:txBody>
                  <a:tcPr marL="73152" marR="73152" marT="36576" marB="36576" anchor="ctr">
                    <a:solidFill>
                      <a:srgbClr val="2332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Densidad de defectos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N.º de defectos / KLOC (miles de líneas de código)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≤ criterio del proyecto (p. ej. &lt; 5/KLOC)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Cobertura de pruebas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(Casos o líneas cubiertas / total) × 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≥ 80% en módulos críticos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Tasa de detección en revisión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Defectos hallados en revisión / total de defectos del proyecto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Cuanto mayor, antes se detectan los defectos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MTBF (tiempo medio entre fallos)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Horas de operación / n.º de fallos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≥ valor acordado en el SLA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Cumplimiento de acciones de auditoría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Hallazgos cerrados / hallazgos totales × 100%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100" b="0" noProof="0" dirty="0">
                          <a:solidFill>
                            <a:srgbClr val="262E40"/>
                          </a:solidFill>
                          <a:latin typeface="Calibri"/>
                        </a:rPr>
                        <a:t>100% antes de la liberación a producción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DE LA TEORÍA A LA PRÁCTICA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Cómo aplicar estos conceptos en la actividad evaluativa de la semana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Oval 6"/>
          <p:cNvSpPr/>
          <p:nvPr/>
        </p:nvSpPr>
        <p:spPr>
          <a:xfrm>
            <a:off x="704088" y="21945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8892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Analice el escenario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0040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Identifique actores, funcionalidades críticas, restricciones y 5 hallazgos de seguridad.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201168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Oval 10"/>
          <p:cNvSpPr/>
          <p:nvPr/>
        </p:nvSpPr>
        <p:spPr>
          <a:xfrm>
            <a:off x="4523232" y="21945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3232" y="278892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Diligencie la matriz V&amp;V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232" y="320040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Relacione cada requisito con verificación y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201168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Oval 14"/>
          <p:cNvSpPr/>
          <p:nvPr/>
        </p:nvSpPr>
        <p:spPr>
          <a:xfrm>
            <a:off x="8342376" y="21945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2376" y="278892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Construya la lista de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2376" y="320040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Mínimo 10 ítems de revisión técnica verificables.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Oval 18"/>
          <p:cNvSpPr/>
          <p:nvPr/>
        </p:nvSpPr>
        <p:spPr>
          <a:xfrm>
            <a:off x="704088" y="420624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0060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Diseñe el plan de auditoría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21208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Objetivo, alcance, criterios y evidencias.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2064" y="402336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Oval 22"/>
          <p:cNvSpPr/>
          <p:nvPr/>
        </p:nvSpPr>
        <p:spPr>
          <a:xfrm>
            <a:off x="4523232" y="420624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232" y="480060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Sustente con ISO/IEC 25010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3232" y="521208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Justifique cada hallazgo con la característica que compromete.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1208" y="4023360"/>
            <a:ext cx="3544824" cy="1783080"/>
          </a:xfrm>
          <a:prstGeom prst="roundRect">
            <a:avLst>
              <a:gd name="adj" fmla="val 6000"/>
            </a:avLst>
          </a:prstGeom>
          <a:solidFill>
            <a:srgbClr val="233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Oval 26"/>
          <p:cNvSpPr/>
          <p:nvPr/>
        </p:nvSpPr>
        <p:spPr>
          <a:xfrm>
            <a:off x="8342376" y="420624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2376" y="4800600"/>
            <a:ext cx="314248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CO" sz="1300" b="1" i="0" noProof="0" dirty="0">
                <a:solidFill>
                  <a:srgbClr val="FFFFFF"/>
                </a:solidFill>
                <a:latin typeface="Calibri"/>
              </a:rPr>
              <a:t>Defina métricas y concluya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2376" y="5212080"/>
            <a:ext cx="31424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050" b="0" i="0" noProof="0" dirty="0">
                <a:solidFill>
                  <a:srgbClr val="CADCFC"/>
                </a:solidFill>
                <a:latin typeface="Calibri"/>
              </a:rPr>
              <a:t>Mínimo 5 métricas con criterio de aceptación y recomendaciones priorizadas.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IDEAS CLAVE DE LA SEMANA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Cinco conclusiones para recordar antes de resolver el caso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Verificar y validar son actividades complementarias: una comprueba que se construye conforme a lo especificado, la otra confirma el valor para el usuario.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2608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Las revisiones técnicas (IEEE 1028) son la herramienta más costo-efectiva para detectar defectos antes de producción.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49040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Una auditoría exige independencia: quien la ejecuta no puede ser juez de su propio trabajo.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66344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Los estándares (ISO/IEC 25010, IEEE 730) dan un lenguaje común para justificar hallazgos y priorizar riesgos.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5532120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CO" sz="1500" b="1" noProof="0" dirty="0">
                <a:solidFill>
                  <a:srgbClr val="23325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86400"/>
            <a:ext cx="104973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CO" sz="1350" b="0" i="0" noProof="0" dirty="0">
                <a:solidFill>
                  <a:srgbClr val="262E40"/>
                </a:solidFill>
                <a:latin typeface="Calibri"/>
              </a:rPr>
              <a:t>Sin métricas con criterio de aceptación, la calidad queda como una opinión, no como una decisión sustentada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F6B7236-ADCC-D13A-7C6C-1B5FEAEF1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727" y="0"/>
            <a:ext cx="7200000" cy="115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b="1" noProof="0" dirty="0">
                <a:solidFill>
                  <a:schemeClr val="bg1"/>
                </a:solidFill>
              </a:rPr>
              <a:t>REFERENCIAS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801A48F-12B2-05B2-C7F8-A4A4864EBAC0}"/>
              </a:ext>
            </a:extLst>
          </p:cNvPr>
          <p:cNvSpPr txBox="1"/>
          <p:nvPr/>
        </p:nvSpPr>
        <p:spPr>
          <a:xfrm>
            <a:off x="502920" y="1620000"/>
            <a:ext cx="1150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Fuentes consultadas para el contenido de la semana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444" y="1998617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Chavarría, A., Oré, S., &amp; Pastor, C. (2016). Aseguramiento de la calidad en el proceso de desarrollo de software utilizando CMMI, TSP y PSP. Revista Ibérica de Sistemas 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Tecnologias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de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Informação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, (20), 62-77. http://dx.doi.org/10.17013/risti.20.62-77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44368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Paredes, L., Benavides, L., &amp; Sánchez, N. (2017). Guía de recomendación para la selección de un modelo de calidad para la mejora de procesos de software (SPI). Revista Ciencias Estratégicas.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877056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Institute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of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Electrical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Electronics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Engineers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 (2008). IEEE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Std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1028-2008: IEEE Standard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for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Software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Reviews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Audits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 IEEE.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09744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Institute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of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Electrical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Electronics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Engineers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 (2014). IEEE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Std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730-2014: IEEE Standard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for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Software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Quality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Assurance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Processes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 IEEE.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42432"/>
            <a:ext cx="11183112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International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Organization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for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Standardization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. (2023). ISO/IEC 25010:2023 —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Systems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software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engineering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—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Systems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software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quality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requirements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and 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evaluation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 (</a:t>
            </a:r>
            <a:r>
              <a:rPr lang="es-CO" sz="1250" b="0" i="0" noProof="0" dirty="0" err="1">
                <a:solidFill>
                  <a:srgbClr val="262E40"/>
                </a:solidFill>
                <a:latin typeface="Calibri"/>
              </a:rPr>
              <a:t>SQuaRE</a:t>
            </a:r>
            <a:r>
              <a:rPr lang="es-CO" sz="1250" b="0" i="0" noProof="0" dirty="0">
                <a:solidFill>
                  <a:srgbClr val="262E40"/>
                </a:solidFill>
                <a:latin typeface="Calibri"/>
              </a:rPr>
              <a:t>). ISO.</a:t>
            </a:r>
          </a:p>
        </p:txBody>
      </p:sp>
    </p:spTree>
    <p:extLst>
      <p:ext uri="{BB962C8B-B14F-4D97-AF65-F5344CB8AC3E}">
        <p14:creationId xmlns:p14="http://schemas.microsoft.com/office/powerpoint/2010/main" val="169977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09-AAE8-62F0-3A62-E003F41D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6FFB1F00-BE97-BE98-7D23-907738D05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7" y="1895"/>
            <a:ext cx="12192000" cy="68580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F2E2F08-52A4-C49F-8F6A-FFD7963C46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493" y="352325"/>
            <a:ext cx="4193066" cy="12618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D4F57740-2D4F-3CF9-5FAE-C46DADEBE4AF}"/>
              </a:ext>
            </a:extLst>
          </p:cNvPr>
          <p:cNvSpPr txBox="1"/>
          <p:nvPr/>
        </p:nvSpPr>
        <p:spPr>
          <a:xfrm>
            <a:off x="423578" y="4402909"/>
            <a:ext cx="11016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i="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www.uniminuto.edu</a:t>
            </a:r>
            <a:r>
              <a:rPr lang="es-CO" sz="2800" b="1" i="0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Narrow" panose="020B0004020202020204" pitchFamily="34" charset="0"/>
              </a:rPr>
              <a:t>/uniminuto-virtual</a:t>
            </a:r>
            <a:endParaRPr lang="es-CO" sz="2800" b="1" noProof="0" dirty="0">
              <a:solidFill>
                <a:srgbClr val="FEBE05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3906353-C08E-4548-090D-A1EBFD47B7BF}"/>
              </a:ext>
            </a:extLst>
          </p:cNvPr>
          <p:cNvSpPr txBox="1"/>
          <p:nvPr/>
        </p:nvSpPr>
        <p:spPr>
          <a:xfrm>
            <a:off x="3535712" y="1938579"/>
            <a:ext cx="5784486" cy="1203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CO" sz="8000" b="1" kern="100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GRACIAS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0A3E55B8-D253-DBAD-1101-11B3FFFC1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043" t="-3087" r="-3874" b="-2265"/>
          <a:stretch/>
        </p:blipFill>
        <p:spPr bwMode="auto">
          <a:xfrm rot="254132">
            <a:off x="1873003" y="1932882"/>
            <a:ext cx="2224970" cy="12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492E92B6-11F2-A11D-1E16-791654733331}"/>
              </a:ext>
            </a:extLst>
          </p:cNvPr>
          <p:cNvSpPr/>
          <p:nvPr/>
        </p:nvSpPr>
        <p:spPr>
          <a:xfrm>
            <a:off x="160357" y="921392"/>
            <a:ext cx="7401413" cy="122575"/>
          </a:xfrm>
          <a:prstGeom prst="rect">
            <a:avLst/>
          </a:prstGeom>
          <a:solidFill>
            <a:srgbClr val="FEB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B3FEE3-64D0-772A-0A61-D11F12ECF337}"/>
              </a:ext>
            </a:extLst>
          </p:cNvPr>
          <p:cNvSpPr txBox="1"/>
          <p:nvPr/>
        </p:nvSpPr>
        <p:spPr>
          <a:xfrm>
            <a:off x="2985950" y="3172713"/>
            <a:ext cx="6142437" cy="1167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000"/>
              </a:lnSpc>
            </a:pPr>
            <a:r>
              <a:rPr lang="es-CO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</a:t>
            </a:r>
            <a:r>
              <a:rPr lang="es-CO" sz="1600" b="1" noProof="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Educamos sin fronteras transformándonos para el futuro con </a:t>
            </a:r>
          </a:p>
          <a:p>
            <a:pPr>
              <a:lnSpc>
                <a:spcPts val="4000"/>
              </a:lnSpc>
            </a:pPr>
            <a:r>
              <a:rPr lang="es-CO" sz="4400" b="1" noProof="0" dirty="0">
                <a:solidFill>
                  <a:srgbClr val="FEBE05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   CALIDAD Y CALIDEZ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BB92EF03-AA5F-BDC6-8DD7-15962ED54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34883" y="5628381"/>
            <a:ext cx="1427032" cy="78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77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1762</Words>
  <Application>Microsoft Office PowerPoint</Application>
  <PresentationFormat>Panorámica</PresentationFormat>
  <Paragraphs>220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8" baseType="lpstr">
      <vt:lpstr>Aptos</vt:lpstr>
      <vt:lpstr>Aptos Display</vt:lpstr>
      <vt:lpstr>Aptos Narrow</vt:lpstr>
      <vt:lpstr>Arial</vt:lpstr>
      <vt:lpstr>Calibri</vt:lpstr>
      <vt:lpstr>Calibri Light</vt:lpstr>
      <vt:lpstr>Cambria</vt:lpstr>
      <vt:lpstr>Cardana</vt:lpstr>
      <vt:lpstr>Century Gothic</vt:lpstr>
      <vt:lpstr>DM Sans Bold</vt:lpstr>
      <vt:lpstr>Tema de Office</vt:lpstr>
      <vt:lpstr>Office Theme</vt:lpstr>
      <vt:lpstr>ASEGURAMIENTO DE LA CALIDAD DEL SOFTWARE</vt:lpstr>
      <vt:lpstr>Presentación de PowerPoint</vt:lpstr>
      <vt:lpstr>ASEGURAMIENTO DE LA CALIDAD DEL SOFTWARE (SQA)</vt:lpstr>
      <vt:lpstr>VERIFICACIÓN VS. VALIDACIÓN</vt:lpstr>
      <vt:lpstr>TÉCNICAS DE VERIFICACIÓN (ESTÁTICAS)</vt:lpstr>
      <vt:lpstr>TÉCNICAS DE VALIDACIÓN (DINÁMICAS)</vt:lpstr>
      <vt:lpstr>REVISIONES TÉCNICAS SEGÚN IEEE 1028</vt:lpstr>
      <vt:lpstr>AUDITORÍAS DE SOFTWARE</vt:lpstr>
      <vt:lpstr>COMPARATIVO: V&amp;V, REVISIONES Y AUDITORÍAS</vt:lpstr>
      <vt:lpstr>ESTÁNDARES DE REFERENCIA</vt:lpstr>
      <vt:lpstr>ISO/IEC 25010: CARACTERÍSTICAS DE CALIDAD</vt:lpstr>
      <vt:lpstr>MÉTRICAS DE CALIDAD DEL SOFTWARE</vt:lpstr>
      <vt:lpstr>DE LA TEORÍA A LA PRÁCTICA</vt:lpstr>
      <vt:lpstr>IDEAS CLAVE DE LA SEMANA</vt:lpstr>
      <vt:lpstr>REFERENCIAS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LINA MARCELA NIETO ALBA</dc:creator>
  <cp:lastModifiedBy>CESAR ALFONSO BOLADO SILVA</cp:lastModifiedBy>
  <cp:revision>52</cp:revision>
  <dcterms:created xsi:type="dcterms:W3CDTF">2024-01-22T15:06:30Z</dcterms:created>
  <dcterms:modified xsi:type="dcterms:W3CDTF">2026-10-22T19:15:03Z</dcterms:modified>
</cp:coreProperties>
</file>