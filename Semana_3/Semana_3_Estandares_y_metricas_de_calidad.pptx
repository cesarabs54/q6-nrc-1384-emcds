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9" r:id="rId3"/>
    <p:sldId id="282" r:id="rId4"/>
    <p:sldId id="283" r:id="rId5"/>
    <p:sldId id="273" r:id="rId6"/>
    <p:sldId id="272" r:id="rId7"/>
    <p:sldId id="271" r:id="rId8"/>
    <p:sldId id="279" r:id="rId9"/>
    <p:sldId id="260" r:id="rId10"/>
    <p:sldId id="262" r:id="rId11"/>
    <p:sldId id="265" r:id="rId12"/>
    <p:sldId id="281" r:id="rId13"/>
    <p:sldId id="285" r:id="rId14"/>
    <p:sldId id="287" r:id="rId15"/>
    <p:sldId id="264" r:id="rId16"/>
    <p:sldId id="278" r:id="rId17"/>
    <p:sldId id="286" r:id="rId18"/>
    <p:sldId id="261" r:id="rId19"/>
    <p:sldId id="266" r:id="rId20"/>
    <p:sldId id="267" r:id="rId21"/>
    <p:sldId id="274" r:id="rId22"/>
    <p:sldId id="275" r:id="rId23"/>
    <p:sldId id="276" r:id="rId24"/>
    <p:sldId id="277" r:id="rId25"/>
    <p:sldId id="270" r:id="rId26"/>
    <p:sldId id="268" r:id="rId27"/>
    <p:sldId id="269" r:id="rId28"/>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BEEFD"/>
    <a:srgbClr val="B8F6FE"/>
    <a:srgbClr val="FFFFFF"/>
    <a:srgbClr val="007A37"/>
    <a:srgbClr val="00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145D28-35B6-8042-98E8-A2DB3305423D}" v="6" dt="2024-03-01T21:35:48.9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9270" autoAdjust="0"/>
    <p:restoredTop sz="96374" autoAdjust="0"/>
  </p:normalViewPr>
  <p:slideViewPr>
    <p:cSldViewPr snapToGrid="0">
      <p:cViewPr varScale="1">
        <p:scale>
          <a:sx n="103" d="100"/>
          <a:sy n="103" d="100"/>
        </p:scale>
        <p:origin x="114" y="336"/>
      </p:cViewPr>
      <p:guideLst/>
    </p:cSldViewPr>
  </p:slid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35C25A-EB36-47A0-9FD7-DE8450ACEFF0}" type="datetimeFigureOut">
              <a:rPr lang="es-CO" smtClean="0"/>
              <a:t>22/10/2026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EC55DB-397F-4AC6-8647-D1E20B065C4D}" type="slidenum">
              <a:rPr lang="es-CO" smtClean="0"/>
              <a:t>‹Nº›</a:t>
            </a:fld>
            <a:endParaRPr lang="es-CO"/>
          </a:p>
        </p:txBody>
      </p:sp>
    </p:spTree>
    <p:extLst>
      <p:ext uri="{BB962C8B-B14F-4D97-AF65-F5344CB8AC3E}">
        <p14:creationId xmlns:p14="http://schemas.microsoft.com/office/powerpoint/2010/main" val="1253713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53157-EFC0-FDF2-113A-62C783AFAC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6E7767-4E64-230E-7D60-FEEB2DE2F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8A5ECF-45DD-DE6D-034E-5C3D4041F3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58C0AB-3D26-B1A7-2209-318BE72D5415}"/>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1237256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4CD62-9A80-378A-6C91-BD86D2E14D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DF65FC-4D85-0911-5852-805F9C0A55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182D87-5613-4B7C-024D-F0467FCFFD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243050-3986-1643-9CC1-7BAE496CBAA4}"/>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3817934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C0321-3A49-9BA9-7697-6FFF0FB466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1FCE27-3CA4-F3C1-AF61-B3988F71F9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724048-529E-8897-0590-871C4E5D36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124006-0BE5-FCAD-A043-C831113D2D7A}"/>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802888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B0550-D275-ADA4-88C6-CF0F2A08F3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DCEC07-69BB-C950-E312-E410AA0842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F7CEFB-E3D4-6D45-149F-8008BA2BD2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488A0C-DEDA-53B9-E5CE-7627F43B529F}"/>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9456666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1DD62-C4F8-08A0-F4D1-4BC7CBDF3D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06C2FD-3CD1-16C6-34C4-85745DAB60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5C10A1-88B4-2B53-E08D-05147E2416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377564-557C-F201-8ABF-784A45817FC4}"/>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7386974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7EF32-4823-8793-0429-ED348A4FDD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0E3DAA-9206-893B-41C0-9B064462BA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416F8D-F5A8-4AC3-C8EA-F6FF9ED838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679B2C-0E8E-78E3-9787-9B83FD5007A2}"/>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7712780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FE6465-9E2C-F7D1-1025-017C427D60B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E12FCAB6-F63E-EA0F-01F2-8E3E1C2B78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C99D3401-411E-EE18-DCDF-19B6CD4F8413}"/>
              </a:ext>
            </a:extLst>
          </p:cNvPr>
          <p:cNvSpPr>
            <a:spLocks noGrp="1"/>
          </p:cNvSpPr>
          <p:nvPr>
            <p:ph type="dt" sz="half" idx="10"/>
          </p:nvPr>
        </p:nvSpPr>
        <p:spPr/>
        <p:txBody>
          <a:bodyPr/>
          <a:lstStyle/>
          <a:p>
            <a:fld id="{21508EDE-BAAD-1743-A60D-6B891320FA45}" type="datetimeFigureOut">
              <a:rPr lang="es-CO" smtClean="0"/>
              <a:t>22/10/2026</a:t>
            </a:fld>
            <a:endParaRPr lang="es-CO"/>
          </a:p>
        </p:txBody>
      </p:sp>
      <p:sp>
        <p:nvSpPr>
          <p:cNvPr id="5" name="Marcador de pie de página 4">
            <a:extLst>
              <a:ext uri="{FF2B5EF4-FFF2-40B4-BE49-F238E27FC236}">
                <a16:creationId xmlns:a16="http://schemas.microsoft.com/office/drawing/2014/main" id="{18F1AF5F-7707-9BBB-28C2-ECB54EF253F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DA4DE97-7E1B-9F6C-1FEE-5248F8457324}"/>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2005221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438F18-1C0B-0749-058E-1B0E686BC57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CE53D8DE-7C2E-BD97-A2AA-88F4EE1D140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241F956-2A51-B46A-6C84-292248ABCBC8}"/>
              </a:ext>
            </a:extLst>
          </p:cNvPr>
          <p:cNvSpPr>
            <a:spLocks noGrp="1"/>
          </p:cNvSpPr>
          <p:nvPr>
            <p:ph type="dt" sz="half" idx="10"/>
          </p:nvPr>
        </p:nvSpPr>
        <p:spPr/>
        <p:txBody>
          <a:bodyPr/>
          <a:lstStyle/>
          <a:p>
            <a:fld id="{21508EDE-BAAD-1743-A60D-6B891320FA45}" type="datetimeFigureOut">
              <a:rPr lang="es-CO" smtClean="0"/>
              <a:t>22/10/2026</a:t>
            </a:fld>
            <a:endParaRPr lang="es-CO"/>
          </a:p>
        </p:txBody>
      </p:sp>
      <p:sp>
        <p:nvSpPr>
          <p:cNvPr id="5" name="Marcador de pie de página 4">
            <a:extLst>
              <a:ext uri="{FF2B5EF4-FFF2-40B4-BE49-F238E27FC236}">
                <a16:creationId xmlns:a16="http://schemas.microsoft.com/office/drawing/2014/main" id="{3987A6C4-FA66-E3C7-C032-D85598F3E19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FC0D02B-4304-EE2A-7E8C-0B375B0E798F}"/>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1518678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A2CDD2-34BE-1894-DA03-D379832127A6}"/>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FCB16E9-FD19-12B7-D1BA-245A60284C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DC213C5-1FA3-FA2A-3678-2ADA22CC3EC3}"/>
              </a:ext>
            </a:extLst>
          </p:cNvPr>
          <p:cNvSpPr>
            <a:spLocks noGrp="1"/>
          </p:cNvSpPr>
          <p:nvPr>
            <p:ph type="dt" sz="half" idx="10"/>
          </p:nvPr>
        </p:nvSpPr>
        <p:spPr/>
        <p:txBody>
          <a:bodyPr/>
          <a:lstStyle/>
          <a:p>
            <a:fld id="{21508EDE-BAAD-1743-A60D-6B891320FA45}" type="datetimeFigureOut">
              <a:rPr lang="es-CO" smtClean="0"/>
              <a:t>22/10/2026</a:t>
            </a:fld>
            <a:endParaRPr lang="es-CO"/>
          </a:p>
        </p:txBody>
      </p:sp>
      <p:sp>
        <p:nvSpPr>
          <p:cNvPr id="5" name="Marcador de pie de página 4">
            <a:extLst>
              <a:ext uri="{FF2B5EF4-FFF2-40B4-BE49-F238E27FC236}">
                <a16:creationId xmlns:a16="http://schemas.microsoft.com/office/drawing/2014/main" id="{C45E7D18-5809-0535-9B55-5867923310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F40B6F2-CB20-8B3A-9673-FAA2CDC1DCAD}"/>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3447395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60887D-BAD9-E85D-38D1-19C82452DAD3}"/>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B0A55F1D-7973-0849-FAC7-2ED08D995CA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421175A7-F5D8-ADBE-35ED-2EA07ECACD7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F55B74CC-3C64-9425-489C-24DB5B4923DB}"/>
              </a:ext>
            </a:extLst>
          </p:cNvPr>
          <p:cNvSpPr>
            <a:spLocks noGrp="1"/>
          </p:cNvSpPr>
          <p:nvPr>
            <p:ph type="dt" sz="half" idx="10"/>
          </p:nvPr>
        </p:nvSpPr>
        <p:spPr/>
        <p:txBody>
          <a:bodyPr/>
          <a:lstStyle/>
          <a:p>
            <a:fld id="{21508EDE-BAAD-1743-A60D-6B891320FA45}" type="datetimeFigureOut">
              <a:rPr lang="es-CO" smtClean="0"/>
              <a:t>22/10/2026</a:t>
            </a:fld>
            <a:endParaRPr lang="es-CO"/>
          </a:p>
        </p:txBody>
      </p:sp>
      <p:sp>
        <p:nvSpPr>
          <p:cNvPr id="6" name="Marcador de pie de página 5">
            <a:extLst>
              <a:ext uri="{FF2B5EF4-FFF2-40B4-BE49-F238E27FC236}">
                <a16:creationId xmlns:a16="http://schemas.microsoft.com/office/drawing/2014/main" id="{0949404E-8840-6F19-6ECE-CBDEE7D3B7B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5B467B64-DB77-85DF-90EC-68DC705D5571}"/>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2481511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C812DA-5830-C2DA-FEC4-9F93505A5853}"/>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0C15237-094B-515A-A77F-0F30C24DE8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B199354-1A5B-0CF0-3712-B0B77DEA31FC}"/>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16B310BE-BFEF-A116-C85B-AC716031CD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3A1E757-3A71-28BB-8A9E-ECEA14D187A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BBF01BB1-AD86-2BA0-55E8-8951173DFEE5}"/>
              </a:ext>
            </a:extLst>
          </p:cNvPr>
          <p:cNvSpPr>
            <a:spLocks noGrp="1"/>
          </p:cNvSpPr>
          <p:nvPr>
            <p:ph type="dt" sz="half" idx="10"/>
          </p:nvPr>
        </p:nvSpPr>
        <p:spPr/>
        <p:txBody>
          <a:bodyPr/>
          <a:lstStyle/>
          <a:p>
            <a:fld id="{21508EDE-BAAD-1743-A60D-6B891320FA45}" type="datetimeFigureOut">
              <a:rPr lang="es-CO" smtClean="0"/>
              <a:t>22/10/2026</a:t>
            </a:fld>
            <a:endParaRPr lang="es-CO"/>
          </a:p>
        </p:txBody>
      </p:sp>
      <p:sp>
        <p:nvSpPr>
          <p:cNvPr id="8" name="Marcador de pie de página 7">
            <a:extLst>
              <a:ext uri="{FF2B5EF4-FFF2-40B4-BE49-F238E27FC236}">
                <a16:creationId xmlns:a16="http://schemas.microsoft.com/office/drawing/2014/main" id="{E514BB14-7FDE-B22B-DBE5-F68508CF3E82}"/>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B4445680-3080-CA10-7F3C-A949E505D295}"/>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2107763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09DD37-5352-2F73-3A29-4538B3E97BA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CB8BDF24-B2D4-B274-E41E-B863DADA0D3C}"/>
              </a:ext>
            </a:extLst>
          </p:cNvPr>
          <p:cNvSpPr>
            <a:spLocks noGrp="1"/>
          </p:cNvSpPr>
          <p:nvPr>
            <p:ph type="dt" sz="half" idx="10"/>
          </p:nvPr>
        </p:nvSpPr>
        <p:spPr/>
        <p:txBody>
          <a:bodyPr/>
          <a:lstStyle/>
          <a:p>
            <a:fld id="{21508EDE-BAAD-1743-A60D-6B891320FA45}" type="datetimeFigureOut">
              <a:rPr lang="es-CO" smtClean="0"/>
              <a:t>22/10/2026</a:t>
            </a:fld>
            <a:endParaRPr lang="es-CO"/>
          </a:p>
        </p:txBody>
      </p:sp>
      <p:sp>
        <p:nvSpPr>
          <p:cNvPr id="4" name="Marcador de pie de página 3">
            <a:extLst>
              <a:ext uri="{FF2B5EF4-FFF2-40B4-BE49-F238E27FC236}">
                <a16:creationId xmlns:a16="http://schemas.microsoft.com/office/drawing/2014/main" id="{BDFFC90A-39FD-B1DE-A6E9-4C076C92E9AE}"/>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A9F9A598-81CC-A97C-4ED5-351CC2B2BE05}"/>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114857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8D21982-7EB1-D639-9FE6-2ED2E1E5B915}"/>
              </a:ext>
            </a:extLst>
          </p:cNvPr>
          <p:cNvSpPr>
            <a:spLocks noGrp="1"/>
          </p:cNvSpPr>
          <p:nvPr>
            <p:ph type="dt" sz="half" idx="10"/>
          </p:nvPr>
        </p:nvSpPr>
        <p:spPr/>
        <p:txBody>
          <a:bodyPr/>
          <a:lstStyle/>
          <a:p>
            <a:fld id="{21508EDE-BAAD-1743-A60D-6B891320FA45}" type="datetimeFigureOut">
              <a:rPr lang="es-CO" smtClean="0"/>
              <a:t>22/10/2026</a:t>
            </a:fld>
            <a:endParaRPr lang="es-CO"/>
          </a:p>
        </p:txBody>
      </p:sp>
      <p:sp>
        <p:nvSpPr>
          <p:cNvPr id="3" name="Marcador de pie de página 2">
            <a:extLst>
              <a:ext uri="{FF2B5EF4-FFF2-40B4-BE49-F238E27FC236}">
                <a16:creationId xmlns:a16="http://schemas.microsoft.com/office/drawing/2014/main" id="{CB4BA5B4-1ACB-A6E1-8153-F6017EC0892A}"/>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0D3346AA-BB89-908E-34AC-B5C0BB4FD7D5}"/>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191656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5DE547-B4C9-54C6-166C-68F57B52C0D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E505AAA1-ED18-5D90-54DF-27F28CDEBD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5DAB449D-32A1-2028-FDD4-838932A96D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4E5BA6E-6660-0920-EEC0-2CE2AA83518E}"/>
              </a:ext>
            </a:extLst>
          </p:cNvPr>
          <p:cNvSpPr>
            <a:spLocks noGrp="1"/>
          </p:cNvSpPr>
          <p:nvPr>
            <p:ph type="dt" sz="half" idx="10"/>
          </p:nvPr>
        </p:nvSpPr>
        <p:spPr/>
        <p:txBody>
          <a:bodyPr/>
          <a:lstStyle/>
          <a:p>
            <a:fld id="{21508EDE-BAAD-1743-A60D-6B891320FA45}" type="datetimeFigureOut">
              <a:rPr lang="es-CO" smtClean="0"/>
              <a:t>22/10/2026</a:t>
            </a:fld>
            <a:endParaRPr lang="es-CO"/>
          </a:p>
        </p:txBody>
      </p:sp>
      <p:sp>
        <p:nvSpPr>
          <p:cNvPr id="6" name="Marcador de pie de página 5">
            <a:extLst>
              <a:ext uri="{FF2B5EF4-FFF2-40B4-BE49-F238E27FC236}">
                <a16:creationId xmlns:a16="http://schemas.microsoft.com/office/drawing/2014/main" id="{00B30D8E-B087-EA02-03E2-521DFA4911AE}"/>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05C3B8D4-7896-270C-F6AB-532E0B8BEF57}"/>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2585407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4AE17D-485A-ECB9-B3CF-28BF2EEDC97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186ACA8F-B1F8-B561-1D8A-F688DA253C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BCE67B78-E7A8-5297-69F2-9F2F3E2F5D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2791531-116A-C123-A7D4-1AB359D94BEB}"/>
              </a:ext>
            </a:extLst>
          </p:cNvPr>
          <p:cNvSpPr>
            <a:spLocks noGrp="1"/>
          </p:cNvSpPr>
          <p:nvPr>
            <p:ph type="dt" sz="half" idx="10"/>
          </p:nvPr>
        </p:nvSpPr>
        <p:spPr/>
        <p:txBody>
          <a:bodyPr/>
          <a:lstStyle/>
          <a:p>
            <a:fld id="{21508EDE-BAAD-1743-A60D-6B891320FA45}" type="datetimeFigureOut">
              <a:rPr lang="es-CO" smtClean="0"/>
              <a:t>22/10/2026</a:t>
            </a:fld>
            <a:endParaRPr lang="es-CO"/>
          </a:p>
        </p:txBody>
      </p:sp>
      <p:sp>
        <p:nvSpPr>
          <p:cNvPr id="6" name="Marcador de pie de página 5">
            <a:extLst>
              <a:ext uri="{FF2B5EF4-FFF2-40B4-BE49-F238E27FC236}">
                <a16:creationId xmlns:a16="http://schemas.microsoft.com/office/drawing/2014/main" id="{8E162658-4EB8-E7B1-D7CD-832BF8532B09}"/>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1D045AE-C0E6-8B3A-974C-D535A28130B6}"/>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693458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968E0A-C617-9494-7FAF-EE98EDB3E7C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43F01092-4D79-7865-173C-3380705A57C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FB4A24B-2361-24B8-088C-8A82963BEF81}"/>
              </a:ext>
            </a:extLst>
          </p:cNvPr>
          <p:cNvSpPr>
            <a:spLocks noGrp="1"/>
          </p:cNvSpPr>
          <p:nvPr>
            <p:ph type="dt" sz="half" idx="10"/>
          </p:nvPr>
        </p:nvSpPr>
        <p:spPr/>
        <p:txBody>
          <a:bodyPr/>
          <a:lstStyle/>
          <a:p>
            <a:fld id="{21508EDE-BAAD-1743-A60D-6B891320FA45}" type="datetimeFigureOut">
              <a:rPr lang="es-CO" smtClean="0"/>
              <a:t>22/10/2026</a:t>
            </a:fld>
            <a:endParaRPr lang="es-CO"/>
          </a:p>
        </p:txBody>
      </p:sp>
      <p:sp>
        <p:nvSpPr>
          <p:cNvPr id="5" name="Marcador de pie de página 4">
            <a:extLst>
              <a:ext uri="{FF2B5EF4-FFF2-40B4-BE49-F238E27FC236}">
                <a16:creationId xmlns:a16="http://schemas.microsoft.com/office/drawing/2014/main" id="{F4B4E638-2A05-64BB-86B6-F7A751FAA37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66CA604-5EC2-B4B2-BCDA-A72C5B4B9B94}"/>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2502893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28B9AF1-B843-BB83-C453-61FDF2F92C93}"/>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2F26157F-1794-7926-228C-B16FC0F9725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304E3A9-CC90-9107-B985-908B92FF6019}"/>
              </a:ext>
            </a:extLst>
          </p:cNvPr>
          <p:cNvSpPr>
            <a:spLocks noGrp="1"/>
          </p:cNvSpPr>
          <p:nvPr>
            <p:ph type="dt" sz="half" idx="10"/>
          </p:nvPr>
        </p:nvSpPr>
        <p:spPr/>
        <p:txBody>
          <a:bodyPr/>
          <a:lstStyle/>
          <a:p>
            <a:fld id="{21508EDE-BAAD-1743-A60D-6B891320FA45}" type="datetimeFigureOut">
              <a:rPr lang="es-CO" smtClean="0"/>
              <a:t>22/10/2026</a:t>
            </a:fld>
            <a:endParaRPr lang="es-CO"/>
          </a:p>
        </p:txBody>
      </p:sp>
      <p:sp>
        <p:nvSpPr>
          <p:cNvPr id="5" name="Marcador de pie de página 4">
            <a:extLst>
              <a:ext uri="{FF2B5EF4-FFF2-40B4-BE49-F238E27FC236}">
                <a16:creationId xmlns:a16="http://schemas.microsoft.com/office/drawing/2014/main" id="{2DEB48AE-EC58-2E10-FC72-45F6A53E4AA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2C0554D-9DB8-83AA-D250-A01E05DD562D}"/>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24994830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9902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BC8005C-7059-394A-5A7F-ADC560A005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81F0D5C-0C3B-8E6D-BFE1-56159D559E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5E041F9-8DD3-E69E-92E5-4B036E7F04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508EDE-BAAD-1743-A60D-6B891320FA45}" type="datetimeFigureOut">
              <a:rPr lang="es-CO" smtClean="0"/>
              <a:t>22/10/2026</a:t>
            </a:fld>
            <a:endParaRPr lang="es-CO"/>
          </a:p>
        </p:txBody>
      </p:sp>
      <p:sp>
        <p:nvSpPr>
          <p:cNvPr id="5" name="Marcador de pie de página 4">
            <a:extLst>
              <a:ext uri="{FF2B5EF4-FFF2-40B4-BE49-F238E27FC236}">
                <a16:creationId xmlns:a16="http://schemas.microsoft.com/office/drawing/2014/main" id="{83B60668-6D85-2862-B828-AA14A716B8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00B7542E-F1B7-7AC5-E112-1617942BE1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A12EED-67C1-B54C-BDC1-C9887C8F6E96}" type="slidenum">
              <a:rPr lang="es-CO" smtClean="0"/>
              <a:t>‹Nº›</a:t>
            </a:fld>
            <a:endParaRPr lang="es-CO"/>
          </a:p>
        </p:txBody>
      </p:sp>
    </p:spTree>
    <p:extLst>
      <p:ext uri="{BB962C8B-B14F-4D97-AF65-F5344CB8AC3E}">
        <p14:creationId xmlns:p14="http://schemas.microsoft.com/office/powerpoint/2010/main" val="38116308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DD72862-1FC3-85DE-E7F9-11D463592D43}"/>
              </a:ext>
            </a:extLst>
          </p:cNvPr>
          <p:cNvSpPr txBox="1"/>
          <p:nvPr/>
        </p:nvSpPr>
        <p:spPr>
          <a:xfrm>
            <a:off x="218734" y="3166762"/>
            <a:ext cx="10967131" cy="1508105"/>
          </a:xfrm>
          <a:prstGeom prst="rect">
            <a:avLst/>
          </a:prstGeom>
          <a:noFill/>
        </p:spPr>
        <p:txBody>
          <a:bodyPr wrap="square">
            <a:spAutoFit/>
          </a:bodyPr>
          <a:lstStyle/>
          <a:p>
            <a:r>
              <a:rPr lang="es-CO" sz="3200" noProof="0" dirty="0">
                <a:solidFill>
                  <a:schemeClr val="bg1"/>
                </a:solidFill>
                <a:latin typeface="Century Gothic" panose="020B0502020202020204" pitchFamily="34" charset="0"/>
              </a:rPr>
              <a:t>Aseguramiento de la Calidad del Software</a:t>
            </a:r>
          </a:p>
          <a:p>
            <a:r>
              <a:rPr lang="es-CO" sz="2800" b="1" noProof="0" dirty="0">
                <a:solidFill>
                  <a:srgbClr val="7BEEFD"/>
                </a:solidFill>
                <a:latin typeface="Century Gothic" panose="020B0502020202020204" pitchFamily="34" charset="0"/>
              </a:rPr>
              <a:t>Caracterización de Defectos</a:t>
            </a:r>
          </a:p>
          <a:p>
            <a:endParaRPr lang="es-CO" sz="3200" noProof="0"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12842045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0" y="0"/>
            <a:ext cx="5708342" cy="779307"/>
          </a:xfrm>
          <a:prstGeom prst="rect">
            <a:avLst/>
          </a:prstGeom>
        </p:spPr>
      </p:pic>
      <p:sp>
        <p:nvSpPr>
          <p:cNvPr id="5" name="Title"/>
          <p:cNvSpPr txBox="1">
            <a:spLocks noGrp="1"/>
          </p:cNvSpPr>
          <p:nvPr>
            <p:ph type="title"/>
          </p:nvPr>
        </p:nvSpPr>
        <p:spPr>
          <a:xfrm>
            <a:off x="131870" y="1108922"/>
            <a:ext cx="11500000" cy="382156"/>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Contenido</a:t>
            </a:r>
          </a:p>
        </p:txBody>
      </p:sp>
      <p:sp>
        <p:nvSpPr>
          <p:cNvPr id="7" name="Content"/>
          <p:cNvSpPr/>
          <p:nvPr/>
        </p:nvSpPr>
        <p:spPr>
          <a:xfrm>
            <a:off x="421004" y="1700000"/>
            <a:ext cx="11350000" cy="4049078"/>
          </a:xfrm>
          <a:prstGeom prst="rect">
            <a:avLst/>
          </a:prstGeom>
        </p:spPr>
        <p:txBody>
          <a:bodyPr wrap="square" anchor="ctr"/>
          <a:lstStyle/>
          <a:p>
            <a:pPr marL="342900" lvl="0" indent="-342900">
              <a:lnSpc>
                <a:spcPct val="107000"/>
              </a:lnSpc>
              <a:spcAft>
                <a:spcPts val="250"/>
              </a:spcAft>
              <a:buAutoNum type="arabicPeriod"/>
            </a:pPr>
            <a:r>
              <a:rPr lang="es-CO" sz="1600" b="1" noProof="0" dirty="0">
                <a:solidFill>
                  <a:srgbClr val="003366"/>
                </a:solidFill>
                <a:latin typeface="Calibri"/>
              </a:rPr>
              <a:t>Contexto y fundamentos de la calidad del software</a:t>
            </a:r>
          </a:p>
          <a:p>
            <a:pPr marL="342900" lvl="0" indent="-342900">
              <a:lnSpc>
                <a:spcPct val="107000"/>
              </a:lnSpc>
              <a:spcAft>
                <a:spcPts val="250"/>
              </a:spcAft>
              <a:buAutoNum type="arabicPeriod"/>
            </a:pPr>
            <a:r>
              <a:rPr lang="es-CO" sz="1600" b="1" noProof="0" dirty="0">
                <a:solidFill>
                  <a:srgbClr val="003366"/>
                </a:solidFill>
                <a:latin typeface="Calibri"/>
              </a:rPr>
              <a:t>Estándar ISO/IEC 29110 para </a:t>
            </a:r>
            <a:r>
              <a:rPr lang="es-CO" sz="1600" b="1" noProof="0" dirty="0" err="1">
                <a:solidFill>
                  <a:srgbClr val="003366"/>
                </a:solidFill>
                <a:latin typeface="Calibri"/>
              </a:rPr>
              <a:t>VSEs</a:t>
            </a:r>
            <a:endParaRPr lang="es-CO" sz="1600" b="1" noProof="0" dirty="0">
              <a:solidFill>
                <a:srgbClr val="003366"/>
              </a:solidFill>
              <a:latin typeface="Calibri"/>
            </a:endParaRPr>
          </a:p>
          <a:p>
            <a:pPr marL="342900" lvl="0" indent="-342900">
              <a:lnSpc>
                <a:spcPct val="107000"/>
              </a:lnSpc>
              <a:spcAft>
                <a:spcPts val="250"/>
              </a:spcAft>
              <a:buAutoNum type="arabicPeriod"/>
            </a:pPr>
            <a:r>
              <a:rPr lang="es-CO" sz="1600" b="1" noProof="0" dirty="0">
                <a:solidFill>
                  <a:srgbClr val="003366"/>
                </a:solidFill>
                <a:latin typeface="Calibri"/>
              </a:rPr>
              <a:t>Defectos de software y su caracterización</a:t>
            </a:r>
          </a:p>
          <a:p>
            <a:pPr marL="342900" lvl="0" indent="-342900">
              <a:lnSpc>
                <a:spcPct val="107000"/>
              </a:lnSpc>
              <a:spcAft>
                <a:spcPts val="250"/>
              </a:spcAft>
              <a:buAutoNum type="arabicPeriod"/>
            </a:pPr>
            <a:r>
              <a:rPr lang="es-CO" sz="1600" b="1" noProof="0" dirty="0">
                <a:solidFill>
                  <a:srgbClr val="003366"/>
                </a:solidFill>
                <a:latin typeface="Calibri"/>
              </a:rPr>
              <a:t>Clasificación, métricas y aplicación en ISO/IEC 29110</a:t>
            </a:r>
          </a:p>
          <a:p>
            <a:pPr marL="342900" lvl="0" indent="-342900">
              <a:lnSpc>
                <a:spcPct val="107000"/>
              </a:lnSpc>
              <a:spcAft>
                <a:spcPts val="250"/>
              </a:spcAft>
              <a:buAutoNum type="arabicPeriod"/>
            </a:pPr>
            <a:r>
              <a:rPr lang="es-CO" sz="1600" b="1" noProof="0" dirty="0">
                <a:solidFill>
                  <a:srgbClr val="003366"/>
                </a:solidFill>
                <a:latin typeface="Calibri"/>
              </a:rPr>
              <a:t>Flujos de calidad e integración continua</a:t>
            </a:r>
          </a:p>
          <a:p>
            <a:pPr marL="342900" lvl="0" indent="-342900">
              <a:lnSpc>
                <a:spcPct val="107000"/>
              </a:lnSpc>
              <a:spcAft>
                <a:spcPts val="250"/>
              </a:spcAft>
              <a:buAutoNum type="arabicPeriod"/>
            </a:pPr>
            <a:r>
              <a:rPr lang="es-CO" sz="1600" b="1" noProof="0" dirty="0">
                <a:solidFill>
                  <a:srgbClr val="003366"/>
                </a:solidFill>
                <a:latin typeface="Calibri"/>
              </a:rPr>
              <a:t>Caso de estudio aplicado</a:t>
            </a:r>
          </a:p>
          <a:p>
            <a:pPr marL="342900" lvl="0" indent="-342900">
              <a:lnSpc>
                <a:spcPct val="107000"/>
              </a:lnSpc>
              <a:spcAft>
                <a:spcPts val="250"/>
              </a:spcAft>
              <a:buAutoNum type="arabicPeriod"/>
            </a:pPr>
            <a:r>
              <a:rPr lang="es-CO" sz="1600" b="1" noProof="0" dirty="0">
                <a:solidFill>
                  <a:srgbClr val="003366"/>
                </a:solidFill>
                <a:latin typeface="Calibri"/>
              </a:rPr>
              <a:t>Ejercicios prácticos</a:t>
            </a:r>
          </a:p>
          <a:p>
            <a:pPr marL="342900" lvl="0" indent="-342900">
              <a:lnSpc>
                <a:spcPct val="107000"/>
              </a:lnSpc>
              <a:spcAft>
                <a:spcPts val="250"/>
              </a:spcAft>
              <a:buAutoNum type="arabicPeriod"/>
            </a:pPr>
            <a:r>
              <a:rPr lang="es-CO" sz="1600" b="1" noProof="0" dirty="0">
                <a:solidFill>
                  <a:srgbClr val="003366"/>
                </a:solidFill>
                <a:latin typeface="Calibri"/>
              </a:rPr>
              <a:t>Conclusiones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6EB4B-2E71-E8C4-998B-8DEADDB6432F}"/>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0087B0B8-B319-FD78-188D-6A4314E24ED9}"/>
              </a:ext>
            </a:extLst>
          </p:cNvPr>
          <p:cNvPicPr>
            <a:picLocks noChangeAspect="1"/>
          </p:cNvPicPr>
          <p:nvPr/>
        </p:nvPicPr>
        <p:blipFill>
          <a:blip r:embed="rId3"/>
          <a:stretch>
            <a:fillRect/>
          </a:stretch>
        </p:blipFill>
        <p:spPr>
          <a:xfrm>
            <a:off x="0" y="0"/>
            <a:ext cx="5708342" cy="779307"/>
          </a:xfrm>
          <a:prstGeom prst="rect">
            <a:avLst/>
          </a:prstGeom>
        </p:spPr>
      </p:pic>
      <p:sp>
        <p:nvSpPr>
          <p:cNvPr id="5" name="Title">
            <a:extLst>
              <a:ext uri="{FF2B5EF4-FFF2-40B4-BE49-F238E27FC236}">
                <a16:creationId xmlns:a16="http://schemas.microsoft.com/office/drawing/2014/main" id="{A024529A-A56B-9C6B-4D90-B5ABB7A61588}"/>
              </a:ext>
            </a:extLst>
          </p:cNvPr>
          <p:cNvSpPr txBox="1">
            <a:spLocks noGrp="1"/>
          </p:cNvSpPr>
          <p:nvPr>
            <p:ph type="title"/>
          </p:nvPr>
        </p:nvSpPr>
        <p:spPr>
          <a:xfrm>
            <a:off x="131870" y="1127389"/>
            <a:ext cx="5576472" cy="345223"/>
          </a:xfrm>
          <a:prstGeom prst="rect">
            <a:avLst/>
          </a:prstGeom>
        </p:spPr>
        <p:txBody>
          <a:bodyPr vert="horz" wrap="square" lIns="0" tIns="12700" rIns="0" bIns="0" rtlCol="0">
            <a:spAutoFit/>
          </a:bodyPr>
          <a:lstStyle/>
          <a:p>
            <a:r>
              <a:rPr lang="es-CO" sz="2400" b="1" noProof="0" dirty="0">
                <a:solidFill>
                  <a:srgbClr val="1A2F5A"/>
                </a:solidFill>
                <a:latin typeface="Calibri" pitchFamily="34" charset="0"/>
                <a:ea typeface="Calibri" pitchFamily="34" charset="-122"/>
                <a:cs typeface="Calibri" pitchFamily="34" charset="-120"/>
              </a:rPr>
              <a:t>¿Por qué importa la calidad del software?</a:t>
            </a:r>
            <a:endParaRPr lang="es-CO" sz="2400" noProof="0" dirty="0"/>
          </a:p>
        </p:txBody>
      </p:sp>
      <p:sp>
        <p:nvSpPr>
          <p:cNvPr id="7" name="Content">
            <a:extLst>
              <a:ext uri="{FF2B5EF4-FFF2-40B4-BE49-F238E27FC236}">
                <a16:creationId xmlns:a16="http://schemas.microsoft.com/office/drawing/2014/main" id="{2258647D-F18E-62BA-FC3A-41E9CDDF342B}"/>
              </a:ext>
            </a:extLst>
          </p:cNvPr>
          <p:cNvSpPr/>
          <p:nvPr/>
        </p:nvSpPr>
        <p:spPr>
          <a:xfrm>
            <a:off x="421004" y="1700000"/>
            <a:ext cx="11350000" cy="4049078"/>
          </a:xfrm>
          <a:prstGeom prst="rect">
            <a:avLst/>
          </a:prstGeom>
        </p:spPr>
        <p:txBody>
          <a:bodyPr wrap="square" anchor="ctr"/>
          <a:lstStyle/>
          <a:p>
            <a:pPr marL="0" lvl="0" indent="0">
              <a:lnSpc>
                <a:spcPct val="107000"/>
              </a:lnSpc>
              <a:spcAft>
                <a:spcPts val="400"/>
              </a:spcAft>
              <a:buNone/>
            </a:pPr>
            <a:endParaRPr lang="es-CO" sz="1600" noProof="0" dirty="0">
              <a:latin typeface="Calibri"/>
            </a:endParaRPr>
          </a:p>
        </p:txBody>
      </p:sp>
      <p:sp>
        <p:nvSpPr>
          <p:cNvPr id="4" name="Shape 2">
            <a:extLst>
              <a:ext uri="{FF2B5EF4-FFF2-40B4-BE49-F238E27FC236}">
                <a16:creationId xmlns:a16="http://schemas.microsoft.com/office/drawing/2014/main" id="{89BBB1C0-8A59-BAD7-512A-AF0F407FD64D}"/>
              </a:ext>
            </a:extLst>
          </p:cNvPr>
          <p:cNvSpPr/>
          <p:nvPr/>
        </p:nvSpPr>
        <p:spPr>
          <a:xfrm>
            <a:off x="1397867" y="1732495"/>
            <a:ext cx="64008" cy="749808"/>
          </a:xfrm>
          <a:prstGeom prst="rect">
            <a:avLst/>
          </a:prstGeom>
          <a:solidFill>
            <a:srgbClr val="028090"/>
          </a:solidFill>
          <a:ln w="12700">
            <a:solidFill>
              <a:srgbClr val="028090"/>
            </a:solidFill>
            <a:prstDash val="solid"/>
          </a:ln>
        </p:spPr>
        <p:txBody>
          <a:bodyPr/>
          <a:lstStyle/>
          <a:p>
            <a:endParaRPr lang="es-CO" noProof="0" dirty="0"/>
          </a:p>
        </p:txBody>
      </p:sp>
      <p:sp>
        <p:nvSpPr>
          <p:cNvPr id="6" name="Shape 3">
            <a:extLst>
              <a:ext uri="{FF2B5EF4-FFF2-40B4-BE49-F238E27FC236}">
                <a16:creationId xmlns:a16="http://schemas.microsoft.com/office/drawing/2014/main" id="{E3EABE6E-0902-C7BB-32F8-FE1D7EFC6014}"/>
              </a:ext>
            </a:extLst>
          </p:cNvPr>
          <p:cNvSpPr/>
          <p:nvPr/>
        </p:nvSpPr>
        <p:spPr>
          <a:xfrm>
            <a:off x="1553315" y="1732495"/>
            <a:ext cx="5029200" cy="804672"/>
          </a:xfrm>
          <a:prstGeom prst="rect">
            <a:avLst/>
          </a:prstGeom>
          <a:solidFill>
            <a:srgbClr val="F0F4F8"/>
          </a:solidFill>
          <a:ln w="12700">
            <a:solidFill>
              <a:srgbClr val="D0DDE8"/>
            </a:solidFill>
            <a:prstDash val="solid"/>
          </a:ln>
          <a:effectLst>
            <a:outerShdw blurRad="50800" dist="25400" dir="8100000" algn="bl" rotWithShape="0">
              <a:srgbClr val="000000">
                <a:alpha val="8000"/>
              </a:srgbClr>
            </a:outerShdw>
          </a:effectLst>
        </p:spPr>
        <p:txBody>
          <a:bodyPr/>
          <a:lstStyle/>
          <a:p>
            <a:endParaRPr lang="es-CO" noProof="0" dirty="0"/>
          </a:p>
        </p:txBody>
      </p:sp>
      <p:sp>
        <p:nvSpPr>
          <p:cNvPr id="8" name="Text 4">
            <a:extLst>
              <a:ext uri="{FF2B5EF4-FFF2-40B4-BE49-F238E27FC236}">
                <a16:creationId xmlns:a16="http://schemas.microsoft.com/office/drawing/2014/main" id="{8D3A845B-AD7C-E4B0-72FD-9A13F9035D88}"/>
              </a:ext>
            </a:extLst>
          </p:cNvPr>
          <p:cNvSpPr/>
          <p:nvPr/>
        </p:nvSpPr>
        <p:spPr>
          <a:xfrm>
            <a:off x="1672187" y="1787359"/>
            <a:ext cx="4800600" cy="694944"/>
          </a:xfrm>
          <a:prstGeom prst="rect">
            <a:avLst/>
          </a:prstGeom>
          <a:noFill/>
          <a:ln/>
        </p:spPr>
        <p:txBody>
          <a:bodyPr wrap="square" rtlCol="0" anchor="ctr"/>
          <a:lstStyle/>
          <a:p>
            <a:pPr marL="0" indent="0">
              <a:buNone/>
            </a:pPr>
            <a:r>
              <a:rPr lang="es-CO" sz="1200" noProof="0" dirty="0">
                <a:solidFill>
                  <a:srgbClr val="1A2F5A"/>
                </a:solidFill>
                <a:latin typeface="Calibri" pitchFamily="34" charset="0"/>
                <a:ea typeface="Calibri" pitchFamily="34" charset="-122"/>
                <a:cs typeface="Calibri" pitchFamily="34" charset="-120"/>
              </a:rPr>
              <a:t>Las aplicaciones de software son cada vez más críticas para las organizaciones, permitiéndoles cumplir sus tareas primordiales.</a:t>
            </a:r>
            <a:endParaRPr lang="es-CO" sz="1200" noProof="0" dirty="0"/>
          </a:p>
        </p:txBody>
      </p:sp>
      <p:sp>
        <p:nvSpPr>
          <p:cNvPr id="9" name="Shape 5">
            <a:extLst>
              <a:ext uri="{FF2B5EF4-FFF2-40B4-BE49-F238E27FC236}">
                <a16:creationId xmlns:a16="http://schemas.microsoft.com/office/drawing/2014/main" id="{BC93BEB8-5DFD-39BE-2D91-5A23177A4F52}"/>
              </a:ext>
            </a:extLst>
          </p:cNvPr>
          <p:cNvSpPr/>
          <p:nvPr/>
        </p:nvSpPr>
        <p:spPr>
          <a:xfrm>
            <a:off x="1397867" y="2692615"/>
            <a:ext cx="64008" cy="749808"/>
          </a:xfrm>
          <a:prstGeom prst="rect">
            <a:avLst/>
          </a:prstGeom>
          <a:solidFill>
            <a:srgbClr val="02C39A"/>
          </a:solidFill>
          <a:ln w="12700">
            <a:solidFill>
              <a:srgbClr val="02C39A"/>
            </a:solidFill>
            <a:prstDash val="solid"/>
          </a:ln>
        </p:spPr>
        <p:txBody>
          <a:bodyPr/>
          <a:lstStyle/>
          <a:p>
            <a:endParaRPr lang="es-CO" noProof="0" dirty="0"/>
          </a:p>
        </p:txBody>
      </p:sp>
      <p:sp>
        <p:nvSpPr>
          <p:cNvPr id="10" name="Shape 6">
            <a:extLst>
              <a:ext uri="{FF2B5EF4-FFF2-40B4-BE49-F238E27FC236}">
                <a16:creationId xmlns:a16="http://schemas.microsoft.com/office/drawing/2014/main" id="{7BCAEDF9-7B6C-3DA3-26A2-83319516C612}"/>
              </a:ext>
            </a:extLst>
          </p:cNvPr>
          <p:cNvSpPr/>
          <p:nvPr/>
        </p:nvSpPr>
        <p:spPr>
          <a:xfrm>
            <a:off x="1553315" y="2692615"/>
            <a:ext cx="5029200" cy="804672"/>
          </a:xfrm>
          <a:prstGeom prst="rect">
            <a:avLst/>
          </a:prstGeom>
          <a:solidFill>
            <a:srgbClr val="F0F4F8"/>
          </a:solidFill>
          <a:ln w="12700">
            <a:solidFill>
              <a:srgbClr val="D0DDE8"/>
            </a:solidFill>
            <a:prstDash val="solid"/>
          </a:ln>
          <a:effectLst>
            <a:outerShdw blurRad="50800" dist="25400" dir="8100000" algn="bl" rotWithShape="0">
              <a:srgbClr val="000000">
                <a:alpha val="8000"/>
              </a:srgbClr>
            </a:outerShdw>
          </a:effectLst>
        </p:spPr>
        <p:txBody>
          <a:bodyPr/>
          <a:lstStyle/>
          <a:p>
            <a:endParaRPr lang="es-CO" noProof="0" dirty="0"/>
          </a:p>
        </p:txBody>
      </p:sp>
      <p:sp>
        <p:nvSpPr>
          <p:cNvPr id="11" name="Text 7">
            <a:extLst>
              <a:ext uri="{FF2B5EF4-FFF2-40B4-BE49-F238E27FC236}">
                <a16:creationId xmlns:a16="http://schemas.microsoft.com/office/drawing/2014/main" id="{37E7EC42-7D27-2EAA-B1FE-8D2586EB613B}"/>
              </a:ext>
            </a:extLst>
          </p:cNvPr>
          <p:cNvSpPr/>
          <p:nvPr/>
        </p:nvSpPr>
        <p:spPr>
          <a:xfrm>
            <a:off x="1672187" y="2747479"/>
            <a:ext cx="4800600" cy="694944"/>
          </a:xfrm>
          <a:prstGeom prst="rect">
            <a:avLst/>
          </a:prstGeom>
          <a:noFill/>
          <a:ln/>
        </p:spPr>
        <p:txBody>
          <a:bodyPr wrap="square" rtlCol="0" anchor="ctr"/>
          <a:lstStyle/>
          <a:p>
            <a:pPr marL="0" indent="0">
              <a:buNone/>
            </a:pPr>
            <a:r>
              <a:rPr lang="es-CO" sz="1200" noProof="0" dirty="0">
                <a:solidFill>
                  <a:srgbClr val="1A2F5A"/>
                </a:solidFill>
                <a:latin typeface="Calibri" pitchFamily="34" charset="0"/>
                <a:ea typeface="Calibri" pitchFamily="34" charset="-122"/>
                <a:cs typeface="Calibri" pitchFamily="34" charset="-120"/>
              </a:rPr>
              <a:t>La región enfrenta una escasa cultura de pruebas formales: la mayoría de las </a:t>
            </a:r>
            <a:r>
              <a:rPr lang="es-CO" sz="1200" noProof="0" dirty="0" err="1">
                <a:solidFill>
                  <a:srgbClr val="1A2F5A"/>
                </a:solidFill>
                <a:latin typeface="Calibri" pitchFamily="34" charset="0"/>
                <a:ea typeface="Calibri" pitchFamily="34" charset="-122"/>
                <a:cs typeface="Calibri" pitchFamily="34" charset="-120"/>
              </a:rPr>
              <a:t>PYMEs</a:t>
            </a:r>
            <a:r>
              <a:rPr lang="es-CO" sz="1200" noProof="0" dirty="0">
                <a:solidFill>
                  <a:srgbClr val="1A2F5A"/>
                </a:solidFill>
                <a:latin typeface="Calibri" pitchFamily="34" charset="0"/>
                <a:ea typeface="Calibri" pitchFamily="34" charset="-122"/>
                <a:cs typeface="Calibri" pitchFamily="34" charset="-120"/>
              </a:rPr>
              <a:t> y </a:t>
            </a:r>
            <a:r>
              <a:rPr lang="es-CO" sz="1200" noProof="0" dirty="0" err="1">
                <a:solidFill>
                  <a:srgbClr val="1A2F5A"/>
                </a:solidFill>
                <a:latin typeface="Calibri" pitchFamily="34" charset="0"/>
                <a:ea typeface="Calibri" pitchFamily="34" charset="-122"/>
                <a:cs typeface="Calibri" pitchFamily="34" charset="-120"/>
              </a:rPr>
              <a:t>EMPs</a:t>
            </a:r>
            <a:r>
              <a:rPr lang="es-CO" sz="1200" noProof="0" dirty="0">
                <a:solidFill>
                  <a:srgbClr val="1A2F5A"/>
                </a:solidFill>
                <a:latin typeface="Calibri" pitchFamily="34" charset="0"/>
                <a:ea typeface="Calibri" pitchFamily="34" charset="-122"/>
                <a:cs typeface="Calibri" pitchFamily="34" charset="-120"/>
              </a:rPr>
              <a:t> no tienen procesos estructurados.</a:t>
            </a:r>
            <a:endParaRPr lang="es-CO" sz="1200" noProof="0" dirty="0"/>
          </a:p>
        </p:txBody>
      </p:sp>
      <p:sp>
        <p:nvSpPr>
          <p:cNvPr id="12" name="Shape 8">
            <a:extLst>
              <a:ext uri="{FF2B5EF4-FFF2-40B4-BE49-F238E27FC236}">
                <a16:creationId xmlns:a16="http://schemas.microsoft.com/office/drawing/2014/main" id="{2C4E4C68-99DF-3A87-3E5C-88B9BFF4DD32}"/>
              </a:ext>
            </a:extLst>
          </p:cNvPr>
          <p:cNvSpPr/>
          <p:nvPr/>
        </p:nvSpPr>
        <p:spPr>
          <a:xfrm>
            <a:off x="1397867" y="3652735"/>
            <a:ext cx="64008" cy="749808"/>
          </a:xfrm>
          <a:prstGeom prst="rect">
            <a:avLst/>
          </a:prstGeom>
          <a:solidFill>
            <a:srgbClr val="028090"/>
          </a:solidFill>
          <a:ln w="12700">
            <a:solidFill>
              <a:srgbClr val="028090"/>
            </a:solidFill>
            <a:prstDash val="solid"/>
          </a:ln>
        </p:spPr>
        <p:txBody>
          <a:bodyPr/>
          <a:lstStyle/>
          <a:p>
            <a:endParaRPr lang="es-CO" noProof="0" dirty="0"/>
          </a:p>
        </p:txBody>
      </p:sp>
      <p:sp>
        <p:nvSpPr>
          <p:cNvPr id="13" name="Shape 9">
            <a:extLst>
              <a:ext uri="{FF2B5EF4-FFF2-40B4-BE49-F238E27FC236}">
                <a16:creationId xmlns:a16="http://schemas.microsoft.com/office/drawing/2014/main" id="{08D6DC1B-E6C3-A903-0050-453FA8190246}"/>
              </a:ext>
            </a:extLst>
          </p:cNvPr>
          <p:cNvSpPr/>
          <p:nvPr/>
        </p:nvSpPr>
        <p:spPr>
          <a:xfrm>
            <a:off x="1553315" y="3652735"/>
            <a:ext cx="5029200" cy="804672"/>
          </a:xfrm>
          <a:prstGeom prst="rect">
            <a:avLst/>
          </a:prstGeom>
          <a:solidFill>
            <a:srgbClr val="F0F4F8"/>
          </a:solidFill>
          <a:ln w="12700">
            <a:solidFill>
              <a:srgbClr val="D0DDE8"/>
            </a:solidFill>
            <a:prstDash val="solid"/>
          </a:ln>
          <a:effectLst>
            <a:outerShdw blurRad="50800" dist="25400" dir="8100000" algn="bl" rotWithShape="0">
              <a:srgbClr val="000000">
                <a:alpha val="8000"/>
              </a:srgbClr>
            </a:outerShdw>
          </a:effectLst>
        </p:spPr>
        <p:txBody>
          <a:bodyPr/>
          <a:lstStyle/>
          <a:p>
            <a:endParaRPr lang="es-CO" noProof="0" dirty="0"/>
          </a:p>
        </p:txBody>
      </p:sp>
      <p:sp>
        <p:nvSpPr>
          <p:cNvPr id="14" name="Text 10">
            <a:extLst>
              <a:ext uri="{FF2B5EF4-FFF2-40B4-BE49-F238E27FC236}">
                <a16:creationId xmlns:a16="http://schemas.microsoft.com/office/drawing/2014/main" id="{02C5F0EB-F5D6-B7EE-FEE9-219D18D431FD}"/>
              </a:ext>
            </a:extLst>
          </p:cNvPr>
          <p:cNvSpPr/>
          <p:nvPr/>
        </p:nvSpPr>
        <p:spPr>
          <a:xfrm>
            <a:off x="1672187" y="3707599"/>
            <a:ext cx="4800600" cy="694944"/>
          </a:xfrm>
          <a:prstGeom prst="rect">
            <a:avLst/>
          </a:prstGeom>
          <a:noFill/>
          <a:ln/>
        </p:spPr>
        <p:txBody>
          <a:bodyPr wrap="square" rtlCol="0" anchor="ctr"/>
          <a:lstStyle/>
          <a:p>
            <a:pPr marL="0" indent="0">
              <a:buNone/>
            </a:pPr>
            <a:r>
              <a:rPr lang="es-CO" sz="1200" noProof="0" dirty="0">
                <a:solidFill>
                  <a:srgbClr val="1A2F5A"/>
                </a:solidFill>
                <a:latin typeface="Calibri" pitchFamily="34" charset="0"/>
                <a:ea typeface="Calibri" pitchFamily="34" charset="-122"/>
                <a:cs typeface="Calibri" pitchFamily="34" charset="-120"/>
              </a:rPr>
              <a:t>La falta de pruebas sistemáticas impacta directamente en tiempo, confiabilidad, usabilidad y costo del producto final.</a:t>
            </a:r>
            <a:endParaRPr lang="es-CO" sz="1200" noProof="0" dirty="0"/>
          </a:p>
        </p:txBody>
      </p:sp>
      <p:sp>
        <p:nvSpPr>
          <p:cNvPr id="15" name="Shape 11">
            <a:extLst>
              <a:ext uri="{FF2B5EF4-FFF2-40B4-BE49-F238E27FC236}">
                <a16:creationId xmlns:a16="http://schemas.microsoft.com/office/drawing/2014/main" id="{F06C348C-A6D0-6CE9-DF7D-9522A4045FAB}"/>
              </a:ext>
            </a:extLst>
          </p:cNvPr>
          <p:cNvSpPr/>
          <p:nvPr/>
        </p:nvSpPr>
        <p:spPr>
          <a:xfrm>
            <a:off x="1397867" y="4612855"/>
            <a:ext cx="64008" cy="749808"/>
          </a:xfrm>
          <a:prstGeom prst="rect">
            <a:avLst/>
          </a:prstGeom>
          <a:solidFill>
            <a:srgbClr val="02C39A"/>
          </a:solidFill>
          <a:ln w="12700">
            <a:solidFill>
              <a:srgbClr val="02C39A"/>
            </a:solidFill>
            <a:prstDash val="solid"/>
          </a:ln>
        </p:spPr>
        <p:txBody>
          <a:bodyPr/>
          <a:lstStyle/>
          <a:p>
            <a:endParaRPr lang="es-CO" noProof="0" dirty="0"/>
          </a:p>
        </p:txBody>
      </p:sp>
      <p:sp>
        <p:nvSpPr>
          <p:cNvPr id="16" name="Shape 12">
            <a:extLst>
              <a:ext uri="{FF2B5EF4-FFF2-40B4-BE49-F238E27FC236}">
                <a16:creationId xmlns:a16="http://schemas.microsoft.com/office/drawing/2014/main" id="{EDA957EE-22C2-3D5A-B4C2-F18C26A73D50}"/>
              </a:ext>
            </a:extLst>
          </p:cNvPr>
          <p:cNvSpPr/>
          <p:nvPr/>
        </p:nvSpPr>
        <p:spPr>
          <a:xfrm>
            <a:off x="1553315" y="4612855"/>
            <a:ext cx="5029200" cy="804672"/>
          </a:xfrm>
          <a:prstGeom prst="rect">
            <a:avLst/>
          </a:prstGeom>
          <a:solidFill>
            <a:srgbClr val="F0F4F8"/>
          </a:solidFill>
          <a:ln w="12700">
            <a:solidFill>
              <a:srgbClr val="D0DDE8"/>
            </a:solidFill>
            <a:prstDash val="solid"/>
          </a:ln>
          <a:effectLst>
            <a:outerShdw blurRad="50800" dist="25400" dir="8100000" algn="bl" rotWithShape="0">
              <a:srgbClr val="000000">
                <a:alpha val="8000"/>
              </a:srgbClr>
            </a:outerShdw>
          </a:effectLst>
        </p:spPr>
        <p:txBody>
          <a:bodyPr/>
          <a:lstStyle/>
          <a:p>
            <a:endParaRPr lang="es-CO" noProof="0" dirty="0"/>
          </a:p>
        </p:txBody>
      </p:sp>
      <p:sp>
        <p:nvSpPr>
          <p:cNvPr id="17" name="Text 13">
            <a:extLst>
              <a:ext uri="{FF2B5EF4-FFF2-40B4-BE49-F238E27FC236}">
                <a16:creationId xmlns:a16="http://schemas.microsoft.com/office/drawing/2014/main" id="{E29CA59A-BC23-8A29-E4A2-12AEB377CE20}"/>
              </a:ext>
            </a:extLst>
          </p:cNvPr>
          <p:cNvSpPr/>
          <p:nvPr/>
        </p:nvSpPr>
        <p:spPr>
          <a:xfrm>
            <a:off x="1672187" y="4667719"/>
            <a:ext cx="4800600" cy="694944"/>
          </a:xfrm>
          <a:prstGeom prst="rect">
            <a:avLst/>
          </a:prstGeom>
          <a:noFill/>
          <a:ln/>
        </p:spPr>
        <p:txBody>
          <a:bodyPr wrap="square" rtlCol="0" anchor="ctr"/>
          <a:lstStyle/>
          <a:p>
            <a:pPr marL="0" indent="0">
              <a:buNone/>
            </a:pPr>
            <a:r>
              <a:rPr lang="es-CO" sz="1200" noProof="0" dirty="0">
                <a:solidFill>
                  <a:srgbClr val="1A2F5A"/>
                </a:solidFill>
                <a:latin typeface="Calibri" pitchFamily="34" charset="0"/>
                <a:ea typeface="Calibri" pitchFamily="34" charset="-122"/>
                <a:cs typeface="Calibri" pitchFamily="34" charset="-120"/>
              </a:rPr>
              <a:t>Organizaciones como ISO desarrollan estándares (ISO/IEC 29110, ISO/IEC 9126) para impulsar buenas prácticas en empresas de todos los tamaños.</a:t>
            </a:r>
            <a:endParaRPr lang="es-CO" sz="1200" noProof="0" dirty="0"/>
          </a:p>
        </p:txBody>
      </p:sp>
      <p:sp>
        <p:nvSpPr>
          <p:cNvPr id="18" name="Shape 14">
            <a:extLst>
              <a:ext uri="{FF2B5EF4-FFF2-40B4-BE49-F238E27FC236}">
                <a16:creationId xmlns:a16="http://schemas.microsoft.com/office/drawing/2014/main" id="{5AB86CD8-8DEE-5B9A-4377-F6F3D68386EE}"/>
              </a:ext>
            </a:extLst>
          </p:cNvPr>
          <p:cNvSpPr/>
          <p:nvPr/>
        </p:nvSpPr>
        <p:spPr>
          <a:xfrm>
            <a:off x="6884267" y="1732495"/>
            <a:ext cx="2834640" cy="1828800"/>
          </a:xfrm>
          <a:prstGeom prst="rect">
            <a:avLst/>
          </a:prstGeom>
          <a:solidFill>
            <a:srgbClr val="1A2F5A"/>
          </a:solidFill>
          <a:ln w="12700">
            <a:solidFill>
              <a:srgbClr val="D0DDE8"/>
            </a:solidFill>
            <a:prstDash val="solid"/>
          </a:ln>
          <a:effectLst>
            <a:outerShdw blurRad="50800" dist="25400" dir="8100000" algn="bl" rotWithShape="0">
              <a:srgbClr val="000000">
                <a:alpha val="8000"/>
              </a:srgbClr>
            </a:outerShdw>
          </a:effectLst>
        </p:spPr>
        <p:txBody>
          <a:bodyPr/>
          <a:lstStyle/>
          <a:p>
            <a:endParaRPr lang="es-CO" noProof="0" dirty="0"/>
          </a:p>
        </p:txBody>
      </p:sp>
      <p:sp>
        <p:nvSpPr>
          <p:cNvPr id="19" name="Text 15">
            <a:extLst>
              <a:ext uri="{FF2B5EF4-FFF2-40B4-BE49-F238E27FC236}">
                <a16:creationId xmlns:a16="http://schemas.microsoft.com/office/drawing/2014/main" id="{CD70BDC1-129B-9ACE-D797-11FD8064400E}"/>
              </a:ext>
            </a:extLst>
          </p:cNvPr>
          <p:cNvSpPr/>
          <p:nvPr/>
        </p:nvSpPr>
        <p:spPr>
          <a:xfrm>
            <a:off x="6884267" y="1915375"/>
            <a:ext cx="2834640" cy="731520"/>
          </a:xfrm>
          <a:prstGeom prst="rect">
            <a:avLst/>
          </a:prstGeom>
          <a:noFill/>
          <a:ln/>
        </p:spPr>
        <p:txBody>
          <a:bodyPr wrap="square" rtlCol="0" anchor="ctr"/>
          <a:lstStyle/>
          <a:p>
            <a:pPr marL="0" indent="0" algn="ctr">
              <a:buNone/>
            </a:pPr>
            <a:r>
              <a:rPr lang="es-CO" sz="3000" b="1" noProof="0" dirty="0">
                <a:solidFill>
                  <a:srgbClr val="02C39A"/>
                </a:solidFill>
                <a:latin typeface="Calibri" pitchFamily="34" charset="0"/>
                <a:ea typeface="Calibri" pitchFamily="34" charset="-122"/>
                <a:cs typeface="Calibri" pitchFamily="34" charset="-120"/>
              </a:rPr>
              <a:t>40-80%</a:t>
            </a:r>
            <a:endParaRPr lang="es-CO" sz="3000" noProof="0" dirty="0"/>
          </a:p>
        </p:txBody>
      </p:sp>
      <p:sp>
        <p:nvSpPr>
          <p:cNvPr id="20" name="Text 16">
            <a:extLst>
              <a:ext uri="{FF2B5EF4-FFF2-40B4-BE49-F238E27FC236}">
                <a16:creationId xmlns:a16="http://schemas.microsoft.com/office/drawing/2014/main" id="{B9AE6B6D-C917-8969-D283-D2F51D7F973D}"/>
              </a:ext>
            </a:extLst>
          </p:cNvPr>
          <p:cNvSpPr/>
          <p:nvPr/>
        </p:nvSpPr>
        <p:spPr>
          <a:xfrm>
            <a:off x="6884267" y="2601175"/>
            <a:ext cx="2834640" cy="777240"/>
          </a:xfrm>
          <a:prstGeom prst="rect">
            <a:avLst/>
          </a:prstGeom>
          <a:noFill/>
          <a:ln/>
        </p:spPr>
        <p:txBody>
          <a:bodyPr wrap="square" rtlCol="0" anchor="t"/>
          <a:lstStyle/>
          <a:p>
            <a:pPr marL="0" indent="0" algn="ctr">
              <a:buNone/>
            </a:pPr>
            <a:r>
              <a:rPr lang="es-CO" sz="1200" noProof="0" dirty="0">
                <a:solidFill>
                  <a:srgbClr val="A8D8E8"/>
                </a:solidFill>
                <a:latin typeface="Calibri" pitchFamily="34" charset="0"/>
                <a:ea typeface="Calibri" pitchFamily="34" charset="-122"/>
                <a:cs typeface="Calibri" pitchFamily="34" charset="-120"/>
              </a:rPr>
              <a:t>del costo de</a:t>
            </a:r>
            <a:endParaRPr lang="es-CO" sz="1200" noProof="0" dirty="0"/>
          </a:p>
          <a:p>
            <a:pPr marL="0" indent="0" algn="ctr">
              <a:buNone/>
            </a:pPr>
            <a:r>
              <a:rPr lang="es-CO" sz="1200" noProof="0" dirty="0">
                <a:solidFill>
                  <a:srgbClr val="A8D8E8"/>
                </a:solidFill>
                <a:latin typeface="Calibri" pitchFamily="34" charset="0"/>
                <a:ea typeface="Calibri" pitchFamily="34" charset="-122"/>
                <a:cs typeface="Calibri" pitchFamily="34" charset="-120"/>
              </a:rPr>
              <a:t>desarrollo se destina</a:t>
            </a:r>
            <a:endParaRPr lang="es-CO" sz="1200" noProof="0" dirty="0"/>
          </a:p>
          <a:p>
            <a:pPr marL="0" indent="0" algn="ctr">
              <a:buNone/>
            </a:pPr>
            <a:r>
              <a:rPr lang="es-CO" sz="1200" noProof="0" dirty="0">
                <a:solidFill>
                  <a:srgbClr val="A8D8E8"/>
                </a:solidFill>
                <a:latin typeface="Calibri" pitchFamily="34" charset="0"/>
                <a:ea typeface="Calibri" pitchFamily="34" charset="-122"/>
                <a:cs typeface="Calibri" pitchFamily="34" charset="-120"/>
              </a:rPr>
              <a:t>a corregir defectos</a:t>
            </a:r>
            <a:endParaRPr lang="es-CO" sz="1200" noProof="0" dirty="0"/>
          </a:p>
        </p:txBody>
      </p:sp>
      <p:sp>
        <p:nvSpPr>
          <p:cNvPr id="21" name="Shape 17">
            <a:extLst>
              <a:ext uri="{FF2B5EF4-FFF2-40B4-BE49-F238E27FC236}">
                <a16:creationId xmlns:a16="http://schemas.microsoft.com/office/drawing/2014/main" id="{6C466455-0CBE-82E9-5DD3-DCB673C0D663}"/>
              </a:ext>
            </a:extLst>
          </p:cNvPr>
          <p:cNvSpPr/>
          <p:nvPr/>
        </p:nvSpPr>
        <p:spPr>
          <a:xfrm>
            <a:off x="6884267" y="3835615"/>
            <a:ext cx="2834640" cy="1828800"/>
          </a:xfrm>
          <a:prstGeom prst="rect">
            <a:avLst/>
          </a:prstGeom>
          <a:solidFill>
            <a:srgbClr val="1A2F5A"/>
          </a:solidFill>
          <a:ln w="12700">
            <a:solidFill>
              <a:srgbClr val="D0DDE8"/>
            </a:solidFill>
            <a:prstDash val="solid"/>
          </a:ln>
          <a:effectLst>
            <a:outerShdw blurRad="50800" dist="25400" dir="8100000" algn="bl" rotWithShape="0">
              <a:srgbClr val="000000">
                <a:alpha val="8000"/>
              </a:srgbClr>
            </a:outerShdw>
          </a:effectLst>
        </p:spPr>
        <p:txBody>
          <a:bodyPr/>
          <a:lstStyle/>
          <a:p>
            <a:endParaRPr lang="es-CO" noProof="0" dirty="0"/>
          </a:p>
        </p:txBody>
      </p:sp>
      <p:sp>
        <p:nvSpPr>
          <p:cNvPr id="22" name="Text 18">
            <a:extLst>
              <a:ext uri="{FF2B5EF4-FFF2-40B4-BE49-F238E27FC236}">
                <a16:creationId xmlns:a16="http://schemas.microsoft.com/office/drawing/2014/main" id="{6553C2F7-C66C-9B22-A97F-1809A04E29BA}"/>
              </a:ext>
            </a:extLst>
          </p:cNvPr>
          <p:cNvSpPr/>
          <p:nvPr/>
        </p:nvSpPr>
        <p:spPr>
          <a:xfrm>
            <a:off x="6884267" y="4018495"/>
            <a:ext cx="2834640" cy="731520"/>
          </a:xfrm>
          <a:prstGeom prst="rect">
            <a:avLst/>
          </a:prstGeom>
          <a:noFill/>
          <a:ln/>
        </p:spPr>
        <p:txBody>
          <a:bodyPr wrap="square" rtlCol="0" anchor="ctr"/>
          <a:lstStyle/>
          <a:p>
            <a:pPr marL="0" indent="0" algn="ctr">
              <a:buNone/>
            </a:pPr>
            <a:r>
              <a:rPr lang="es-CO" sz="3000" b="1" noProof="0" dirty="0">
                <a:solidFill>
                  <a:srgbClr val="02C39A"/>
                </a:solidFill>
                <a:latin typeface="Calibri" pitchFamily="34" charset="0"/>
                <a:ea typeface="Calibri" pitchFamily="34" charset="-122"/>
                <a:cs typeface="Calibri" pitchFamily="34" charset="-120"/>
              </a:rPr>
              <a:t>Nivel 1</a:t>
            </a:r>
            <a:endParaRPr lang="es-CO" sz="3000" noProof="0" dirty="0"/>
          </a:p>
        </p:txBody>
      </p:sp>
      <p:sp>
        <p:nvSpPr>
          <p:cNvPr id="23" name="Text 19">
            <a:extLst>
              <a:ext uri="{FF2B5EF4-FFF2-40B4-BE49-F238E27FC236}">
                <a16:creationId xmlns:a16="http://schemas.microsoft.com/office/drawing/2014/main" id="{2CB1B230-C445-7B7A-B563-EE475D5545CD}"/>
              </a:ext>
            </a:extLst>
          </p:cNvPr>
          <p:cNvSpPr/>
          <p:nvPr/>
        </p:nvSpPr>
        <p:spPr>
          <a:xfrm>
            <a:off x="6884267" y="4704295"/>
            <a:ext cx="2834640" cy="777240"/>
          </a:xfrm>
          <a:prstGeom prst="rect">
            <a:avLst/>
          </a:prstGeom>
          <a:noFill/>
          <a:ln/>
        </p:spPr>
        <p:txBody>
          <a:bodyPr wrap="square" rtlCol="0" anchor="t"/>
          <a:lstStyle/>
          <a:p>
            <a:pPr marL="0" indent="0" algn="ctr">
              <a:buNone/>
            </a:pPr>
            <a:r>
              <a:rPr lang="es-CO" sz="1200" noProof="0" dirty="0">
                <a:solidFill>
                  <a:srgbClr val="A8D8E8"/>
                </a:solidFill>
                <a:latin typeface="Calibri" pitchFamily="34" charset="0"/>
                <a:ea typeface="Calibri" pitchFamily="34" charset="-122"/>
                <a:cs typeface="Calibri" pitchFamily="34" charset="-120"/>
              </a:rPr>
              <a:t>TMMI: la mayoría</a:t>
            </a:r>
            <a:endParaRPr lang="es-CO" sz="1200" noProof="0" dirty="0"/>
          </a:p>
          <a:p>
            <a:pPr marL="0" indent="0" algn="ctr">
              <a:buNone/>
            </a:pPr>
            <a:r>
              <a:rPr lang="es-CO" sz="1200" noProof="0" dirty="0">
                <a:solidFill>
                  <a:srgbClr val="A8D8E8"/>
                </a:solidFill>
                <a:latin typeface="Calibri" pitchFamily="34" charset="0"/>
                <a:ea typeface="Calibri" pitchFamily="34" charset="-122"/>
                <a:cs typeface="Calibri" pitchFamily="34" charset="-120"/>
              </a:rPr>
              <a:t>de las organizaciones</a:t>
            </a:r>
            <a:endParaRPr lang="es-CO" sz="1200" noProof="0" dirty="0"/>
          </a:p>
          <a:p>
            <a:pPr marL="0" indent="0" algn="ctr">
              <a:buNone/>
            </a:pPr>
            <a:r>
              <a:rPr lang="es-CO" sz="1200" noProof="0" dirty="0">
                <a:solidFill>
                  <a:srgbClr val="A8D8E8"/>
                </a:solidFill>
                <a:latin typeface="Calibri" pitchFamily="34" charset="0"/>
                <a:ea typeface="Calibri" pitchFamily="34" charset="-122"/>
                <a:cs typeface="Calibri" pitchFamily="34" charset="-120"/>
              </a:rPr>
              <a:t>en la región</a:t>
            </a:r>
            <a:endParaRPr lang="es-CO" sz="1200" noProof="0" dirty="0"/>
          </a:p>
        </p:txBody>
      </p:sp>
      <p:sp>
        <p:nvSpPr>
          <p:cNvPr id="24" name="Text 20">
            <a:extLst>
              <a:ext uri="{FF2B5EF4-FFF2-40B4-BE49-F238E27FC236}">
                <a16:creationId xmlns:a16="http://schemas.microsoft.com/office/drawing/2014/main" id="{C9337284-53B5-2CA8-5052-CEAA271C020B}"/>
              </a:ext>
            </a:extLst>
          </p:cNvPr>
          <p:cNvSpPr/>
          <p:nvPr/>
        </p:nvSpPr>
        <p:spPr>
          <a:xfrm>
            <a:off x="9490307" y="5481535"/>
            <a:ext cx="365760" cy="228600"/>
          </a:xfrm>
          <a:prstGeom prst="rect">
            <a:avLst/>
          </a:prstGeom>
          <a:noFill/>
          <a:ln/>
        </p:spPr>
        <p:txBody>
          <a:bodyPr wrap="square" rtlCol="0" anchor="ctr"/>
          <a:lstStyle/>
          <a:p>
            <a:pPr marL="0" indent="0" algn="r">
              <a:buNone/>
            </a:pPr>
            <a:r>
              <a:rPr lang="es-CO" sz="900" noProof="0" dirty="0">
                <a:solidFill>
                  <a:srgbClr val="64748B"/>
                </a:solidFill>
              </a:rPr>
              <a:t>3</a:t>
            </a:r>
            <a:endParaRPr lang="es-CO" sz="900" noProof="0" dirty="0"/>
          </a:p>
        </p:txBody>
      </p:sp>
    </p:spTree>
    <p:extLst>
      <p:ext uri="{BB962C8B-B14F-4D97-AF65-F5344CB8AC3E}">
        <p14:creationId xmlns:p14="http://schemas.microsoft.com/office/powerpoint/2010/main" val="2693473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26955-4C9D-9D7A-3BDA-E65E28A568B7}"/>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D56899F9-3E12-1AD9-B676-70338F749EAC}"/>
              </a:ext>
            </a:extLst>
          </p:cNvPr>
          <p:cNvPicPr>
            <a:picLocks noChangeAspect="1"/>
          </p:cNvPicPr>
          <p:nvPr/>
        </p:nvPicPr>
        <p:blipFill>
          <a:blip r:embed="rId3"/>
          <a:stretch>
            <a:fillRect/>
          </a:stretch>
        </p:blipFill>
        <p:spPr>
          <a:xfrm>
            <a:off x="0" y="0"/>
            <a:ext cx="5708342" cy="779307"/>
          </a:xfrm>
          <a:prstGeom prst="rect">
            <a:avLst/>
          </a:prstGeom>
        </p:spPr>
      </p:pic>
      <p:sp>
        <p:nvSpPr>
          <p:cNvPr id="5" name="Title">
            <a:extLst>
              <a:ext uri="{FF2B5EF4-FFF2-40B4-BE49-F238E27FC236}">
                <a16:creationId xmlns:a16="http://schemas.microsoft.com/office/drawing/2014/main" id="{0ABEEC07-24F6-BF18-DD19-1D40333CC88C}"/>
              </a:ext>
            </a:extLst>
          </p:cNvPr>
          <p:cNvSpPr txBox="1">
            <a:spLocks noGrp="1"/>
          </p:cNvSpPr>
          <p:nvPr>
            <p:ph type="title"/>
          </p:nvPr>
        </p:nvSpPr>
        <p:spPr>
          <a:xfrm>
            <a:off x="131870" y="1108922"/>
            <a:ext cx="10490734" cy="382156"/>
          </a:xfrm>
          <a:prstGeom prst="rect">
            <a:avLst/>
          </a:prstGeom>
        </p:spPr>
        <p:txBody>
          <a:bodyPr vert="horz" wrap="square" lIns="0" tIns="12700" rIns="0" bIns="0" rtlCol="0">
            <a:spAutoFit/>
          </a:bodyPr>
          <a:lstStyle/>
          <a:p>
            <a:pPr marL="12700">
              <a:lnSpc>
                <a:spcPct val="100000"/>
              </a:lnSpc>
            </a:pPr>
            <a:r>
              <a:rPr lang="es-CO" sz="2400" b="1" noProof="0" dirty="0">
                <a:solidFill>
                  <a:srgbClr val="1A2F5A"/>
                </a:solidFill>
                <a:latin typeface="Calibri" pitchFamily="34" charset="0"/>
                <a:ea typeface="Calibri" pitchFamily="34" charset="-122"/>
                <a:cs typeface="Calibri" pitchFamily="34" charset="-120"/>
              </a:rPr>
              <a:t>Modelos y Estándares de Prueba de Software</a:t>
            </a:r>
            <a:endParaRPr lang="es-CO" sz="2400" b="1" spc="-10" noProof="0" dirty="0">
              <a:solidFill>
                <a:srgbClr val="003366"/>
              </a:solidFill>
              <a:latin typeface="Calibri"/>
            </a:endParaRPr>
          </a:p>
        </p:txBody>
      </p:sp>
      <p:sp>
        <p:nvSpPr>
          <p:cNvPr id="7" name="Content">
            <a:extLst>
              <a:ext uri="{FF2B5EF4-FFF2-40B4-BE49-F238E27FC236}">
                <a16:creationId xmlns:a16="http://schemas.microsoft.com/office/drawing/2014/main" id="{FF560C10-982A-339B-B980-B8B90071FE8D}"/>
              </a:ext>
            </a:extLst>
          </p:cNvPr>
          <p:cNvSpPr/>
          <p:nvPr/>
        </p:nvSpPr>
        <p:spPr>
          <a:xfrm>
            <a:off x="421004" y="1700000"/>
            <a:ext cx="11350000" cy="4049078"/>
          </a:xfrm>
          <a:prstGeom prst="rect">
            <a:avLst/>
          </a:prstGeom>
        </p:spPr>
        <p:txBody>
          <a:bodyPr wrap="square" anchor="ctr"/>
          <a:lstStyle/>
          <a:p>
            <a:pPr marL="0" lvl="0" indent="0">
              <a:lnSpc>
                <a:spcPct val="107000"/>
              </a:lnSpc>
              <a:spcAft>
                <a:spcPts val="400"/>
              </a:spcAft>
              <a:buNone/>
            </a:pPr>
            <a:endParaRPr lang="es-CO" sz="1600" noProof="0" dirty="0">
              <a:latin typeface="Calibri"/>
            </a:endParaRPr>
          </a:p>
        </p:txBody>
      </p:sp>
      <p:sp>
        <p:nvSpPr>
          <p:cNvPr id="3" name="Text 2">
            <a:extLst>
              <a:ext uri="{FF2B5EF4-FFF2-40B4-BE49-F238E27FC236}">
                <a16:creationId xmlns:a16="http://schemas.microsoft.com/office/drawing/2014/main" id="{573C686B-1F85-22F1-F999-39ACF3EAE3E7}"/>
              </a:ext>
            </a:extLst>
          </p:cNvPr>
          <p:cNvSpPr/>
          <p:nvPr/>
        </p:nvSpPr>
        <p:spPr>
          <a:xfrm>
            <a:off x="2026920" y="1660673"/>
            <a:ext cx="8138160" cy="320040"/>
          </a:xfrm>
          <a:prstGeom prst="rect">
            <a:avLst/>
          </a:prstGeom>
          <a:noFill/>
          <a:ln/>
        </p:spPr>
        <p:txBody>
          <a:bodyPr wrap="square" rtlCol="0" anchor="ctr"/>
          <a:lstStyle/>
          <a:p>
            <a:pPr marL="0" indent="0" algn="ctr">
              <a:buNone/>
            </a:pPr>
            <a:r>
              <a:rPr lang="es-CO" sz="1500" b="1" noProof="0" dirty="0">
                <a:solidFill>
                  <a:srgbClr val="028090"/>
                </a:solidFill>
                <a:latin typeface="Calibri" pitchFamily="34" charset="0"/>
                <a:ea typeface="Calibri" pitchFamily="34" charset="-122"/>
                <a:cs typeface="Calibri" pitchFamily="34" charset="-120"/>
              </a:rPr>
              <a:t>Comparativa de los principales modelos de mejora de pruebas</a:t>
            </a:r>
            <a:endParaRPr lang="es-CO" sz="1500" noProof="0" dirty="0"/>
          </a:p>
        </p:txBody>
      </p:sp>
      <p:graphicFrame>
        <p:nvGraphicFramePr>
          <p:cNvPr id="4" name="Table 0">
            <a:extLst>
              <a:ext uri="{FF2B5EF4-FFF2-40B4-BE49-F238E27FC236}">
                <a16:creationId xmlns:a16="http://schemas.microsoft.com/office/drawing/2014/main" id="{2BC9E6F5-C9A6-8D53-7477-30C9B5D9E905}"/>
              </a:ext>
            </a:extLst>
          </p:cNvPr>
          <p:cNvGraphicFramePr>
            <a:graphicFrameLocks noGrp="1"/>
          </p:cNvGraphicFramePr>
          <p:nvPr>
            <p:extLst>
              <p:ext uri="{D42A27DB-BD31-4B8C-83A1-F6EECF244321}">
                <p14:modId xmlns:p14="http://schemas.microsoft.com/office/powerpoint/2010/main" val="5569454"/>
              </p:ext>
            </p:extLst>
          </p:nvPr>
        </p:nvGraphicFramePr>
        <p:xfrm>
          <a:off x="2026920" y="2026433"/>
          <a:ext cx="8138160" cy="3383280"/>
        </p:xfrm>
        <a:graphic>
          <a:graphicData uri="http://schemas.openxmlformats.org/drawingml/2006/table">
            <a:tbl>
              <a:tblPr/>
              <a:tblGrid>
                <a:gridCol w="14630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3017520">
                  <a:extLst>
                    <a:ext uri="{9D8B030D-6E8A-4147-A177-3AD203B41FA5}">
                      <a16:colId xmlns:a16="http://schemas.microsoft.com/office/drawing/2014/main" val="20004"/>
                    </a:ext>
                  </a:extLst>
                </a:gridCol>
              </a:tblGrid>
              <a:tr h="563880">
                <a:tc>
                  <a:txBody>
                    <a:bodyPr/>
                    <a:lstStyle/>
                    <a:p>
                      <a:pPr marL="0" indent="0">
                        <a:buNone/>
                      </a:pPr>
                      <a:r>
                        <a:rPr lang="es-CO" sz="1200" b="1" noProof="0" dirty="0">
                          <a:solidFill>
                            <a:srgbClr val="FFFFFF"/>
                          </a:solidFill>
                          <a:latin typeface="Calibri" pitchFamily="34" charset="0"/>
                          <a:ea typeface="Calibri" pitchFamily="34" charset="-122"/>
                          <a:cs typeface="Calibri" pitchFamily="34" charset="-120"/>
                        </a:rPr>
                        <a:t>Modelo</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1A2F5A"/>
                    </a:solidFill>
                  </a:tcPr>
                </a:tc>
                <a:tc>
                  <a:txBody>
                    <a:bodyPr/>
                    <a:lstStyle/>
                    <a:p>
                      <a:pPr marL="0" indent="0">
                        <a:buNone/>
                      </a:pPr>
                      <a:r>
                        <a:rPr lang="es-CO" sz="1200" b="1" noProof="0" dirty="0">
                          <a:solidFill>
                            <a:srgbClr val="FFFFFF"/>
                          </a:solidFill>
                          <a:latin typeface="Calibri" pitchFamily="34" charset="0"/>
                          <a:ea typeface="Calibri" pitchFamily="34" charset="-122"/>
                          <a:cs typeface="Calibri" pitchFamily="34" charset="-120"/>
                        </a:rPr>
                        <a:t>Publicación</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1A2F5A"/>
                    </a:solidFill>
                  </a:tcPr>
                </a:tc>
                <a:tc>
                  <a:txBody>
                    <a:bodyPr/>
                    <a:lstStyle/>
                    <a:p>
                      <a:pPr marL="0" indent="0">
                        <a:buNone/>
                      </a:pPr>
                      <a:r>
                        <a:rPr lang="es-CO" sz="1200" b="1" noProof="0" dirty="0">
                          <a:solidFill>
                            <a:srgbClr val="FFFFFF"/>
                          </a:solidFill>
                          <a:latin typeface="Calibri" pitchFamily="34" charset="0"/>
                          <a:ea typeface="Calibri" pitchFamily="34" charset="-122"/>
                          <a:cs typeface="Calibri" pitchFamily="34" charset="-120"/>
                        </a:rPr>
                        <a:t>Niveles</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1A2F5A"/>
                    </a:solidFill>
                  </a:tcPr>
                </a:tc>
                <a:tc>
                  <a:txBody>
                    <a:bodyPr/>
                    <a:lstStyle/>
                    <a:p>
                      <a:pPr marL="0" indent="0">
                        <a:buNone/>
                      </a:pPr>
                      <a:r>
                        <a:rPr lang="es-CO" sz="1200" b="1" noProof="0" dirty="0">
                          <a:solidFill>
                            <a:srgbClr val="FFFFFF"/>
                          </a:solidFill>
                          <a:latin typeface="Calibri" pitchFamily="34" charset="0"/>
                          <a:ea typeface="Calibri" pitchFamily="34" charset="-122"/>
                          <a:cs typeface="Calibri" pitchFamily="34" charset="-120"/>
                        </a:rPr>
                        <a:t>Gestión Riesgos</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1A2F5A"/>
                    </a:solidFill>
                  </a:tcPr>
                </a:tc>
                <a:tc>
                  <a:txBody>
                    <a:bodyPr/>
                    <a:lstStyle/>
                    <a:p>
                      <a:pPr marL="0" indent="0">
                        <a:buNone/>
                      </a:pPr>
                      <a:r>
                        <a:rPr lang="es-CO" sz="1200" b="1" noProof="0" dirty="0">
                          <a:solidFill>
                            <a:srgbClr val="FFFFFF"/>
                          </a:solidFill>
                          <a:latin typeface="Calibri" pitchFamily="34" charset="0"/>
                          <a:ea typeface="Calibri" pitchFamily="34" charset="-122"/>
                          <a:cs typeface="Calibri" pitchFamily="34" charset="-120"/>
                        </a:rPr>
                        <a:t>Aplicabilidad </a:t>
                      </a:r>
                      <a:r>
                        <a:rPr lang="es-CO" sz="1200" b="1" noProof="0" dirty="0" err="1">
                          <a:solidFill>
                            <a:srgbClr val="FFFFFF"/>
                          </a:solidFill>
                          <a:latin typeface="Calibri" pitchFamily="34" charset="0"/>
                          <a:ea typeface="Calibri" pitchFamily="34" charset="-122"/>
                          <a:cs typeface="Calibri" pitchFamily="34" charset="-120"/>
                        </a:rPr>
                        <a:t>EMPs</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1A2F5A"/>
                    </a:solidFill>
                  </a:tcPr>
                </a:tc>
                <a:extLst>
                  <a:ext uri="{0D108BD9-81ED-4DB2-BD59-A6C34878D82A}">
                    <a16:rowId xmlns:a16="http://schemas.microsoft.com/office/drawing/2014/main" val="10000"/>
                  </a:ext>
                </a:extLst>
              </a:tr>
              <a:tr h="563880">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TMM</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1996</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5 niveles</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tc>
                  <a:txBody>
                    <a:bodyPr/>
                    <a:lstStyle/>
                    <a:p>
                      <a:pPr marL="0" indent="0" algn="ctr">
                        <a:buNone/>
                      </a:pPr>
                      <a:r>
                        <a:rPr lang="es-CO" sz="1200" noProof="0" dirty="0">
                          <a:solidFill>
                            <a:srgbClr val="1A2F5A"/>
                          </a:solidFill>
                          <a:latin typeface="Calibri" pitchFamily="34" charset="0"/>
                          <a:ea typeface="Calibri" pitchFamily="34" charset="-122"/>
                          <a:cs typeface="Calibri" pitchFamily="34" charset="-120"/>
                        </a:rPr>
                        <a:t>✔</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Complejo para </a:t>
                      </a:r>
                      <a:r>
                        <a:rPr lang="es-CO" sz="1200" noProof="0" dirty="0" err="1">
                          <a:solidFill>
                            <a:srgbClr val="1A2F5A"/>
                          </a:solidFill>
                          <a:latin typeface="Calibri" pitchFamily="34" charset="0"/>
                          <a:ea typeface="Calibri" pitchFamily="34" charset="-122"/>
                          <a:cs typeface="Calibri" pitchFamily="34" charset="-120"/>
                        </a:rPr>
                        <a:t>PYMEs</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extLst>
                  <a:ext uri="{0D108BD9-81ED-4DB2-BD59-A6C34878D82A}">
                    <a16:rowId xmlns:a16="http://schemas.microsoft.com/office/drawing/2014/main" val="10001"/>
                  </a:ext>
                </a:extLst>
              </a:tr>
              <a:tr h="563880">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TMMI</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2008</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5 niveles</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lgn="ctr">
                        <a:buNone/>
                      </a:pPr>
                      <a:r>
                        <a:rPr lang="es-CO" sz="1200" noProof="0" dirty="0">
                          <a:solidFill>
                            <a:srgbClr val="1A2F5A"/>
                          </a:solidFill>
                          <a:latin typeface="Calibri" pitchFamily="34" charset="0"/>
                          <a:ea typeface="Calibri" pitchFamily="34" charset="-122"/>
                          <a:cs typeface="Calibri" pitchFamily="34" charset="-120"/>
                        </a:rPr>
                        <a:t>✔</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Requiere adaptación</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3880">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TPI</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1998</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N/A</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tc>
                  <a:txBody>
                    <a:bodyPr/>
                    <a:lstStyle/>
                    <a:p>
                      <a:pPr marL="0" indent="0" algn="ctr">
                        <a:buNone/>
                      </a:pPr>
                      <a:r>
                        <a:rPr lang="es-CO" sz="1200" noProof="0" dirty="0">
                          <a:solidFill>
                            <a:srgbClr val="1A2F5A"/>
                          </a:solidFill>
                          <a:latin typeface="Calibri" pitchFamily="34" charset="0"/>
                          <a:ea typeface="Calibri" pitchFamily="34" charset="-122"/>
                          <a:cs typeface="Calibri" pitchFamily="34" charset="-120"/>
                        </a:rPr>
                        <a:t>✔</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Solo mejora, no estructura</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extLst>
                  <a:ext uri="{0D108BD9-81ED-4DB2-BD59-A6C34878D82A}">
                    <a16:rowId xmlns:a16="http://schemas.microsoft.com/office/drawing/2014/main" val="10003"/>
                  </a:ext>
                </a:extLst>
              </a:tr>
              <a:tr h="563880">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TMAP</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1995</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N/A</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lgn="ctr">
                        <a:buNone/>
                      </a:pPr>
                      <a:r>
                        <a:rPr lang="es-CO" sz="1200" noProof="0" dirty="0">
                          <a:solidFill>
                            <a:srgbClr val="1A2F5A"/>
                          </a:solidFill>
                          <a:latin typeface="Calibri" pitchFamily="34" charset="0"/>
                          <a:ea typeface="Calibri" pitchFamily="34" charset="-122"/>
                          <a:cs typeface="Calibri" pitchFamily="34" charset="-120"/>
                        </a:rPr>
                        <a:t>✔</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Muy extenso para </a:t>
                      </a:r>
                      <a:r>
                        <a:rPr lang="es-CO" sz="1200" noProof="0" dirty="0" err="1">
                          <a:solidFill>
                            <a:srgbClr val="1A2F5A"/>
                          </a:solidFill>
                          <a:latin typeface="Calibri" pitchFamily="34" charset="0"/>
                          <a:ea typeface="Calibri" pitchFamily="34" charset="-122"/>
                          <a:cs typeface="Calibri" pitchFamily="34" charset="-120"/>
                        </a:rPr>
                        <a:t>EMPs</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3880">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ISO/IEC 29110</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2011</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Perfil básico</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tc>
                  <a:txBody>
                    <a:bodyPr/>
                    <a:lstStyle/>
                    <a:p>
                      <a:pPr marL="0" indent="0" algn="ctr">
                        <a:buNone/>
                      </a:pPr>
                      <a:r>
                        <a:rPr lang="es-CO" sz="1200" noProof="0" dirty="0">
                          <a:solidFill>
                            <a:srgbClr val="1A2F5A"/>
                          </a:solidFill>
                          <a:latin typeface="Calibri" pitchFamily="34" charset="0"/>
                          <a:ea typeface="Calibri" pitchFamily="34" charset="-122"/>
                          <a:cs typeface="Calibri" pitchFamily="34" charset="-120"/>
                        </a:rPr>
                        <a:t>✔</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Diseñado para </a:t>
                      </a:r>
                      <a:r>
                        <a:rPr lang="es-CO" sz="1200" noProof="0" dirty="0" err="1">
                          <a:solidFill>
                            <a:srgbClr val="1A2F5A"/>
                          </a:solidFill>
                          <a:latin typeface="Calibri" pitchFamily="34" charset="0"/>
                          <a:ea typeface="Calibri" pitchFamily="34" charset="-122"/>
                          <a:cs typeface="Calibri" pitchFamily="34" charset="-120"/>
                        </a:rPr>
                        <a:t>EMPs</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extLst>
                  <a:ext uri="{0D108BD9-81ED-4DB2-BD59-A6C34878D82A}">
                    <a16:rowId xmlns:a16="http://schemas.microsoft.com/office/drawing/2014/main" val="10005"/>
                  </a:ext>
                </a:extLst>
              </a:tr>
            </a:tbl>
          </a:graphicData>
        </a:graphic>
      </p:graphicFrame>
      <p:sp>
        <p:nvSpPr>
          <p:cNvPr id="6" name="Text 3">
            <a:extLst>
              <a:ext uri="{FF2B5EF4-FFF2-40B4-BE49-F238E27FC236}">
                <a16:creationId xmlns:a16="http://schemas.microsoft.com/office/drawing/2014/main" id="{42BEE3B4-9E4A-2FC9-7378-BAC63B56956C}"/>
              </a:ext>
            </a:extLst>
          </p:cNvPr>
          <p:cNvSpPr/>
          <p:nvPr/>
        </p:nvSpPr>
        <p:spPr>
          <a:xfrm>
            <a:off x="2026920" y="5428001"/>
            <a:ext cx="8138160" cy="228600"/>
          </a:xfrm>
          <a:prstGeom prst="rect">
            <a:avLst/>
          </a:prstGeom>
          <a:noFill/>
          <a:ln/>
        </p:spPr>
        <p:txBody>
          <a:bodyPr wrap="square" rtlCol="0" anchor="ctr"/>
          <a:lstStyle/>
          <a:p>
            <a:pPr marL="0" indent="0">
              <a:buNone/>
            </a:pPr>
            <a:r>
              <a:rPr lang="es-CO" sz="900" i="1" noProof="0" dirty="0">
                <a:solidFill>
                  <a:srgbClr val="64748B"/>
                </a:solidFill>
                <a:latin typeface="Calibri" pitchFamily="34" charset="0"/>
                <a:ea typeface="Calibri" pitchFamily="34" charset="-122"/>
                <a:cs typeface="Calibri" pitchFamily="34" charset="-120"/>
              </a:rPr>
              <a:t>Fuente: Escobar-Sánchez &amp; Fuertes-Díaz (2015); Muñoz et al. (2019)</a:t>
            </a:r>
            <a:endParaRPr lang="es-CO" sz="900" noProof="0" dirty="0"/>
          </a:p>
        </p:txBody>
      </p:sp>
    </p:spTree>
    <p:extLst>
      <p:ext uri="{BB962C8B-B14F-4D97-AF65-F5344CB8AC3E}">
        <p14:creationId xmlns:p14="http://schemas.microsoft.com/office/powerpoint/2010/main" val="1709955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7DE1E-F46E-4AF4-13E6-4B56CEEB56CA}"/>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DED54A37-6455-87ED-98DF-63731CAA5408}"/>
              </a:ext>
            </a:extLst>
          </p:cNvPr>
          <p:cNvPicPr>
            <a:picLocks noChangeAspect="1"/>
          </p:cNvPicPr>
          <p:nvPr/>
        </p:nvPicPr>
        <p:blipFill>
          <a:blip r:embed="rId3"/>
          <a:stretch>
            <a:fillRect/>
          </a:stretch>
        </p:blipFill>
        <p:spPr>
          <a:xfrm>
            <a:off x="0" y="0"/>
            <a:ext cx="5708342" cy="779307"/>
          </a:xfrm>
          <a:prstGeom prst="rect">
            <a:avLst/>
          </a:prstGeom>
        </p:spPr>
      </p:pic>
      <p:sp>
        <p:nvSpPr>
          <p:cNvPr id="5" name="Title">
            <a:extLst>
              <a:ext uri="{FF2B5EF4-FFF2-40B4-BE49-F238E27FC236}">
                <a16:creationId xmlns:a16="http://schemas.microsoft.com/office/drawing/2014/main" id="{671E4FC6-FD4D-E74F-7CCF-A4F280E07ECD}"/>
              </a:ext>
            </a:extLst>
          </p:cNvPr>
          <p:cNvSpPr txBox="1">
            <a:spLocks noGrp="1"/>
          </p:cNvSpPr>
          <p:nvPr>
            <p:ph type="title"/>
          </p:nvPr>
        </p:nvSpPr>
        <p:spPr>
          <a:xfrm>
            <a:off x="131870" y="1108922"/>
            <a:ext cx="5576472" cy="382156"/>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¿En qué consiste el estándar ISO/IEC 29110?</a:t>
            </a:r>
          </a:p>
        </p:txBody>
      </p:sp>
      <p:sp>
        <p:nvSpPr>
          <p:cNvPr id="7" name="Content">
            <a:extLst>
              <a:ext uri="{FF2B5EF4-FFF2-40B4-BE49-F238E27FC236}">
                <a16:creationId xmlns:a16="http://schemas.microsoft.com/office/drawing/2014/main" id="{B84C301D-624D-DC93-54CD-7FB917631FB6}"/>
              </a:ext>
            </a:extLst>
          </p:cNvPr>
          <p:cNvSpPr/>
          <p:nvPr/>
        </p:nvSpPr>
        <p:spPr>
          <a:xfrm>
            <a:off x="421004" y="1700000"/>
            <a:ext cx="11350000" cy="4049078"/>
          </a:xfrm>
          <a:prstGeom prst="rect">
            <a:avLst/>
          </a:prstGeom>
        </p:spPr>
        <p:txBody>
          <a:bodyPr wrap="square" anchor="ctr"/>
          <a:lstStyle/>
          <a:p>
            <a:pPr marL="0" lvl="0" indent="0">
              <a:lnSpc>
                <a:spcPct val="107000"/>
              </a:lnSpc>
              <a:spcAft>
                <a:spcPts val="400"/>
              </a:spcAft>
              <a:buNone/>
            </a:pPr>
            <a:r>
              <a:rPr lang="es-CO" sz="1800" b="1" noProof="0" dirty="0">
                <a:solidFill>
                  <a:srgbClr val="003366"/>
                </a:solidFill>
                <a:latin typeface="Calibri"/>
              </a:rPr>
              <a:t>¿Qué es ISO/IEC 29110?</a:t>
            </a:r>
          </a:p>
          <a:p>
            <a:pPr marL="0" lvl="0" indent="0">
              <a:lnSpc>
                <a:spcPct val="107000"/>
              </a:lnSpc>
              <a:spcAft>
                <a:spcPts val="400"/>
              </a:spcAft>
              <a:buNone/>
            </a:pPr>
            <a:r>
              <a:rPr lang="es-CO" sz="1600" noProof="0" dirty="0">
                <a:latin typeface="Calibri"/>
              </a:rPr>
              <a:t>Es un conjunto de estándares y guías de ingeniería de software diseñado específicamente para </a:t>
            </a:r>
            <a:r>
              <a:rPr lang="es-CO" sz="1600" b="1" noProof="0" dirty="0">
                <a:latin typeface="Calibri"/>
              </a:rPr>
              <a:t>Entidades Muy Pequeñas (</a:t>
            </a:r>
            <a:r>
              <a:rPr lang="es-CO" sz="1600" b="1" noProof="0" dirty="0" err="1">
                <a:latin typeface="Calibri"/>
              </a:rPr>
              <a:t>VSEs</a:t>
            </a:r>
            <a:r>
              <a:rPr lang="es-CO" sz="1600" b="1" noProof="0" dirty="0">
                <a:latin typeface="Calibri"/>
              </a:rPr>
              <a:t>)</a:t>
            </a:r>
            <a:r>
              <a:rPr lang="es-CO" sz="1600" noProof="0" dirty="0">
                <a:latin typeface="Calibri"/>
              </a:rPr>
              <a:t>, es decir, organizaciones con hasta 25 personas dedicadas al desarrollo de software.</a:t>
            </a:r>
          </a:p>
          <a:p>
            <a:pPr marL="0" lvl="0" indent="0">
              <a:lnSpc>
                <a:spcPct val="107000"/>
              </a:lnSpc>
              <a:spcAft>
                <a:spcPts val="400"/>
              </a:spcAft>
              <a:buNone/>
            </a:pPr>
            <a:r>
              <a:rPr lang="es-CO" sz="1800" b="1" noProof="0" dirty="0">
                <a:solidFill>
                  <a:srgbClr val="003366"/>
                </a:solidFill>
                <a:latin typeface="Calibri"/>
              </a:rPr>
              <a:t>Estructura del estándar:</a:t>
            </a:r>
          </a:p>
          <a:p>
            <a:pPr marL="342900" lvl="0" indent="-342900">
              <a:lnSpc>
                <a:spcPct val="107000"/>
              </a:lnSpc>
              <a:spcAft>
                <a:spcPts val="200"/>
              </a:spcAft>
              <a:buChar char="•"/>
            </a:pPr>
            <a:r>
              <a:rPr lang="es-CO" sz="1600" b="1" noProof="0" dirty="0">
                <a:latin typeface="Calibri"/>
              </a:rPr>
              <a:t>Perfil Básico: </a:t>
            </a:r>
            <a:r>
              <a:rPr lang="es-CO" sz="1600" noProof="0" dirty="0">
                <a:latin typeface="Calibri"/>
              </a:rPr>
              <a:t>dos procesos principales — Gestión del Proyecto (GP) e Implementación del Software (IS)</a:t>
            </a:r>
          </a:p>
          <a:p>
            <a:pPr marL="342900" lvl="0" indent="-342900">
              <a:lnSpc>
                <a:spcPct val="107000"/>
              </a:lnSpc>
              <a:spcAft>
                <a:spcPts val="200"/>
              </a:spcAft>
              <a:buChar char="•"/>
            </a:pPr>
            <a:r>
              <a:rPr lang="es-CO" sz="1600" b="1" noProof="0" dirty="0">
                <a:latin typeface="Calibri"/>
              </a:rPr>
              <a:t>Gestión del Proyecto: </a:t>
            </a:r>
            <a:r>
              <a:rPr lang="es-CO" sz="1600" noProof="0" dirty="0">
                <a:latin typeface="Calibri"/>
              </a:rPr>
              <a:t>planificación, seguimiento, control de cambios y cierre del proyecto</a:t>
            </a:r>
          </a:p>
          <a:p>
            <a:pPr marL="342900" lvl="0" indent="-342900">
              <a:lnSpc>
                <a:spcPct val="107000"/>
              </a:lnSpc>
              <a:spcAft>
                <a:spcPts val="200"/>
              </a:spcAft>
              <a:buChar char="•"/>
            </a:pPr>
            <a:r>
              <a:rPr lang="es-CO" sz="1600" b="1" noProof="0" dirty="0">
                <a:latin typeface="Calibri"/>
              </a:rPr>
              <a:t>Implementación del Software: </a:t>
            </a:r>
            <a:r>
              <a:rPr lang="es-CO" sz="1600" noProof="0" dirty="0">
                <a:latin typeface="Calibri"/>
              </a:rPr>
              <a:t>análisis de requisitos, diseño, construcción, pruebas y entrega</a:t>
            </a:r>
          </a:p>
          <a:p>
            <a:pPr marL="0" lvl="0" indent="0">
              <a:lnSpc>
                <a:spcPct val="107000"/>
              </a:lnSpc>
              <a:spcAft>
                <a:spcPts val="400"/>
              </a:spcAft>
              <a:buNone/>
            </a:pPr>
            <a:r>
              <a:rPr lang="es-CO" sz="1800" b="1" noProof="0" dirty="0">
                <a:solidFill>
                  <a:srgbClr val="003366"/>
                </a:solidFill>
                <a:latin typeface="Calibri"/>
              </a:rPr>
              <a:t>Objetivo principal:</a:t>
            </a:r>
          </a:p>
          <a:p>
            <a:pPr marL="0" lvl="0" indent="0">
              <a:lnSpc>
                <a:spcPct val="107000"/>
              </a:lnSpc>
              <a:spcAft>
                <a:spcPts val="200"/>
              </a:spcAft>
              <a:buNone/>
            </a:pPr>
            <a:r>
              <a:rPr lang="es-CO" sz="1600" noProof="0" dirty="0">
                <a:latin typeface="Calibri"/>
              </a:rPr>
              <a:t>Proporcionar prácticas de ingeniería de software accesibles y proporcionadas, que permitan a las </a:t>
            </a:r>
            <a:r>
              <a:rPr lang="es-CO" sz="1600" noProof="0" dirty="0" err="1">
                <a:latin typeface="Calibri"/>
              </a:rPr>
              <a:t>VSEs</a:t>
            </a:r>
            <a:r>
              <a:rPr lang="es-CO" sz="1600" noProof="0" dirty="0">
                <a:latin typeface="Calibri"/>
              </a:rPr>
              <a:t> producir software de calidad con procesos disciplinados de </a:t>
            </a:r>
            <a:r>
              <a:rPr lang="es-CO" sz="1600" b="1" noProof="0" dirty="0">
                <a:latin typeface="Calibri"/>
              </a:rPr>
              <a:t>verificación, validación y mejora continua</a:t>
            </a:r>
            <a:r>
              <a:rPr lang="es-CO" sz="1600" noProof="0" dirty="0">
                <a:latin typeface="Calibri"/>
              </a:rPr>
              <a:t>.</a:t>
            </a:r>
          </a:p>
        </p:txBody>
      </p:sp>
    </p:spTree>
    <p:extLst>
      <p:ext uri="{BB962C8B-B14F-4D97-AF65-F5344CB8AC3E}">
        <p14:creationId xmlns:p14="http://schemas.microsoft.com/office/powerpoint/2010/main" val="3691377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5146E-882B-A1E2-ED0A-D71FAE7865D1}"/>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D4C4008F-ADC9-294F-5B5B-9A401410E278}"/>
              </a:ext>
            </a:extLst>
          </p:cNvPr>
          <p:cNvPicPr>
            <a:picLocks noChangeAspect="1"/>
          </p:cNvPicPr>
          <p:nvPr/>
        </p:nvPicPr>
        <p:blipFill>
          <a:blip r:embed="rId3"/>
          <a:stretch>
            <a:fillRect/>
          </a:stretch>
        </p:blipFill>
        <p:spPr>
          <a:xfrm>
            <a:off x="0" y="0"/>
            <a:ext cx="5708342" cy="779307"/>
          </a:xfrm>
          <a:prstGeom prst="rect">
            <a:avLst/>
          </a:prstGeom>
        </p:spPr>
      </p:pic>
      <p:sp>
        <p:nvSpPr>
          <p:cNvPr id="5" name="Title">
            <a:extLst>
              <a:ext uri="{FF2B5EF4-FFF2-40B4-BE49-F238E27FC236}">
                <a16:creationId xmlns:a16="http://schemas.microsoft.com/office/drawing/2014/main" id="{D2E1B7F7-1AFB-A0D3-1A92-7D2126CF6062}"/>
              </a:ext>
            </a:extLst>
          </p:cNvPr>
          <p:cNvSpPr txBox="1">
            <a:spLocks noGrp="1"/>
          </p:cNvSpPr>
          <p:nvPr>
            <p:ph type="title"/>
          </p:nvPr>
        </p:nvSpPr>
        <p:spPr>
          <a:xfrm>
            <a:off x="131870" y="1108922"/>
            <a:ext cx="7494615" cy="382156"/>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Ventajas de la implementación del estándar ISO/IEC 29110</a:t>
            </a:r>
          </a:p>
        </p:txBody>
      </p:sp>
      <p:sp>
        <p:nvSpPr>
          <p:cNvPr id="7" name="Content">
            <a:extLst>
              <a:ext uri="{FF2B5EF4-FFF2-40B4-BE49-F238E27FC236}">
                <a16:creationId xmlns:a16="http://schemas.microsoft.com/office/drawing/2014/main" id="{24B07BF9-AF39-D6BF-C9E4-7E8EB770273F}"/>
              </a:ext>
            </a:extLst>
          </p:cNvPr>
          <p:cNvSpPr/>
          <p:nvPr/>
        </p:nvSpPr>
        <p:spPr>
          <a:xfrm>
            <a:off x="421004" y="1700000"/>
            <a:ext cx="11350000" cy="4049078"/>
          </a:xfrm>
          <a:prstGeom prst="rect">
            <a:avLst/>
          </a:prstGeom>
        </p:spPr>
        <p:txBody>
          <a:bodyPr wrap="square" anchor="ctr"/>
          <a:lstStyle/>
          <a:p>
            <a:pPr marL="0" lvl="0" indent="0">
              <a:lnSpc>
                <a:spcPct val="107000"/>
              </a:lnSpc>
              <a:spcAft>
                <a:spcPts val="400"/>
              </a:spcAft>
              <a:buNone/>
            </a:pPr>
            <a:r>
              <a:rPr lang="es-CO" sz="1800" b="1" noProof="0" dirty="0">
                <a:solidFill>
                  <a:srgbClr val="003366"/>
                </a:solidFill>
                <a:latin typeface="Calibri"/>
              </a:rPr>
              <a:t>Para la organización:</a:t>
            </a:r>
          </a:p>
          <a:p>
            <a:pPr marL="342900" lvl="0" indent="-342900">
              <a:lnSpc>
                <a:spcPct val="107000"/>
              </a:lnSpc>
              <a:spcAft>
                <a:spcPts val="150"/>
              </a:spcAft>
              <a:buChar char="•"/>
            </a:pPr>
            <a:r>
              <a:rPr lang="es-CO" sz="1600" noProof="0" dirty="0">
                <a:latin typeface="Calibri"/>
              </a:rPr>
              <a:t>Mejora la capacidad de gestión de proyectos y control de costos.</a:t>
            </a:r>
          </a:p>
          <a:p>
            <a:pPr marL="342900" lvl="0" indent="-342900">
              <a:lnSpc>
                <a:spcPct val="107000"/>
              </a:lnSpc>
              <a:spcAft>
                <a:spcPts val="150"/>
              </a:spcAft>
              <a:buChar char="•"/>
            </a:pPr>
            <a:r>
              <a:rPr lang="es-CO" sz="1600" noProof="0" dirty="0">
                <a:latin typeface="Calibri"/>
              </a:rPr>
              <a:t>Aumenta la competitividad frente a empresas de mayor tamaño.</a:t>
            </a:r>
          </a:p>
          <a:p>
            <a:pPr marL="342900" lvl="0" indent="-342900">
              <a:lnSpc>
                <a:spcPct val="107000"/>
              </a:lnSpc>
              <a:spcAft>
                <a:spcPts val="150"/>
              </a:spcAft>
              <a:buChar char="•"/>
            </a:pPr>
            <a:r>
              <a:rPr lang="es-CO" sz="1600" noProof="0" dirty="0">
                <a:latin typeface="Calibri"/>
              </a:rPr>
              <a:t>Facilita el acceso a licitaciones y contratos que exigen certificación de calidad.</a:t>
            </a:r>
          </a:p>
          <a:p>
            <a:pPr marL="342900" lvl="0" indent="-342900">
              <a:lnSpc>
                <a:spcPct val="107000"/>
              </a:lnSpc>
              <a:spcAft>
                <a:spcPts val="400"/>
              </a:spcAft>
              <a:buChar char="•"/>
            </a:pPr>
            <a:r>
              <a:rPr lang="es-CO" sz="1600" noProof="0" dirty="0">
                <a:latin typeface="Calibri"/>
              </a:rPr>
              <a:t>Proporciona un camino estructurado hacia estándares como ISO 9001 o CMMI.</a:t>
            </a:r>
          </a:p>
          <a:p>
            <a:pPr marL="0" lvl="0" indent="0">
              <a:lnSpc>
                <a:spcPct val="107000"/>
              </a:lnSpc>
              <a:spcAft>
                <a:spcPts val="400"/>
              </a:spcAft>
              <a:buNone/>
            </a:pPr>
            <a:r>
              <a:rPr lang="es-CO" sz="1800" b="1" noProof="0" dirty="0">
                <a:solidFill>
                  <a:srgbClr val="003366"/>
                </a:solidFill>
                <a:latin typeface="Calibri"/>
              </a:rPr>
              <a:t>Para el proceso de desarrollo:</a:t>
            </a:r>
          </a:p>
          <a:p>
            <a:pPr marL="342900" lvl="0" indent="-342900">
              <a:lnSpc>
                <a:spcPct val="107000"/>
              </a:lnSpc>
              <a:spcAft>
                <a:spcPts val="150"/>
              </a:spcAft>
              <a:buChar char="•"/>
            </a:pPr>
            <a:r>
              <a:rPr lang="es-CO" sz="1600" noProof="0" dirty="0">
                <a:latin typeface="Calibri"/>
              </a:rPr>
              <a:t>Reduce el retrabajo mediante procesos disciplinados de verificación y validación.</a:t>
            </a:r>
          </a:p>
          <a:p>
            <a:pPr marL="342900" lvl="0" indent="-342900">
              <a:lnSpc>
                <a:spcPct val="107000"/>
              </a:lnSpc>
              <a:spcAft>
                <a:spcPts val="150"/>
              </a:spcAft>
              <a:buChar char="•"/>
            </a:pPr>
            <a:r>
              <a:rPr lang="es-CO" sz="1600" noProof="0" dirty="0">
                <a:latin typeface="Calibri"/>
              </a:rPr>
              <a:t>Estandariza la documentación y trazabilidad de requisitos, diseño y pruebas.</a:t>
            </a:r>
          </a:p>
          <a:p>
            <a:pPr marL="342900" lvl="0" indent="-342900">
              <a:lnSpc>
                <a:spcPct val="107000"/>
              </a:lnSpc>
              <a:spcAft>
                <a:spcPts val="400"/>
              </a:spcAft>
              <a:buChar char="•"/>
            </a:pPr>
            <a:r>
              <a:rPr lang="es-CO" sz="1600" noProof="0" dirty="0">
                <a:latin typeface="Calibri"/>
              </a:rPr>
              <a:t>Permite detectar y caracterizar defectos de forma sistemática, alimentando la mejora continua.</a:t>
            </a:r>
          </a:p>
          <a:p>
            <a:pPr marL="0" lvl="0" indent="0">
              <a:lnSpc>
                <a:spcPct val="107000"/>
              </a:lnSpc>
              <a:spcAft>
                <a:spcPts val="400"/>
              </a:spcAft>
              <a:buNone/>
            </a:pPr>
            <a:r>
              <a:rPr lang="es-CO" sz="1800" b="1" noProof="0" dirty="0">
                <a:solidFill>
                  <a:srgbClr val="003366"/>
                </a:solidFill>
                <a:latin typeface="Calibri"/>
              </a:rPr>
              <a:t>Para el producto:</a:t>
            </a:r>
          </a:p>
          <a:p>
            <a:pPr marL="342900" lvl="0" indent="-342900">
              <a:lnSpc>
                <a:spcPct val="107000"/>
              </a:lnSpc>
              <a:spcAft>
                <a:spcPts val="150"/>
              </a:spcAft>
              <a:buChar char="•"/>
            </a:pPr>
            <a:r>
              <a:rPr lang="es-CO" sz="1600" noProof="0" dirty="0">
                <a:latin typeface="Calibri"/>
              </a:rPr>
              <a:t>Mayor confiabilidad y menor densidad de defectos en el software entregado</a:t>
            </a:r>
          </a:p>
          <a:p>
            <a:pPr marL="342900" lvl="0" indent="-342900">
              <a:lnSpc>
                <a:spcPct val="107000"/>
              </a:lnSpc>
              <a:spcAft>
                <a:spcPts val="150"/>
              </a:spcAft>
              <a:buChar char="•"/>
            </a:pPr>
            <a:r>
              <a:rPr lang="es-CO" sz="1600" noProof="0" dirty="0">
                <a:latin typeface="Calibri"/>
              </a:rPr>
              <a:t>Incrementa la satisfacción del cliente al cumplir con las especificaciones</a:t>
            </a:r>
          </a:p>
        </p:txBody>
      </p:sp>
    </p:spTree>
    <p:extLst>
      <p:ext uri="{BB962C8B-B14F-4D97-AF65-F5344CB8AC3E}">
        <p14:creationId xmlns:p14="http://schemas.microsoft.com/office/powerpoint/2010/main" val="483869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0BE62-AD1F-365A-8C08-325755D4DE41}"/>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A8D9BDF3-08D5-D792-42A5-488A5C2E18C1}"/>
              </a:ext>
            </a:extLst>
          </p:cNvPr>
          <p:cNvPicPr>
            <a:picLocks noChangeAspect="1"/>
          </p:cNvPicPr>
          <p:nvPr/>
        </p:nvPicPr>
        <p:blipFill>
          <a:blip r:embed="rId3"/>
          <a:stretch>
            <a:fillRect/>
          </a:stretch>
        </p:blipFill>
        <p:spPr>
          <a:xfrm>
            <a:off x="0" y="0"/>
            <a:ext cx="5708342" cy="779307"/>
          </a:xfrm>
          <a:prstGeom prst="rect">
            <a:avLst/>
          </a:prstGeom>
        </p:spPr>
      </p:pic>
      <p:sp>
        <p:nvSpPr>
          <p:cNvPr id="5" name="Title">
            <a:extLst>
              <a:ext uri="{FF2B5EF4-FFF2-40B4-BE49-F238E27FC236}">
                <a16:creationId xmlns:a16="http://schemas.microsoft.com/office/drawing/2014/main" id="{E34F8E4D-FCAE-65B1-B3D1-6F425439E224}"/>
              </a:ext>
            </a:extLst>
          </p:cNvPr>
          <p:cNvSpPr txBox="1">
            <a:spLocks noGrp="1"/>
          </p:cNvSpPr>
          <p:nvPr>
            <p:ph type="title"/>
          </p:nvPr>
        </p:nvSpPr>
        <p:spPr>
          <a:xfrm>
            <a:off x="131870" y="1108922"/>
            <a:ext cx="4303943" cy="382156"/>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¿Qué es un defecto en software?</a:t>
            </a:r>
          </a:p>
        </p:txBody>
      </p:sp>
      <p:sp>
        <p:nvSpPr>
          <p:cNvPr id="7" name="Content">
            <a:extLst>
              <a:ext uri="{FF2B5EF4-FFF2-40B4-BE49-F238E27FC236}">
                <a16:creationId xmlns:a16="http://schemas.microsoft.com/office/drawing/2014/main" id="{C5303010-329A-AB35-0C4A-765529A80F91}"/>
              </a:ext>
            </a:extLst>
          </p:cNvPr>
          <p:cNvSpPr/>
          <p:nvPr/>
        </p:nvSpPr>
        <p:spPr>
          <a:xfrm>
            <a:off x="421004" y="1700000"/>
            <a:ext cx="11350000" cy="5000000"/>
          </a:xfrm>
          <a:prstGeom prst="rect">
            <a:avLst/>
          </a:prstGeom>
        </p:spPr>
        <p:txBody>
          <a:bodyPr wrap="square" anchor="ctr"/>
          <a:lstStyle/>
          <a:p>
            <a:pPr marL="0" lvl="0" indent="0">
              <a:lnSpc>
                <a:spcPct val="107000"/>
              </a:lnSpc>
              <a:spcAft>
                <a:spcPts val="600"/>
              </a:spcAft>
              <a:buNone/>
            </a:pPr>
            <a:r>
              <a:rPr lang="es-CO" sz="2000" b="1" noProof="0" dirty="0">
                <a:latin typeface="Calibri"/>
              </a:rPr>
              <a:t>Idea central:</a:t>
            </a:r>
            <a:r>
              <a:rPr lang="es-CO" sz="1600" noProof="0" dirty="0">
                <a:latin typeface="Calibri"/>
              </a:rPr>
              <a:t> Un defecto es cualquier desviación entre el comportamiento esperado y el comportamiento real del software.</a:t>
            </a:r>
          </a:p>
          <a:p>
            <a:pPr marL="0" lvl="0" indent="0">
              <a:lnSpc>
                <a:spcPct val="107000"/>
              </a:lnSpc>
              <a:spcAft>
                <a:spcPts val="400"/>
              </a:spcAft>
              <a:buNone/>
            </a:pPr>
            <a:r>
              <a:rPr lang="es-CO" sz="2000" b="1" noProof="0" dirty="0">
                <a:latin typeface="Calibri"/>
              </a:rPr>
              <a:t>Según el modelo de pruebas funcionales (Escobar &amp; Fuertes):</a:t>
            </a:r>
          </a:p>
          <a:p>
            <a:pPr marL="0" lvl="0" indent="0">
              <a:lnSpc>
                <a:spcPct val="107000"/>
              </a:lnSpc>
              <a:spcAft>
                <a:spcPts val="600"/>
              </a:spcAft>
              <a:buNone/>
            </a:pPr>
            <a:r>
              <a:rPr lang="es-CO" sz="1600" i="1" noProof="0" dirty="0">
                <a:latin typeface="Calibri"/>
              </a:rPr>
              <a:t>“La prueba funcional debe mostrar errores y disconformidades con la especificación”</a:t>
            </a:r>
          </a:p>
          <a:p>
            <a:pPr marL="0" lvl="0" indent="0">
              <a:lnSpc>
                <a:spcPct val="107000"/>
              </a:lnSpc>
              <a:spcAft>
                <a:spcPts val="400"/>
              </a:spcAft>
              <a:buNone/>
            </a:pPr>
            <a:r>
              <a:rPr lang="es-CO" sz="2000" b="1" noProof="0" dirty="0">
                <a:latin typeface="Calibri"/>
              </a:rPr>
              <a:t>Relación con ISO/IEC 29110:</a:t>
            </a:r>
          </a:p>
          <a:p>
            <a:pPr marL="342900" lvl="0" indent="-342900">
              <a:lnSpc>
                <a:spcPct val="107000"/>
              </a:lnSpc>
              <a:spcAft>
                <a:spcPts val="200"/>
              </a:spcAft>
              <a:buChar char="•"/>
            </a:pPr>
            <a:r>
              <a:rPr lang="es-CO" sz="1800" noProof="0" dirty="0">
                <a:latin typeface="Calibri"/>
              </a:rPr>
              <a:t>El estándar exige gestión disciplinada de verificación y validación</a:t>
            </a:r>
          </a:p>
          <a:p>
            <a:pPr marL="342900" lvl="0" indent="-342900">
              <a:lnSpc>
                <a:spcPct val="107000"/>
              </a:lnSpc>
              <a:spcAft>
                <a:spcPts val="200"/>
              </a:spcAft>
              <a:buChar char="•"/>
            </a:pPr>
            <a:r>
              <a:rPr lang="es-CO" sz="1800" noProof="0" dirty="0">
                <a:latin typeface="Calibri"/>
              </a:rPr>
              <a:t>La caracterización de defectos permite medir calidad, controlar riesgos y mejorar procesos</a:t>
            </a:r>
          </a:p>
        </p:txBody>
      </p:sp>
      <p:pic>
        <p:nvPicPr>
          <p:cNvPr id="3" name="Imagen 2" descr="Conceptos básicos - Error, defecto y fallo - YouTube">
            <a:extLst>
              <a:ext uri="{FF2B5EF4-FFF2-40B4-BE49-F238E27FC236}">
                <a16:creationId xmlns:a16="http://schemas.microsoft.com/office/drawing/2014/main" id="{DCF74D99-F120-7C4F-0E5A-2DA336FB93A7}"/>
              </a:ext>
            </a:extLst>
          </p:cNvPr>
          <p:cNvPicPr>
            <a:picLocks noChangeAspect="1"/>
          </p:cNvPicPr>
          <p:nvPr/>
        </p:nvPicPr>
        <p:blipFill>
          <a:blip r:embed="rId4"/>
          <a:srcRect l="3006" t="32850" b="24355"/>
          <a:stretch>
            <a:fillRect/>
          </a:stretch>
        </p:blipFill>
        <p:spPr>
          <a:xfrm>
            <a:off x="4699815" y="1108922"/>
            <a:ext cx="5912743" cy="1956620"/>
          </a:xfrm>
          <a:prstGeom prst="rect">
            <a:avLst/>
          </a:prstGeom>
        </p:spPr>
      </p:pic>
    </p:spTree>
    <p:extLst>
      <p:ext uri="{BB962C8B-B14F-4D97-AF65-F5344CB8AC3E}">
        <p14:creationId xmlns:p14="http://schemas.microsoft.com/office/powerpoint/2010/main" val="1398646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10488BC1-1059-4EBE-FCDF-D709BC8B688C}"/>
              </a:ext>
            </a:extLst>
          </p:cNvPr>
          <p:cNvPicPr>
            <a:picLocks noChangeAspect="1"/>
          </p:cNvPicPr>
          <p:nvPr/>
        </p:nvPicPr>
        <p:blipFill>
          <a:blip r:embed="rId2"/>
          <a:stretch>
            <a:fillRect/>
          </a:stretch>
        </p:blipFill>
        <p:spPr>
          <a:xfrm>
            <a:off x="0" y="0"/>
            <a:ext cx="5708342" cy="779307"/>
          </a:xfrm>
          <a:prstGeom prst="rect">
            <a:avLst/>
          </a:prstGeom>
        </p:spPr>
      </p:pic>
      <p:sp>
        <p:nvSpPr>
          <p:cNvPr id="5" name="Title">
            <a:extLst>
              <a:ext uri="{FF2B5EF4-FFF2-40B4-BE49-F238E27FC236}">
                <a16:creationId xmlns:a16="http://schemas.microsoft.com/office/drawing/2014/main" id="{0DFAE864-C80A-4DCF-1105-49BA1E648954}"/>
              </a:ext>
            </a:extLst>
          </p:cNvPr>
          <p:cNvSpPr txBox="1">
            <a:spLocks noGrp="1"/>
          </p:cNvSpPr>
          <p:nvPr>
            <p:ph type="title"/>
          </p:nvPr>
        </p:nvSpPr>
        <p:spPr>
          <a:xfrm>
            <a:off x="131870" y="1108922"/>
            <a:ext cx="11500000" cy="382156"/>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Modelo de Madurez de Pruebas Integrado (</a:t>
            </a:r>
            <a:r>
              <a:rPr lang="es-CO" sz="2400" b="1" spc="-10" noProof="0" dirty="0" err="1">
                <a:solidFill>
                  <a:srgbClr val="003366"/>
                </a:solidFill>
                <a:latin typeface="Calibri"/>
              </a:rPr>
              <a:t>TMMi</a:t>
            </a:r>
            <a:r>
              <a:rPr lang="es-CO" sz="2400" b="1" spc="-10" noProof="0" dirty="0">
                <a:solidFill>
                  <a:srgbClr val="003366"/>
                </a:solidFill>
                <a:latin typeface="Calibri"/>
              </a:rPr>
              <a:t>)</a:t>
            </a:r>
          </a:p>
        </p:txBody>
      </p:sp>
      <p:sp>
        <p:nvSpPr>
          <p:cNvPr id="7" name="Content"/>
          <p:cNvSpPr/>
          <p:nvPr/>
        </p:nvSpPr>
        <p:spPr>
          <a:xfrm>
            <a:off x="126036" y="1700000"/>
            <a:ext cx="8231383" cy="4049078"/>
          </a:xfrm>
          <a:prstGeom prst="rect">
            <a:avLst/>
          </a:prstGeom>
        </p:spPr>
        <p:txBody>
          <a:bodyPr wrap="square" anchor="ctr"/>
          <a:lstStyle/>
          <a:p>
            <a:pPr marL="0" lvl="0" indent="0">
              <a:lnSpc>
                <a:spcPct val="107000"/>
              </a:lnSpc>
              <a:spcAft>
                <a:spcPts val="400"/>
              </a:spcAft>
              <a:buNone/>
            </a:pPr>
            <a:r>
              <a:rPr lang="es-CO" sz="1800" b="1" noProof="0" dirty="0">
                <a:solidFill>
                  <a:srgbClr val="003366"/>
                </a:solidFill>
                <a:latin typeface="Calibri"/>
              </a:rPr>
              <a:t>¿Qué es </a:t>
            </a:r>
            <a:r>
              <a:rPr lang="es-CO" sz="1800" b="1" noProof="0" dirty="0" err="1">
                <a:solidFill>
                  <a:srgbClr val="003366"/>
                </a:solidFill>
                <a:latin typeface="Calibri"/>
              </a:rPr>
              <a:t>TMMi</a:t>
            </a:r>
            <a:r>
              <a:rPr lang="es-CO" sz="1800" b="1" noProof="0" dirty="0">
                <a:solidFill>
                  <a:srgbClr val="003366"/>
                </a:solidFill>
                <a:latin typeface="Calibri"/>
              </a:rPr>
              <a:t>?</a:t>
            </a:r>
          </a:p>
          <a:p>
            <a:pPr marL="0" lvl="0" indent="0">
              <a:lnSpc>
                <a:spcPct val="107000"/>
              </a:lnSpc>
              <a:spcAft>
                <a:spcPts val="400"/>
              </a:spcAft>
              <a:buNone/>
            </a:pPr>
            <a:r>
              <a:rPr lang="es-CO" sz="1600" noProof="0" dirty="0">
                <a:latin typeface="Calibri"/>
              </a:rPr>
              <a:t>Es un modelo de referencia que evalúa y mejora la </a:t>
            </a:r>
            <a:r>
              <a:rPr lang="es-CO" sz="1600" b="1" noProof="0" dirty="0">
                <a:latin typeface="Calibri"/>
              </a:rPr>
              <a:t>madurez del proceso de pruebas</a:t>
            </a:r>
            <a:r>
              <a:rPr lang="es-CO" sz="1600" noProof="0" dirty="0">
                <a:latin typeface="Calibri"/>
              </a:rPr>
              <a:t> de software. Complementa a CMMI centrándose exclusivamente en las actividades de </a:t>
            </a:r>
            <a:r>
              <a:rPr lang="es-CO" sz="1600" i="1" noProof="0" dirty="0" err="1">
                <a:latin typeface="Calibri"/>
              </a:rPr>
              <a:t>testing</a:t>
            </a:r>
            <a:r>
              <a:rPr lang="es-CO" sz="1600" noProof="0" dirty="0">
                <a:latin typeface="Calibri"/>
              </a:rPr>
              <a:t>.</a:t>
            </a:r>
          </a:p>
          <a:p>
            <a:pPr marL="0" lvl="0" indent="0">
              <a:lnSpc>
                <a:spcPct val="107000"/>
              </a:lnSpc>
              <a:spcAft>
                <a:spcPts val="300"/>
              </a:spcAft>
              <a:buNone/>
            </a:pPr>
            <a:r>
              <a:rPr lang="es-CO" sz="1800" b="1" noProof="0" dirty="0">
                <a:solidFill>
                  <a:srgbClr val="003366"/>
                </a:solidFill>
                <a:latin typeface="Calibri"/>
              </a:rPr>
              <a:t>Los 5 niveles de madurez:</a:t>
            </a:r>
          </a:p>
          <a:p>
            <a:pPr marL="342900" lvl="0" indent="-342900">
              <a:lnSpc>
                <a:spcPct val="107000"/>
              </a:lnSpc>
              <a:spcAft>
                <a:spcPts val="150"/>
              </a:spcAft>
              <a:buChar char="•"/>
            </a:pPr>
            <a:r>
              <a:rPr lang="es-CO" sz="1600" b="1" noProof="0" dirty="0">
                <a:latin typeface="Calibri"/>
              </a:rPr>
              <a:t>Nivel 1 – Inicial: </a:t>
            </a:r>
            <a:r>
              <a:rPr lang="es-CO" sz="1600" noProof="0" dirty="0">
                <a:latin typeface="Calibri"/>
              </a:rPr>
              <a:t>pruebas caóticas, sin proceso definido ni distinción entre pruebas y depuración</a:t>
            </a:r>
          </a:p>
          <a:p>
            <a:pPr marL="342900" lvl="0" indent="-342900">
              <a:lnSpc>
                <a:spcPct val="107000"/>
              </a:lnSpc>
              <a:spcAft>
                <a:spcPts val="150"/>
              </a:spcAft>
              <a:buChar char="•"/>
            </a:pPr>
            <a:r>
              <a:rPr lang="es-CO" sz="1600" b="1" noProof="0" dirty="0">
                <a:latin typeface="Calibri"/>
              </a:rPr>
              <a:t>Nivel 2 – Gestionado: </a:t>
            </a:r>
            <a:r>
              <a:rPr lang="es-CO" sz="1600" noProof="0" dirty="0">
                <a:latin typeface="Calibri"/>
              </a:rPr>
              <a:t>política de pruebas, planificación, seguimiento y diseño basado en riesgo</a:t>
            </a:r>
          </a:p>
          <a:p>
            <a:pPr marL="342900" lvl="0" indent="-342900">
              <a:lnSpc>
                <a:spcPct val="107000"/>
              </a:lnSpc>
              <a:spcAft>
                <a:spcPts val="150"/>
              </a:spcAft>
              <a:buChar char="•"/>
            </a:pPr>
            <a:r>
              <a:rPr lang="es-CO" sz="1600" b="1" noProof="0" dirty="0">
                <a:latin typeface="Calibri"/>
              </a:rPr>
              <a:t>Nivel 3 – Definido: </a:t>
            </a:r>
            <a:r>
              <a:rPr lang="es-CO" sz="1600" noProof="0" dirty="0">
                <a:latin typeface="Calibri"/>
              </a:rPr>
              <a:t>proceso estándar de pruebas integrado en el ciclo de vida del software</a:t>
            </a:r>
          </a:p>
          <a:p>
            <a:pPr marL="342900" lvl="0" indent="-342900">
              <a:lnSpc>
                <a:spcPct val="107000"/>
              </a:lnSpc>
              <a:spcAft>
                <a:spcPts val="150"/>
              </a:spcAft>
              <a:buChar char="•"/>
            </a:pPr>
            <a:r>
              <a:rPr lang="es-CO" sz="1600" b="1" noProof="0" dirty="0">
                <a:latin typeface="Calibri"/>
              </a:rPr>
              <a:t>Nivel 4 – Medido: </a:t>
            </a:r>
            <a:r>
              <a:rPr lang="es-CO" sz="1600" noProof="0" dirty="0">
                <a:latin typeface="Calibri"/>
              </a:rPr>
              <a:t>métricas cuantitativas para evaluar calidad y efectividad de las pruebas</a:t>
            </a:r>
          </a:p>
          <a:p>
            <a:pPr marL="342900" lvl="0" indent="-342900">
              <a:lnSpc>
                <a:spcPct val="107000"/>
              </a:lnSpc>
              <a:spcAft>
                <a:spcPts val="400"/>
              </a:spcAft>
              <a:buChar char="•"/>
            </a:pPr>
            <a:r>
              <a:rPr lang="es-CO" sz="1600" b="1" noProof="0" dirty="0">
                <a:latin typeface="Calibri"/>
              </a:rPr>
              <a:t>Nivel 5 – Optimizado: </a:t>
            </a:r>
            <a:r>
              <a:rPr lang="es-CO" sz="1600" noProof="0" dirty="0">
                <a:latin typeface="Calibri"/>
              </a:rPr>
              <a:t>mejora continua, prevención de defectos y automatización avanzada</a:t>
            </a:r>
          </a:p>
          <a:p>
            <a:pPr marL="0" lvl="0" indent="0">
              <a:lnSpc>
                <a:spcPct val="107000"/>
              </a:lnSpc>
              <a:spcAft>
                <a:spcPts val="200"/>
              </a:spcAft>
              <a:buNone/>
            </a:pPr>
            <a:endParaRPr lang="es-CO" sz="1600" noProof="0" dirty="0">
              <a:latin typeface="Calibri"/>
            </a:endParaRPr>
          </a:p>
          <a:p>
            <a:pPr marL="0" lvl="0" indent="0">
              <a:lnSpc>
                <a:spcPct val="107000"/>
              </a:lnSpc>
              <a:spcAft>
                <a:spcPts val="200"/>
              </a:spcAft>
              <a:buNone/>
            </a:pPr>
            <a:r>
              <a:rPr lang="es-CO" sz="1600" b="1" noProof="0" dirty="0" err="1">
                <a:latin typeface="Calibri"/>
              </a:rPr>
              <a:t>TMMi</a:t>
            </a:r>
            <a:r>
              <a:rPr lang="es-CO" sz="1600" b="1" noProof="0" dirty="0">
                <a:latin typeface="Calibri"/>
              </a:rPr>
              <a:t> Nivel 2 es el punto de partida para organizaciones que buscan formalizar sus pruebas y se alinea directamente con ISO/IEC 29110.</a:t>
            </a:r>
          </a:p>
        </p:txBody>
      </p:sp>
      <p:pic>
        <p:nvPicPr>
          <p:cNvPr id="12" name="Imagen 11">
            <a:extLst>
              <a:ext uri="{FF2B5EF4-FFF2-40B4-BE49-F238E27FC236}">
                <a16:creationId xmlns:a16="http://schemas.microsoft.com/office/drawing/2014/main" id="{6B407D65-1671-B4D1-6282-E138DAF1298C}"/>
              </a:ext>
            </a:extLst>
          </p:cNvPr>
          <p:cNvPicPr>
            <a:picLocks noChangeAspect="1"/>
          </p:cNvPicPr>
          <p:nvPr/>
        </p:nvPicPr>
        <p:blipFill>
          <a:blip r:embed="rId3"/>
          <a:srcRect l="1239" t="641" r="18942" b="-1"/>
          <a:stretch>
            <a:fillRect/>
          </a:stretch>
        </p:blipFill>
        <p:spPr>
          <a:xfrm>
            <a:off x="8209503" y="1687600"/>
            <a:ext cx="3571324" cy="3843901"/>
          </a:xfrm>
          <a:prstGeom prst="rect">
            <a:avLst/>
          </a:prstGeom>
          <a:ln w="12700">
            <a:solidFill>
              <a:schemeClr val="tx1"/>
            </a:solidFill>
          </a:ln>
        </p:spPr>
      </p:pic>
    </p:spTree>
    <p:extLst>
      <p:ext uri="{BB962C8B-B14F-4D97-AF65-F5344CB8AC3E}">
        <p14:creationId xmlns:p14="http://schemas.microsoft.com/office/powerpoint/2010/main" val="4244267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0" y="0"/>
            <a:ext cx="5708342" cy="779307"/>
          </a:xfrm>
          <a:prstGeom prst="rect">
            <a:avLst/>
          </a:prstGeom>
        </p:spPr>
      </p:pic>
      <p:sp>
        <p:nvSpPr>
          <p:cNvPr id="5" name="Title"/>
          <p:cNvSpPr txBox="1">
            <a:spLocks noGrp="1"/>
          </p:cNvSpPr>
          <p:nvPr>
            <p:ph type="title"/>
          </p:nvPr>
        </p:nvSpPr>
        <p:spPr>
          <a:xfrm>
            <a:off x="131870" y="1000000"/>
            <a:ext cx="11500000" cy="600000"/>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Importancia de caracterizar defectos</a:t>
            </a:r>
          </a:p>
        </p:txBody>
      </p:sp>
      <p:sp>
        <p:nvSpPr>
          <p:cNvPr id="7" name="Content"/>
          <p:cNvSpPr/>
          <p:nvPr/>
        </p:nvSpPr>
        <p:spPr>
          <a:xfrm>
            <a:off x="421004" y="1700000"/>
            <a:ext cx="11350000" cy="5000000"/>
          </a:xfrm>
          <a:prstGeom prst="rect">
            <a:avLst/>
          </a:prstGeom>
        </p:spPr>
        <p:txBody>
          <a:bodyPr wrap="square" anchor="ctr"/>
          <a:lstStyle/>
          <a:p>
            <a:pPr marL="0" lvl="0" indent="0">
              <a:lnSpc>
                <a:spcPct val="107000"/>
              </a:lnSpc>
              <a:spcAft>
                <a:spcPts val="400"/>
              </a:spcAft>
              <a:buNone/>
            </a:pPr>
            <a:r>
              <a:rPr lang="es-CO" sz="2000" b="1" noProof="0" dirty="0">
                <a:latin typeface="Calibri"/>
              </a:rPr>
              <a:t>¿Por qué es crítico en ISO/IEC 29110 y </a:t>
            </a:r>
            <a:r>
              <a:rPr lang="es-CO" sz="2000" b="1" noProof="0" dirty="0" err="1">
                <a:latin typeface="Calibri"/>
              </a:rPr>
              <a:t>TMMi</a:t>
            </a:r>
            <a:r>
              <a:rPr lang="es-CO" sz="2000" b="1" noProof="0" dirty="0">
                <a:latin typeface="Calibri"/>
              </a:rPr>
              <a:t> Nivel 2?</a:t>
            </a:r>
          </a:p>
          <a:p>
            <a:pPr marL="342900" lvl="0" indent="-342900">
              <a:lnSpc>
                <a:spcPct val="107000"/>
              </a:lnSpc>
              <a:spcAft>
                <a:spcPts val="200"/>
              </a:spcAft>
              <a:buChar char="•"/>
            </a:pPr>
            <a:r>
              <a:rPr lang="es-CO" sz="1800" noProof="0" dirty="0">
                <a:latin typeface="Calibri"/>
              </a:rPr>
              <a:t>Permite planificar pruebas basadas en riesgo (</a:t>
            </a:r>
            <a:r>
              <a:rPr lang="es-CO" sz="1800" noProof="0" dirty="0" err="1">
                <a:latin typeface="Calibri"/>
              </a:rPr>
              <a:t>TMMi</a:t>
            </a:r>
            <a:r>
              <a:rPr lang="es-CO" sz="1800" noProof="0" dirty="0">
                <a:latin typeface="Calibri"/>
              </a:rPr>
              <a:t> Nivel 2)</a:t>
            </a:r>
          </a:p>
          <a:p>
            <a:pPr marL="342900" lvl="0" indent="-342900">
              <a:lnSpc>
                <a:spcPct val="107000"/>
              </a:lnSpc>
              <a:spcAft>
                <a:spcPts val="200"/>
              </a:spcAft>
              <a:buChar char="•"/>
            </a:pPr>
            <a:r>
              <a:rPr lang="es-CO" sz="1800" noProof="0" dirty="0">
                <a:latin typeface="Calibri"/>
              </a:rPr>
              <a:t>Facilita la mejora continua (ISO 9001 + ISO 29110)</a:t>
            </a:r>
          </a:p>
          <a:p>
            <a:pPr marL="342900" lvl="0" indent="-342900">
              <a:lnSpc>
                <a:spcPct val="107000"/>
              </a:lnSpc>
              <a:spcAft>
                <a:spcPts val="200"/>
              </a:spcAft>
              <a:buChar char="•"/>
            </a:pPr>
            <a:r>
              <a:rPr lang="es-CO" sz="1800" noProof="0" dirty="0">
                <a:latin typeface="Calibri"/>
              </a:rPr>
              <a:t>Reduce retrabajo y costos</a:t>
            </a:r>
          </a:p>
          <a:p>
            <a:pPr marL="342900" lvl="0" indent="-342900">
              <a:lnSpc>
                <a:spcPct val="107000"/>
              </a:lnSpc>
              <a:spcAft>
                <a:spcPts val="200"/>
              </a:spcAft>
              <a:buChar char="•"/>
            </a:pPr>
            <a:r>
              <a:rPr lang="es-CO" sz="1800" noProof="0" dirty="0">
                <a:latin typeface="Calibri"/>
              </a:rPr>
              <a:t>Aumenta la confiabilidad del producto</a:t>
            </a:r>
          </a:p>
          <a:p>
            <a:pPr marL="0" lvl="0" indent="0">
              <a:lnSpc>
                <a:spcPct val="107000"/>
              </a:lnSpc>
              <a:spcAft>
                <a:spcPts val="400"/>
              </a:spcAft>
              <a:buNone/>
            </a:pPr>
            <a:r>
              <a:rPr lang="es-CO" sz="2000" b="1" noProof="0" dirty="0">
                <a:latin typeface="Calibri"/>
              </a:rPr>
              <a:t>Métricas que alimenta:</a:t>
            </a:r>
          </a:p>
          <a:p>
            <a:pPr marL="342900" lvl="0" indent="-342900">
              <a:lnSpc>
                <a:spcPct val="107000"/>
              </a:lnSpc>
              <a:spcAft>
                <a:spcPts val="200"/>
              </a:spcAft>
              <a:buChar char="•"/>
            </a:pPr>
            <a:r>
              <a:rPr lang="es-CO" sz="1800" noProof="0" dirty="0">
                <a:latin typeface="Calibri"/>
              </a:rPr>
              <a:t>Densidad de defectos • Tasa de detección • Severidad promedio • Tendencia de reincidencia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0" y="0"/>
            <a:ext cx="5708342" cy="779307"/>
          </a:xfrm>
          <a:prstGeom prst="rect">
            <a:avLst/>
          </a:prstGeom>
        </p:spPr>
      </p:pic>
      <p:sp>
        <p:nvSpPr>
          <p:cNvPr id="5" name="Title"/>
          <p:cNvSpPr txBox="1">
            <a:spLocks noGrp="1"/>
          </p:cNvSpPr>
          <p:nvPr>
            <p:ph type="title"/>
          </p:nvPr>
        </p:nvSpPr>
        <p:spPr>
          <a:xfrm>
            <a:off x="131870" y="1000000"/>
            <a:ext cx="11500000" cy="600000"/>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Clasificación por severidad</a:t>
            </a:r>
          </a:p>
        </p:txBody>
      </p:sp>
      <p:sp>
        <p:nvSpPr>
          <p:cNvPr id="7" name="Content"/>
          <p:cNvSpPr/>
          <p:nvPr/>
        </p:nvSpPr>
        <p:spPr>
          <a:xfrm>
            <a:off x="177811" y="1700000"/>
            <a:ext cx="4783294" cy="3815583"/>
          </a:xfrm>
          <a:prstGeom prst="rect">
            <a:avLst/>
          </a:prstGeom>
        </p:spPr>
        <p:txBody>
          <a:bodyPr wrap="square" anchor="ctr"/>
          <a:lstStyle/>
          <a:p>
            <a:pPr marL="0" lvl="0" indent="0">
              <a:lnSpc>
                <a:spcPct val="107000"/>
              </a:lnSpc>
              <a:spcAft>
                <a:spcPts val="400"/>
              </a:spcAft>
              <a:buNone/>
            </a:pPr>
            <a:r>
              <a:rPr lang="es-CO" sz="1600" i="1" noProof="0" dirty="0">
                <a:latin typeface="Calibri"/>
              </a:rPr>
              <a:t>“Son incidentes de baja importancia, que se reducen significativamente al realizar la segunda versión del producto.”</a:t>
            </a:r>
          </a:p>
          <a:p>
            <a:pPr marL="0" lvl="0" indent="0">
              <a:lnSpc>
                <a:spcPct val="107000"/>
              </a:lnSpc>
              <a:spcAft>
                <a:spcPts val="400"/>
              </a:spcAft>
              <a:buNone/>
            </a:pPr>
            <a:endParaRPr lang="es-CO" sz="1600" i="1" noProof="0" dirty="0">
              <a:latin typeface="Calibri"/>
            </a:endParaRPr>
          </a:p>
          <a:p>
            <a:pPr marL="342900" lvl="0" indent="-342900">
              <a:lnSpc>
                <a:spcPct val="107000"/>
              </a:lnSpc>
              <a:spcAft>
                <a:spcPts val="200"/>
              </a:spcAft>
              <a:buChar char="•"/>
            </a:pPr>
            <a:r>
              <a:rPr lang="es-CO" sz="1800" b="1" noProof="0" dirty="0">
                <a:latin typeface="Calibri"/>
              </a:rPr>
              <a:t>Crítico: </a:t>
            </a:r>
            <a:r>
              <a:rPr lang="es-CO" sz="1800" noProof="0" dirty="0">
                <a:latin typeface="Calibri"/>
              </a:rPr>
              <a:t>detiene el sistema o afecta funciones esenciales</a:t>
            </a:r>
          </a:p>
          <a:p>
            <a:pPr marL="342900" lvl="0" indent="-342900">
              <a:lnSpc>
                <a:spcPct val="107000"/>
              </a:lnSpc>
              <a:spcAft>
                <a:spcPts val="200"/>
              </a:spcAft>
              <a:buChar char="•"/>
            </a:pPr>
            <a:r>
              <a:rPr lang="es-CO" sz="1800" b="1" noProof="0" dirty="0">
                <a:latin typeface="Calibri"/>
              </a:rPr>
              <a:t>Alto: </a:t>
            </a:r>
            <a:r>
              <a:rPr lang="es-CO" sz="1800" noProof="0" dirty="0">
                <a:latin typeface="Calibri"/>
              </a:rPr>
              <a:t>afecta funcionalidades principales sin detener el sistema</a:t>
            </a:r>
          </a:p>
          <a:p>
            <a:pPr marL="342900" lvl="0" indent="-342900">
              <a:lnSpc>
                <a:spcPct val="107000"/>
              </a:lnSpc>
              <a:spcAft>
                <a:spcPts val="200"/>
              </a:spcAft>
              <a:buChar char="•"/>
            </a:pPr>
            <a:r>
              <a:rPr lang="es-CO" sz="1800" b="1" noProof="0" dirty="0">
                <a:latin typeface="Calibri"/>
              </a:rPr>
              <a:t>Medio: </a:t>
            </a:r>
            <a:r>
              <a:rPr lang="es-CO" sz="1800" noProof="0" dirty="0">
                <a:latin typeface="Calibri"/>
              </a:rPr>
              <a:t>afecta funciones secundarias</a:t>
            </a:r>
          </a:p>
          <a:p>
            <a:pPr marL="342900" lvl="0" indent="-342900">
              <a:lnSpc>
                <a:spcPct val="107000"/>
              </a:lnSpc>
              <a:spcAft>
                <a:spcPts val="200"/>
              </a:spcAft>
              <a:buChar char="•"/>
            </a:pPr>
            <a:r>
              <a:rPr lang="es-CO" sz="1800" b="1" noProof="0" dirty="0">
                <a:latin typeface="Calibri"/>
              </a:rPr>
              <a:t>Bajo: </a:t>
            </a:r>
            <a:r>
              <a:rPr lang="es-CO" sz="1800" noProof="0" dirty="0">
                <a:latin typeface="Calibri"/>
              </a:rPr>
              <a:t>problemas cosméticos o de presentación</a:t>
            </a:r>
          </a:p>
        </p:txBody>
      </p:sp>
      <p:sp>
        <p:nvSpPr>
          <p:cNvPr id="23" name="Title">
            <a:extLst>
              <a:ext uri="{FF2B5EF4-FFF2-40B4-BE49-F238E27FC236}">
                <a16:creationId xmlns:a16="http://schemas.microsoft.com/office/drawing/2014/main" id="{8EC4E4C4-915E-1C3F-2ACF-E64846D9A34A}"/>
              </a:ext>
            </a:extLst>
          </p:cNvPr>
          <p:cNvSpPr txBox="1">
            <a:spLocks/>
          </p:cNvSpPr>
          <p:nvPr/>
        </p:nvSpPr>
        <p:spPr>
          <a:xfrm>
            <a:off x="5666925" y="1108922"/>
            <a:ext cx="3058802" cy="382156"/>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pPr>
            <a:r>
              <a:rPr lang="es-CO" sz="2400" b="1" spc="-10" noProof="0" dirty="0">
                <a:solidFill>
                  <a:srgbClr val="003366"/>
                </a:solidFill>
                <a:latin typeface="Calibri"/>
              </a:rPr>
              <a:t>Clasificación por origen</a:t>
            </a:r>
          </a:p>
        </p:txBody>
      </p:sp>
      <p:sp>
        <p:nvSpPr>
          <p:cNvPr id="24" name="Content">
            <a:extLst>
              <a:ext uri="{FF2B5EF4-FFF2-40B4-BE49-F238E27FC236}">
                <a16:creationId xmlns:a16="http://schemas.microsoft.com/office/drawing/2014/main" id="{1954AEE2-981D-2DC9-5B8F-4F78A93E0BF5}"/>
              </a:ext>
            </a:extLst>
          </p:cNvPr>
          <p:cNvSpPr/>
          <p:nvPr/>
        </p:nvSpPr>
        <p:spPr>
          <a:xfrm>
            <a:off x="5323761" y="1515172"/>
            <a:ext cx="5444758" cy="3601574"/>
          </a:xfrm>
          <a:prstGeom prst="rect">
            <a:avLst/>
          </a:prstGeom>
        </p:spPr>
        <p:txBody>
          <a:bodyPr wrap="square" anchor="ctr"/>
          <a:lstStyle/>
          <a:p>
            <a:pPr marL="342900" lvl="0" indent="-342900">
              <a:lnSpc>
                <a:spcPct val="107000"/>
              </a:lnSpc>
              <a:spcAft>
                <a:spcPts val="100"/>
              </a:spcAft>
              <a:buChar char="•"/>
            </a:pPr>
            <a:r>
              <a:rPr lang="es-CO" sz="1800" b="1" noProof="0" dirty="0">
                <a:latin typeface="Calibri"/>
              </a:rPr>
              <a:t>Requisitos: </a:t>
            </a:r>
            <a:r>
              <a:rPr lang="es-CO" sz="1800" noProof="0" dirty="0">
                <a:latin typeface="Calibri"/>
              </a:rPr>
              <a:t>ambigüedad, omisiones, contradicciones</a:t>
            </a:r>
          </a:p>
          <a:p>
            <a:pPr marL="342900" lvl="0" indent="-342900">
              <a:lnSpc>
                <a:spcPct val="107000"/>
              </a:lnSpc>
              <a:spcAft>
                <a:spcPts val="100"/>
              </a:spcAft>
              <a:buChar char="•"/>
            </a:pPr>
            <a:r>
              <a:rPr lang="es-CO" sz="1800" b="1" noProof="0" dirty="0">
                <a:latin typeface="Calibri"/>
              </a:rPr>
              <a:t>Diseño: </a:t>
            </a:r>
            <a:r>
              <a:rPr lang="es-CO" sz="1800" noProof="0" dirty="0">
                <a:latin typeface="Calibri"/>
              </a:rPr>
              <a:t>arquitectura incorrecta, flujos mal definidos</a:t>
            </a:r>
          </a:p>
          <a:p>
            <a:pPr marL="342900" lvl="0" indent="-342900">
              <a:lnSpc>
                <a:spcPct val="107000"/>
              </a:lnSpc>
              <a:spcAft>
                <a:spcPts val="100"/>
              </a:spcAft>
              <a:buChar char="•"/>
            </a:pPr>
            <a:r>
              <a:rPr lang="es-CO" sz="1800" b="1" noProof="0" dirty="0">
                <a:latin typeface="Calibri"/>
              </a:rPr>
              <a:t>Codificación: </a:t>
            </a:r>
            <a:r>
              <a:rPr lang="es-CO" sz="1800" noProof="0" dirty="0">
                <a:latin typeface="Calibri"/>
              </a:rPr>
              <a:t>errores sintácticos, lógica incorrecta</a:t>
            </a:r>
          </a:p>
          <a:p>
            <a:pPr marL="342900" lvl="0" indent="-342900">
              <a:lnSpc>
                <a:spcPct val="107000"/>
              </a:lnSpc>
              <a:spcAft>
                <a:spcPts val="100"/>
              </a:spcAft>
              <a:buChar char="•"/>
            </a:pPr>
            <a:r>
              <a:rPr lang="es-CO" sz="1800" b="1" noProof="0" dirty="0">
                <a:latin typeface="Calibri"/>
              </a:rPr>
              <a:t>Integración: </a:t>
            </a:r>
            <a:r>
              <a:rPr lang="es-CO" sz="1800" noProof="0" dirty="0">
                <a:latin typeface="Calibri"/>
              </a:rPr>
              <a:t>reprocesos por cambios concurrentes, fallos en despliegues</a:t>
            </a:r>
          </a:p>
          <a:p>
            <a:pPr marL="342900" lvl="0" indent="-342900">
              <a:lnSpc>
                <a:spcPct val="107000"/>
              </a:lnSpc>
              <a:spcAft>
                <a:spcPts val="100"/>
              </a:spcAft>
              <a:buChar char="•"/>
            </a:pPr>
            <a:r>
              <a:rPr lang="es-CO" sz="1800" b="1" noProof="0" dirty="0">
                <a:latin typeface="Calibri"/>
              </a:rPr>
              <a:t>Pruebas: </a:t>
            </a:r>
            <a:r>
              <a:rPr lang="es-CO" sz="1800" noProof="0" dirty="0">
                <a:latin typeface="Calibri"/>
              </a:rPr>
              <a:t>casos mal diseñados, cobertura insuficiente</a:t>
            </a:r>
          </a:p>
          <a:p>
            <a:pPr marL="0" lvl="0" indent="0">
              <a:lnSpc>
                <a:spcPct val="107000"/>
              </a:lnSpc>
              <a:spcAft>
                <a:spcPts val="200"/>
              </a:spcAft>
              <a:buNone/>
            </a:pPr>
            <a:endParaRPr lang="es-CO" sz="1400" i="1" noProof="0" dirty="0">
              <a:latin typeface="Calibri"/>
            </a:endParaRPr>
          </a:p>
          <a:p>
            <a:pPr marL="0" lvl="0" indent="0">
              <a:lnSpc>
                <a:spcPct val="107000"/>
              </a:lnSpc>
              <a:spcAft>
                <a:spcPts val="200"/>
              </a:spcAft>
              <a:buNone/>
            </a:pPr>
            <a:r>
              <a:rPr lang="es-CO" sz="1400" i="1" noProof="0" dirty="0">
                <a:latin typeface="Calibri"/>
              </a:rPr>
              <a:t>“Cuando varios desarrolladores trabajan sobre la misma sección del código… se enfrentan a reprocesos y fallos en los despliegues.”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0" y="0"/>
            <a:ext cx="5708342" cy="779307"/>
          </a:xfrm>
          <a:prstGeom prst="rect">
            <a:avLst/>
          </a:prstGeom>
        </p:spPr>
      </p:pic>
      <p:sp>
        <p:nvSpPr>
          <p:cNvPr id="5" name="Title"/>
          <p:cNvSpPr txBox="1">
            <a:spLocks noGrp="1"/>
          </p:cNvSpPr>
          <p:nvPr>
            <p:ph type="title"/>
          </p:nvPr>
        </p:nvSpPr>
        <p:spPr>
          <a:xfrm>
            <a:off x="131870" y="1000000"/>
            <a:ext cx="11500000" cy="600000"/>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Métricas asociadas a defectos (ISO/IEC 29110)</a:t>
            </a:r>
          </a:p>
        </p:txBody>
      </p:sp>
      <p:sp>
        <p:nvSpPr>
          <p:cNvPr id="7" name="Content"/>
          <p:cNvSpPr/>
          <p:nvPr/>
        </p:nvSpPr>
        <p:spPr>
          <a:xfrm>
            <a:off x="421004" y="1700000"/>
            <a:ext cx="11350000" cy="5000000"/>
          </a:xfrm>
          <a:prstGeom prst="rect">
            <a:avLst/>
          </a:prstGeom>
        </p:spPr>
        <p:txBody>
          <a:bodyPr wrap="square" anchor="ctr"/>
          <a:lstStyle/>
          <a:p>
            <a:pPr marL="342900" lvl="0" indent="-342900">
              <a:lnSpc>
                <a:spcPct val="107000"/>
              </a:lnSpc>
              <a:spcAft>
                <a:spcPts val="200"/>
              </a:spcAft>
              <a:buChar char="•"/>
            </a:pPr>
            <a:r>
              <a:rPr lang="es-CO" sz="1800" b="1" noProof="0" dirty="0">
                <a:latin typeface="Calibri"/>
              </a:rPr>
              <a:t>Densidad de defectos: </a:t>
            </a:r>
            <a:r>
              <a:rPr lang="es-CO" sz="1800" noProof="0" dirty="0">
                <a:latin typeface="Calibri"/>
              </a:rPr>
              <a:t>Defectos / KLOC o Defectos / Funcionalidad</a:t>
            </a:r>
          </a:p>
          <a:p>
            <a:pPr marL="342900" lvl="0" indent="-342900">
              <a:lnSpc>
                <a:spcPct val="107000"/>
              </a:lnSpc>
              <a:spcAft>
                <a:spcPts val="200"/>
              </a:spcAft>
              <a:buChar char="•"/>
            </a:pPr>
            <a:r>
              <a:rPr lang="es-CO" sz="1800" b="1" noProof="0" dirty="0">
                <a:latin typeface="Calibri"/>
              </a:rPr>
              <a:t>Tasa de detección: </a:t>
            </a:r>
            <a:r>
              <a:rPr lang="es-CO" sz="1800" noProof="0" dirty="0">
                <a:latin typeface="Calibri"/>
              </a:rPr>
              <a:t>Defectos encontrados por ciclo de prueba</a:t>
            </a:r>
          </a:p>
          <a:p>
            <a:pPr marL="342900" lvl="0" indent="-342900">
              <a:lnSpc>
                <a:spcPct val="107000"/>
              </a:lnSpc>
              <a:spcAft>
                <a:spcPts val="200"/>
              </a:spcAft>
              <a:buChar char="•"/>
            </a:pPr>
            <a:r>
              <a:rPr lang="es-CO" sz="1800" b="1" noProof="0" dirty="0">
                <a:latin typeface="Calibri"/>
              </a:rPr>
              <a:t>Tasa de corrección: </a:t>
            </a:r>
            <a:r>
              <a:rPr lang="es-CO" sz="1800" noProof="0" dirty="0">
                <a:latin typeface="Calibri"/>
              </a:rPr>
              <a:t>Tiempo promedio para resolver un defecto</a:t>
            </a:r>
          </a:p>
          <a:p>
            <a:pPr marL="342900" lvl="0" indent="-342900">
              <a:lnSpc>
                <a:spcPct val="107000"/>
              </a:lnSpc>
              <a:spcAft>
                <a:spcPts val="200"/>
              </a:spcAft>
              <a:buChar char="•"/>
            </a:pPr>
            <a:r>
              <a:rPr lang="es-CO" sz="1800" b="1" noProof="0" dirty="0">
                <a:latin typeface="Calibri"/>
              </a:rPr>
              <a:t>Reincidencia: </a:t>
            </a:r>
            <a:r>
              <a:rPr lang="es-CO" sz="1800" noProof="0" dirty="0">
                <a:latin typeface="Calibri"/>
              </a:rPr>
              <a:t>Porcentaje de defectos reabiertos</a:t>
            </a:r>
          </a:p>
          <a:p>
            <a:pPr marL="342900" lvl="0" indent="-342900">
              <a:lnSpc>
                <a:spcPct val="107000"/>
              </a:lnSpc>
              <a:spcAft>
                <a:spcPts val="200"/>
              </a:spcAft>
              <a:buChar char="•"/>
            </a:pPr>
            <a:r>
              <a:rPr lang="es-CO" sz="1800" b="1" noProof="0" dirty="0">
                <a:latin typeface="Calibri"/>
              </a:rPr>
              <a:t>Distribución por severidad: </a:t>
            </a:r>
            <a:r>
              <a:rPr lang="es-CO" sz="1800" noProof="0" dirty="0">
                <a:latin typeface="Calibri"/>
              </a:rPr>
              <a:t>Permite priorizar esfuerzos de mejora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5EBB6-5658-F64D-6E84-011CCFD25741}"/>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78F64CF8-31B6-C6FC-4D40-7981CF9E0423}"/>
              </a:ext>
            </a:extLst>
          </p:cNvPr>
          <p:cNvPicPr>
            <a:picLocks noChangeAspect="1"/>
          </p:cNvPicPr>
          <p:nvPr/>
        </p:nvPicPr>
        <p:blipFill>
          <a:blip r:embed="rId3"/>
          <a:stretch>
            <a:fillRect/>
          </a:stretch>
        </p:blipFill>
        <p:spPr>
          <a:xfrm>
            <a:off x="0" y="0"/>
            <a:ext cx="5708342" cy="779307"/>
          </a:xfrm>
          <a:prstGeom prst="rect">
            <a:avLst/>
          </a:prstGeom>
        </p:spPr>
      </p:pic>
      <p:sp>
        <p:nvSpPr>
          <p:cNvPr id="5" name="Title">
            <a:extLst>
              <a:ext uri="{FF2B5EF4-FFF2-40B4-BE49-F238E27FC236}">
                <a16:creationId xmlns:a16="http://schemas.microsoft.com/office/drawing/2014/main" id="{17392CC4-52CC-19FC-DCDA-433BC17CB88A}"/>
              </a:ext>
            </a:extLst>
          </p:cNvPr>
          <p:cNvSpPr txBox="1">
            <a:spLocks noGrp="1"/>
          </p:cNvSpPr>
          <p:nvPr>
            <p:ph type="title"/>
          </p:nvPr>
        </p:nvSpPr>
        <p:spPr>
          <a:xfrm>
            <a:off x="131870" y="1000000"/>
            <a:ext cx="11500000" cy="600000"/>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Cómo ISO/IEC 29110 usa esta caracterización</a:t>
            </a:r>
          </a:p>
        </p:txBody>
      </p:sp>
      <p:sp>
        <p:nvSpPr>
          <p:cNvPr id="7" name="Content">
            <a:extLst>
              <a:ext uri="{FF2B5EF4-FFF2-40B4-BE49-F238E27FC236}">
                <a16:creationId xmlns:a16="http://schemas.microsoft.com/office/drawing/2014/main" id="{88D313D3-CA08-A10D-D333-1563229F071D}"/>
              </a:ext>
            </a:extLst>
          </p:cNvPr>
          <p:cNvSpPr/>
          <p:nvPr/>
        </p:nvSpPr>
        <p:spPr>
          <a:xfrm>
            <a:off x="421004" y="1700000"/>
            <a:ext cx="11350000" cy="5000000"/>
          </a:xfrm>
          <a:prstGeom prst="rect">
            <a:avLst/>
          </a:prstGeom>
        </p:spPr>
        <p:txBody>
          <a:bodyPr wrap="square" anchor="ctr"/>
          <a:lstStyle/>
          <a:p>
            <a:pPr marL="0" lvl="0" indent="0">
              <a:lnSpc>
                <a:spcPct val="107000"/>
              </a:lnSpc>
              <a:spcAft>
                <a:spcPts val="400"/>
              </a:spcAft>
              <a:buNone/>
            </a:pPr>
            <a:r>
              <a:rPr lang="es-CO" sz="2000" b="1" noProof="0" dirty="0">
                <a:latin typeface="Calibri"/>
              </a:rPr>
              <a:t>El estándar exige:</a:t>
            </a:r>
          </a:p>
          <a:p>
            <a:pPr marL="342900" lvl="0" indent="-342900">
              <a:lnSpc>
                <a:spcPct val="107000"/>
              </a:lnSpc>
              <a:spcAft>
                <a:spcPts val="200"/>
              </a:spcAft>
              <a:buChar char="•"/>
            </a:pPr>
            <a:r>
              <a:rPr lang="es-CO" sz="1800" noProof="0" dirty="0">
                <a:latin typeface="Calibri"/>
              </a:rPr>
              <a:t>Gestión disciplinada de verificación y validación</a:t>
            </a:r>
          </a:p>
          <a:p>
            <a:pPr marL="342900" lvl="0" indent="-342900">
              <a:lnSpc>
                <a:spcPct val="107000"/>
              </a:lnSpc>
              <a:spcAft>
                <a:spcPts val="200"/>
              </a:spcAft>
              <a:buChar char="•"/>
            </a:pPr>
            <a:r>
              <a:rPr lang="es-CO" sz="1800" noProof="0" dirty="0">
                <a:latin typeface="Calibri"/>
              </a:rPr>
              <a:t>Registro y análisis de no conformidades</a:t>
            </a:r>
          </a:p>
          <a:p>
            <a:pPr marL="342900" lvl="0" indent="-342900">
              <a:lnSpc>
                <a:spcPct val="107000"/>
              </a:lnSpc>
              <a:spcAft>
                <a:spcPts val="200"/>
              </a:spcAft>
              <a:buChar char="•"/>
            </a:pPr>
            <a:r>
              <a:rPr lang="es-CO" sz="1800" noProof="0" dirty="0">
                <a:latin typeface="Calibri"/>
              </a:rPr>
              <a:t>Control de cambios y correcciones</a:t>
            </a:r>
          </a:p>
          <a:p>
            <a:pPr marL="342900" lvl="0" indent="-342900">
              <a:lnSpc>
                <a:spcPct val="107000"/>
              </a:lnSpc>
              <a:spcAft>
                <a:spcPts val="200"/>
              </a:spcAft>
              <a:buChar char="•"/>
            </a:pPr>
            <a:r>
              <a:rPr lang="es-CO" sz="1800" noProof="0" dirty="0">
                <a:latin typeface="Calibri"/>
              </a:rPr>
              <a:t>Retroalimentación para mejora continua</a:t>
            </a:r>
          </a:p>
          <a:p>
            <a:pPr marL="0" lvl="0" indent="0">
              <a:lnSpc>
                <a:spcPct val="107000"/>
              </a:lnSpc>
              <a:spcAft>
                <a:spcPts val="200"/>
              </a:spcAft>
              <a:buNone/>
            </a:pPr>
            <a:r>
              <a:rPr lang="es-CO" sz="2000" b="1" noProof="0" dirty="0">
                <a:latin typeface="Calibri"/>
              </a:rPr>
              <a:t>La caracterización de defectos es el insumo principal para cumplir estos requisitos.</a:t>
            </a:r>
          </a:p>
        </p:txBody>
      </p:sp>
    </p:spTree>
    <p:extLst>
      <p:ext uri="{BB962C8B-B14F-4D97-AF65-F5344CB8AC3E}">
        <p14:creationId xmlns:p14="http://schemas.microsoft.com/office/powerpoint/2010/main" val="2683653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36544-1D1D-C661-BA8C-A7BCDB08040D}"/>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068945A2-6253-2F3D-31A4-2B741646644B}"/>
              </a:ext>
            </a:extLst>
          </p:cNvPr>
          <p:cNvPicPr>
            <a:picLocks noChangeAspect="1"/>
          </p:cNvPicPr>
          <p:nvPr/>
        </p:nvPicPr>
        <p:blipFill>
          <a:blip r:embed="rId2"/>
          <a:stretch>
            <a:fillRect/>
          </a:stretch>
        </p:blipFill>
        <p:spPr>
          <a:xfrm>
            <a:off x="0" y="0"/>
            <a:ext cx="5708342" cy="779307"/>
          </a:xfrm>
          <a:prstGeom prst="rect">
            <a:avLst/>
          </a:prstGeom>
        </p:spPr>
      </p:pic>
      <p:sp>
        <p:nvSpPr>
          <p:cNvPr id="5" name="Title">
            <a:extLst>
              <a:ext uri="{FF2B5EF4-FFF2-40B4-BE49-F238E27FC236}">
                <a16:creationId xmlns:a16="http://schemas.microsoft.com/office/drawing/2014/main" id="{958DBDB5-1048-E027-A6CD-A752FA098B83}"/>
              </a:ext>
            </a:extLst>
          </p:cNvPr>
          <p:cNvSpPr txBox="1">
            <a:spLocks noGrp="1"/>
          </p:cNvSpPr>
          <p:nvPr>
            <p:ph type="title"/>
          </p:nvPr>
        </p:nvSpPr>
        <p:spPr>
          <a:xfrm>
            <a:off x="131870" y="1108922"/>
            <a:ext cx="11500000" cy="382156"/>
          </a:xfrm>
          <a:prstGeom prst="rect">
            <a:avLst/>
          </a:prstGeom>
        </p:spPr>
        <p:txBody>
          <a:bodyPr vert="horz" wrap="square" lIns="0" tIns="12700" rIns="0" bIns="0" rtlCol="0">
            <a:spAutoFit/>
          </a:bodyPr>
          <a:lstStyle/>
          <a:p>
            <a:pPr marL="12700">
              <a:lnSpc>
                <a:spcPct val="100000"/>
              </a:lnSpc>
            </a:pPr>
            <a:r>
              <a:rPr lang="es-CO" sz="2400" noProof="0" dirty="0"/>
              <a:t>Flujo de Defectos en el Proceso de Aseguramiento de la Calidad</a:t>
            </a:r>
            <a:endParaRPr lang="es-CO" sz="2400" b="1" spc="-10" noProof="0" dirty="0">
              <a:solidFill>
                <a:srgbClr val="003366"/>
              </a:solidFill>
              <a:latin typeface="Calibri"/>
            </a:endParaRPr>
          </a:p>
        </p:txBody>
      </p:sp>
      <p:pic>
        <p:nvPicPr>
          <p:cNvPr id="7" name="Imagen 6">
            <a:extLst>
              <a:ext uri="{FF2B5EF4-FFF2-40B4-BE49-F238E27FC236}">
                <a16:creationId xmlns:a16="http://schemas.microsoft.com/office/drawing/2014/main" id="{9325CD05-CEFA-7D6A-9864-3CEDA71D7043}"/>
              </a:ext>
            </a:extLst>
          </p:cNvPr>
          <p:cNvPicPr>
            <a:picLocks noChangeAspect="1"/>
          </p:cNvPicPr>
          <p:nvPr/>
        </p:nvPicPr>
        <p:blipFill>
          <a:blip r:embed="rId3"/>
          <a:srcRect l="9081" t="4543" r="11126" b="18387"/>
          <a:stretch>
            <a:fillRect/>
          </a:stretch>
        </p:blipFill>
        <p:spPr>
          <a:xfrm rot="16200000">
            <a:off x="3437402" y="-439248"/>
            <a:ext cx="4485577" cy="8249698"/>
          </a:xfrm>
          <a:prstGeom prst="rect">
            <a:avLst/>
          </a:prstGeom>
        </p:spPr>
      </p:pic>
    </p:spTree>
    <p:extLst>
      <p:ext uri="{BB962C8B-B14F-4D97-AF65-F5344CB8AC3E}">
        <p14:creationId xmlns:p14="http://schemas.microsoft.com/office/powerpoint/2010/main" val="4057792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421F1-A29D-EA96-09B7-649309927E19}"/>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F4ADB2C3-55E8-5DC0-25C7-DF0D3055A8F9}"/>
              </a:ext>
            </a:extLst>
          </p:cNvPr>
          <p:cNvPicPr>
            <a:picLocks noChangeAspect="1"/>
          </p:cNvPicPr>
          <p:nvPr/>
        </p:nvPicPr>
        <p:blipFill>
          <a:blip r:embed="rId2"/>
          <a:stretch>
            <a:fillRect/>
          </a:stretch>
        </p:blipFill>
        <p:spPr>
          <a:xfrm>
            <a:off x="0" y="0"/>
            <a:ext cx="5708342" cy="779307"/>
          </a:xfrm>
          <a:prstGeom prst="rect">
            <a:avLst/>
          </a:prstGeom>
        </p:spPr>
      </p:pic>
      <p:sp>
        <p:nvSpPr>
          <p:cNvPr id="5" name="Title">
            <a:extLst>
              <a:ext uri="{FF2B5EF4-FFF2-40B4-BE49-F238E27FC236}">
                <a16:creationId xmlns:a16="http://schemas.microsoft.com/office/drawing/2014/main" id="{99F91C1F-E29B-1C12-B293-C86CCC074C28}"/>
              </a:ext>
            </a:extLst>
          </p:cNvPr>
          <p:cNvSpPr txBox="1">
            <a:spLocks noGrp="1"/>
          </p:cNvSpPr>
          <p:nvPr>
            <p:ph type="title"/>
          </p:nvPr>
        </p:nvSpPr>
        <p:spPr>
          <a:xfrm>
            <a:off x="131870" y="1108922"/>
            <a:ext cx="11500000" cy="382156"/>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Ciclo de vida de un defecto de software</a:t>
            </a:r>
          </a:p>
        </p:txBody>
      </p:sp>
      <p:pic>
        <p:nvPicPr>
          <p:cNvPr id="3" name="Imagen 2">
            <a:extLst>
              <a:ext uri="{FF2B5EF4-FFF2-40B4-BE49-F238E27FC236}">
                <a16:creationId xmlns:a16="http://schemas.microsoft.com/office/drawing/2014/main" id="{47E35714-3B80-B2E7-DBF8-960015D586B2}"/>
              </a:ext>
            </a:extLst>
          </p:cNvPr>
          <p:cNvPicPr>
            <a:picLocks noChangeAspect="1"/>
          </p:cNvPicPr>
          <p:nvPr/>
        </p:nvPicPr>
        <p:blipFill>
          <a:blip r:embed="rId3"/>
          <a:srcRect l="4908" r="11650" b="7306"/>
          <a:stretch>
            <a:fillRect/>
          </a:stretch>
        </p:blipFill>
        <p:spPr>
          <a:xfrm rot="16200000">
            <a:off x="3899830" y="-1043975"/>
            <a:ext cx="4879895" cy="9185690"/>
          </a:xfrm>
          <a:prstGeom prst="rect">
            <a:avLst/>
          </a:prstGeom>
        </p:spPr>
      </p:pic>
    </p:spTree>
    <p:extLst>
      <p:ext uri="{BB962C8B-B14F-4D97-AF65-F5344CB8AC3E}">
        <p14:creationId xmlns:p14="http://schemas.microsoft.com/office/powerpoint/2010/main" val="10533528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0" y="0"/>
            <a:ext cx="5708342" cy="779307"/>
          </a:xfrm>
          <a:prstGeom prst="rect">
            <a:avLst/>
          </a:prstGeom>
        </p:spPr>
      </p:pic>
      <p:sp>
        <p:nvSpPr>
          <p:cNvPr id="5" name="Title"/>
          <p:cNvSpPr txBox="1">
            <a:spLocks noGrp="1"/>
          </p:cNvSpPr>
          <p:nvPr>
            <p:ph type="title"/>
          </p:nvPr>
        </p:nvSpPr>
        <p:spPr>
          <a:xfrm>
            <a:off x="131870" y="1000000"/>
            <a:ext cx="11500000" cy="600000"/>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Defectos y su relación con Integración Continua</a:t>
            </a:r>
          </a:p>
        </p:txBody>
      </p:sp>
      <p:sp>
        <p:nvSpPr>
          <p:cNvPr id="7" name="Content"/>
          <p:cNvSpPr/>
          <p:nvPr/>
        </p:nvSpPr>
        <p:spPr>
          <a:xfrm>
            <a:off x="421004" y="1690272"/>
            <a:ext cx="10240509" cy="4167728"/>
          </a:xfrm>
          <a:prstGeom prst="rect">
            <a:avLst/>
          </a:prstGeom>
        </p:spPr>
        <p:txBody>
          <a:bodyPr wrap="square" anchor="ctr"/>
          <a:lstStyle/>
          <a:p>
            <a:pPr marL="0" lvl="0" indent="0">
              <a:lnSpc>
                <a:spcPct val="107000"/>
              </a:lnSpc>
              <a:spcAft>
                <a:spcPts val="400"/>
              </a:spcAft>
              <a:buNone/>
            </a:pPr>
            <a:r>
              <a:rPr lang="es-CO" sz="1600" i="1" noProof="0" dirty="0">
                <a:latin typeface="Calibri"/>
              </a:rPr>
              <a:t>“Compilar y validar automáticamente los cambios… </a:t>
            </a:r>
          </a:p>
          <a:p>
            <a:pPr marL="0" lvl="0" indent="0">
              <a:lnSpc>
                <a:spcPct val="107000"/>
              </a:lnSpc>
              <a:spcAft>
                <a:spcPts val="400"/>
              </a:spcAft>
              <a:buNone/>
            </a:pPr>
            <a:r>
              <a:rPr lang="es-CO" sz="1600" i="1" noProof="0" dirty="0">
                <a:latin typeface="Calibri"/>
              </a:rPr>
              <a:t>notificando inmediatamente las falencias encontradas.”</a:t>
            </a:r>
          </a:p>
          <a:p>
            <a:pPr marL="0" lvl="0" indent="0">
              <a:lnSpc>
                <a:spcPct val="107000"/>
              </a:lnSpc>
              <a:spcAft>
                <a:spcPts val="400"/>
              </a:spcAft>
              <a:buNone/>
            </a:pPr>
            <a:endParaRPr lang="es-CO" sz="1600" i="1" noProof="0" dirty="0">
              <a:latin typeface="Calibri"/>
            </a:endParaRPr>
          </a:p>
          <a:p>
            <a:pPr marL="0" lvl="0" indent="0">
              <a:lnSpc>
                <a:spcPct val="107000"/>
              </a:lnSpc>
              <a:spcAft>
                <a:spcPts val="400"/>
              </a:spcAft>
              <a:buNone/>
            </a:pPr>
            <a:endParaRPr lang="es-CO" sz="1600" i="1" noProof="0" dirty="0">
              <a:latin typeface="Calibri"/>
            </a:endParaRPr>
          </a:p>
          <a:p>
            <a:pPr marL="0" lvl="0" indent="0">
              <a:lnSpc>
                <a:spcPct val="107000"/>
              </a:lnSpc>
              <a:spcAft>
                <a:spcPts val="300"/>
              </a:spcAft>
              <a:buNone/>
            </a:pPr>
            <a:r>
              <a:rPr lang="es-CO" sz="2000" b="1" noProof="0" dirty="0">
                <a:latin typeface="Calibri"/>
              </a:rPr>
              <a:t>Beneficios de la IC:</a:t>
            </a:r>
          </a:p>
          <a:p>
            <a:pPr marL="342900" lvl="0" indent="-342900">
              <a:lnSpc>
                <a:spcPct val="107000"/>
              </a:lnSpc>
              <a:spcAft>
                <a:spcPts val="200"/>
              </a:spcAft>
              <a:buChar char="•"/>
            </a:pPr>
            <a:r>
              <a:rPr lang="es-CO" sz="1800" noProof="0" dirty="0">
                <a:latin typeface="Calibri"/>
              </a:rPr>
              <a:t>Detecta defectos temprano en el ciclo de desarrollo.</a:t>
            </a:r>
          </a:p>
          <a:p>
            <a:pPr marL="342900" lvl="0" indent="-342900">
              <a:lnSpc>
                <a:spcPct val="107000"/>
              </a:lnSpc>
              <a:spcAft>
                <a:spcPts val="200"/>
              </a:spcAft>
              <a:buChar char="•"/>
            </a:pPr>
            <a:r>
              <a:rPr lang="es-CO" sz="1800" noProof="0" dirty="0">
                <a:latin typeface="Calibri"/>
              </a:rPr>
              <a:t>Evita regresiones en el código.</a:t>
            </a:r>
          </a:p>
          <a:p>
            <a:pPr marL="342900" lvl="0" indent="-342900">
              <a:lnSpc>
                <a:spcPct val="107000"/>
              </a:lnSpc>
              <a:spcAft>
                <a:spcPts val="200"/>
              </a:spcAft>
              <a:buChar char="•"/>
            </a:pPr>
            <a:r>
              <a:rPr lang="es-CO" sz="1800" noProof="0" dirty="0">
                <a:latin typeface="Calibri"/>
              </a:rPr>
              <a:t>Asegura que la “</a:t>
            </a:r>
            <a:r>
              <a:rPr lang="es-CO" sz="1800" noProof="0" dirty="0" err="1">
                <a:latin typeface="Calibri"/>
              </a:rPr>
              <a:t>main</a:t>
            </a:r>
            <a:r>
              <a:rPr lang="es-CO" sz="1800" noProof="0" dirty="0">
                <a:latin typeface="Calibri"/>
              </a:rPr>
              <a:t> line” siempre esté estable.</a:t>
            </a:r>
          </a:p>
          <a:p>
            <a:pPr marL="342900" lvl="0" indent="-342900">
              <a:lnSpc>
                <a:spcPct val="107000"/>
              </a:lnSpc>
              <a:spcAft>
                <a:spcPts val="200"/>
              </a:spcAft>
              <a:buChar char="•"/>
            </a:pPr>
            <a:r>
              <a:rPr lang="es-CO" sz="1800" noProof="0" dirty="0">
                <a:latin typeface="Calibri"/>
              </a:rPr>
              <a:t>Automatiza pruebas unitarias y de integración.</a:t>
            </a:r>
          </a:p>
          <a:p>
            <a:pPr marL="342900" lvl="0" indent="-342900">
              <a:lnSpc>
                <a:spcPct val="107000"/>
              </a:lnSpc>
              <a:spcAft>
                <a:spcPts val="200"/>
              </a:spcAft>
              <a:buChar char="•"/>
            </a:pPr>
            <a:r>
              <a:rPr lang="es-CO" sz="1800" noProof="0" dirty="0">
                <a:latin typeface="Calibri"/>
              </a:rPr>
              <a:t>Reduce defectos por integración tardía.</a:t>
            </a:r>
          </a:p>
        </p:txBody>
      </p:sp>
      <p:pic>
        <p:nvPicPr>
          <p:cNvPr id="19" name="Imagen 18" descr="Pruebas de Integración: El Éxito en el Desarrollo de Software">
            <a:extLst>
              <a:ext uri="{FF2B5EF4-FFF2-40B4-BE49-F238E27FC236}">
                <a16:creationId xmlns:a16="http://schemas.microsoft.com/office/drawing/2014/main" id="{04DFDFD3-FE77-50D8-3A73-1A690CBE6D8D}"/>
              </a:ext>
            </a:extLst>
          </p:cNvPr>
          <p:cNvPicPr>
            <a:picLocks noChangeAspect="1"/>
          </p:cNvPicPr>
          <p:nvPr/>
        </p:nvPicPr>
        <p:blipFill>
          <a:blip r:embed="rId4"/>
          <a:stretch>
            <a:fillRect/>
          </a:stretch>
        </p:blipFill>
        <p:spPr>
          <a:xfrm>
            <a:off x="5019472" y="1600000"/>
            <a:ext cx="5642041" cy="184229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D4B0193-6785-730A-9ED3-EBCF85FF9DB2}"/>
              </a:ext>
            </a:extLst>
          </p:cNvPr>
          <p:cNvPicPr>
            <a:picLocks noChangeAspect="1"/>
          </p:cNvPicPr>
          <p:nvPr/>
        </p:nvPicPr>
        <p:blipFill>
          <a:blip r:embed="rId2"/>
          <a:stretch>
            <a:fillRect/>
          </a:stretch>
        </p:blipFill>
        <p:spPr>
          <a:xfrm>
            <a:off x="0" y="0"/>
            <a:ext cx="5708342" cy="779307"/>
          </a:xfrm>
          <a:prstGeom prst="rect">
            <a:avLst/>
          </a:prstGeom>
        </p:spPr>
      </p:pic>
      <p:sp>
        <p:nvSpPr>
          <p:cNvPr id="5" name="Title">
            <a:extLst>
              <a:ext uri="{FF2B5EF4-FFF2-40B4-BE49-F238E27FC236}">
                <a16:creationId xmlns:a16="http://schemas.microsoft.com/office/drawing/2014/main" id="{21F72681-9975-89F0-90CB-12A74CAC3316}"/>
              </a:ext>
            </a:extLst>
          </p:cNvPr>
          <p:cNvSpPr txBox="1">
            <a:spLocks noGrp="1"/>
          </p:cNvSpPr>
          <p:nvPr>
            <p:ph type="title"/>
          </p:nvPr>
        </p:nvSpPr>
        <p:spPr>
          <a:xfrm>
            <a:off x="131870" y="1108922"/>
            <a:ext cx="11500000" cy="382156"/>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Caso de estudio</a:t>
            </a:r>
          </a:p>
        </p:txBody>
      </p:sp>
      <p:sp>
        <p:nvSpPr>
          <p:cNvPr id="6" name="Content">
            <a:extLst>
              <a:ext uri="{FF2B5EF4-FFF2-40B4-BE49-F238E27FC236}">
                <a16:creationId xmlns:a16="http://schemas.microsoft.com/office/drawing/2014/main" id="{5F00893E-B351-7A0D-FD94-72551088C639}"/>
              </a:ext>
            </a:extLst>
          </p:cNvPr>
          <p:cNvSpPr/>
          <p:nvPr/>
        </p:nvSpPr>
        <p:spPr>
          <a:xfrm>
            <a:off x="421005" y="1690272"/>
            <a:ext cx="9506766" cy="1243847"/>
          </a:xfrm>
          <a:prstGeom prst="rect">
            <a:avLst/>
          </a:prstGeom>
        </p:spPr>
        <p:txBody>
          <a:bodyPr wrap="square" anchor="ctr"/>
          <a:lstStyle/>
          <a:p>
            <a:r>
              <a:rPr lang="es-CO" sz="2000" b="1" noProof="0" dirty="0">
                <a:latin typeface="Calibri"/>
              </a:rPr>
              <a:t>Alcance de la especificación de la prueba, acordando con el cliente 20 funcionalidades de las 40 especificadas al inicio:</a:t>
            </a:r>
            <a:br>
              <a:rPr lang="es-CO" sz="2000" noProof="0" dirty="0"/>
            </a:br>
            <a:endParaRPr lang="es-CO" sz="2000" b="1" noProof="0" dirty="0">
              <a:latin typeface="Calibri"/>
            </a:endParaRPr>
          </a:p>
        </p:txBody>
      </p:sp>
      <p:pic>
        <p:nvPicPr>
          <p:cNvPr id="8" name="Imagen 7">
            <a:extLst>
              <a:ext uri="{FF2B5EF4-FFF2-40B4-BE49-F238E27FC236}">
                <a16:creationId xmlns:a16="http://schemas.microsoft.com/office/drawing/2014/main" id="{67C12744-3B74-6C20-7212-9389A47FED23}"/>
              </a:ext>
            </a:extLst>
          </p:cNvPr>
          <p:cNvPicPr>
            <a:picLocks noChangeAspect="1"/>
          </p:cNvPicPr>
          <p:nvPr/>
        </p:nvPicPr>
        <p:blipFill>
          <a:blip r:embed="rId3"/>
          <a:stretch>
            <a:fillRect/>
          </a:stretch>
        </p:blipFill>
        <p:spPr>
          <a:xfrm>
            <a:off x="2416708" y="2706500"/>
            <a:ext cx="5549873" cy="2669368"/>
          </a:xfrm>
          <a:prstGeom prst="rect">
            <a:avLst/>
          </a:prstGeom>
        </p:spPr>
      </p:pic>
    </p:spTree>
    <p:extLst>
      <p:ext uri="{BB962C8B-B14F-4D97-AF65-F5344CB8AC3E}">
        <p14:creationId xmlns:p14="http://schemas.microsoft.com/office/powerpoint/2010/main" val="2239503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B4E73-1716-26AF-5D5B-3BE6DB33CAF4}"/>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4162E225-81B9-1815-7ED0-AADB05A02A40}"/>
              </a:ext>
            </a:extLst>
          </p:cNvPr>
          <p:cNvPicPr>
            <a:picLocks noChangeAspect="1"/>
          </p:cNvPicPr>
          <p:nvPr/>
        </p:nvPicPr>
        <p:blipFill>
          <a:blip r:embed="rId2"/>
          <a:stretch>
            <a:fillRect/>
          </a:stretch>
        </p:blipFill>
        <p:spPr>
          <a:xfrm>
            <a:off x="0" y="0"/>
            <a:ext cx="5708342" cy="779307"/>
          </a:xfrm>
          <a:prstGeom prst="rect">
            <a:avLst/>
          </a:prstGeom>
        </p:spPr>
      </p:pic>
      <p:sp>
        <p:nvSpPr>
          <p:cNvPr id="5" name="Title">
            <a:extLst>
              <a:ext uri="{FF2B5EF4-FFF2-40B4-BE49-F238E27FC236}">
                <a16:creationId xmlns:a16="http://schemas.microsoft.com/office/drawing/2014/main" id="{DBDC5D45-1B4B-80EC-2687-CEB73CBFCD76}"/>
              </a:ext>
            </a:extLst>
          </p:cNvPr>
          <p:cNvSpPr txBox="1">
            <a:spLocks noGrp="1"/>
          </p:cNvSpPr>
          <p:nvPr>
            <p:ph type="title"/>
          </p:nvPr>
        </p:nvSpPr>
        <p:spPr>
          <a:xfrm>
            <a:off x="131870" y="1108922"/>
            <a:ext cx="11500000" cy="382156"/>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Ejemplo de funcionalidades:</a:t>
            </a:r>
          </a:p>
        </p:txBody>
      </p:sp>
      <p:sp>
        <p:nvSpPr>
          <p:cNvPr id="2" name="Content">
            <a:extLst>
              <a:ext uri="{FF2B5EF4-FFF2-40B4-BE49-F238E27FC236}">
                <a16:creationId xmlns:a16="http://schemas.microsoft.com/office/drawing/2014/main" id="{9E7DEFD6-7970-3A71-5EEE-1914F319618B}"/>
              </a:ext>
            </a:extLst>
          </p:cNvPr>
          <p:cNvSpPr/>
          <p:nvPr/>
        </p:nvSpPr>
        <p:spPr>
          <a:xfrm>
            <a:off x="131871" y="1561098"/>
            <a:ext cx="5113370" cy="2480848"/>
          </a:xfrm>
          <a:prstGeom prst="rect">
            <a:avLst/>
          </a:prstGeom>
        </p:spPr>
        <p:txBody>
          <a:bodyPr wrap="square" anchor="ctr"/>
          <a:lstStyle/>
          <a:p>
            <a:r>
              <a:rPr lang="es-CO" sz="1400" b="1" noProof="0" dirty="0"/>
              <a:t>1. Prioridad Alta – Complejidad Alta – Criticidad Alta (5 funcionalidades)</a:t>
            </a:r>
          </a:p>
          <a:p>
            <a:r>
              <a:rPr lang="es-CO" sz="1400" noProof="0" dirty="0"/>
              <a:t>Estas funcionalidades son </a:t>
            </a:r>
            <a:r>
              <a:rPr lang="es-CO" sz="1400" b="1" noProof="0" dirty="0"/>
              <a:t>núcleo del negocio</a:t>
            </a:r>
            <a:r>
              <a:rPr lang="es-CO" sz="1400" noProof="0" dirty="0"/>
              <a:t>, complejas y críticas.</a:t>
            </a:r>
          </a:p>
          <a:p>
            <a:pPr marL="800100" lvl="1" indent="-342900">
              <a:buFont typeface="+mj-lt"/>
              <a:buAutoNum type="arabicPeriod"/>
            </a:pPr>
            <a:r>
              <a:rPr lang="es-CO" sz="1400" noProof="0" dirty="0"/>
              <a:t>Autenticación </a:t>
            </a:r>
            <a:r>
              <a:rPr lang="es-CO" sz="1400" i="1" noProof="0" dirty="0" err="1"/>
              <a:t>multifactor</a:t>
            </a:r>
            <a:r>
              <a:rPr lang="es-CO" sz="1400" noProof="0" dirty="0"/>
              <a:t> (MFA) para usuarios administrativos</a:t>
            </a:r>
          </a:p>
          <a:p>
            <a:pPr marL="800100" lvl="1" indent="-342900">
              <a:buFont typeface="+mj-lt"/>
              <a:buAutoNum type="arabicPeriod"/>
            </a:pPr>
            <a:r>
              <a:rPr lang="es-CO" sz="1400" noProof="0" dirty="0"/>
              <a:t>Procesamiento de pagos electrónicos con validación bancaria en tiempo real</a:t>
            </a:r>
          </a:p>
          <a:p>
            <a:pPr marL="800100" lvl="1" indent="-342900">
              <a:buFont typeface="+mj-lt"/>
              <a:buAutoNum type="arabicPeriod"/>
            </a:pPr>
            <a:r>
              <a:rPr lang="es-CO" sz="1400" noProof="0" dirty="0"/>
              <a:t>Generación automática de facturación electrónica DIAN</a:t>
            </a:r>
          </a:p>
          <a:p>
            <a:pPr marL="800100" lvl="1" indent="-342900">
              <a:buFont typeface="+mj-lt"/>
              <a:buAutoNum type="arabicPeriod"/>
            </a:pPr>
            <a:r>
              <a:rPr lang="es-CO" sz="1400" noProof="0" dirty="0"/>
              <a:t>Módulo de gestión de inventario con actualización en tiempo real</a:t>
            </a:r>
          </a:p>
          <a:p>
            <a:pPr marL="800100" lvl="1" indent="-342900">
              <a:buFont typeface="+mj-lt"/>
              <a:buAutoNum type="arabicPeriod"/>
            </a:pPr>
            <a:r>
              <a:rPr lang="es-CO" sz="1400" noProof="0" dirty="0"/>
              <a:t>Motor de reglas de negocio para aprobación automática de solicitudes</a:t>
            </a:r>
          </a:p>
        </p:txBody>
      </p:sp>
      <p:sp>
        <p:nvSpPr>
          <p:cNvPr id="3" name="Content">
            <a:extLst>
              <a:ext uri="{FF2B5EF4-FFF2-40B4-BE49-F238E27FC236}">
                <a16:creationId xmlns:a16="http://schemas.microsoft.com/office/drawing/2014/main" id="{793F8774-BFD2-7EC4-E7A6-F8DA541C6900}"/>
              </a:ext>
            </a:extLst>
          </p:cNvPr>
          <p:cNvSpPr/>
          <p:nvPr/>
        </p:nvSpPr>
        <p:spPr>
          <a:xfrm>
            <a:off x="131870" y="4192669"/>
            <a:ext cx="5113370" cy="1706278"/>
          </a:xfrm>
          <a:prstGeom prst="rect">
            <a:avLst/>
          </a:prstGeom>
        </p:spPr>
        <p:txBody>
          <a:bodyPr wrap="square" anchor="ctr"/>
          <a:lstStyle/>
          <a:p>
            <a:r>
              <a:rPr lang="es-CO" sz="1400" b="1" noProof="0" dirty="0"/>
              <a:t>2. Prioridad Alta – Complejidad Alta – Criticidad Media (5 funcionalidades)</a:t>
            </a:r>
          </a:p>
          <a:p>
            <a:r>
              <a:rPr lang="es-CO" sz="1400" noProof="0" dirty="0"/>
              <a:t>Son importantes y complejas, pero no detienen el sistema si fallan.</a:t>
            </a:r>
          </a:p>
          <a:p>
            <a:pPr marL="800100" lvl="1" indent="-342900">
              <a:buFont typeface="+mj-lt"/>
              <a:buAutoNum type="arabicPeriod"/>
            </a:pPr>
            <a:r>
              <a:rPr lang="es-CO" sz="1400" i="1" noProof="0" dirty="0" err="1"/>
              <a:t>Dashboard</a:t>
            </a:r>
            <a:r>
              <a:rPr lang="es-CO" sz="1400" noProof="0" dirty="0"/>
              <a:t> analítico con indicadores clave (KPI)</a:t>
            </a:r>
          </a:p>
          <a:p>
            <a:pPr marL="800100" lvl="1" indent="-342900">
              <a:buFont typeface="+mj-lt"/>
              <a:buAutoNum type="arabicPeriod"/>
            </a:pPr>
            <a:r>
              <a:rPr lang="es-CO" sz="1400" noProof="0" dirty="0"/>
              <a:t>Integración con servicios externos vía API REST</a:t>
            </a:r>
          </a:p>
          <a:p>
            <a:pPr marL="800100" lvl="1" indent="-342900">
              <a:buFont typeface="+mj-lt"/>
              <a:buAutoNum type="arabicPeriod"/>
            </a:pPr>
            <a:r>
              <a:rPr lang="es-CO" sz="1400" noProof="0" dirty="0"/>
              <a:t>Gestión avanzada de roles y permisos personalizados</a:t>
            </a:r>
          </a:p>
          <a:p>
            <a:pPr marL="800100" lvl="1" indent="-342900">
              <a:buFont typeface="+mj-lt"/>
              <a:buAutoNum type="arabicPeriod"/>
            </a:pPr>
            <a:r>
              <a:rPr lang="es-CO" sz="1400" noProof="0" dirty="0"/>
              <a:t>Programación automática de tareas (cron interno)</a:t>
            </a:r>
          </a:p>
          <a:p>
            <a:pPr marL="800100" lvl="1" indent="-342900">
              <a:buFont typeface="+mj-lt"/>
              <a:buAutoNum type="arabicPeriod"/>
            </a:pPr>
            <a:r>
              <a:rPr lang="es-CO" sz="1400" noProof="0" dirty="0"/>
              <a:t>Módulo de auditoría de actividades del usuario</a:t>
            </a:r>
          </a:p>
          <a:p>
            <a:pPr marL="800100" lvl="1" indent="-342900">
              <a:buFont typeface="+mj-lt"/>
              <a:buAutoNum type="arabicPeriod"/>
            </a:pPr>
            <a:endParaRPr lang="es-CO" sz="1400" noProof="0" dirty="0"/>
          </a:p>
        </p:txBody>
      </p:sp>
      <p:sp>
        <p:nvSpPr>
          <p:cNvPr id="7" name="Content">
            <a:extLst>
              <a:ext uri="{FF2B5EF4-FFF2-40B4-BE49-F238E27FC236}">
                <a16:creationId xmlns:a16="http://schemas.microsoft.com/office/drawing/2014/main" id="{B85B8FBF-2840-D82A-DFB1-4B346EED336C}"/>
              </a:ext>
            </a:extLst>
          </p:cNvPr>
          <p:cNvSpPr/>
          <p:nvPr/>
        </p:nvSpPr>
        <p:spPr>
          <a:xfrm>
            <a:off x="5245240" y="1550772"/>
            <a:ext cx="5113370" cy="1785281"/>
          </a:xfrm>
          <a:prstGeom prst="rect">
            <a:avLst/>
          </a:prstGeom>
        </p:spPr>
        <p:txBody>
          <a:bodyPr wrap="square" anchor="ctr"/>
          <a:lstStyle/>
          <a:p>
            <a:r>
              <a:rPr lang="es-CO" sz="1400" b="1" noProof="0" dirty="0"/>
              <a:t>3. Prioridad Alta – Complejidad Media – Criticidad Media (5 funcionalidades)</a:t>
            </a:r>
          </a:p>
          <a:p>
            <a:r>
              <a:rPr lang="es-CO" sz="1400" noProof="0" dirty="0"/>
              <a:t>Importantes, de complejidad moderada y criticidad media.</a:t>
            </a:r>
          </a:p>
          <a:p>
            <a:pPr marL="800100" lvl="1" indent="-342900">
              <a:buFont typeface="+mj-lt"/>
              <a:buAutoNum type="arabicPeriod"/>
            </a:pPr>
            <a:r>
              <a:rPr lang="es-CO" sz="1400" noProof="0" dirty="0"/>
              <a:t>Gestión de usuarios (crear, editar, desactivar)</a:t>
            </a:r>
          </a:p>
          <a:p>
            <a:pPr marL="800100" lvl="1" indent="-342900">
              <a:buFont typeface="+mj-lt"/>
              <a:buAutoNum type="arabicPeriod"/>
            </a:pPr>
            <a:r>
              <a:rPr lang="es-CO" sz="1400" noProof="0" dirty="0"/>
              <a:t>Búsqueda avanzada con filtros dinámicos</a:t>
            </a:r>
          </a:p>
          <a:p>
            <a:pPr marL="800100" lvl="1" indent="-342900">
              <a:buFont typeface="+mj-lt"/>
              <a:buAutoNum type="arabicPeriod"/>
            </a:pPr>
            <a:r>
              <a:rPr lang="es-CO" sz="1400" noProof="0" dirty="0"/>
              <a:t>Exportación de reportes en PDF y Excel</a:t>
            </a:r>
          </a:p>
          <a:p>
            <a:pPr marL="800100" lvl="1" indent="-342900">
              <a:buFont typeface="+mj-lt"/>
              <a:buAutoNum type="arabicPeriod"/>
            </a:pPr>
            <a:r>
              <a:rPr lang="es-CO" sz="1400" noProof="0" dirty="0"/>
              <a:t>Notificaciones por correo electrónico</a:t>
            </a:r>
          </a:p>
          <a:p>
            <a:pPr marL="800100" lvl="1" indent="-342900">
              <a:buFont typeface="+mj-lt"/>
              <a:buAutoNum type="arabicPeriod"/>
            </a:pPr>
            <a:r>
              <a:rPr lang="es-CO" sz="1400" noProof="0" dirty="0"/>
              <a:t>Historial de cambios por registro</a:t>
            </a:r>
          </a:p>
        </p:txBody>
      </p:sp>
      <p:sp>
        <p:nvSpPr>
          <p:cNvPr id="9" name="Content">
            <a:extLst>
              <a:ext uri="{FF2B5EF4-FFF2-40B4-BE49-F238E27FC236}">
                <a16:creationId xmlns:a16="http://schemas.microsoft.com/office/drawing/2014/main" id="{30132642-7564-B759-A3B9-237DF463EDDA}"/>
              </a:ext>
            </a:extLst>
          </p:cNvPr>
          <p:cNvSpPr/>
          <p:nvPr/>
        </p:nvSpPr>
        <p:spPr>
          <a:xfrm>
            <a:off x="5246920" y="3984143"/>
            <a:ext cx="5113370" cy="1785281"/>
          </a:xfrm>
          <a:prstGeom prst="rect">
            <a:avLst/>
          </a:prstGeom>
        </p:spPr>
        <p:txBody>
          <a:bodyPr wrap="square" anchor="ctr"/>
          <a:lstStyle/>
          <a:p>
            <a:r>
              <a:rPr lang="es-CO" sz="1400" b="1" noProof="0" dirty="0"/>
              <a:t>4. Prioridad Media – Complejidad Media – Criticidad Media (5 funcionalidades)</a:t>
            </a:r>
          </a:p>
          <a:p>
            <a:r>
              <a:rPr lang="es-CO" sz="1400" noProof="0" dirty="0"/>
              <a:t>Funcionalidades útiles, no críticas, de complejidad moderada.</a:t>
            </a:r>
          </a:p>
          <a:p>
            <a:pPr marL="800100" lvl="1" indent="-342900">
              <a:buFont typeface="+mj-lt"/>
              <a:buAutoNum type="arabicPeriod"/>
            </a:pPr>
            <a:r>
              <a:rPr lang="es-CO" sz="1400" noProof="0" dirty="0"/>
              <a:t>Personalización del perfil del usuario</a:t>
            </a:r>
          </a:p>
          <a:p>
            <a:pPr marL="800100" lvl="1" indent="-342900">
              <a:buFont typeface="+mj-lt"/>
              <a:buAutoNum type="arabicPeriod"/>
            </a:pPr>
            <a:r>
              <a:rPr lang="es-CO" sz="1400" noProof="0" dirty="0"/>
              <a:t>Configuración de preferencias del sistema (tema, idioma)</a:t>
            </a:r>
          </a:p>
          <a:p>
            <a:pPr marL="800100" lvl="1" indent="-342900">
              <a:buFont typeface="+mj-lt"/>
              <a:buAutoNum type="arabicPeriod"/>
            </a:pPr>
            <a:r>
              <a:rPr lang="es-CO" sz="1400" noProof="0" dirty="0"/>
              <a:t>Gestión de categorías o etiquetas</a:t>
            </a:r>
          </a:p>
          <a:p>
            <a:pPr marL="800100" lvl="1" indent="-342900">
              <a:buFont typeface="+mj-lt"/>
              <a:buAutoNum type="arabicPeriod"/>
            </a:pPr>
            <a:r>
              <a:rPr lang="es-CO" sz="1400" noProof="0" dirty="0"/>
              <a:t>Visualización de estadísticas básicas</a:t>
            </a:r>
          </a:p>
          <a:p>
            <a:pPr marL="800100" lvl="1" indent="-342900">
              <a:buFont typeface="+mj-lt"/>
              <a:buAutoNum type="arabicPeriod"/>
            </a:pPr>
            <a:r>
              <a:rPr lang="es-CO" sz="1400" noProof="0" dirty="0"/>
              <a:t>Soporte para adjuntar archivos en formularios</a:t>
            </a:r>
          </a:p>
          <a:p>
            <a:pPr marL="800100" lvl="1" indent="-342900">
              <a:buFont typeface="+mj-lt"/>
              <a:buAutoNum type="arabicPeriod"/>
            </a:pPr>
            <a:endParaRPr lang="es-CO" sz="1400" noProof="0" dirty="0"/>
          </a:p>
        </p:txBody>
      </p:sp>
    </p:spTree>
    <p:extLst>
      <p:ext uri="{BB962C8B-B14F-4D97-AF65-F5344CB8AC3E}">
        <p14:creationId xmlns:p14="http://schemas.microsoft.com/office/powerpoint/2010/main" val="1902429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0" y="0"/>
            <a:ext cx="5708342" cy="779307"/>
          </a:xfrm>
          <a:prstGeom prst="rect">
            <a:avLst/>
          </a:prstGeom>
        </p:spPr>
      </p:pic>
      <p:sp>
        <p:nvSpPr>
          <p:cNvPr id="5" name="Title"/>
          <p:cNvSpPr txBox="1">
            <a:spLocks noGrp="1"/>
          </p:cNvSpPr>
          <p:nvPr>
            <p:ph type="title"/>
          </p:nvPr>
        </p:nvSpPr>
        <p:spPr>
          <a:xfrm>
            <a:off x="131870" y="1108921"/>
            <a:ext cx="11500000" cy="382156"/>
          </a:xfrm>
          <a:prstGeom prst="rect">
            <a:avLst/>
          </a:prstGeom>
        </p:spPr>
        <p:txBody>
          <a:bodyPr vert="horz" wrap="square" lIns="0" tIns="12700" rIns="0" bIns="0" rtlCol="0">
            <a:spAutoFit/>
          </a:bodyPr>
          <a:lstStyle/>
          <a:p>
            <a:pPr marL="12700">
              <a:lnSpc>
                <a:spcPct val="100000"/>
              </a:lnSpc>
            </a:pPr>
            <a:r>
              <a:rPr lang="es-CO" sz="2400" b="1" noProof="0" dirty="0">
                <a:solidFill>
                  <a:srgbClr val="1A2F5A"/>
                </a:solidFill>
                <a:latin typeface="Calibri" pitchFamily="34" charset="0"/>
                <a:ea typeface="Calibri" pitchFamily="34" charset="-122"/>
                <a:cs typeface="Calibri" pitchFamily="34" charset="-120"/>
              </a:rPr>
              <a:t>Caracterización de Defectos de Software</a:t>
            </a:r>
            <a:endParaRPr lang="es-CO" sz="2400" b="1" spc="-10" noProof="0" dirty="0">
              <a:solidFill>
                <a:srgbClr val="003366"/>
              </a:solidFill>
              <a:latin typeface="Calibri"/>
            </a:endParaRPr>
          </a:p>
        </p:txBody>
      </p:sp>
      <p:sp>
        <p:nvSpPr>
          <p:cNvPr id="22" name="Text 2">
            <a:extLst>
              <a:ext uri="{FF2B5EF4-FFF2-40B4-BE49-F238E27FC236}">
                <a16:creationId xmlns:a16="http://schemas.microsoft.com/office/drawing/2014/main" id="{E8CE37E4-FC20-48C3-AFEE-EA74CC1EE268}"/>
              </a:ext>
            </a:extLst>
          </p:cNvPr>
          <p:cNvSpPr/>
          <p:nvPr/>
        </p:nvSpPr>
        <p:spPr>
          <a:xfrm>
            <a:off x="3528233" y="1492226"/>
            <a:ext cx="4526279" cy="320040"/>
          </a:xfrm>
          <a:prstGeom prst="rect">
            <a:avLst/>
          </a:prstGeom>
          <a:noFill/>
          <a:ln/>
        </p:spPr>
        <p:txBody>
          <a:bodyPr wrap="square" rtlCol="0" anchor="ctr"/>
          <a:lstStyle/>
          <a:p>
            <a:pPr marL="0" indent="0">
              <a:buNone/>
            </a:pPr>
            <a:r>
              <a:rPr lang="es-CO" sz="1500" b="1" noProof="0" dirty="0">
                <a:solidFill>
                  <a:srgbClr val="028090"/>
                </a:solidFill>
                <a:latin typeface="Calibri" pitchFamily="34" charset="0"/>
                <a:ea typeface="Calibri" pitchFamily="34" charset="-122"/>
                <a:cs typeface="Calibri" pitchFamily="34" charset="-120"/>
              </a:rPr>
              <a:t>Taxonomía según el modelo propuesto (TMMI Nivel 2)</a:t>
            </a:r>
            <a:endParaRPr lang="es-CO" sz="1500" noProof="0" dirty="0"/>
          </a:p>
        </p:txBody>
      </p:sp>
      <p:sp>
        <p:nvSpPr>
          <p:cNvPr id="23" name="Shape 3">
            <a:extLst>
              <a:ext uri="{FF2B5EF4-FFF2-40B4-BE49-F238E27FC236}">
                <a16:creationId xmlns:a16="http://schemas.microsoft.com/office/drawing/2014/main" id="{B2215EAE-EFF6-65AF-6FFC-92A8AEB92E72}"/>
              </a:ext>
            </a:extLst>
          </p:cNvPr>
          <p:cNvSpPr/>
          <p:nvPr/>
        </p:nvSpPr>
        <p:spPr>
          <a:xfrm>
            <a:off x="1634248" y="1916349"/>
            <a:ext cx="1965960" cy="3291840"/>
          </a:xfrm>
          <a:prstGeom prst="rect">
            <a:avLst/>
          </a:prstGeom>
          <a:solidFill>
            <a:srgbClr val="F0F4F8"/>
          </a:solidFill>
          <a:ln w="12700">
            <a:solidFill>
              <a:srgbClr val="D0DDE8"/>
            </a:solidFill>
            <a:prstDash val="solid"/>
          </a:ln>
          <a:effectLst>
            <a:outerShdw blurRad="50800" dist="25400" dir="8100000" algn="bl" rotWithShape="0">
              <a:srgbClr val="000000">
                <a:alpha val="8000"/>
              </a:srgbClr>
            </a:outerShdw>
          </a:effectLst>
        </p:spPr>
        <p:txBody>
          <a:bodyPr/>
          <a:lstStyle/>
          <a:p>
            <a:endParaRPr lang="es-CO" noProof="0" dirty="0"/>
          </a:p>
        </p:txBody>
      </p:sp>
      <p:sp>
        <p:nvSpPr>
          <p:cNvPr id="24" name="Shape 4">
            <a:extLst>
              <a:ext uri="{FF2B5EF4-FFF2-40B4-BE49-F238E27FC236}">
                <a16:creationId xmlns:a16="http://schemas.microsoft.com/office/drawing/2014/main" id="{616C82F7-91BE-3E3A-9482-DF6EEE0D916E}"/>
              </a:ext>
            </a:extLst>
          </p:cNvPr>
          <p:cNvSpPr/>
          <p:nvPr/>
        </p:nvSpPr>
        <p:spPr>
          <a:xfrm>
            <a:off x="1634248" y="1916349"/>
            <a:ext cx="1965960" cy="914400"/>
          </a:xfrm>
          <a:prstGeom prst="rect">
            <a:avLst/>
          </a:prstGeom>
          <a:solidFill>
            <a:srgbClr val="C0392B"/>
          </a:solidFill>
          <a:ln w="12700">
            <a:solidFill>
              <a:srgbClr val="C0392B"/>
            </a:solidFill>
            <a:prstDash val="solid"/>
          </a:ln>
        </p:spPr>
        <p:txBody>
          <a:bodyPr/>
          <a:lstStyle/>
          <a:p>
            <a:endParaRPr lang="es-CO" noProof="0" dirty="0"/>
          </a:p>
        </p:txBody>
      </p:sp>
      <p:sp>
        <p:nvSpPr>
          <p:cNvPr id="25" name="Text 5">
            <a:extLst>
              <a:ext uri="{FF2B5EF4-FFF2-40B4-BE49-F238E27FC236}">
                <a16:creationId xmlns:a16="http://schemas.microsoft.com/office/drawing/2014/main" id="{267C2B38-41A8-B258-0C7A-81A55800EB40}"/>
              </a:ext>
            </a:extLst>
          </p:cNvPr>
          <p:cNvSpPr/>
          <p:nvPr/>
        </p:nvSpPr>
        <p:spPr>
          <a:xfrm>
            <a:off x="1634248" y="1916349"/>
            <a:ext cx="1965960" cy="548640"/>
          </a:xfrm>
          <a:prstGeom prst="rect">
            <a:avLst/>
          </a:prstGeom>
          <a:noFill/>
          <a:ln/>
        </p:spPr>
        <p:txBody>
          <a:bodyPr wrap="square" rtlCol="0" anchor="ctr"/>
          <a:lstStyle/>
          <a:p>
            <a:pPr marL="0" indent="0" algn="ctr">
              <a:buNone/>
            </a:pPr>
            <a:r>
              <a:rPr lang="es-CO" sz="2800" b="1" noProof="0" dirty="0">
                <a:solidFill>
                  <a:srgbClr val="FFFFFF"/>
                </a:solidFill>
                <a:latin typeface="Calibri" pitchFamily="34" charset="0"/>
                <a:ea typeface="Calibri" pitchFamily="34" charset="-122"/>
                <a:cs typeface="Calibri" pitchFamily="34" charset="-120"/>
              </a:rPr>
              <a:t>✗</a:t>
            </a:r>
            <a:endParaRPr lang="es-CO" sz="2800" noProof="0" dirty="0"/>
          </a:p>
        </p:txBody>
      </p:sp>
      <p:sp>
        <p:nvSpPr>
          <p:cNvPr id="26" name="Text 6">
            <a:extLst>
              <a:ext uri="{FF2B5EF4-FFF2-40B4-BE49-F238E27FC236}">
                <a16:creationId xmlns:a16="http://schemas.microsoft.com/office/drawing/2014/main" id="{B5545ECC-B804-4934-D39D-0D280EF2DF92}"/>
              </a:ext>
            </a:extLst>
          </p:cNvPr>
          <p:cNvSpPr/>
          <p:nvPr/>
        </p:nvSpPr>
        <p:spPr>
          <a:xfrm>
            <a:off x="1634248" y="2419269"/>
            <a:ext cx="1965960" cy="457200"/>
          </a:xfrm>
          <a:prstGeom prst="rect">
            <a:avLst/>
          </a:prstGeom>
          <a:noFill/>
          <a:ln/>
        </p:spPr>
        <p:txBody>
          <a:bodyPr wrap="square" rtlCol="0" anchor="ctr"/>
          <a:lstStyle/>
          <a:p>
            <a:pPr marL="0" indent="0" algn="ctr">
              <a:buNone/>
            </a:pPr>
            <a:r>
              <a:rPr lang="es-CO" sz="1100" b="1" noProof="0" dirty="0">
                <a:solidFill>
                  <a:srgbClr val="FFFFFF"/>
                </a:solidFill>
                <a:latin typeface="Calibri" pitchFamily="34" charset="0"/>
                <a:ea typeface="Calibri" pitchFamily="34" charset="-122"/>
                <a:cs typeface="Calibri" pitchFamily="34" charset="-120"/>
              </a:rPr>
              <a:t>Funcionalidad</a:t>
            </a:r>
            <a:endParaRPr lang="es-CO" sz="1100" noProof="0" dirty="0"/>
          </a:p>
          <a:p>
            <a:pPr marL="0" indent="0" algn="ctr">
              <a:buNone/>
            </a:pPr>
            <a:r>
              <a:rPr lang="es-CO" sz="1100" b="1" noProof="0" dirty="0">
                <a:solidFill>
                  <a:srgbClr val="FFFFFF"/>
                </a:solidFill>
                <a:latin typeface="Calibri" pitchFamily="34" charset="0"/>
                <a:ea typeface="Calibri" pitchFamily="34" charset="-122"/>
                <a:cs typeface="Calibri" pitchFamily="34" charset="-120"/>
              </a:rPr>
              <a:t>Incorrecta</a:t>
            </a:r>
            <a:endParaRPr lang="es-CO" sz="1100" noProof="0" dirty="0"/>
          </a:p>
        </p:txBody>
      </p:sp>
      <p:sp>
        <p:nvSpPr>
          <p:cNvPr id="27" name="Text 7">
            <a:extLst>
              <a:ext uri="{FF2B5EF4-FFF2-40B4-BE49-F238E27FC236}">
                <a16:creationId xmlns:a16="http://schemas.microsoft.com/office/drawing/2014/main" id="{CFEF4411-7CD7-5D03-EC3D-8C9F180C8175}"/>
              </a:ext>
            </a:extLst>
          </p:cNvPr>
          <p:cNvSpPr/>
          <p:nvPr/>
        </p:nvSpPr>
        <p:spPr>
          <a:xfrm>
            <a:off x="1725688" y="2967909"/>
            <a:ext cx="1783080" cy="2103120"/>
          </a:xfrm>
          <a:prstGeom prst="rect">
            <a:avLst/>
          </a:prstGeom>
          <a:noFill/>
          <a:ln/>
        </p:spPr>
        <p:txBody>
          <a:bodyPr wrap="square" rtlCol="0" anchor="t"/>
          <a:lstStyle/>
          <a:p>
            <a:pPr marL="0" indent="0">
              <a:buNone/>
            </a:pPr>
            <a:r>
              <a:rPr lang="es-CO" sz="1150" noProof="0" dirty="0">
                <a:solidFill>
                  <a:srgbClr val="1A2F5A"/>
                </a:solidFill>
                <a:latin typeface="Calibri" pitchFamily="34" charset="0"/>
                <a:ea typeface="Calibri" pitchFamily="34" charset="-122"/>
                <a:cs typeface="Calibri" pitchFamily="34" charset="-120"/>
              </a:rPr>
              <a:t>El módulo no implementa la especificación acordada con el cliente.</a:t>
            </a:r>
          </a:p>
          <a:p>
            <a:pPr marL="0" indent="0">
              <a:buNone/>
            </a:pPr>
            <a:endParaRPr lang="es-CO" sz="1150" noProof="0" dirty="0">
              <a:solidFill>
                <a:srgbClr val="1A2F5A"/>
              </a:solidFill>
              <a:latin typeface="Calibri" pitchFamily="34" charset="0"/>
              <a:ea typeface="Calibri" pitchFamily="34" charset="-122"/>
              <a:cs typeface="Calibri" pitchFamily="34" charset="-120"/>
            </a:endParaRPr>
          </a:p>
          <a:p>
            <a:pPr marL="0" indent="0">
              <a:buNone/>
            </a:pPr>
            <a:r>
              <a:rPr lang="es-CO" sz="1150" noProof="0" dirty="0">
                <a:solidFill>
                  <a:srgbClr val="1A2F5A"/>
                </a:solidFill>
                <a:latin typeface="Calibri" pitchFamily="34" charset="0"/>
                <a:ea typeface="Calibri" pitchFamily="34" charset="-122"/>
                <a:cs typeface="Calibri" pitchFamily="34" charset="-120"/>
              </a:rPr>
              <a:t>Lógica mal implementada.</a:t>
            </a:r>
          </a:p>
          <a:p>
            <a:pPr marL="0" indent="0">
              <a:buNone/>
            </a:pPr>
            <a:r>
              <a:rPr lang="es-CO" sz="1150" noProof="0" dirty="0">
                <a:solidFill>
                  <a:srgbClr val="1A2F5A"/>
                </a:solidFill>
                <a:latin typeface="Calibri" pitchFamily="34" charset="0"/>
                <a:ea typeface="Calibri" pitchFamily="34" charset="-122"/>
                <a:cs typeface="Calibri" pitchFamily="34" charset="-120"/>
              </a:rPr>
              <a:t>Reglas de negocio incompletas.</a:t>
            </a:r>
          </a:p>
          <a:p>
            <a:pPr marL="0" indent="0">
              <a:buNone/>
            </a:pPr>
            <a:r>
              <a:rPr lang="es-CO" sz="1150" noProof="0" dirty="0">
                <a:solidFill>
                  <a:srgbClr val="1A2F5A"/>
                </a:solidFill>
                <a:latin typeface="Calibri" pitchFamily="34" charset="0"/>
                <a:ea typeface="Calibri" pitchFamily="34" charset="-122"/>
                <a:cs typeface="Calibri" pitchFamily="34" charset="-120"/>
              </a:rPr>
              <a:t>Cálculos erróneos.</a:t>
            </a:r>
            <a:endParaRPr lang="es-CO" sz="1150" noProof="0" dirty="0"/>
          </a:p>
        </p:txBody>
      </p:sp>
      <p:sp>
        <p:nvSpPr>
          <p:cNvPr id="28" name="Shape 8">
            <a:extLst>
              <a:ext uri="{FF2B5EF4-FFF2-40B4-BE49-F238E27FC236}">
                <a16:creationId xmlns:a16="http://schemas.microsoft.com/office/drawing/2014/main" id="{8C7A5374-B87E-3EF6-A2C7-FA09CB764F00}"/>
              </a:ext>
            </a:extLst>
          </p:cNvPr>
          <p:cNvSpPr/>
          <p:nvPr/>
        </p:nvSpPr>
        <p:spPr>
          <a:xfrm>
            <a:off x="3801376" y="1916349"/>
            <a:ext cx="1965960" cy="3291840"/>
          </a:xfrm>
          <a:prstGeom prst="rect">
            <a:avLst/>
          </a:prstGeom>
          <a:solidFill>
            <a:srgbClr val="F0F4F8"/>
          </a:solidFill>
          <a:ln w="12700">
            <a:solidFill>
              <a:srgbClr val="D0DDE8"/>
            </a:solidFill>
            <a:prstDash val="solid"/>
          </a:ln>
          <a:effectLst>
            <a:outerShdw blurRad="50800" dist="25400" dir="8100000" algn="bl" rotWithShape="0">
              <a:srgbClr val="000000">
                <a:alpha val="8000"/>
              </a:srgbClr>
            </a:outerShdw>
          </a:effectLst>
        </p:spPr>
        <p:txBody>
          <a:bodyPr/>
          <a:lstStyle/>
          <a:p>
            <a:endParaRPr lang="es-CO" noProof="0" dirty="0"/>
          </a:p>
        </p:txBody>
      </p:sp>
      <p:sp>
        <p:nvSpPr>
          <p:cNvPr id="29" name="Shape 9">
            <a:extLst>
              <a:ext uri="{FF2B5EF4-FFF2-40B4-BE49-F238E27FC236}">
                <a16:creationId xmlns:a16="http://schemas.microsoft.com/office/drawing/2014/main" id="{616B023A-0DD9-5B79-93B9-C53A6735A5D7}"/>
              </a:ext>
            </a:extLst>
          </p:cNvPr>
          <p:cNvSpPr/>
          <p:nvPr/>
        </p:nvSpPr>
        <p:spPr>
          <a:xfrm>
            <a:off x="3801376" y="1916349"/>
            <a:ext cx="1965960" cy="914400"/>
          </a:xfrm>
          <a:prstGeom prst="rect">
            <a:avLst/>
          </a:prstGeom>
          <a:solidFill>
            <a:srgbClr val="E67E22"/>
          </a:solidFill>
          <a:ln w="12700">
            <a:solidFill>
              <a:srgbClr val="E67E22"/>
            </a:solidFill>
            <a:prstDash val="solid"/>
          </a:ln>
        </p:spPr>
        <p:txBody>
          <a:bodyPr/>
          <a:lstStyle/>
          <a:p>
            <a:endParaRPr lang="es-CO" noProof="0" dirty="0"/>
          </a:p>
        </p:txBody>
      </p:sp>
      <p:sp>
        <p:nvSpPr>
          <p:cNvPr id="30" name="Text 10">
            <a:extLst>
              <a:ext uri="{FF2B5EF4-FFF2-40B4-BE49-F238E27FC236}">
                <a16:creationId xmlns:a16="http://schemas.microsoft.com/office/drawing/2014/main" id="{317F2B05-AB5B-54B6-17C1-9A269CD05DB0}"/>
              </a:ext>
            </a:extLst>
          </p:cNvPr>
          <p:cNvSpPr/>
          <p:nvPr/>
        </p:nvSpPr>
        <p:spPr>
          <a:xfrm>
            <a:off x="3801376" y="1916349"/>
            <a:ext cx="1965960" cy="548640"/>
          </a:xfrm>
          <a:prstGeom prst="rect">
            <a:avLst/>
          </a:prstGeom>
          <a:noFill/>
          <a:ln/>
        </p:spPr>
        <p:txBody>
          <a:bodyPr wrap="square" rtlCol="0" anchor="ctr"/>
          <a:lstStyle/>
          <a:p>
            <a:pPr marL="0" indent="0" algn="ctr">
              <a:buNone/>
            </a:pPr>
            <a:r>
              <a:rPr lang="es-CO" sz="2800" b="1" noProof="0" dirty="0">
                <a:solidFill>
                  <a:srgbClr val="FFFFFF"/>
                </a:solidFill>
                <a:latin typeface="Calibri" pitchFamily="34" charset="0"/>
                <a:ea typeface="Calibri" pitchFamily="34" charset="-122"/>
                <a:cs typeface="Calibri" pitchFamily="34" charset="-120"/>
              </a:rPr>
              <a:t>⚠</a:t>
            </a:r>
            <a:endParaRPr lang="es-CO" sz="2800" noProof="0" dirty="0"/>
          </a:p>
        </p:txBody>
      </p:sp>
      <p:sp>
        <p:nvSpPr>
          <p:cNvPr id="31" name="Text 11">
            <a:extLst>
              <a:ext uri="{FF2B5EF4-FFF2-40B4-BE49-F238E27FC236}">
                <a16:creationId xmlns:a16="http://schemas.microsoft.com/office/drawing/2014/main" id="{D834A163-B2D6-B7AC-8149-AC3D2FA9E8B0}"/>
              </a:ext>
            </a:extLst>
          </p:cNvPr>
          <p:cNvSpPr/>
          <p:nvPr/>
        </p:nvSpPr>
        <p:spPr>
          <a:xfrm>
            <a:off x="3801376" y="2419269"/>
            <a:ext cx="1965960" cy="457200"/>
          </a:xfrm>
          <a:prstGeom prst="rect">
            <a:avLst/>
          </a:prstGeom>
          <a:noFill/>
          <a:ln/>
        </p:spPr>
        <p:txBody>
          <a:bodyPr wrap="square" rtlCol="0" anchor="ctr"/>
          <a:lstStyle/>
          <a:p>
            <a:pPr marL="0" indent="0" algn="ctr">
              <a:buNone/>
            </a:pPr>
            <a:r>
              <a:rPr lang="es-CO" sz="1100" b="1" noProof="0" dirty="0">
                <a:solidFill>
                  <a:srgbClr val="FFFFFF"/>
                </a:solidFill>
                <a:latin typeface="Calibri" pitchFamily="34" charset="0"/>
                <a:ea typeface="Calibri" pitchFamily="34" charset="-122"/>
                <a:cs typeface="Calibri" pitchFamily="34" charset="-120"/>
              </a:rPr>
              <a:t>Interfaz de</a:t>
            </a:r>
            <a:endParaRPr lang="es-CO" sz="1100" noProof="0" dirty="0"/>
          </a:p>
          <a:p>
            <a:pPr marL="0" indent="0" algn="ctr">
              <a:buNone/>
            </a:pPr>
            <a:r>
              <a:rPr lang="es-CO" sz="1100" b="1" noProof="0" dirty="0">
                <a:solidFill>
                  <a:srgbClr val="FFFFFF"/>
                </a:solidFill>
                <a:latin typeface="Calibri" pitchFamily="34" charset="0"/>
                <a:ea typeface="Calibri" pitchFamily="34" charset="-122"/>
                <a:cs typeface="Calibri" pitchFamily="34" charset="-120"/>
              </a:rPr>
              <a:t>Usuario</a:t>
            </a:r>
            <a:endParaRPr lang="es-CO" sz="1100" noProof="0" dirty="0"/>
          </a:p>
        </p:txBody>
      </p:sp>
      <p:sp>
        <p:nvSpPr>
          <p:cNvPr id="32" name="Text 12">
            <a:extLst>
              <a:ext uri="{FF2B5EF4-FFF2-40B4-BE49-F238E27FC236}">
                <a16:creationId xmlns:a16="http://schemas.microsoft.com/office/drawing/2014/main" id="{99B9CC9A-DBAA-31FF-9853-B1F6DEF911D4}"/>
              </a:ext>
            </a:extLst>
          </p:cNvPr>
          <p:cNvSpPr/>
          <p:nvPr/>
        </p:nvSpPr>
        <p:spPr>
          <a:xfrm>
            <a:off x="3892816" y="2967909"/>
            <a:ext cx="1783080" cy="2103120"/>
          </a:xfrm>
          <a:prstGeom prst="rect">
            <a:avLst/>
          </a:prstGeom>
          <a:noFill/>
          <a:ln/>
        </p:spPr>
        <p:txBody>
          <a:bodyPr wrap="square" rtlCol="0" anchor="t"/>
          <a:lstStyle/>
          <a:p>
            <a:pPr marL="0" indent="0">
              <a:buNone/>
            </a:pPr>
            <a:r>
              <a:rPr lang="es-CO" sz="1150" noProof="0" dirty="0">
                <a:solidFill>
                  <a:srgbClr val="1A2F5A"/>
                </a:solidFill>
                <a:latin typeface="Calibri" pitchFamily="34" charset="0"/>
                <a:ea typeface="Calibri" pitchFamily="34" charset="-122"/>
                <a:cs typeface="Calibri" pitchFamily="34" charset="-120"/>
              </a:rPr>
              <a:t>Defectos de interfaz.</a:t>
            </a:r>
          </a:p>
          <a:p>
            <a:pPr marL="0" indent="0">
              <a:buNone/>
            </a:pPr>
            <a:endParaRPr lang="es-CO" sz="1150" noProof="0" dirty="0">
              <a:solidFill>
                <a:srgbClr val="1A2F5A"/>
              </a:solidFill>
              <a:latin typeface="Calibri" pitchFamily="34" charset="0"/>
              <a:ea typeface="Calibri" pitchFamily="34" charset="-122"/>
              <a:cs typeface="Calibri" pitchFamily="34" charset="-120"/>
            </a:endParaRPr>
          </a:p>
          <a:p>
            <a:pPr marL="0" indent="0">
              <a:buNone/>
            </a:pPr>
            <a:r>
              <a:rPr lang="es-CO" sz="1150" noProof="0" dirty="0">
                <a:solidFill>
                  <a:srgbClr val="1A2F5A"/>
                </a:solidFill>
                <a:latin typeface="Calibri" pitchFamily="34" charset="0"/>
                <a:ea typeface="Calibri" pitchFamily="34" charset="-122"/>
                <a:cs typeface="Calibri" pitchFamily="34" charset="-120"/>
              </a:rPr>
              <a:t>Mensajes confusos, campos incorrectos, </a:t>
            </a:r>
          </a:p>
          <a:p>
            <a:pPr marL="0" indent="0">
              <a:buNone/>
            </a:pPr>
            <a:r>
              <a:rPr lang="es-CO" sz="1150" noProof="0" dirty="0">
                <a:solidFill>
                  <a:srgbClr val="1A2F5A"/>
                </a:solidFill>
                <a:latin typeface="Calibri" pitchFamily="34" charset="0"/>
                <a:ea typeface="Calibri" pitchFamily="34" charset="-122"/>
                <a:cs typeface="Calibri" pitchFamily="34" charset="-120"/>
              </a:rPr>
              <a:t>flujos no intuitivos.</a:t>
            </a:r>
          </a:p>
          <a:p>
            <a:pPr marL="0" indent="0">
              <a:buNone/>
            </a:pPr>
            <a:endParaRPr lang="es-CO" sz="1150" noProof="0" dirty="0">
              <a:solidFill>
                <a:srgbClr val="1A2F5A"/>
              </a:solidFill>
              <a:latin typeface="Calibri" pitchFamily="34" charset="0"/>
              <a:ea typeface="Calibri" pitchFamily="34" charset="-122"/>
              <a:cs typeface="Calibri" pitchFamily="34" charset="-120"/>
            </a:endParaRPr>
          </a:p>
          <a:p>
            <a:pPr marL="0" indent="0">
              <a:buNone/>
            </a:pPr>
            <a:r>
              <a:rPr lang="es-CO" sz="1150" noProof="0" dirty="0">
                <a:solidFill>
                  <a:srgbClr val="1A2F5A"/>
                </a:solidFill>
                <a:latin typeface="Calibri" pitchFamily="34" charset="0"/>
                <a:ea typeface="Calibri" pitchFamily="34" charset="-122"/>
                <a:cs typeface="Calibri" pitchFamily="34" charset="-120"/>
              </a:rPr>
              <a:t>Controles mal ubicados.</a:t>
            </a:r>
          </a:p>
          <a:p>
            <a:pPr marL="0" indent="0">
              <a:buNone/>
            </a:pPr>
            <a:r>
              <a:rPr lang="es-CO" sz="1150" noProof="0" dirty="0">
                <a:solidFill>
                  <a:srgbClr val="1A2F5A"/>
                </a:solidFill>
                <a:latin typeface="Calibri" pitchFamily="34" charset="0"/>
                <a:ea typeface="Calibri" pitchFamily="34" charset="-122"/>
                <a:cs typeface="Calibri" pitchFamily="34" charset="-120"/>
              </a:rPr>
              <a:t>Inconsistencias visuales.</a:t>
            </a:r>
          </a:p>
          <a:p>
            <a:pPr marL="0" indent="0">
              <a:buNone/>
            </a:pPr>
            <a:r>
              <a:rPr lang="es-CO" sz="1150" noProof="0" dirty="0">
                <a:solidFill>
                  <a:srgbClr val="1A2F5A"/>
                </a:solidFill>
                <a:latin typeface="Calibri" pitchFamily="34" charset="0"/>
                <a:ea typeface="Calibri" pitchFamily="34" charset="-122"/>
                <a:cs typeface="Calibri" pitchFamily="34" charset="-120"/>
              </a:rPr>
              <a:t>Problemas de usabilidad.</a:t>
            </a:r>
            <a:endParaRPr lang="es-CO" sz="1150" noProof="0" dirty="0"/>
          </a:p>
        </p:txBody>
      </p:sp>
      <p:sp>
        <p:nvSpPr>
          <p:cNvPr id="33" name="Shape 13">
            <a:extLst>
              <a:ext uri="{FF2B5EF4-FFF2-40B4-BE49-F238E27FC236}">
                <a16:creationId xmlns:a16="http://schemas.microsoft.com/office/drawing/2014/main" id="{C810D9F7-4739-7763-AC98-614A21CD137F}"/>
              </a:ext>
            </a:extLst>
          </p:cNvPr>
          <p:cNvSpPr/>
          <p:nvPr/>
        </p:nvSpPr>
        <p:spPr>
          <a:xfrm>
            <a:off x="5968504" y="1916349"/>
            <a:ext cx="1965960" cy="3291840"/>
          </a:xfrm>
          <a:prstGeom prst="rect">
            <a:avLst/>
          </a:prstGeom>
          <a:solidFill>
            <a:srgbClr val="F0F4F8"/>
          </a:solidFill>
          <a:ln w="12700">
            <a:solidFill>
              <a:srgbClr val="D0DDE8"/>
            </a:solidFill>
            <a:prstDash val="solid"/>
          </a:ln>
          <a:effectLst>
            <a:outerShdw blurRad="50800" dist="25400" dir="8100000" algn="bl" rotWithShape="0">
              <a:srgbClr val="000000">
                <a:alpha val="8000"/>
              </a:srgbClr>
            </a:outerShdw>
          </a:effectLst>
        </p:spPr>
        <p:txBody>
          <a:bodyPr/>
          <a:lstStyle/>
          <a:p>
            <a:endParaRPr lang="es-CO" noProof="0" dirty="0"/>
          </a:p>
        </p:txBody>
      </p:sp>
      <p:sp>
        <p:nvSpPr>
          <p:cNvPr id="34" name="Shape 14">
            <a:extLst>
              <a:ext uri="{FF2B5EF4-FFF2-40B4-BE49-F238E27FC236}">
                <a16:creationId xmlns:a16="http://schemas.microsoft.com/office/drawing/2014/main" id="{9F075686-72EC-2D82-070B-BBFA3CC29586}"/>
              </a:ext>
            </a:extLst>
          </p:cNvPr>
          <p:cNvSpPr/>
          <p:nvPr/>
        </p:nvSpPr>
        <p:spPr>
          <a:xfrm>
            <a:off x="5968504" y="1916349"/>
            <a:ext cx="1965960" cy="914400"/>
          </a:xfrm>
          <a:prstGeom prst="rect">
            <a:avLst/>
          </a:prstGeom>
          <a:solidFill>
            <a:srgbClr val="1A2F5A"/>
          </a:solidFill>
          <a:ln w="12700">
            <a:solidFill>
              <a:srgbClr val="1A2F5A"/>
            </a:solidFill>
            <a:prstDash val="solid"/>
          </a:ln>
        </p:spPr>
        <p:txBody>
          <a:bodyPr/>
          <a:lstStyle/>
          <a:p>
            <a:endParaRPr lang="es-CO" noProof="0" dirty="0"/>
          </a:p>
        </p:txBody>
      </p:sp>
      <p:sp>
        <p:nvSpPr>
          <p:cNvPr id="35" name="Text 15">
            <a:extLst>
              <a:ext uri="{FF2B5EF4-FFF2-40B4-BE49-F238E27FC236}">
                <a16:creationId xmlns:a16="http://schemas.microsoft.com/office/drawing/2014/main" id="{8DD1C020-FEC0-A448-5673-CCB657BCAD1E}"/>
              </a:ext>
            </a:extLst>
          </p:cNvPr>
          <p:cNvSpPr/>
          <p:nvPr/>
        </p:nvSpPr>
        <p:spPr>
          <a:xfrm>
            <a:off x="5968504" y="1916349"/>
            <a:ext cx="1965960" cy="548640"/>
          </a:xfrm>
          <a:prstGeom prst="rect">
            <a:avLst/>
          </a:prstGeom>
          <a:noFill/>
          <a:ln/>
        </p:spPr>
        <p:txBody>
          <a:bodyPr wrap="square" rtlCol="0" anchor="ctr"/>
          <a:lstStyle/>
          <a:p>
            <a:pPr marL="0" indent="0" algn="ctr">
              <a:buNone/>
            </a:pPr>
            <a:r>
              <a:rPr lang="es-CO" sz="2800" b="1" noProof="0" dirty="0">
                <a:solidFill>
                  <a:srgbClr val="FFFFFF"/>
                </a:solidFill>
                <a:latin typeface="Calibri" pitchFamily="34" charset="0"/>
                <a:ea typeface="Calibri" pitchFamily="34" charset="-122"/>
                <a:cs typeface="Calibri" pitchFamily="34" charset="-120"/>
              </a:rPr>
              <a:t>!</a:t>
            </a:r>
            <a:endParaRPr lang="es-CO" sz="2800" noProof="0" dirty="0"/>
          </a:p>
        </p:txBody>
      </p:sp>
      <p:sp>
        <p:nvSpPr>
          <p:cNvPr id="36" name="Text 16">
            <a:extLst>
              <a:ext uri="{FF2B5EF4-FFF2-40B4-BE49-F238E27FC236}">
                <a16:creationId xmlns:a16="http://schemas.microsoft.com/office/drawing/2014/main" id="{FE9B38DD-D573-CF5A-475F-38CF357C4278}"/>
              </a:ext>
            </a:extLst>
          </p:cNvPr>
          <p:cNvSpPr/>
          <p:nvPr/>
        </p:nvSpPr>
        <p:spPr>
          <a:xfrm>
            <a:off x="5968504" y="2419269"/>
            <a:ext cx="1965960" cy="457200"/>
          </a:xfrm>
          <a:prstGeom prst="rect">
            <a:avLst/>
          </a:prstGeom>
          <a:noFill/>
          <a:ln/>
        </p:spPr>
        <p:txBody>
          <a:bodyPr wrap="square" rtlCol="0" anchor="ctr"/>
          <a:lstStyle/>
          <a:p>
            <a:pPr marL="0" indent="0" algn="ctr">
              <a:buNone/>
            </a:pPr>
            <a:r>
              <a:rPr lang="es-CO" sz="1100" b="1" noProof="0" dirty="0">
                <a:solidFill>
                  <a:srgbClr val="FFFFFF"/>
                </a:solidFill>
                <a:latin typeface="Calibri" pitchFamily="34" charset="0"/>
                <a:ea typeface="Calibri" pitchFamily="34" charset="-122"/>
                <a:cs typeface="Calibri" pitchFamily="34" charset="-120"/>
              </a:rPr>
              <a:t>Mensajes</a:t>
            </a:r>
            <a:endParaRPr lang="es-CO" sz="1100" noProof="0" dirty="0"/>
          </a:p>
          <a:p>
            <a:pPr marL="0" indent="0" algn="ctr">
              <a:buNone/>
            </a:pPr>
            <a:r>
              <a:rPr lang="es-CO" sz="1100" b="1" noProof="0" dirty="0">
                <a:solidFill>
                  <a:srgbClr val="FFFFFF"/>
                </a:solidFill>
                <a:latin typeface="Calibri" pitchFamily="34" charset="0"/>
                <a:ea typeface="Calibri" pitchFamily="34" charset="-122"/>
                <a:cs typeface="Calibri" pitchFamily="34" charset="-120"/>
              </a:rPr>
              <a:t>Erróneos o faltantes</a:t>
            </a:r>
            <a:endParaRPr lang="es-CO" sz="1100" noProof="0" dirty="0"/>
          </a:p>
        </p:txBody>
      </p:sp>
      <p:sp>
        <p:nvSpPr>
          <p:cNvPr id="37" name="Text 17">
            <a:extLst>
              <a:ext uri="{FF2B5EF4-FFF2-40B4-BE49-F238E27FC236}">
                <a16:creationId xmlns:a16="http://schemas.microsoft.com/office/drawing/2014/main" id="{7DE45E22-CE35-83EF-E50B-77FDF8E1A731}"/>
              </a:ext>
            </a:extLst>
          </p:cNvPr>
          <p:cNvSpPr/>
          <p:nvPr/>
        </p:nvSpPr>
        <p:spPr>
          <a:xfrm>
            <a:off x="6059944" y="2967909"/>
            <a:ext cx="1783080" cy="2103120"/>
          </a:xfrm>
          <a:prstGeom prst="rect">
            <a:avLst/>
          </a:prstGeom>
          <a:noFill/>
          <a:ln/>
        </p:spPr>
        <p:txBody>
          <a:bodyPr wrap="square" rtlCol="0" anchor="t"/>
          <a:lstStyle/>
          <a:p>
            <a:pPr marL="0" indent="0">
              <a:buNone/>
            </a:pPr>
            <a:r>
              <a:rPr lang="es-CO" sz="1150" noProof="0" dirty="0">
                <a:solidFill>
                  <a:srgbClr val="1A2F5A"/>
                </a:solidFill>
                <a:latin typeface="Calibri" pitchFamily="34" charset="0"/>
                <a:ea typeface="Calibri" pitchFamily="34" charset="-122"/>
                <a:cs typeface="Calibri" pitchFamily="34" charset="-120"/>
              </a:rPr>
              <a:t>Mensajes de error o informativos ausentes, incorrectos o inapropiados.</a:t>
            </a:r>
          </a:p>
          <a:p>
            <a:pPr marL="0" indent="0">
              <a:buNone/>
            </a:pPr>
            <a:endParaRPr lang="es-CO" sz="1150" noProof="0" dirty="0">
              <a:solidFill>
                <a:srgbClr val="1A2F5A"/>
              </a:solidFill>
              <a:latin typeface="Calibri" pitchFamily="34" charset="0"/>
              <a:ea typeface="Calibri" pitchFamily="34" charset="-122"/>
              <a:cs typeface="Calibri" pitchFamily="34" charset="-120"/>
            </a:endParaRPr>
          </a:p>
          <a:p>
            <a:r>
              <a:rPr lang="es-CO" sz="1150" noProof="0" dirty="0">
                <a:solidFill>
                  <a:srgbClr val="1A2F5A"/>
                </a:solidFill>
                <a:latin typeface="Calibri" pitchFamily="34" charset="0"/>
                <a:ea typeface="Calibri" pitchFamily="34" charset="-122"/>
                <a:cs typeface="Calibri" pitchFamily="34" charset="-120"/>
              </a:rPr>
              <a:t>Falta de validaciones. Mensajes ambiguos. Ausencia de retroalimentación al usuario</a:t>
            </a:r>
          </a:p>
        </p:txBody>
      </p:sp>
      <p:sp>
        <p:nvSpPr>
          <p:cNvPr id="38" name="Shape 18">
            <a:extLst>
              <a:ext uri="{FF2B5EF4-FFF2-40B4-BE49-F238E27FC236}">
                <a16:creationId xmlns:a16="http://schemas.microsoft.com/office/drawing/2014/main" id="{C51DEC46-A321-2898-9D81-A31AF6391F3B}"/>
              </a:ext>
            </a:extLst>
          </p:cNvPr>
          <p:cNvSpPr/>
          <p:nvPr/>
        </p:nvSpPr>
        <p:spPr>
          <a:xfrm>
            <a:off x="8135632" y="1916349"/>
            <a:ext cx="1965960" cy="3291840"/>
          </a:xfrm>
          <a:prstGeom prst="rect">
            <a:avLst/>
          </a:prstGeom>
          <a:solidFill>
            <a:srgbClr val="F0F4F8"/>
          </a:solidFill>
          <a:ln w="12700">
            <a:solidFill>
              <a:srgbClr val="D0DDE8"/>
            </a:solidFill>
            <a:prstDash val="solid"/>
          </a:ln>
          <a:effectLst>
            <a:outerShdw blurRad="50800" dist="25400" dir="8100000" algn="bl" rotWithShape="0">
              <a:srgbClr val="000000">
                <a:alpha val="8000"/>
              </a:srgbClr>
            </a:outerShdw>
          </a:effectLst>
        </p:spPr>
        <p:txBody>
          <a:bodyPr/>
          <a:lstStyle/>
          <a:p>
            <a:endParaRPr lang="es-CO" noProof="0" dirty="0"/>
          </a:p>
        </p:txBody>
      </p:sp>
      <p:sp>
        <p:nvSpPr>
          <p:cNvPr id="39" name="Shape 19">
            <a:extLst>
              <a:ext uri="{FF2B5EF4-FFF2-40B4-BE49-F238E27FC236}">
                <a16:creationId xmlns:a16="http://schemas.microsoft.com/office/drawing/2014/main" id="{4906E232-BCA4-DDCA-5C9D-A32101AB11AD}"/>
              </a:ext>
            </a:extLst>
          </p:cNvPr>
          <p:cNvSpPr/>
          <p:nvPr/>
        </p:nvSpPr>
        <p:spPr>
          <a:xfrm>
            <a:off x="8135632" y="1916349"/>
            <a:ext cx="1965960" cy="914400"/>
          </a:xfrm>
          <a:prstGeom prst="rect">
            <a:avLst/>
          </a:prstGeom>
          <a:solidFill>
            <a:srgbClr val="028090"/>
          </a:solidFill>
          <a:ln w="12700">
            <a:solidFill>
              <a:srgbClr val="028090"/>
            </a:solidFill>
            <a:prstDash val="solid"/>
          </a:ln>
        </p:spPr>
        <p:txBody>
          <a:bodyPr/>
          <a:lstStyle/>
          <a:p>
            <a:endParaRPr lang="es-CO" noProof="0" dirty="0"/>
          </a:p>
        </p:txBody>
      </p:sp>
      <p:sp>
        <p:nvSpPr>
          <p:cNvPr id="40" name="Text 20">
            <a:extLst>
              <a:ext uri="{FF2B5EF4-FFF2-40B4-BE49-F238E27FC236}">
                <a16:creationId xmlns:a16="http://schemas.microsoft.com/office/drawing/2014/main" id="{B10EAFDB-769C-8679-1C8D-B29C32049BB4}"/>
              </a:ext>
            </a:extLst>
          </p:cNvPr>
          <p:cNvSpPr/>
          <p:nvPr/>
        </p:nvSpPr>
        <p:spPr>
          <a:xfrm>
            <a:off x="8135632" y="1916349"/>
            <a:ext cx="1965960" cy="548640"/>
          </a:xfrm>
          <a:prstGeom prst="rect">
            <a:avLst/>
          </a:prstGeom>
          <a:noFill/>
          <a:ln/>
        </p:spPr>
        <p:txBody>
          <a:bodyPr wrap="square" rtlCol="0" anchor="ctr"/>
          <a:lstStyle/>
          <a:p>
            <a:pPr marL="0" indent="0" algn="ctr">
              <a:buNone/>
            </a:pPr>
            <a:r>
              <a:rPr lang="es-CO" sz="2800" b="1" noProof="0" dirty="0">
                <a:solidFill>
                  <a:srgbClr val="FFFFFF"/>
                </a:solidFill>
                <a:latin typeface="Calibri" pitchFamily="34" charset="0"/>
                <a:ea typeface="Calibri" pitchFamily="34" charset="-122"/>
                <a:cs typeface="Calibri" pitchFamily="34" charset="-120"/>
              </a:rPr>
              <a:t>↺</a:t>
            </a:r>
            <a:endParaRPr lang="es-CO" sz="2800" noProof="0" dirty="0"/>
          </a:p>
        </p:txBody>
      </p:sp>
      <p:sp>
        <p:nvSpPr>
          <p:cNvPr id="41" name="Text 21">
            <a:extLst>
              <a:ext uri="{FF2B5EF4-FFF2-40B4-BE49-F238E27FC236}">
                <a16:creationId xmlns:a16="http://schemas.microsoft.com/office/drawing/2014/main" id="{C76A2885-D7EB-DA1E-C3AE-92743382A732}"/>
              </a:ext>
            </a:extLst>
          </p:cNvPr>
          <p:cNvSpPr/>
          <p:nvPr/>
        </p:nvSpPr>
        <p:spPr>
          <a:xfrm>
            <a:off x="8135632" y="2419269"/>
            <a:ext cx="1965960" cy="457200"/>
          </a:xfrm>
          <a:prstGeom prst="rect">
            <a:avLst/>
          </a:prstGeom>
          <a:noFill/>
          <a:ln/>
        </p:spPr>
        <p:txBody>
          <a:bodyPr wrap="square" rtlCol="0" anchor="ctr"/>
          <a:lstStyle/>
          <a:p>
            <a:pPr marL="0" indent="0" algn="ctr">
              <a:buNone/>
            </a:pPr>
            <a:r>
              <a:rPr lang="es-CO" sz="1100" b="1" noProof="0" dirty="0">
                <a:solidFill>
                  <a:srgbClr val="FFFFFF"/>
                </a:solidFill>
                <a:latin typeface="Calibri" pitchFamily="34" charset="0"/>
                <a:ea typeface="Calibri" pitchFamily="34" charset="-122"/>
                <a:cs typeface="Calibri" pitchFamily="34" charset="-120"/>
              </a:rPr>
              <a:t>Defectos de</a:t>
            </a:r>
            <a:endParaRPr lang="es-CO" sz="1100" noProof="0" dirty="0"/>
          </a:p>
          <a:p>
            <a:pPr marL="0" indent="0" algn="ctr">
              <a:buNone/>
            </a:pPr>
            <a:r>
              <a:rPr lang="es-CO" sz="1100" b="1" noProof="0" dirty="0">
                <a:solidFill>
                  <a:srgbClr val="FFFFFF"/>
                </a:solidFill>
                <a:latin typeface="Calibri" pitchFamily="34" charset="0"/>
                <a:ea typeface="Calibri" pitchFamily="34" charset="-122"/>
                <a:cs typeface="Calibri" pitchFamily="34" charset="-120"/>
              </a:rPr>
              <a:t>Regresión</a:t>
            </a:r>
            <a:endParaRPr lang="es-CO" sz="1100" noProof="0" dirty="0"/>
          </a:p>
        </p:txBody>
      </p:sp>
      <p:sp>
        <p:nvSpPr>
          <p:cNvPr id="42" name="Text 22">
            <a:extLst>
              <a:ext uri="{FF2B5EF4-FFF2-40B4-BE49-F238E27FC236}">
                <a16:creationId xmlns:a16="http://schemas.microsoft.com/office/drawing/2014/main" id="{4E4A8B7D-A78D-0C48-69BE-96041B96DB4C}"/>
              </a:ext>
            </a:extLst>
          </p:cNvPr>
          <p:cNvSpPr/>
          <p:nvPr/>
        </p:nvSpPr>
        <p:spPr>
          <a:xfrm>
            <a:off x="8227072" y="2967909"/>
            <a:ext cx="1783080" cy="2103120"/>
          </a:xfrm>
          <a:prstGeom prst="rect">
            <a:avLst/>
          </a:prstGeom>
          <a:noFill/>
          <a:ln/>
        </p:spPr>
        <p:txBody>
          <a:bodyPr wrap="square" rtlCol="0" anchor="t"/>
          <a:lstStyle/>
          <a:p>
            <a:pPr marL="0" indent="0">
              <a:buNone/>
            </a:pPr>
            <a:r>
              <a:rPr lang="es-CO" sz="1150" noProof="0" dirty="0">
                <a:solidFill>
                  <a:srgbClr val="1A2F5A"/>
                </a:solidFill>
                <a:latin typeface="Calibri" pitchFamily="34" charset="0"/>
                <a:ea typeface="Calibri" pitchFamily="34" charset="-122"/>
                <a:cs typeface="Calibri" pitchFamily="34" charset="-120"/>
              </a:rPr>
              <a:t>Cambios al código generan nuevos fallos en funcionalidades previas.</a:t>
            </a:r>
            <a:endParaRPr lang="es-CO" sz="1150" noProof="0" dirty="0"/>
          </a:p>
        </p:txBody>
      </p:sp>
      <p:sp>
        <p:nvSpPr>
          <p:cNvPr id="43" name="Text 23">
            <a:extLst>
              <a:ext uri="{FF2B5EF4-FFF2-40B4-BE49-F238E27FC236}">
                <a16:creationId xmlns:a16="http://schemas.microsoft.com/office/drawing/2014/main" id="{4B3B2E8F-7298-0EF0-2EAF-EDB8C65F4B51}"/>
              </a:ext>
            </a:extLst>
          </p:cNvPr>
          <p:cNvSpPr/>
          <p:nvPr/>
        </p:nvSpPr>
        <p:spPr>
          <a:xfrm>
            <a:off x="1634248" y="5281341"/>
            <a:ext cx="8229600" cy="256032"/>
          </a:xfrm>
          <a:prstGeom prst="rect">
            <a:avLst/>
          </a:prstGeom>
          <a:noFill/>
          <a:ln/>
        </p:spPr>
        <p:txBody>
          <a:bodyPr wrap="square" rtlCol="0" anchor="ctr"/>
          <a:lstStyle/>
          <a:p>
            <a:pPr marL="0" indent="0">
              <a:buNone/>
            </a:pPr>
            <a:r>
              <a:rPr lang="es-CO" sz="1000" i="1" noProof="0" dirty="0">
                <a:solidFill>
                  <a:srgbClr val="64748B"/>
                </a:solidFill>
                <a:latin typeface="Calibri" pitchFamily="34" charset="0"/>
                <a:ea typeface="Calibri" pitchFamily="34" charset="-122"/>
                <a:cs typeface="Calibri" pitchFamily="34" charset="-120"/>
              </a:rPr>
              <a:t>En el caso de estudio: Ciclo 1 → 59 incidentes | Ciclo 2 → 21 incidentes | Regresión → 20 incidentes  (Total: 100)</a:t>
            </a:r>
            <a:endParaRPr lang="es-CO" sz="1000" noProof="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0" y="0"/>
            <a:ext cx="5708342" cy="779307"/>
          </a:xfrm>
          <a:prstGeom prst="rect">
            <a:avLst/>
          </a:prstGeom>
        </p:spPr>
      </p:pic>
      <p:sp>
        <p:nvSpPr>
          <p:cNvPr id="5" name="Title"/>
          <p:cNvSpPr txBox="1">
            <a:spLocks noGrp="1"/>
          </p:cNvSpPr>
          <p:nvPr>
            <p:ph type="title"/>
          </p:nvPr>
        </p:nvSpPr>
        <p:spPr>
          <a:xfrm>
            <a:off x="131870" y="1000000"/>
            <a:ext cx="11500000" cy="600000"/>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Ejemplo real del documento</a:t>
            </a:r>
          </a:p>
        </p:txBody>
      </p:sp>
      <p:sp>
        <p:nvSpPr>
          <p:cNvPr id="7" name="Content"/>
          <p:cNvSpPr/>
          <p:nvPr/>
        </p:nvSpPr>
        <p:spPr>
          <a:xfrm>
            <a:off x="421004" y="1700000"/>
            <a:ext cx="11350000" cy="5000000"/>
          </a:xfrm>
          <a:prstGeom prst="rect">
            <a:avLst/>
          </a:prstGeom>
        </p:spPr>
        <p:txBody>
          <a:bodyPr wrap="square" anchor="ctr"/>
          <a:lstStyle/>
          <a:p>
            <a:pPr marL="0" lvl="0" indent="0">
              <a:lnSpc>
                <a:spcPct val="107000"/>
              </a:lnSpc>
              <a:spcAft>
                <a:spcPts val="300"/>
              </a:spcAft>
              <a:buNone/>
            </a:pPr>
            <a:r>
              <a:rPr lang="es-CO" sz="2000" b="1" noProof="0" dirty="0">
                <a:latin typeface="Calibri"/>
              </a:rPr>
              <a:t>Datos del caso aplicado:</a:t>
            </a:r>
          </a:p>
          <a:p>
            <a:pPr marL="342900" lvl="0" indent="-342900">
              <a:lnSpc>
                <a:spcPct val="107000"/>
              </a:lnSpc>
              <a:spcAft>
                <a:spcPts val="100"/>
              </a:spcAft>
              <a:buChar char="•"/>
            </a:pPr>
            <a:r>
              <a:rPr lang="es-CO" sz="1800" b="1" noProof="0" dirty="0">
                <a:latin typeface="Calibri"/>
              </a:rPr>
              <a:t>Ciclo 1: </a:t>
            </a:r>
            <a:r>
              <a:rPr lang="es-CO" sz="1800" noProof="0" dirty="0">
                <a:latin typeface="Calibri"/>
              </a:rPr>
              <a:t>59 incidentes</a:t>
            </a:r>
          </a:p>
          <a:p>
            <a:pPr marL="342900" lvl="0" indent="-342900">
              <a:lnSpc>
                <a:spcPct val="107000"/>
              </a:lnSpc>
              <a:spcAft>
                <a:spcPts val="100"/>
              </a:spcAft>
              <a:buChar char="•"/>
            </a:pPr>
            <a:r>
              <a:rPr lang="es-CO" sz="1800" b="1" noProof="0" dirty="0">
                <a:latin typeface="Calibri"/>
              </a:rPr>
              <a:t>Ciclo 2: </a:t>
            </a:r>
            <a:r>
              <a:rPr lang="es-CO" sz="1800" noProof="0" dirty="0">
                <a:latin typeface="Calibri"/>
              </a:rPr>
              <a:t>21 incidentes</a:t>
            </a:r>
          </a:p>
          <a:p>
            <a:pPr marL="342900" lvl="0" indent="-342900">
              <a:lnSpc>
                <a:spcPct val="107000"/>
              </a:lnSpc>
              <a:spcAft>
                <a:spcPts val="100"/>
              </a:spcAft>
              <a:buChar char="•"/>
            </a:pPr>
            <a:r>
              <a:rPr lang="es-CO" sz="1800" b="1" noProof="0" dirty="0">
                <a:latin typeface="Calibri"/>
              </a:rPr>
              <a:t>Regresión: </a:t>
            </a:r>
            <a:r>
              <a:rPr lang="es-CO" sz="1800" noProof="0" dirty="0">
                <a:latin typeface="Calibri"/>
              </a:rPr>
              <a:t>20 incidentes</a:t>
            </a:r>
          </a:p>
          <a:p>
            <a:pPr marL="342900" lvl="0" indent="-342900">
              <a:lnSpc>
                <a:spcPct val="107000"/>
              </a:lnSpc>
              <a:spcAft>
                <a:spcPts val="400"/>
              </a:spcAft>
              <a:buChar char="•"/>
            </a:pPr>
            <a:r>
              <a:rPr lang="es-CO" sz="1800" b="1" noProof="0" dirty="0">
                <a:latin typeface="Calibri"/>
              </a:rPr>
              <a:t>Total: 100 incidentes</a:t>
            </a:r>
          </a:p>
          <a:p>
            <a:pPr marL="0" lvl="0" indent="0">
              <a:lnSpc>
                <a:spcPct val="107000"/>
              </a:lnSpc>
              <a:spcAft>
                <a:spcPts val="300"/>
              </a:spcAft>
              <a:buNone/>
            </a:pPr>
            <a:r>
              <a:rPr lang="es-CO" sz="2000" b="1" noProof="0" dirty="0">
                <a:latin typeface="Calibri"/>
              </a:rPr>
              <a:t>Interpretación didáctica:</a:t>
            </a:r>
          </a:p>
          <a:p>
            <a:pPr marL="342900" lvl="0" indent="-342900">
              <a:lnSpc>
                <a:spcPct val="107000"/>
              </a:lnSpc>
              <a:spcAft>
                <a:spcPts val="100"/>
              </a:spcAft>
              <a:buChar char="•"/>
            </a:pPr>
            <a:r>
              <a:rPr lang="es-CO" sz="1800" noProof="0" dirty="0">
                <a:latin typeface="Calibri"/>
              </a:rPr>
              <a:t>La reducción progresiva evidencia madurez del proceso</a:t>
            </a:r>
          </a:p>
          <a:p>
            <a:pPr marL="342900" lvl="0" indent="-342900">
              <a:lnSpc>
                <a:spcPct val="107000"/>
              </a:lnSpc>
              <a:spcAft>
                <a:spcPts val="100"/>
              </a:spcAft>
              <a:buChar char="•"/>
            </a:pPr>
            <a:r>
              <a:rPr lang="es-CO" sz="1800" noProof="0" dirty="0">
                <a:latin typeface="Calibri"/>
              </a:rPr>
              <a:t>La regresión confirma la importancia de automatizar pruebas</a:t>
            </a:r>
          </a:p>
          <a:p>
            <a:pPr marL="342900" lvl="0" indent="-342900">
              <a:lnSpc>
                <a:spcPct val="107000"/>
              </a:lnSpc>
              <a:spcAft>
                <a:spcPts val="100"/>
              </a:spcAft>
              <a:buChar char="•"/>
            </a:pPr>
            <a:r>
              <a:rPr lang="es-CO" sz="1800" noProof="0" dirty="0">
                <a:latin typeface="Calibri"/>
              </a:rPr>
              <a:t>La mayoría eran de mensajes y UI, no de lógica crítica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0" y="0"/>
            <a:ext cx="5708342" cy="779307"/>
          </a:xfrm>
          <a:prstGeom prst="rect">
            <a:avLst/>
          </a:prstGeom>
        </p:spPr>
      </p:pic>
      <p:sp>
        <p:nvSpPr>
          <p:cNvPr id="5" name="Title"/>
          <p:cNvSpPr txBox="1">
            <a:spLocks noGrp="1"/>
          </p:cNvSpPr>
          <p:nvPr>
            <p:ph type="title"/>
          </p:nvPr>
        </p:nvSpPr>
        <p:spPr>
          <a:xfrm>
            <a:off x="131870" y="924256"/>
            <a:ext cx="6554065" cy="751488"/>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Modelo formal de pruebas funcionales de software para alcanzar el nivel de madurez integrado 2</a:t>
            </a:r>
          </a:p>
        </p:txBody>
      </p:sp>
      <p:sp>
        <p:nvSpPr>
          <p:cNvPr id="7" name="Content"/>
          <p:cNvSpPr/>
          <p:nvPr/>
        </p:nvSpPr>
        <p:spPr>
          <a:xfrm>
            <a:off x="421004" y="1700000"/>
            <a:ext cx="11350000" cy="5000000"/>
          </a:xfrm>
          <a:prstGeom prst="rect">
            <a:avLst/>
          </a:prstGeom>
        </p:spPr>
        <p:txBody>
          <a:bodyPr wrap="square" anchor="ctr"/>
          <a:lstStyle/>
          <a:p>
            <a:pPr marL="0" lvl="0" indent="0">
              <a:lnSpc>
                <a:spcPct val="107000"/>
              </a:lnSpc>
              <a:spcAft>
                <a:spcPts val="400"/>
              </a:spcAft>
              <a:buNone/>
            </a:pPr>
            <a:endParaRPr lang="es-CO" sz="2000" b="1" noProof="0" dirty="0">
              <a:latin typeface="Calibri"/>
            </a:endParaRPr>
          </a:p>
        </p:txBody>
      </p:sp>
      <p:pic>
        <p:nvPicPr>
          <p:cNvPr id="9" name="Imagen 8">
            <a:extLst>
              <a:ext uri="{FF2B5EF4-FFF2-40B4-BE49-F238E27FC236}">
                <a16:creationId xmlns:a16="http://schemas.microsoft.com/office/drawing/2014/main" id="{83A818B4-FADA-2E31-738D-D0260A1ECB70}"/>
              </a:ext>
            </a:extLst>
          </p:cNvPr>
          <p:cNvPicPr>
            <a:picLocks noChangeAspect="1"/>
          </p:cNvPicPr>
          <p:nvPr/>
        </p:nvPicPr>
        <p:blipFill>
          <a:blip r:embed="rId4"/>
          <a:stretch>
            <a:fillRect/>
          </a:stretch>
        </p:blipFill>
        <p:spPr>
          <a:xfrm>
            <a:off x="2527592" y="1690688"/>
            <a:ext cx="6803221" cy="3968546"/>
          </a:xfrm>
          <a:prstGeom prst="rect">
            <a:avLst/>
          </a:prstGeom>
        </p:spPr>
      </p:pic>
      <p:sp>
        <p:nvSpPr>
          <p:cNvPr id="11" name="CuadroTexto 10">
            <a:extLst>
              <a:ext uri="{FF2B5EF4-FFF2-40B4-BE49-F238E27FC236}">
                <a16:creationId xmlns:a16="http://schemas.microsoft.com/office/drawing/2014/main" id="{1DFE4FDD-02B7-F3E5-D47C-2BC2FE8F14F3}"/>
              </a:ext>
            </a:extLst>
          </p:cNvPr>
          <p:cNvSpPr txBox="1"/>
          <p:nvPr/>
        </p:nvSpPr>
        <p:spPr>
          <a:xfrm>
            <a:off x="891186" y="5010414"/>
            <a:ext cx="3272811" cy="923330"/>
          </a:xfrm>
          <a:prstGeom prst="rect">
            <a:avLst/>
          </a:prstGeom>
          <a:noFill/>
        </p:spPr>
        <p:txBody>
          <a:bodyPr wrap="square">
            <a:spAutoFit/>
          </a:bodyPr>
          <a:lstStyle/>
          <a:p>
            <a:pPr algn="ctr"/>
            <a:r>
              <a:rPr lang="es-CO" noProof="0" dirty="0">
                <a:latin typeface="Calibri"/>
              </a:rPr>
              <a:t>Modelo propuesto para </a:t>
            </a:r>
          </a:p>
          <a:p>
            <a:pPr algn="ctr"/>
            <a:r>
              <a:rPr lang="es-CO" noProof="0" dirty="0">
                <a:latin typeface="Calibri"/>
              </a:rPr>
              <a:t>Pruebas Funcionales de Software </a:t>
            </a:r>
            <a:br>
              <a:rPr lang="es-CO" noProof="0" dirty="0"/>
            </a:br>
            <a:endParaRPr lang="es-CO" noProof="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Shape 0"/>
          <p:cNvSpPr/>
          <p:nvPr/>
        </p:nvSpPr>
        <p:spPr>
          <a:xfrm>
            <a:off x="0" y="2194560"/>
            <a:ext cx="12192000" cy="2560320"/>
          </a:xfrm>
          <a:prstGeom prst="rect">
            <a:avLst/>
          </a:prstGeom>
          <a:solidFill>
            <a:srgbClr val="0D1B3E">
              <a:alpha val="90000"/>
            </a:srgbClr>
          </a:solidFill>
          <a:ln w="12700">
            <a:solidFill>
              <a:srgbClr val="0D1B3E"/>
            </a:solidFill>
            <a:prstDash val="solid"/>
          </a:ln>
        </p:spPr>
        <p:txBody>
          <a:bodyPr/>
          <a:lstStyle/>
          <a:p>
            <a:endParaRPr lang="es-CO" sz="2400" noProof="0" dirty="0"/>
          </a:p>
        </p:txBody>
      </p:sp>
      <p:sp>
        <p:nvSpPr>
          <p:cNvPr id="4" name="Shape 1"/>
          <p:cNvSpPr/>
          <p:nvPr/>
        </p:nvSpPr>
        <p:spPr>
          <a:xfrm>
            <a:off x="0" y="2170176"/>
            <a:ext cx="12192000" cy="73152"/>
          </a:xfrm>
          <a:prstGeom prst="rect">
            <a:avLst/>
          </a:prstGeom>
          <a:solidFill>
            <a:srgbClr val="C9A84C"/>
          </a:solidFill>
          <a:ln w="12700">
            <a:solidFill>
              <a:srgbClr val="C9A84C"/>
            </a:solidFill>
            <a:prstDash val="solid"/>
          </a:ln>
        </p:spPr>
        <p:txBody>
          <a:bodyPr/>
          <a:lstStyle/>
          <a:p>
            <a:endParaRPr lang="es-CO" sz="2400" noProof="0" dirty="0"/>
          </a:p>
        </p:txBody>
      </p:sp>
      <p:sp>
        <p:nvSpPr>
          <p:cNvPr id="5" name="Shape 2"/>
          <p:cNvSpPr/>
          <p:nvPr/>
        </p:nvSpPr>
        <p:spPr>
          <a:xfrm>
            <a:off x="0" y="4681728"/>
            <a:ext cx="12192000" cy="73152"/>
          </a:xfrm>
          <a:prstGeom prst="rect">
            <a:avLst/>
          </a:prstGeom>
          <a:solidFill>
            <a:srgbClr val="C9A84C"/>
          </a:solidFill>
          <a:ln w="12700">
            <a:solidFill>
              <a:srgbClr val="C9A84C"/>
            </a:solidFill>
            <a:prstDash val="solid"/>
          </a:ln>
        </p:spPr>
        <p:txBody>
          <a:bodyPr/>
          <a:lstStyle/>
          <a:p>
            <a:endParaRPr lang="es-CO" sz="2400" noProof="0" dirty="0"/>
          </a:p>
        </p:txBody>
      </p:sp>
      <p:sp>
        <p:nvSpPr>
          <p:cNvPr id="6" name="Text 3"/>
          <p:cNvSpPr/>
          <p:nvPr/>
        </p:nvSpPr>
        <p:spPr>
          <a:xfrm>
            <a:off x="609600" y="2316480"/>
            <a:ext cx="10972800" cy="670560"/>
          </a:xfrm>
          <a:prstGeom prst="rect">
            <a:avLst/>
          </a:prstGeom>
          <a:noFill/>
          <a:ln/>
        </p:spPr>
        <p:txBody>
          <a:bodyPr wrap="square" rtlCol="0" anchor="ctr"/>
          <a:lstStyle/>
          <a:p>
            <a:pPr algn="ctr"/>
            <a:r>
              <a:rPr lang="es-CO" sz="4267" b="1" kern="0" spc="400" noProof="0" dirty="0">
                <a:solidFill>
                  <a:srgbClr val="C9A84C"/>
                </a:solidFill>
                <a:latin typeface="Calibri" pitchFamily="34" charset="0"/>
                <a:ea typeface="Calibri" pitchFamily="34" charset="-122"/>
                <a:cs typeface="Calibri" pitchFamily="34" charset="-120"/>
              </a:rPr>
              <a:t>EJERCICIOS PRÁCTICOS</a:t>
            </a:r>
            <a:endParaRPr lang="es-CO" sz="4267" noProof="0" dirty="0"/>
          </a:p>
        </p:txBody>
      </p:sp>
      <p:sp>
        <p:nvSpPr>
          <p:cNvPr id="7" name="Text 4"/>
          <p:cNvSpPr/>
          <p:nvPr/>
        </p:nvSpPr>
        <p:spPr>
          <a:xfrm>
            <a:off x="609600" y="3023616"/>
            <a:ext cx="10972800" cy="548640"/>
          </a:xfrm>
          <a:prstGeom prst="rect">
            <a:avLst/>
          </a:prstGeom>
          <a:noFill/>
          <a:ln/>
        </p:spPr>
        <p:txBody>
          <a:bodyPr wrap="square" rtlCol="0" anchor="ctr"/>
          <a:lstStyle/>
          <a:p>
            <a:pPr algn="ctr"/>
            <a:r>
              <a:rPr lang="es-CO" sz="2400" noProof="0" dirty="0">
                <a:solidFill>
                  <a:srgbClr val="FFFFFF"/>
                </a:solidFill>
                <a:latin typeface="Calibri" pitchFamily="34" charset="0"/>
                <a:ea typeface="Calibri" pitchFamily="34" charset="-122"/>
                <a:cs typeface="Calibri" pitchFamily="34" charset="-120"/>
              </a:rPr>
              <a:t>Aplicación de la caracterización de defectos</a:t>
            </a:r>
            <a:endParaRPr lang="es-CO" sz="2400" noProof="0" dirty="0"/>
          </a:p>
        </p:txBody>
      </p:sp>
      <p:sp>
        <p:nvSpPr>
          <p:cNvPr id="8" name="Text 5"/>
          <p:cNvSpPr/>
          <p:nvPr/>
        </p:nvSpPr>
        <p:spPr>
          <a:xfrm>
            <a:off x="609600" y="5974080"/>
            <a:ext cx="10972800" cy="365760"/>
          </a:xfrm>
          <a:prstGeom prst="rect">
            <a:avLst/>
          </a:prstGeom>
          <a:noFill/>
          <a:ln/>
        </p:spPr>
        <p:txBody>
          <a:bodyPr wrap="square" rtlCol="0" anchor="ctr"/>
          <a:lstStyle/>
          <a:p>
            <a:pPr algn="ctr"/>
            <a:r>
              <a:rPr lang="es-CO" sz="1333" i="1" noProof="0" dirty="0">
                <a:solidFill>
                  <a:srgbClr val="C9A84C"/>
                </a:solidFill>
                <a:latin typeface="Calibri" pitchFamily="34" charset="0"/>
                <a:ea typeface="Calibri" pitchFamily="34" charset="-122"/>
                <a:cs typeface="Calibri" pitchFamily="34" charset="-120"/>
              </a:rPr>
              <a:t>Basado en: Escobar-Sánchez &amp; Fuertes-Díaz (2015)  ·  Muñoz, Peralta &amp; Laporte (2019)</a:t>
            </a:r>
            <a:endParaRPr lang="es-CO" sz="1333" noProof="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9144000" cy="877824"/>
          </a:xfrm>
          <a:prstGeom prst="rect">
            <a:avLst/>
          </a:prstGeom>
        </p:spPr>
      </p:pic>
      <p:sp>
        <p:nvSpPr>
          <p:cNvPr id="4" name="Shape 0"/>
          <p:cNvSpPr/>
          <p:nvPr/>
        </p:nvSpPr>
        <p:spPr>
          <a:xfrm>
            <a:off x="487680" y="999744"/>
            <a:ext cx="1463040" cy="633984"/>
          </a:xfrm>
          <a:prstGeom prst="rect">
            <a:avLst/>
          </a:prstGeom>
          <a:solidFill>
            <a:srgbClr val="C9A84C"/>
          </a:solidFill>
          <a:ln w="12700">
            <a:solidFill>
              <a:srgbClr val="C9A84C"/>
            </a:solidFill>
            <a:prstDash val="solid"/>
          </a:ln>
        </p:spPr>
        <p:txBody>
          <a:bodyPr/>
          <a:lstStyle/>
          <a:p>
            <a:endParaRPr lang="es-CO" sz="2400" noProof="0" dirty="0"/>
          </a:p>
        </p:txBody>
      </p:sp>
      <p:sp>
        <p:nvSpPr>
          <p:cNvPr id="5" name="Text 1"/>
          <p:cNvSpPr/>
          <p:nvPr/>
        </p:nvSpPr>
        <p:spPr>
          <a:xfrm>
            <a:off x="487680" y="999744"/>
            <a:ext cx="1463040" cy="633984"/>
          </a:xfrm>
          <a:prstGeom prst="rect">
            <a:avLst/>
          </a:prstGeom>
          <a:noFill/>
          <a:ln/>
        </p:spPr>
        <p:txBody>
          <a:bodyPr wrap="square" rtlCol="0" anchor="ctr"/>
          <a:lstStyle/>
          <a:p>
            <a:pPr algn="ctr"/>
            <a:r>
              <a:rPr lang="es-CO" sz="1867" b="1" noProof="0" dirty="0">
                <a:solidFill>
                  <a:srgbClr val="1B2A52"/>
                </a:solidFill>
                <a:latin typeface="Calibri" pitchFamily="34" charset="0"/>
                <a:ea typeface="Calibri" pitchFamily="34" charset="-122"/>
                <a:cs typeface="Calibri" pitchFamily="34" charset="-120"/>
              </a:rPr>
              <a:t>EJ. 1</a:t>
            </a:r>
            <a:endParaRPr lang="es-CO" sz="1867" noProof="0" dirty="0"/>
          </a:p>
        </p:txBody>
      </p:sp>
      <p:sp>
        <p:nvSpPr>
          <p:cNvPr id="6" name="Text 2"/>
          <p:cNvSpPr/>
          <p:nvPr/>
        </p:nvSpPr>
        <p:spPr>
          <a:xfrm>
            <a:off x="2072640" y="1036320"/>
            <a:ext cx="9265920" cy="609600"/>
          </a:xfrm>
          <a:prstGeom prst="rect">
            <a:avLst/>
          </a:prstGeom>
          <a:noFill/>
          <a:ln/>
        </p:spPr>
        <p:txBody>
          <a:bodyPr wrap="square" rtlCol="0" anchor="ctr"/>
          <a:lstStyle/>
          <a:p>
            <a:r>
              <a:rPr lang="es-CO" sz="2533" b="1" noProof="0" dirty="0">
                <a:solidFill>
                  <a:srgbClr val="1B2A52"/>
                </a:solidFill>
                <a:latin typeface="Calibri" pitchFamily="34" charset="0"/>
                <a:ea typeface="Calibri" pitchFamily="34" charset="-122"/>
                <a:cs typeface="Calibri" pitchFamily="34" charset="-120"/>
              </a:rPr>
              <a:t>Clasificar y priorizar defectos reales</a:t>
            </a:r>
            <a:endParaRPr lang="es-CO" sz="2533" noProof="0" dirty="0"/>
          </a:p>
        </p:txBody>
      </p:sp>
      <p:sp>
        <p:nvSpPr>
          <p:cNvPr id="7" name="Shape 3"/>
          <p:cNvSpPr/>
          <p:nvPr/>
        </p:nvSpPr>
        <p:spPr>
          <a:xfrm>
            <a:off x="487680" y="1853184"/>
            <a:ext cx="11216640" cy="73152"/>
          </a:xfrm>
          <a:prstGeom prst="rect">
            <a:avLst/>
          </a:prstGeom>
          <a:solidFill>
            <a:srgbClr val="0033A0"/>
          </a:solidFill>
          <a:ln w="12700">
            <a:solidFill>
              <a:srgbClr val="0033A0"/>
            </a:solidFill>
            <a:prstDash val="solid"/>
          </a:ln>
        </p:spPr>
        <p:txBody>
          <a:bodyPr/>
          <a:lstStyle/>
          <a:p>
            <a:endParaRPr lang="es-CO" sz="2400" noProof="0" dirty="0"/>
          </a:p>
        </p:txBody>
      </p:sp>
      <p:sp>
        <p:nvSpPr>
          <p:cNvPr id="8" name="Text 4"/>
          <p:cNvSpPr/>
          <p:nvPr/>
        </p:nvSpPr>
        <p:spPr>
          <a:xfrm>
            <a:off x="487680" y="1926336"/>
            <a:ext cx="2438400" cy="365760"/>
          </a:xfrm>
          <a:prstGeom prst="rect">
            <a:avLst/>
          </a:prstGeom>
          <a:noFill/>
          <a:ln/>
        </p:spPr>
        <p:txBody>
          <a:bodyPr wrap="square" rtlCol="0" anchor="ctr"/>
          <a:lstStyle/>
          <a:p>
            <a:r>
              <a:rPr lang="es-CO" sz="1467" b="1" noProof="0" dirty="0">
                <a:solidFill>
                  <a:srgbClr val="0033A0"/>
                </a:solidFill>
                <a:latin typeface="Calibri" pitchFamily="34" charset="0"/>
                <a:ea typeface="Calibri" pitchFamily="34" charset="-122"/>
                <a:cs typeface="Calibri" pitchFamily="34" charset="-120"/>
              </a:rPr>
              <a:t>Ð ESCENARIO</a:t>
            </a:r>
            <a:endParaRPr lang="es-CO" sz="1467" noProof="0" dirty="0"/>
          </a:p>
        </p:txBody>
      </p:sp>
      <p:sp>
        <p:nvSpPr>
          <p:cNvPr id="9" name="Shape 5"/>
          <p:cNvSpPr/>
          <p:nvPr/>
        </p:nvSpPr>
        <p:spPr>
          <a:xfrm>
            <a:off x="487680" y="1926336"/>
            <a:ext cx="11216640" cy="914400"/>
          </a:xfrm>
          <a:prstGeom prst="rect">
            <a:avLst/>
          </a:prstGeom>
          <a:solidFill>
            <a:srgbClr val="EBF0FA"/>
          </a:solidFill>
          <a:ln w="6350">
            <a:solidFill>
              <a:srgbClr val="C5D0E8"/>
            </a:solidFill>
            <a:prstDash val="solid"/>
          </a:ln>
        </p:spPr>
        <p:txBody>
          <a:bodyPr/>
          <a:lstStyle/>
          <a:p>
            <a:endParaRPr lang="es-CO" sz="2400" noProof="0" dirty="0"/>
          </a:p>
        </p:txBody>
      </p:sp>
      <p:sp>
        <p:nvSpPr>
          <p:cNvPr id="10" name="Text 6"/>
          <p:cNvSpPr/>
          <p:nvPr/>
        </p:nvSpPr>
        <p:spPr>
          <a:xfrm>
            <a:off x="670560" y="1975104"/>
            <a:ext cx="10850880" cy="926592"/>
          </a:xfrm>
          <a:prstGeom prst="rect">
            <a:avLst/>
          </a:prstGeom>
          <a:noFill/>
          <a:ln/>
        </p:spPr>
        <p:txBody>
          <a:bodyPr wrap="square" rtlCol="0" anchor="t"/>
          <a:lstStyle/>
          <a:p>
            <a:r>
              <a:rPr lang="es-CO" sz="1400" noProof="0" dirty="0">
                <a:solidFill>
                  <a:srgbClr val="222222"/>
                </a:solidFill>
                <a:latin typeface="Calibri" pitchFamily="34" charset="0"/>
                <a:ea typeface="Calibri" pitchFamily="34" charset="-122"/>
                <a:cs typeface="Calibri" pitchFamily="34" charset="-120"/>
              </a:rPr>
              <a:t>Una EMP de 4 personas está desarrollando un sistema de facturación. El equipo de pruebas detectó los siguientes 6 incidentes en el Ciclo 1: (A) El botón “Guardar” no responde al hacer clic. (B) El logo aparece pixelado en pantallas HD. (C) El cálculo del IVA es incorrecto cuando hay descuentos. (D) El mensaje de error al ingresar un NIT inválido no aparece. (E) El menú de navegación se desordena en móvil. (F) El sistema no guarda facturas si hay más de 50 ítems.</a:t>
            </a:r>
            <a:endParaRPr lang="es-CO" sz="1400" noProof="0" dirty="0"/>
          </a:p>
        </p:txBody>
      </p:sp>
      <p:sp>
        <p:nvSpPr>
          <p:cNvPr id="11" name="Text 7"/>
          <p:cNvSpPr/>
          <p:nvPr/>
        </p:nvSpPr>
        <p:spPr>
          <a:xfrm>
            <a:off x="487680" y="2950464"/>
            <a:ext cx="4876800" cy="365760"/>
          </a:xfrm>
          <a:prstGeom prst="rect">
            <a:avLst/>
          </a:prstGeom>
          <a:noFill/>
          <a:ln/>
        </p:spPr>
        <p:txBody>
          <a:bodyPr wrap="square" rtlCol="0" anchor="ctr"/>
          <a:lstStyle/>
          <a:p>
            <a:r>
              <a:rPr lang="es-CO" sz="1467" b="1" noProof="0" dirty="0">
                <a:solidFill>
                  <a:srgbClr val="1B2A52"/>
                </a:solidFill>
                <a:latin typeface="Calibri" pitchFamily="34" charset="0"/>
                <a:ea typeface="Calibri" pitchFamily="34" charset="-122"/>
                <a:cs typeface="Calibri" pitchFamily="34" charset="-120"/>
              </a:rPr>
              <a:t>LO QUE DEBES HACER:</a:t>
            </a:r>
            <a:endParaRPr lang="es-CO" sz="1467" noProof="0" dirty="0"/>
          </a:p>
        </p:txBody>
      </p:sp>
      <p:sp>
        <p:nvSpPr>
          <p:cNvPr id="12" name="Shape 8"/>
          <p:cNvSpPr/>
          <p:nvPr/>
        </p:nvSpPr>
        <p:spPr>
          <a:xfrm>
            <a:off x="512064" y="3352800"/>
            <a:ext cx="341376" cy="341376"/>
          </a:xfrm>
          <a:prstGeom prst="ellipse">
            <a:avLst/>
          </a:prstGeom>
          <a:solidFill>
            <a:srgbClr val="1B2A52"/>
          </a:solidFill>
          <a:ln w="12700">
            <a:solidFill>
              <a:srgbClr val="1B2A52"/>
            </a:solidFill>
            <a:prstDash val="solid"/>
          </a:ln>
        </p:spPr>
        <p:txBody>
          <a:bodyPr/>
          <a:lstStyle/>
          <a:p>
            <a:endParaRPr lang="es-CO" sz="2400" noProof="0" dirty="0"/>
          </a:p>
        </p:txBody>
      </p:sp>
      <p:sp>
        <p:nvSpPr>
          <p:cNvPr id="13" name="Text 9"/>
          <p:cNvSpPr/>
          <p:nvPr/>
        </p:nvSpPr>
        <p:spPr>
          <a:xfrm>
            <a:off x="512064" y="3352800"/>
            <a:ext cx="341376" cy="341376"/>
          </a:xfrm>
          <a:prstGeom prst="rect">
            <a:avLst/>
          </a:prstGeom>
          <a:noFill/>
          <a:ln/>
        </p:spPr>
        <p:txBody>
          <a:bodyPr wrap="square" rtlCol="0" anchor="ctr"/>
          <a:lstStyle/>
          <a:p>
            <a:pPr algn="ctr"/>
            <a:r>
              <a:rPr lang="es-CO" sz="1333" b="1" noProof="0" dirty="0">
                <a:solidFill>
                  <a:srgbClr val="FFFFFF"/>
                </a:solidFill>
                <a:latin typeface="Calibri" pitchFamily="34" charset="0"/>
                <a:ea typeface="Calibri" pitchFamily="34" charset="-122"/>
                <a:cs typeface="Calibri" pitchFamily="34" charset="-120"/>
              </a:rPr>
              <a:t>1</a:t>
            </a:r>
            <a:endParaRPr lang="es-CO" sz="1333" noProof="0" dirty="0"/>
          </a:p>
        </p:txBody>
      </p:sp>
      <p:sp>
        <p:nvSpPr>
          <p:cNvPr id="14" name="Text 10"/>
          <p:cNvSpPr/>
          <p:nvPr/>
        </p:nvSpPr>
        <p:spPr>
          <a:xfrm>
            <a:off x="999744" y="3340608"/>
            <a:ext cx="10607040" cy="426720"/>
          </a:xfrm>
          <a:prstGeom prst="rect">
            <a:avLst/>
          </a:prstGeom>
          <a:noFill/>
          <a:ln/>
        </p:spPr>
        <p:txBody>
          <a:bodyPr wrap="square" rtlCol="0" anchor="ctr"/>
          <a:lstStyle/>
          <a:p>
            <a:r>
              <a:rPr lang="es-CO" noProof="0" dirty="0">
                <a:solidFill>
                  <a:srgbClr val="222222"/>
                </a:solidFill>
                <a:latin typeface="Calibri" pitchFamily="34" charset="0"/>
                <a:ea typeface="Calibri" pitchFamily="34" charset="-122"/>
                <a:cs typeface="Calibri" pitchFamily="34" charset="-120"/>
              </a:rPr>
              <a:t>Clasifica cada incidente según su TIPO (implementación, interfaz, mensaje, regresión).</a:t>
            </a:r>
            <a:endParaRPr lang="es-CO" noProof="0" dirty="0"/>
          </a:p>
        </p:txBody>
      </p:sp>
      <p:sp>
        <p:nvSpPr>
          <p:cNvPr id="15" name="Shape 11"/>
          <p:cNvSpPr/>
          <p:nvPr/>
        </p:nvSpPr>
        <p:spPr>
          <a:xfrm>
            <a:off x="512064" y="3864864"/>
            <a:ext cx="341376" cy="341376"/>
          </a:xfrm>
          <a:prstGeom prst="ellipse">
            <a:avLst/>
          </a:prstGeom>
          <a:solidFill>
            <a:srgbClr val="1B2A52"/>
          </a:solidFill>
          <a:ln w="12700">
            <a:solidFill>
              <a:srgbClr val="1B2A52"/>
            </a:solidFill>
            <a:prstDash val="solid"/>
          </a:ln>
        </p:spPr>
        <p:txBody>
          <a:bodyPr/>
          <a:lstStyle/>
          <a:p>
            <a:endParaRPr lang="es-CO" sz="2400" noProof="0" dirty="0"/>
          </a:p>
        </p:txBody>
      </p:sp>
      <p:sp>
        <p:nvSpPr>
          <p:cNvPr id="16" name="Text 12"/>
          <p:cNvSpPr/>
          <p:nvPr/>
        </p:nvSpPr>
        <p:spPr>
          <a:xfrm>
            <a:off x="512064" y="3864864"/>
            <a:ext cx="341376" cy="341376"/>
          </a:xfrm>
          <a:prstGeom prst="rect">
            <a:avLst/>
          </a:prstGeom>
          <a:noFill/>
          <a:ln/>
        </p:spPr>
        <p:txBody>
          <a:bodyPr wrap="square" rtlCol="0" anchor="ctr"/>
          <a:lstStyle/>
          <a:p>
            <a:pPr algn="ctr"/>
            <a:r>
              <a:rPr lang="es-CO" sz="1333" b="1" noProof="0" dirty="0">
                <a:solidFill>
                  <a:srgbClr val="FFFFFF"/>
                </a:solidFill>
                <a:latin typeface="Calibri" pitchFamily="34" charset="0"/>
                <a:ea typeface="Calibri" pitchFamily="34" charset="-122"/>
                <a:cs typeface="Calibri" pitchFamily="34" charset="-120"/>
              </a:rPr>
              <a:t>2</a:t>
            </a:r>
            <a:endParaRPr lang="es-CO" sz="1333" noProof="0" dirty="0"/>
          </a:p>
        </p:txBody>
      </p:sp>
      <p:sp>
        <p:nvSpPr>
          <p:cNvPr id="17" name="Text 13"/>
          <p:cNvSpPr/>
          <p:nvPr/>
        </p:nvSpPr>
        <p:spPr>
          <a:xfrm>
            <a:off x="999744" y="3852672"/>
            <a:ext cx="10607040" cy="426720"/>
          </a:xfrm>
          <a:prstGeom prst="rect">
            <a:avLst/>
          </a:prstGeom>
          <a:noFill/>
          <a:ln/>
        </p:spPr>
        <p:txBody>
          <a:bodyPr wrap="square" rtlCol="0" anchor="ctr"/>
          <a:lstStyle/>
          <a:p>
            <a:r>
              <a:rPr lang="es-CO" noProof="0" dirty="0">
                <a:solidFill>
                  <a:srgbClr val="222222"/>
                </a:solidFill>
                <a:latin typeface="Calibri" pitchFamily="34" charset="0"/>
                <a:ea typeface="Calibri" pitchFamily="34" charset="-122"/>
                <a:cs typeface="Calibri" pitchFamily="34" charset="-120"/>
              </a:rPr>
              <a:t>Asigna un nivel de SEVERIDAD (crítico / alto / medio / bajo) a cada uno.</a:t>
            </a:r>
            <a:endParaRPr lang="es-CO" noProof="0" dirty="0"/>
          </a:p>
        </p:txBody>
      </p:sp>
      <p:sp>
        <p:nvSpPr>
          <p:cNvPr id="18" name="Shape 14"/>
          <p:cNvSpPr/>
          <p:nvPr/>
        </p:nvSpPr>
        <p:spPr>
          <a:xfrm>
            <a:off x="512064" y="4376928"/>
            <a:ext cx="341376" cy="341376"/>
          </a:xfrm>
          <a:prstGeom prst="ellipse">
            <a:avLst/>
          </a:prstGeom>
          <a:solidFill>
            <a:srgbClr val="1B2A52"/>
          </a:solidFill>
          <a:ln w="12700">
            <a:solidFill>
              <a:srgbClr val="1B2A52"/>
            </a:solidFill>
            <a:prstDash val="solid"/>
          </a:ln>
        </p:spPr>
        <p:txBody>
          <a:bodyPr/>
          <a:lstStyle/>
          <a:p>
            <a:endParaRPr lang="es-CO" sz="2400" noProof="0" dirty="0"/>
          </a:p>
        </p:txBody>
      </p:sp>
      <p:sp>
        <p:nvSpPr>
          <p:cNvPr id="19" name="Text 15"/>
          <p:cNvSpPr/>
          <p:nvPr/>
        </p:nvSpPr>
        <p:spPr>
          <a:xfrm>
            <a:off x="512064" y="4376928"/>
            <a:ext cx="341376" cy="341376"/>
          </a:xfrm>
          <a:prstGeom prst="rect">
            <a:avLst/>
          </a:prstGeom>
          <a:noFill/>
          <a:ln/>
        </p:spPr>
        <p:txBody>
          <a:bodyPr wrap="square" rtlCol="0" anchor="ctr"/>
          <a:lstStyle/>
          <a:p>
            <a:pPr algn="ctr"/>
            <a:r>
              <a:rPr lang="es-CO" sz="1333" b="1" noProof="0" dirty="0">
                <a:solidFill>
                  <a:srgbClr val="FFFFFF"/>
                </a:solidFill>
                <a:latin typeface="Calibri" pitchFamily="34" charset="0"/>
                <a:ea typeface="Calibri" pitchFamily="34" charset="-122"/>
                <a:cs typeface="Calibri" pitchFamily="34" charset="-120"/>
              </a:rPr>
              <a:t>3</a:t>
            </a:r>
            <a:endParaRPr lang="es-CO" sz="1333" noProof="0" dirty="0"/>
          </a:p>
        </p:txBody>
      </p:sp>
      <p:sp>
        <p:nvSpPr>
          <p:cNvPr id="20" name="Text 16"/>
          <p:cNvSpPr/>
          <p:nvPr/>
        </p:nvSpPr>
        <p:spPr>
          <a:xfrm>
            <a:off x="999744" y="4364736"/>
            <a:ext cx="10607040" cy="426720"/>
          </a:xfrm>
          <a:prstGeom prst="rect">
            <a:avLst/>
          </a:prstGeom>
          <a:noFill/>
          <a:ln/>
        </p:spPr>
        <p:txBody>
          <a:bodyPr wrap="square" rtlCol="0" anchor="ctr"/>
          <a:lstStyle/>
          <a:p>
            <a:r>
              <a:rPr lang="es-CO" noProof="0" dirty="0">
                <a:solidFill>
                  <a:srgbClr val="222222"/>
                </a:solidFill>
                <a:latin typeface="Calibri" pitchFamily="34" charset="0"/>
                <a:ea typeface="Calibri" pitchFamily="34" charset="-122"/>
                <a:cs typeface="Calibri" pitchFamily="34" charset="-120"/>
              </a:rPr>
              <a:t>Identifica el ORIGEN probable de cada defecto (requisitos, diseño, codificación, pruebas).</a:t>
            </a:r>
            <a:endParaRPr lang="es-CO" noProof="0" dirty="0"/>
          </a:p>
        </p:txBody>
      </p:sp>
      <p:sp>
        <p:nvSpPr>
          <p:cNvPr id="21" name="Shape 17"/>
          <p:cNvSpPr/>
          <p:nvPr/>
        </p:nvSpPr>
        <p:spPr>
          <a:xfrm>
            <a:off x="512064" y="4888992"/>
            <a:ext cx="341376" cy="341376"/>
          </a:xfrm>
          <a:prstGeom prst="ellipse">
            <a:avLst/>
          </a:prstGeom>
          <a:solidFill>
            <a:srgbClr val="1B2A52"/>
          </a:solidFill>
          <a:ln w="12700">
            <a:solidFill>
              <a:srgbClr val="1B2A52"/>
            </a:solidFill>
            <a:prstDash val="solid"/>
          </a:ln>
        </p:spPr>
        <p:txBody>
          <a:bodyPr/>
          <a:lstStyle/>
          <a:p>
            <a:endParaRPr lang="es-CO" sz="2400" noProof="0" dirty="0"/>
          </a:p>
        </p:txBody>
      </p:sp>
      <p:sp>
        <p:nvSpPr>
          <p:cNvPr id="22" name="Text 18"/>
          <p:cNvSpPr/>
          <p:nvPr/>
        </p:nvSpPr>
        <p:spPr>
          <a:xfrm>
            <a:off x="512064" y="4888992"/>
            <a:ext cx="341376" cy="341376"/>
          </a:xfrm>
          <a:prstGeom prst="rect">
            <a:avLst/>
          </a:prstGeom>
          <a:noFill/>
          <a:ln/>
        </p:spPr>
        <p:txBody>
          <a:bodyPr wrap="square" rtlCol="0" anchor="ctr"/>
          <a:lstStyle/>
          <a:p>
            <a:pPr algn="ctr"/>
            <a:r>
              <a:rPr lang="es-CO" sz="1333" b="1" noProof="0" dirty="0">
                <a:solidFill>
                  <a:srgbClr val="FFFFFF"/>
                </a:solidFill>
                <a:latin typeface="Calibri" pitchFamily="34" charset="0"/>
                <a:ea typeface="Calibri" pitchFamily="34" charset="-122"/>
                <a:cs typeface="Calibri" pitchFamily="34" charset="-120"/>
              </a:rPr>
              <a:t>4</a:t>
            </a:r>
            <a:endParaRPr lang="es-CO" sz="1333" noProof="0" dirty="0"/>
          </a:p>
        </p:txBody>
      </p:sp>
      <p:sp>
        <p:nvSpPr>
          <p:cNvPr id="23" name="Text 19"/>
          <p:cNvSpPr/>
          <p:nvPr/>
        </p:nvSpPr>
        <p:spPr>
          <a:xfrm>
            <a:off x="999744" y="4876800"/>
            <a:ext cx="10607040" cy="426720"/>
          </a:xfrm>
          <a:prstGeom prst="rect">
            <a:avLst/>
          </a:prstGeom>
          <a:noFill/>
          <a:ln/>
        </p:spPr>
        <p:txBody>
          <a:bodyPr wrap="square" rtlCol="0" anchor="ctr"/>
          <a:lstStyle/>
          <a:p>
            <a:r>
              <a:rPr lang="es-CO" noProof="0" dirty="0">
                <a:solidFill>
                  <a:srgbClr val="222222"/>
                </a:solidFill>
                <a:latin typeface="Calibri" pitchFamily="34" charset="0"/>
                <a:ea typeface="Calibri" pitchFamily="34" charset="-122"/>
                <a:cs typeface="Calibri" pitchFamily="34" charset="-120"/>
              </a:rPr>
              <a:t>Ordena los 6 defectos por prioridad de corrección y justifica tu criterio.</a:t>
            </a:r>
            <a:endParaRPr lang="es-CO" noProof="0" dirty="0"/>
          </a:p>
        </p:txBody>
      </p:sp>
      <p:sp>
        <p:nvSpPr>
          <p:cNvPr id="24" name="Shape 20"/>
          <p:cNvSpPr/>
          <p:nvPr/>
        </p:nvSpPr>
        <p:spPr>
          <a:xfrm>
            <a:off x="2391510" y="5342826"/>
            <a:ext cx="9209649" cy="670560"/>
          </a:xfrm>
          <a:prstGeom prst="rect">
            <a:avLst/>
          </a:prstGeom>
          <a:solidFill>
            <a:srgbClr val="FFF8E6"/>
          </a:solidFill>
          <a:ln w="12700">
            <a:solidFill>
              <a:srgbClr val="C9A84C"/>
            </a:solidFill>
            <a:prstDash val="solid"/>
          </a:ln>
        </p:spPr>
        <p:txBody>
          <a:bodyPr/>
          <a:lstStyle/>
          <a:p>
            <a:endParaRPr lang="es-CO" sz="2400" noProof="0" dirty="0"/>
          </a:p>
        </p:txBody>
      </p:sp>
      <p:sp>
        <p:nvSpPr>
          <p:cNvPr id="25" name="Text 21"/>
          <p:cNvSpPr/>
          <p:nvPr/>
        </p:nvSpPr>
        <p:spPr>
          <a:xfrm>
            <a:off x="2283659" y="5391594"/>
            <a:ext cx="9401908" cy="548640"/>
          </a:xfrm>
          <a:prstGeom prst="rect">
            <a:avLst/>
          </a:prstGeom>
          <a:noFill/>
          <a:ln/>
        </p:spPr>
        <p:txBody>
          <a:bodyPr wrap="square" rtlCol="0" anchor="ctr"/>
          <a:lstStyle/>
          <a:p>
            <a:r>
              <a:rPr lang="es-CO" sz="1667" b="1" noProof="0" dirty="0">
                <a:solidFill>
                  <a:srgbClr val="7A5C00"/>
                </a:solidFill>
                <a:latin typeface="Calibri" pitchFamily="34" charset="0"/>
                <a:ea typeface="Calibri" pitchFamily="34" charset="-122"/>
                <a:cs typeface="Calibri" pitchFamily="34" charset="-120"/>
              </a:rPr>
              <a:t>⚡ Entregable: </a:t>
            </a:r>
            <a:r>
              <a:rPr lang="es-CO" sz="1667" noProof="0" dirty="0">
                <a:solidFill>
                  <a:srgbClr val="5A4000"/>
                </a:solidFill>
                <a:latin typeface="Calibri" pitchFamily="34" charset="0"/>
                <a:ea typeface="Calibri" pitchFamily="34" charset="-122"/>
                <a:cs typeface="Calibri" pitchFamily="34" charset="-120"/>
              </a:rPr>
              <a:t>Tabla de clasificación con: Incidente | Tipo | Severidad | Origen | Prioridad | Justificación</a:t>
            </a:r>
            <a:endParaRPr lang="es-CO" sz="1667" noProof="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9144000" cy="877824"/>
          </a:xfrm>
          <a:prstGeom prst="rect">
            <a:avLst/>
          </a:prstGeom>
        </p:spPr>
      </p:pic>
      <p:sp>
        <p:nvSpPr>
          <p:cNvPr id="4" name="Shape 0"/>
          <p:cNvSpPr/>
          <p:nvPr/>
        </p:nvSpPr>
        <p:spPr>
          <a:xfrm>
            <a:off x="487680" y="999744"/>
            <a:ext cx="1828800" cy="633984"/>
          </a:xfrm>
          <a:prstGeom prst="rect">
            <a:avLst/>
          </a:prstGeom>
          <a:solidFill>
            <a:srgbClr val="1A6B3A"/>
          </a:solidFill>
          <a:ln w="12700">
            <a:solidFill>
              <a:srgbClr val="1A6B3A"/>
            </a:solidFill>
            <a:prstDash val="solid"/>
          </a:ln>
        </p:spPr>
        <p:txBody>
          <a:bodyPr/>
          <a:lstStyle/>
          <a:p>
            <a:endParaRPr lang="es-CO" sz="2400" noProof="0" dirty="0"/>
          </a:p>
        </p:txBody>
      </p:sp>
      <p:sp>
        <p:nvSpPr>
          <p:cNvPr id="5" name="Text 1"/>
          <p:cNvSpPr/>
          <p:nvPr/>
        </p:nvSpPr>
        <p:spPr>
          <a:xfrm>
            <a:off x="487680" y="999744"/>
            <a:ext cx="1828800" cy="633984"/>
          </a:xfrm>
          <a:prstGeom prst="rect">
            <a:avLst/>
          </a:prstGeom>
          <a:noFill/>
          <a:ln/>
        </p:spPr>
        <p:txBody>
          <a:bodyPr wrap="square" rtlCol="0" anchor="ctr"/>
          <a:lstStyle/>
          <a:p>
            <a:pPr algn="ctr"/>
            <a:r>
              <a:rPr lang="es-CO" sz="1467" b="1" noProof="0" dirty="0">
                <a:solidFill>
                  <a:srgbClr val="FFFFFF"/>
                </a:solidFill>
                <a:latin typeface="Calibri" pitchFamily="34" charset="0"/>
                <a:ea typeface="Calibri" pitchFamily="34" charset="-122"/>
                <a:cs typeface="Calibri" pitchFamily="34" charset="-120"/>
              </a:rPr>
              <a:t>RESPUESTA</a:t>
            </a:r>
            <a:endParaRPr lang="es-CO" sz="1467" noProof="0" dirty="0"/>
          </a:p>
        </p:txBody>
      </p:sp>
      <p:sp>
        <p:nvSpPr>
          <p:cNvPr id="6" name="Text 2"/>
          <p:cNvSpPr/>
          <p:nvPr/>
        </p:nvSpPr>
        <p:spPr>
          <a:xfrm>
            <a:off x="2438400" y="1036320"/>
            <a:ext cx="9144000" cy="609600"/>
          </a:xfrm>
          <a:prstGeom prst="rect">
            <a:avLst/>
          </a:prstGeom>
          <a:noFill/>
          <a:ln/>
        </p:spPr>
        <p:txBody>
          <a:bodyPr wrap="square" rtlCol="0" anchor="ctr"/>
          <a:lstStyle/>
          <a:p>
            <a:r>
              <a:rPr lang="es-CO" sz="2400" b="1" noProof="0" dirty="0">
                <a:solidFill>
                  <a:srgbClr val="1B2A52"/>
                </a:solidFill>
                <a:latin typeface="Calibri" pitchFamily="34" charset="0"/>
                <a:ea typeface="Calibri" pitchFamily="34" charset="-122"/>
                <a:cs typeface="Calibri" pitchFamily="34" charset="-120"/>
              </a:rPr>
              <a:t>Ejercicio 1 – Clasificación esperada</a:t>
            </a:r>
            <a:endParaRPr lang="es-CO" sz="2400" noProof="0" dirty="0"/>
          </a:p>
        </p:txBody>
      </p:sp>
      <p:graphicFrame>
        <p:nvGraphicFramePr>
          <p:cNvPr id="14" name="Table 0"/>
          <p:cNvGraphicFramePr>
            <a:graphicFrameLocks noGrp="1"/>
          </p:cNvGraphicFramePr>
          <p:nvPr>
            <p:extLst>
              <p:ext uri="{D42A27DB-BD31-4B8C-83A1-F6EECF244321}">
                <p14:modId xmlns:p14="http://schemas.microsoft.com/office/powerpoint/2010/main" val="3798562563"/>
              </p:ext>
            </p:extLst>
          </p:nvPr>
        </p:nvGraphicFramePr>
        <p:xfrm>
          <a:off x="463296" y="1853185"/>
          <a:ext cx="10119360" cy="4328156"/>
        </p:xfrm>
        <a:graphic>
          <a:graphicData uri="http://schemas.openxmlformats.org/drawingml/2006/table">
            <a:tbl>
              <a:tblPr/>
              <a:tblGrid>
                <a:gridCol w="16459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gridCol w="1889760">
                  <a:extLst>
                    <a:ext uri="{9D8B030D-6E8A-4147-A177-3AD203B41FA5}">
                      <a16:colId xmlns:a16="http://schemas.microsoft.com/office/drawing/2014/main" val="20003"/>
                    </a:ext>
                  </a:extLst>
                </a:gridCol>
                <a:gridCol w="3169920">
                  <a:extLst>
                    <a:ext uri="{9D8B030D-6E8A-4147-A177-3AD203B41FA5}">
                      <a16:colId xmlns:a16="http://schemas.microsoft.com/office/drawing/2014/main" val="20004"/>
                    </a:ext>
                  </a:extLst>
                </a:gridCol>
              </a:tblGrid>
              <a:tr h="618308">
                <a:tc>
                  <a:txBody>
                    <a:bodyPr/>
                    <a:lstStyle/>
                    <a:p>
                      <a:pPr marL="0" indent="0">
                        <a:buNone/>
                      </a:pPr>
                      <a:r>
                        <a:rPr lang="es-CO" sz="1600" b="1" noProof="0" dirty="0">
                          <a:solidFill>
                            <a:srgbClr val="FFFFFF"/>
                          </a:solidFill>
                          <a:latin typeface="Calibri" pitchFamily="34" charset="0"/>
                          <a:ea typeface="Calibri" pitchFamily="34" charset="-122"/>
                          <a:cs typeface="Calibri" pitchFamily="34" charset="-120"/>
                        </a:rPr>
                        <a:t>Incidente</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1B2A52"/>
                    </a:solidFill>
                  </a:tcPr>
                </a:tc>
                <a:tc>
                  <a:txBody>
                    <a:bodyPr/>
                    <a:lstStyle/>
                    <a:p>
                      <a:pPr marL="0" indent="0">
                        <a:buNone/>
                      </a:pPr>
                      <a:r>
                        <a:rPr lang="es-CO" sz="1600" b="1" noProof="0" dirty="0">
                          <a:solidFill>
                            <a:srgbClr val="FFFFFF"/>
                          </a:solidFill>
                          <a:latin typeface="Calibri" pitchFamily="34" charset="0"/>
                          <a:ea typeface="Calibri" pitchFamily="34" charset="-122"/>
                          <a:cs typeface="Calibri" pitchFamily="34" charset="-120"/>
                        </a:rPr>
                        <a:t>Tipo</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1B2A52"/>
                    </a:solidFill>
                  </a:tcPr>
                </a:tc>
                <a:tc>
                  <a:txBody>
                    <a:bodyPr/>
                    <a:lstStyle/>
                    <a:p>
                      <a:pPr marL="0" indent="0">
                        <a:buNone/>
                      </a:pPr>
                      <a:r>
                        <a:rPr lang="es-CO" sz="1600" b="1" noProof="0" dirty="0">
                          <a:solidFill>
                            <a:srgbClr val="FFFFFF"/>
                          </a:solidFill>
                          <a:latin typeface="Calibri" pitchFamily="34" charset="0"/>
                          <a:ea typeface="Calibri" pitchFamily="34" charset="-122"/>
                          <a:cs typeface="Calibri" pitchFamily="34" charset="-120"/>
                        </a:rPr>
                        <a:t>Severidad</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1B2A52"/>
                    </a:solidFill>
                  </a:tcPr>
                </a:tc>
                <a:tc>
                  <a:txBody>
                    <a:bodyPr/>
                    <a:lstStyle/>
                    <a:p>
                      <a:pPr marL="0" indent="0">
                        <a:buNone/>
                      </a:pPr>
                      <a:r>
                        <a:rPr lang="es-CO" sz="1600" b="1" noProof="0" dirty="0">
                          <a:solidFill>
                            <a:srgbClr val="FFFFFF"/>
                          </a:solidFill>
                          <a:latin typeface="Calibri" pitchFamily="34" charset="0"/>
                          <a:ea typeface="Calibri" pitchFamily="34" charset="-122"/>
                          <a:cs typeface="Calibri" pitchFamily="34" charset="-120"/>
                        </a:rPr>
                        <a:t>Origen</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1B2A52"/>
                    </a:solidFill>
                  </a:tcPr>
                </a:tc>
                <a:tc>
                  <a:txBody>
                    <a:bodyPr/>
                    <a:lstStyle/>
                    <a:p>
                      <a:pPr marL="0" indent="0">
                        <a:buNone/>
                      </a:pPr>
                      <a:r>
                        <a:rPr lang="es-CO" sz="1600" b="1" noProof="0" dirty="0">
                          <a:solidFill>
                            <a:srgbClr val="FFFFFF"/>
                          </a:solidFill>
                          <a:latin typeface="Calibri" pitchFamily="34" charset="0"/>
                          <a:ea typeface="Calibri" pitchFamily="34" charset="-122"/>
                          <a:cs typeface="Calibri" pitchFamily="34" charset="-120"/>
                        </a:rPr>
                        <a:t>Prioridad / Razón</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1B2A52"/>
                    </a:solidFill>
                  </a:tcPr>
                </a:tc>
                <a:extLst>
                  <a:ext uri="{0D108BD9-81ED-4DB2-BD59-A6C34878D82A}">
                    <a16:rowId xmlns:a16="http://schemas.microsoft.com/office/drawing/2014/main" val="10000"/>
                  </a:ext>
                </a:extLst>
              </a:tr>
              <a:tr h="618308">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(A) Botón no responde</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Implementación</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CRÍTICO</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Codificación</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 1 – Bloquea guardar factura</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extLst>
                  <a:ext uri="{0D108BD9-81ED-4DB2-BD59-A6C34878D82A}">
                    <a16:rowId xmlns:a16="http://schemas.microsoft.com/office/drawing/2014/main" val="10001"/>
                  </a:ext>
                </a:extLst>
              </a:tr>
              <a:tr h="618308">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(F) Falla &gt;50 ítems</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Implementación</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CRÍTICO</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Requisitos</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 2 – Impide uso en casos reales</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8308">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(C) IVA incorrecto</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Implementación</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Alto</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Codificación</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 3 – Error de negocio grave</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extLst>
                  <a:ext uri="{0D108BD9-81ED-4DB2-BD59-A6C34878D82A}">
                    <a16:rowId xmlns:a16="http://schemas.microsoft.com/office/drawing/2014/main" val="10003"/>
                  </a:ext>
                </a:extLst>
              </a:tr>
              <a:tr h="618308">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(D) Mensaje NIT inv.</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Mensaje</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Alto</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Diseño</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 4 – Afecta validación usuario</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18308">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(E) Menú móvil</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Interfaz</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Medio</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Diseño</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 5 – Usabilidad afectada</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extLst>
                  <a:ext uri="{0D108BD9-81ED-4DB2-BD59-A6C34878D82A}">
                    <a16:rowId xmlns:a16="http://schemas.microsoft.com/office/drawing/2014/main" val="10005"/>
                  </a:ext>
                </a:extLst>
              </a:tr>
              <a:tr h="618308">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(B) Logo pixelado</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Interfaz</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Bajo</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Diseño</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 6 – Sólo cosmético</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8" name="Text 3"/>
          <p:cNvSpPr/>
          <p:nvPr/>
        </p:nvSpPr>
        <p:spPr>
          <a:xfrm>
            <a:off x="4727386" y="6217920"/>
            <a:ext cx="7458394" cy="341376"/>
          </a:xfrm>
          <a:prstGeom prst="rect">
            <a:avLst/>
          </a:prstGeom>
          <a:noFill/>
          <a:ln/>
        </p:spPr>
        <p:txBody>
          <a:bodyPr wrap="square" rtlCol="0" anchor="ctr"/>
          <a:lstStyle/>
          <a:p>
            <a:r>
              <a:rPr lang="es-CO" sz="1400" i="1" noProof="0" dirty="0">
                <a:solidFill>
                  <a:srgbClr val="7A5C00"/>
                </a:solidFill>
                <a:latin typeface="Calibri" pitchFamily="34" charset="0"/>
                <a:ea typeface="Calibri" pitchFamily="34" charset="-122"/>
                <a:cs typeface="Calibri" pitchFamily="34" charset="-120"/>
              </a:rPr>
              <a:t>⚡ Clave didáctica: la prioridad combina Severidad + Impacto en el negocio, no solo el nivel técnico.</a:t>
            </a:r>
            <a:endParaRPr lang="es-CO" sz="1400" noProof="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9144000" cy="877824"/>
          </a:xfrm>
          <a:prstGeom prst="rect">
            <a:avLst/>
          </a:prstGeom>
        </p:spPr>
      </p:pic>
      <p:sp>
        <p:nvSpPr>
          <p:cNvPr id="4" name="Shape 0"/>
          <p:cNvSpPr/>
          <p:nvPr/>
        </p:nvSpPr>
        <p:spPr>
          <a:xfrm>
            <a:off x="487680" y="999744"/>
            <a:ext cx="1463040" cy="633984"/>
          </a:xfrm>
          <a:prstGeom prst="rect">
            <a:avLst/>
          </a:prstGeom>
          <a:solidFill>
            <a:srgbClr val="C9A84C"/>
          </a:solidFill>
          <a:ln w="12700">
            <a:solidFill>
              <a:srgbClr val="C9A84C"/>
            </a:solidFill>
            <a:prstDash val="solid"/>
          </a:ln>
        </p:spPr>
        <p:txBody>
          <a:bodyPr/>
          <a:lstStyle/>
          <a:p>
            <a:endParaRPr lang="es-CO" sz="2400" noProof="0" dirty="0"/>
          </a:p>
        </p:txBody>
      </p:sp>
      <p:sp>
        <p:nvSpPr>
          <p:cNvPr id="5" name="Text 1"/>
          <p:cNvSpPr/>
          <p:nvPr/>
        </p:nvSpPr>
        <p:spPr>
          <a:xfrm>
            <a:off x="487680" y="999744"/>
            <a:ext cx="1463040" cy="633984"/>
          </a:xfrm>
          <a:prstGeom prst="rect">
            <a:avLst/>
          </a:prstGeom>
          <a:noFill/>
          <a:ln/>
        </p:spPr>
        <p:txBody>
          <a:bodyPr wrap="square" rtlCol="0" anchor="ctr"/>
          <a:lstStyle/>
          <a:p>
            <a:pPr algn="ctr"/>
            <a:r>
              <a:rPr lang="es-CO" sz="1867" b="1" noProof="0" dirty="0">
                <a:solidFill>
                  <a:srgbClr val="1B2A52"/>
                </a:solidFill>
                <a:latin typeface="Calibri" pitchFamily="34" charset="0"/>
                <a:ea typeface="Calibri" pitchFamily="34" charset="-122"/>
                <a:cs typeface="Calibri" pitchFamily="34" charset="-120"/>
              </a:rPr>
              <a:t>EJ. 2</a:t>
            </a:r>
            <a:endParaRPr lang="es-CO" sz="1867" noProof="0" dirty="0"/>
          </a:p>
        </p:txBody>
      </p:sp>
      <p:sp>
        <p:nvSpPr>
          <p:cNvPr id="6" name="Text 2"/>
          <p:cNvSpPr/>
          <p:nvPr/>
        </p:nvSpPr>
        <p:spPr>
          <a:xfrm>
            <a:off x="2072640" y="1036320"/>
            <a:ext cx="9265920" cy="609600"/>
          </a:xfrm>
          <a:prstGeom prst="rect">
            <a:avLst/>
          </a:prstGeom>
          <a:noFill/>
          <a:ln/>
        </p:spPr>
        <p:txBody>
          <a:bodyPr wrap="square" rtlCol="0" anchor="ctr"/>
          <a:lstStyle/>
          <a:p>
            <a:r>
              <a:rPr lang="es-CO" sz="2533" b="1" noProof="0" dirty="0">
                <a:solidFill>
                  <a:srgbClr val="1B2A52"/>
                </a:solidFill>
                <a:latin typeface="Calibri" pitchFamily="34" charset="0"/>
                <a:ea typeface="Calibri" pitchFamily="34" charset="-122"/>
                <a:cs typeface="Calibri" pitchFamily="34" charset="-120"/>
              </a:rPr>
              <a:t>Calcular métricas y proponer plan de acción</a:t>
            </a:r>
            <a:endParaRPr lang="es-CO" sz="2533" noProof="0" dirty="0"/>
          </a:p>
        </p:txBody>
      </p:sp>
      <p:sp>
        <p:nvSpPr>
          <p:cNvPr id="7" name="Shape 3"/>
          <p:cNvSpPr/>
          <p:nvPr/>
        </p:nvSpPr>
        <p:spPr>
          <a:xfrm>
            <a:off x="487680" y="1853184"/>
            <a:ext cx="11216640" cy="73152"/>
          </a:xfrm>
          <a:prstGeom prst="rect">
            <a:avLst/>
          </a:prstGeom>
          <a:solidFill>
            <a:srgbClr val="0033A0"/>
          </a:solidFill>
          <a:ln w="12700">
            <a:solidFill>
              <a:srgbClr val="0033A0"/>
            </a:solidFill>
            <a:prstDash val="solid"/>
          </a:ln>
        </p:spPr>
        <p:txBody>
          <a:bodyPr/>
          <a:lstStyle/>
          <a:p>
            <a:endParaRPr lang="es-CO" sz="2400" noProof="0" dirty="0"/>
          </a:p>
        </p:txBody>
      </p:sp>
      <p:sp>
        <p:nvSpPr>
          <p:cNvPr id="8" name="Text 4"/>
          <p:cNvSpPr/>
          <p:nvPr/>
        </p:nvSpPr>
        <p:spPr>
          <a:xfrm>
            <a:off x="487680" y="1926336"/>
            <a:ext cx="2438400" cy="365760"/>
          </a:xfrm>
          <a:prstGeom prst="rect">
            <a:avLst/>
          </a:prstGeom>
          <a:noFill/>
          <a:ln/>
        </p:spPr>
        <p:txBody>
          <a:bodyPr wrap="square" rtlCol="0" anchor="ctr"/>
          <a:lstStyle/>
          <a:p>
            <a:r>
              <a:rPr lang="es-CO" sz="1467" b="1" noProof="0" dirty="0">
                <a:solidFill>
                  <a:srgbClr val="0033A0"/>
                </a:solidFill>
                <a:latin typeface="Calibri" pitchFamily="34" charset="0"/>
                <a:ea typeface="Calibri" pitchFamily="34" charset="-122"/>
                <a:cs typeface="Calibri" pitchFamily="34" charset="-120"/>
              </a:rPr>
              <a:t>Ð ESCENARIO</a:t>
            </a:r>
            <a:endParaRPr lang="es-CO" sz="1467" noProof="0" dirty="0"/>
          </a:p>
        </p:txBody>
      </p:sp>
      <p:sp>
        <p:nvSpPr>
          <p:cNvPr id="9" name="Shape 5"/>
          <p:cNvSpPr/>
          <p:nvPr/>
        </p:nvSpPr>
        <p:spPr>
          <a:xfrm>
            <a:off x="487680" y="1926336"/>
            <a:ext cx="11216640" cy="914400"/>
          </a:xfrm>
          <a:prstGeom prst="rect">
            <a:avLst/>
          </a:prstGeom>
          <a:solidFill>
            <a:srgbClr val="EBF0FA"/>
          </a:solidFill>
          <a:ln w="6350">
            <a:solidFill>
              <a:srgbClr val="C5D0E8"/>
            </a:solidFill>
            <a:prstDash val="solid"/>
          </a:ln>
        </p:spPr>
        <p:txBody>
          <a:bodyPr/>
          <a:lstStyle/>
          <a:p>
            <a:endParaRPr lang="es-CO" sz="2400" noProof="0" dirty="0"/>
          </a:p>
        </p:txBody>
      </p:sp>
      <p:sp>
        <p:nvSpPr>
          <p:cNvPr id="10" name="Text 6"/>
          <p:cNvSpPr/>
          <p:nvPr/>
        </p:nvSpPr>
        <p:spPr>
          <a:xfrm>
            <a:off x="670560" y="1975104"/>
            <a:ext cx="10850880" cy="829056"/>
          </a:xfrm>
          <a:prstGeom prst="rect">
            <a:avLst/>
          </a:prstGeom>
          <a:noFill/>
          <a:ln/>
        </p:spPr>
        <p:txBody>
          <a:bodyPr wrap="square" rtlCol="0" anchor="t"/>
          <a:lstStyle/>
          <a:p>
            <a:r>
              <a:rPr lang="es-CO" sz="1733" noProof="0" dirty="0">
                <a:solidFill>
                  <a:srgbClr val="222222"/>
                </a:solidFill>
                <a:latin typeface="Calibri" pitchFamily="34" charset="0"/>
                <a:ea typeface="Calibri" pitchFamily="34" charset="-122"/>
                <a:cs typeface="Calibri" pitchFamily="34" charset="-120"/>
              </a:rPr>
              <a:t>La misma EMP cerró el Ciclo 2 con los siguientes datos: 8 funcionalidades probadas • 51 casos de prueba ejecutados • 21 incidentes detectados • Distribución por severidad: 3 críticos, 4 altos, 10 medios, 4 bajos. El Ciclo 1 tuvo 20 funcionalidades, 134 casos y 59 incidentes.</a:t>
            </a:r>
            <a:endParaRPr lang="es-CO" sz="1733" noProof="0" dirty="0"/>
          </a:p>
        </p:txBody>
      </p:sp>
      <p:sp>
        <p:nvSpPr>
          <p:cNvPr id="11" name="Text 7"/>
          <p:cNvSpPr/>
          <p:nvPr/>
        </p:nvSpPr>
        <p:spPr>
          <a:xfrm>
            <a:off x="487680" y="2950464"/>
            <a:ext cx="4876800" cy="365760"/>
          </a:xfrm>
          <a:prstGeom prst="rect">
            <a:avLst/>
          </a:prstGeom>
          <a:noFill/>
          <a:ln/>
        </p:spPr>
        <p:txBody>
          <a:bodyPr wrap="square" rtlCol="0" anchor="ctr"/>
          <a:lstStyle/>
          <a:p>
            <a:r>
              <a:rPr lang="es-CO" sz="1467" b="1" noProof="0">
                <a:solidFill>
                  <a:srgbClr val="1B2A52"/>
                </a:solidFill>
                <a:latin typeface="Calibri" pitchFamily="34" charset="0"/>
                <a:ea typeface="Calibri" pitchFamily="34" charset="-122"/>
                <a:cs typeface="Calibri" pitchFamily="34" charset="-120"/>
              </a:rPr>
              <a:t>LO </a:t>
            </a:r>
            <a:r>
              <a:rPr lang="es-CO" sz="1467" b="1" noProof="0" dirty="0">
                <a:solidFill>
                  <a:srgbClr val="1B2A52"/>
                </a:solidFill>
                <a:latin typeface="Calibri" pitchFamily="34" charset="0"/>
                <a:ea typeface="Calibri" pitchFamily="34" charset="-122"/>
                <a:cs typeface="Calibri" pitchFamily="34" charset="-120"/>
              </a:rPr>
              <a:t>QUE DEBES HACER:</a:t>
            </a:r>
            <a:endParaRPr lang="es-CO" sz="1467" noProof="0" dirty="0"/>
          </a:p>
        </p:txBody>
      </p:sp>
      <p:sp>
        <p:nvSpPr>
          <p:cNvPr id="12" name="Shape 8"/>
          <p:cNvSpPr/>
          <p:nvPr/>
        </p:nvSpPr>
        <p:spPr>
          <a:xfrm>
            <a:off x="512064" y="3352800"/>
            <a:ext cx="341376" cy="341376"/>
          </a:xfrm>
          <a:prstGeom prst="ellipse">
            <a:avLst/>
          </a:prstGeom>
          <a:solidFill>
            <a:srgbClr val="1B2A52"/>
          </a:solidFill>
          <a:ln w="12700">
            <a:solidFill>
              <a:srgbClr val="1B2A52"/>
            </a:solidFill>
            <a:prstDash val="solid"/>
          </a:ln>
        </p:spPr>
        <p:txBody>
          <a:bodyPr/>
          <a:lstStyle/>
          <a:p>
            <a:endParaRPr lang="es-CO" sz="2400" noProof="0" dirty="0"/>
          </a:p>
        </p:txBody>
      </p:sp>
      <p:sp>
        <p:nvSpPr>
          <p:cNvPr id="13" name="Text 9"/>
          <p:cNvSpPr/>
          <p:nvPr/>
        </p:nvSpPr>
        <p:spPr>
          <a:xfrm>
            <a:off x="512064" y="3352800"/>
            <a:ext cx="341376" cy="341376"/>
          </a:xfrm>
          <a:prstGeom prst="rect">
            <a:avLst/>
          </a:prstGeom>
          <a:noFill/>
          <a:ln/>
        </p:spPr>
        <p:txBody>
          <a:bodyPr wrap="square" rtlCol="0" anchor="ctr"/>
          <a:lstStyle/>
          <a:p>
            <a:pPr algn="ctr"/>
            <a:r>
              <a:rPr lang="es-CO" sz="1333" b="1" noProof="0" dirty="0">
                <a:solidFill>
                  <a:srgbClr val="FFFFFF"/>
                </a:solidFill>
                <a:latin typeface="Calibri" pitchFamily="34" charset="0"/>
                <a:ea typeface="Calibri" pitchFamily="34" charset="-122"/>
                <a:cs typeface="Calibri" pitchFamily="34" charset="-120"/>
              </a:rPr>
              <a:t>1</a:t>
            </a:r>
            <a:endParaRPr lang="es-CO" sz="1333" noProof="0" dirty="0"/>
          </a:p>
        </p:txBody>
      </p:sp>
      <p:sp>
        <p:nvSpPr>
          <p:cNvPr id="14" name="Text 10"/>
          <p:cNvSpPr/>
          <p:nvPr/>
        </p:nvSpPr>
        <p:spPr>
          <a:xfrm>
            <a:off x="999744" y="3340608"/>
            <a:ext cx="10607040" cy="426720"/>
          </a:xfrm>
          <a:prstGeom prst="rect">
            <a:avLst/>
          </a:prstGeom>
          <a:noFill/>
          <a:ln/>
        </p:spPr>
        <p:txBody>
          <a:bodyPr wrap="square" rtlCol="0" anchor="ctr"/>
          <a:lstStyle/>
          <a:p>
            <a:r>
              <a:rPr lang="es-CO" noProof="0" dirty="0">
                <a:solidFill>
                  <a:srgbClr val="222222"/>
                </a:solidFill>
                <a:latin typeface="Calibri" pitchFamily="34" charset="0"/>
                <a:ea typeface="Calibri" pitchFamily="34" charset="-122"/>
                <a:cs typeface="Calibri" pitchFamily="34" charset="-120"/>
              </a:rPr>
              <a:t>Calcula la DENSIDAD DE DEFECTOS por funcionalidad en cada ciclo (Defectos / Funcionalidad).</a:t>
            </a:r>
            <a:endParaRPr lang="es-CO" noProof="0" dirty="0"/>
          </a:p>
        </p:txBody>
      </p:sp>
      <p:sp>
        <p:nvSpPr>
          <p:cNvPr id="15" name="Shape 11"/>
          <p:cNvSpPr/>
          <p:nvPr/>
        </p:nvSpPr>
        <p:spPr>
          <a:xfrm>
            <a:off x="512064" y="3864864"/>
            <a:ext cx="341376" cy="341376"/>
          </a:xfrm>
          <a:prstGeom prst="ellipse">
            <a:avLst/>
          </a:prstGeom>
          <a:solidFill>
            <a:srgbClr val="1B2A52"/>
          </a:solidFill>
          <a:ln w="12700">
            <a:solidFill>
              <a:srgbClr val="1B2A52"/>
            </a:solidFill>
            <a:prstDash val="solid"/>
          </a:ln>
        </p:spPr>
        <p:txBody>
          <a:bodyPr/>
          <a:lstStyle/>
          <a:p>
            <a:endParaRPr lang="es-CO" sz="2400" noProof="0" dirty="0"/>
          </a:p>
        </p:txBody>
      </p:sp>
      <p:sp>
        <p:nvSpPr>
          <p:cNvPr id="16" name="Text 12"/>
          <p:cNvSpPr/>
          <p:nvPr/>
        </p:nvSpPr>
        <p:spPr>
          <a:xfrm>
            <a:off x="512064" y="3864864"/>
            <a:ext cx="341376" cy="341376"/>
          </a:xfrm>
          <a:prstGeom prst="rect">
            <a:avLst/>
          </a:prstGeom>
          <a:noFill/>
          <a:ln/>
        </p:spPr>
        <p:txBody>
          <a:bodyPr wrap="square" rtlCol="0" anchor="ctr"/>
          <a:lstStyle/>
          <a:p>
            <a:pPr algn="ctr"/>
            <a:r>
              <a:rPr lang="es-CO" sz="1333" b="1" noProof="0" dirty="0">
                <a:solidFill>
                  <a:srgbClr val="FFFFFF"/>
                </a:solidFill>
                <a:latin typeface="Calibri" pitchFamily="34" charset="0"/>
                <a:ea typeface="Calibri" pitchFamily="34" charset="-122"/>
                <a:cs typeface="Calibri" pitchFamily="34" charset="-120"/>
              </a:rPr>
              <a:t>2</a:t>
            </a:r>
            <a:endParaRPr lang="es-CO" sz="1333" noProof="0" dirty="0"/>
          </a:p>
        </p:txBody>
      </p:sp>
      <p:sp>
        <p:nvSpPr>
          <p:cNvPr id="17" name="Text 13"/>
          <p:cNvSpPr/>
          <p:nvPr/>
        </p:nvSpPr>
        <p:spPr>
          <a:xfrm>
            <a:off x="999744" y="3852672"/>
            <a:ext cx="10607040" cy="426720"/>
          </a:xfrm>
          <a:prstGeom prst="rect">
            <a:avLst/>
          </a:prstGeom>
          <a:noFill/>
          <a:ln/>
        </p:spPr>
        <p:txBody>
          <a:bodyPr wrap="square" rtlCol="0" anchor="ctr"/>
          <a:lstStyle/>
          <a:p>
            <a:r>
              <a:rPr lang="es-CO" noProof="0" dirty="0">
                <a:solidFill>
                  <a:srgbClr val="222222"/>
                </a:solidFill>
                <a:latin typeface="Calibri" pitchFamily="34" charset="0"/>
                <a:ea typeface="Calibri" pitchFamily="34" charset="-122"/>
                <a:cs typeface="Calibri" pitchFamily="34" charset="-120"/>
              </a:rPr>
              <a:t>Calcula la TASA DE DETECCIÓN por caso ejecutado en cada ciclo (Defectos / Casos).</a:t>
            </a:r>
            <a:endParaRPr lang="es-CO" noProof="0" dirty="0"/>
          </a:p>
        </p:txBody>
      </p:sp>
      <p:sp>
        <p:nvSpPr>
          <p:cNvPr id="18" name="Shape 14"/>
          <p:cNvSpPr/>
          <p:nvPr/>
        </p:nvSpPr>
        <p:spPr>
          <a:xfrm>
            <a:off x="512064" y="4376928"/>
            <a:ext cx="341376" cy="341376"/>
          </a:xfrm>
          <a:prstGeom prst="ellipse">
            <a:avLst/>
          </a:prstGeom>
          <a:solidFill>
            <a:srgbClr val="1B2A52"/>
          </a:solidFill>
          <a:ln w="12700">
            <a:solidFill>
              <a:srgbClr val="1B2A52"/>
            </a:solidFill>
            <a:prstDash val="solid"/>
          </a:ln>
        </p:spPr>
        <p:txBody>
          <a:bodyPr/>
          <a:lstStyle/>
          <a:p>
            <a:endParaRPr lang="es-CO" sz="2400" noProof="0" dirty="0"/>
          </a:p>
        </p:txBody>
      </p:sp>
      <p:sp>
        <p:nvSpPr>
          <p:cNvPr id="19" name="Text 15"/>
          <p:cNvSpPr/>
          <p:nvPr/>
        </p:nvSpPr>
        <p:spPr>
          <a:xfrm>
            <a:off x="512064" y="4376928"/>
            <a:ext cx="341376" cy="341376"/>
          </a:xfrm>
          <a:prstGeom prst="rect">
            <a:avLst/>
          </a:prstGeom>
          <a:noFill/>
          <a:ln/>
        </p:spPr>
        <p:txBody>
          <a:bodyPr wrap="square" rtlCol="0" anchor="ctr"/>
          <a:lstStyle/>
          <a:p>
            <a:pPr algn="ctr"/>
            <a:r>
              <a:rPr lang="es-CO" sz="1333" b="1" noProof="0" dirty="0">
                <a:solidFill>
                  <a:srgbClr val="FFFFFF"/>
                </a:solidFill>
                <a:latin typeface="Calibri" pitchFamily="34" charset="0"/>
                <a:ea typeface="Calibri" pitchFamily="34" charset="-122"/>
                <a:cs typeface="Calibri" pitchFamily="34" charset="-120"/>
              </a:rPr>
              <a:t>3</a:t>
            </a:r>
            <a:endParaRPr lang="es-CO" sz="1333" noProof="0" dirty="0"/>
          </a:p>
        </p:txBody>
      </p:sp>
      <p:sp>
        <p:nvSpPr>
          <p:cNvPr id="20" name="Text 16"/>
          <p:cNvSpPr/>
          <p:nvPr/>
        </p:nvSpPr>
        <p:spPr>
          <a:xfrm>
            <a:off x="999744" y="4364736"/>
            <a:ext cx="10607040" cy="426720"/>
          </a:xfrm>
          <a:prstGeom prst="rect">
            <a:avLst/>
          </a:prstGeom>
          <a:noFill/>
          <a:ln/>
        </p:spPr>
        <p:txBody>
          <a:bodyPr wrap="square" rtlCol="0" anchor="ctr"/>
          <a:lstStyle/>
          <a:p>
            <a:r>
              <a:rPr lang="es-CO" noProof="0" dirty="0">
                <a:solidFill>
                  <a:srgbClr val="222222"/>
                </a:solidFill>
                <a:latin typeface="Calibri" pitchFamily="34" charset="0"/>
                <a:ea typeface="Calibri" pitchFamily="34" charset="-122"/>
                <a:cs typeface="Calibri" pitchFamily="34" charset="-120"/>
              </a:rPr>
              <a:t>Analiza la TENDENCIA: ¿el proceso está mejorando? Argumenta con los números.</a:t>
            </a:r>
            <a:endParaRPr lang="es-CO" noProof="0" dirty="0"/>
          </a:p>
        </p:txBody>
      </p:sp>
      <p:sp>
        <p:nvSpPr>
          <p:cNvPr id="21" name="Shape 17"/>
          <p:cNvSpPr/>
          <p:nvPr/>
        </p:nvSpPr>
        <p:spPr>
          <a:xfrm>
            <a:off x="512064" y="4888992"/>
            <a:ext cx="341376" cy="341376"/>
          </a:xfrm>
          <a:prstGeom prst="ellipse">
            <a:avLst/>
          </a:prstGeom>
          <a:solidFill>
            <a:srgbClr val="1B2A52"/>
          </a:solidFill>
          <a:ln w="12700">
            <a:solidFill>
              <a:srgbClr val="1B2A52"/>
            </a:solidFill>
            <a:prstDash val="solid"/>
          </a:ln>
        </p:spPr>
        <p:txBody>
          <a:bodyPr/>
          <a:lstStyle/>
          <a:p>
            <a:endParaRPr lang="es-CO" sz="2400" noProof="0" dirty="0"/>
          </a:p>
        </p:txBody>
      </p:sp>
      <p:sp>
        <p:nvSpPr>
          <p:cNvPr id="22" name="Text 18"/>
          <p:cNvSpPr/>
          <p:nvPr/>
        </p:nvSpPr>
        <p:spPr>
          <a:xfrm>
            <a:off x="512064" y="4888992"/>
            <a:ext cx="341376" cy="341376"/>
          </a:xfrm>
          <a:prstGeom prst="rect">
            <a:avLst/>
          </a:prstGeom>
          <a:noFill/>
          <a:ln/>
        </p:spPr>
        <p:txBody>
          <a:bodyPr wrap="square" rtlCol="0" anchor="ctr"/>
          <a:lstStyle/>
          <a:p>
            <a:pPr algn="ctr"/>
            <a:r>
              <a:rPr lang="es-CO" sz="1333" b="1" noProof="0" dirty="0">
                <a:solidFill>
                  <a:srgbClr val="FFFFFF"/>
                </a:solidFill>
                <a:latin typeface="Calibri" pitchFamily="34" charset="0"/>
                <a:ea typeface="Calibri" pitchFamily="34" charset="-122"/>
                <a:cs typeface="Calibri" pitchFamily="34" charset="-120"/>
              </a:rPr>
              <a:t>4</a:t>
            </a:r>
            <a:endParaRPr lang="es-CO" sz="1333" noProof="0" dirty="0"/>
          </a:p>
        </p:txBody>
      </p:sp>
      <p:sp>
        <p:nvSpPr>
          <p:cNvPr id="23" name="Text 19"/>
          <p:cNvSpPr/>
          <p:nvPr/>
        </p:nvSpPr>
        <p:spPr>
          <a:xfrm>
            <a:off x="999744" y="4876800"/>
            <a:ext cx="10607040" cy="426720"/>
          </a:xfrm>
          <a:prstGeom prst="rect">
            <a:avLst/>
          </a:prstGeom>
          <a:noFill/>
          <a:ln/>
        </p:spPr>
        <p:txBody>
          <a:bodyPr wrap="square" rtlCol="0" anchor="ctr"/>
          <a:lstStyle/>
          <a:p>
            <a:r>
              <a:rPr lang="es-CO" noProof="0" dirty="0">
                <a:solidFill>
                  <a:srgbClr val="222222"/>
                </a:solidFill>
                <a:latin typeface="Calibri" pitchFamily="34" charset="0"/>
                <a:ea typeface="Calibri" pitchFamily="34" charset="-122"/>
                <a:cs typeface="Calibri" pitchFamily="34" charset="-120"/>
              </a:rPr>
              <a:t>Redacta un PLAN DE ACCIÓN de 3 medidas concretas para reducir los defectos críticos/altos en el Ciclo 3.</a:t>
            </a:r>
            <a:endParaRPr lang="es-CO" noProof="0" dirty="0"/>
          </a:p>
        </p:txBody>
      </p:sp>
      <p:sp>
        <p:nvSpPr>
          <p:cNvPr id="24" name="Shape 20"/>
          <p:cNvSpPr/>
          <p:nvPr/>
        </p:nvSpPr>
        <p:spPr>
          <a:xfrm>
            <a:off x="3034936" y="5510784"/>
            <a:ext cx="8982891" cy="670560"/>
          </a:xfrm>
          <a:prstGeom prst="rect">
            <a:avLst/>
          </a:prstGeom>
          <a:solidFill>
            <a:srgbClr val="FFF8E6"/>
          </a:solidFill>
          <a:ln w="12700">
            <a:solidFill>
              <a:srgbClr val="C9A84C"/>
            </a:solidFill>
            <a:prstDash val="solid"/>
          </a:ln>
        </p:spPr>
        <p:txBody>
          <a:bodyPr/>
          <a:lstStyle/>
          <a:p>
            <a:endParaRPr lang="es-CO" sz="2400" noProof="0" dirty="0"/>
          </a:p>
        </p:txBody>
      </p:sp>
      <p:sp>
        <p:nvSpPr>
          <p:cNvPr id="25" name="Text 21"/>
          <p:cNvSpPr/>
          <p:nvPr/>
        </p:nvSpPr>
        <p:spPr>
          <a:xfrm>
            <a:off x="3217816" y="5559552"/>
            <a:ext cx="8800011" cy="548640"/>
          </a:xfrm>
          <a:prstGeom prst="rect">
            <a:avLst/>
          </a:prstGeom>
          <a:noFill/>
          <a:ln/>
        </p:spPr>
        <p:txBody>
          <a:bodyPr wrap="square" rtlCol="0" anchor="ctr"/>
          <a:lstStyle/>
          <a:p>
            <a:r>
              <a:rPr lang="es-CO" sz="1667" b="1" noProof="0" dirty="0">
                <a:solidFill>
                  <a:srgbClr val="7A5C00"/>
                </a:solidFill>
                <a:latin typeface="Calibri" pitchFamily="34" charset="0"/>
                <a:ea typeface="Calibri" pitchFamily="34" charset="-122"/>
                <a:cs typeface="Calibri" pitchFamily="34" charset="-120"/>
              </a:rPr>
              <a:t>⚡ Entregable: </a:t>
            </a:r>
            <a:r>
              <a:rPr lang="es-CO" sz="1667" noProof="0" dirty="0">
                <a:solidFill>
                  <a:srgbClr val="5A4000"/>
                </a:solidFill>
                <a:latin typeface="Calibri" pitchFamily="34" charset="0"/>
                <a:ea typeface="Calibri" pitchFamily="34" charset="-122"/>
                <a:cs typeface="Calibri" pitchFamily="34" charset="-120"/>
              </a:rPr>
              <a:t>Hoja de cálculo con métricas + párrafo de análisis + plan de acción (máx. 15 líneas)</a:t>
            </a:r>
            <a:endParaRPr lang="es-CO" sz="1667" noProof="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9144000" cy="877824"/>
          </a:xfrm>
          <a:prstGeom prst="rect">
            <a:avLst/>
          </a:prstGeom>
        </p:spPr>
      </p:pic>
      <p:sp>
        <p:nvSpPr>
          <p:cNvPr id="4" name="Shape 0"/>
          <p:cNvSpPr/>
          <p:nvPr/>
        </p:nvSpPr>
        <p:spPr>
          <a:xfrm>
            <a:off x="487680" y="999744"/>
            <a:ext cx="1828800" cy="633984"/>
          </a:xfrm>
          <a:prstGeom prst="rect">
            <a:avLst/>
          </a:prstGeom>
          <a:solidFill>
            <a:srgbClr val="1A6B3A"/>
          </a:solidFill>
          <a:ln w="12700">
            <a:solidFill>
              <a:srgbClr val="1A6B3A"/>
            </a:solidFill>
            <a:prstDash val="solid"/>
          </a:ln>
        </p:spPr>
        <p:txBody>
          <a:bodyPr/>
          <a:lstStyle/>
          <a:p>
            <a:endParaRPr lang="es-CO" sz="2400" noProof="0" dirty="0"/>
          </a:p>
        </p:txBody>
      </p:sp>
      <p:sp>
        <p:nvSpPr>
          <p:cNvPr id="5" name="Text 1"/>
          <p:cNvSpPr/>
          <p:nvPr/>
        </p:nvSpPr>
        <p:spPr>
          <a:xfrm>
            <a:off x="487680" y="999744"/>
            <a:ext cx="1828800" cy="633984"/>
          </a:xfrm>
          <a:prstGeom prst="rect">
            <a:avLst/>
          </a:prstGeom>
          <a:noFill/>
          <a:ln/>
        </p:spPr>
        <p:txBody>
          <a:bodyPr wrap="square" rtlCol="0" anchor="ctr"/>
          <a:lstStyle/>
          <a:p>
            <a:pPr algn="ctr"/>
            <a:r>
              <a:rPr lang="es-CO" sz="1467" b="1" noProof="0" dirty="0">
                <a:solidFill>
                  <a:srgbClr val="FFFFFF"/>
                </a:solidFill>
                <a:latin typeface="Calibri" pitchFamily="34" charset="0"/>
                <a:ea typeface="Calibri" pitchFamily="34" charset="-122"/>
                <a:cs typeface="Calibri" pitchFamily="34" charset="-120"/>
              </a:rPr>
              <a:t>RESPUESTA</a:t>
            </a:r>
            <a:endParaRPr lang="es-CO" sz="1467" noProof="0" dirty="0"/>
          </a:p>
        </p:txBody>
      </p:sp>
      <p:sp>
        <p:nvSpPr>
          <p:cNvPr id="6" name="Text 2"/>
          <p:cNvSpPr/>
          <p:nvPr/>
        </p:nvSpPr>
        <p:spPr>
          <a:xfrm>
            <a:off x="2438400" y="1036320"/>
            <a:ext cx="9144000" cy="609600"/>
          </a:xfrm>
          <a:prstGeom prst="rect">
            <a:avLst/>
          </a:prstGeom>
          <a:noFill/>
          <a:ln/>
        </p:spPr>
        <p:txBody>
          <a:bodyPr wrap="square" rtlCol="0" anchor="ctr"/>
          <a:lstStyle/>
          <a:p>
            <a:r>
              <a:rPr lang="es-CO" sz="2400" b="1" noProof="0" dirty="0">
                <a:solidFill>
                  <a:srgbClr val="1B2A52"/>
                </a:solidFill>
                <a:latin typeface="Calibri" pitchFamily="34" charset="0"/>
                <a:ea typeface="Calibri" pitchFamily="34" charset="-122"/>
                <a:cs typeface="Calibri" pitchFamily="34" charset="-120"/>
              </a:rPr>
              <a:t>Ejercicio 2 – Métricas y plan de acción</a:t>
            </a:r>
            <a:endParaRPr lang="es-CO" sz="2400" noProof="0" dirty="0"/>
          </a:p>
        </p:txBody>
      </p:sp>
      <p:graphicFrame>
        <p:nvGraphicFramePr>
          <p:cNvPr id="16" name="Table 0"/>
          <p:cNvGraphicFramePr>
            <a:graphicFrameLocks noGrp="1"/>
          </p:cNvGraphicFramePr>
          <p:nvPr>
            <p:extLst>
              <p:ext uri="{D42A27DB-BD31-4B8C-83A1-F6EECF244321}">
                <p14:modId xmlns:p14="http://schemas.microsoft.com/office/powerpoint/2010/main" val="436521720"/>
              </p:ext>
            </p:extLst>
          </p:nvPr>
        </p:nvGraphicFramePr>
        <p:xfrm>
          <a:off x="463296" y="1853184"/>
          <a:ext cx="11265408" cy="2682240"/>
        </p:xfrm>
        <a:graphic>
          <a:graphicData uri="http://schemas.openxmlformats.org/drawingml/2006/table">
            <a:tbl>
              <a:tblPr/>
              <a:tblGrid>
                <a:gridCol w="3901440">
                  <a:extLst>
                    <a:ext uri="{9D8B030D-6E8A-4147-A177-3AD203B41FA5}">
                      <a16:colId xmlns:a16="http://schemas.microsoft.com/office/drawing/2014/main" val="20000"/>
                    </a:ext>
                  </a:extLst>
                </a:gridCol>
                <a:gridCol w="1950720">
                  <a:extLst>
                    <a:ext uri="{9D8B030D-6E8A-4147-A177-3AD203B41FA5}">
                      <a16:colId xmlns:a16="http://schemas.microsoft.com/office/drawing/2014/main" val="20001"/>
                    </a:ext>
                  </a:extLst>
                </a:gridCol>
                <a:gridCol w="1950720">
                  <a:extLst>
                    <a:ext uri="{9D8B030D-6E8A-4147-A177-3AD203B41FA5}">
                      <a16:colId xmlns:a16="http://schemas.microsoft.com/office/drawing/2014/main" val="20002"/>
                    </a:ext>
                  </a:extLst>
                </a:gridCol>
                <a:gridCol w="3462528">
                  <a:extLst>
                    <a:ext uri="{9D8B030D-6E8A-4147-A177-3AD203B41FA5}">
                      <a16:colId xmlns:a16="http://schemas.microsoft.com/office/drawing/2014/main" val="20003"/>
                    </a:ext>
                  </a:extLst>
                </a:gridCol>
              </a:tblGrid>
              <a:tr h="447040">
                <a:tc>
                  <a:txBody>
                    <a:bodyPr/>
                    <a:lstStyle/>
                    <a:p>
                      <a:pPr marL="0" indent="0">
                        <a:buNone/>
                      </a:pPr>
                      <a:r>
                        <a:rPr lang="es-CO" sz="1600" b="1" noProof="0" dirty="0">
                          <a:solidFill>
                            <a:srgbClr val="FFFFFF"/>
                          </a:solidFill>
                          <a:latin typeface="Calibri" pitchFamily="34" charset="0"/>
                          <a:ea typeface="Calibri" pitchFamily="34" charset="-122"/>
                          <a:cs typeface="Calibri" pitchFamily="34" charset="-120"/>
                        </a:rPr>
                        <a:t>Métrica</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1B2A52"/>
                    </a:solidFill>
                  </a:tcPr>
                </a:tc>
                <a:tc>
                  <a:txBody>
                    <a:bodyPr/>
                    <a:lstStyle/>
                    <a:p>
                      <a:pPr marL="0" indent="0">
                        <a:buNone/>
                      </a:pPr>
                      <a:r>
                        <a:rPr lang="es-CO" sz="1600" b="1" noProof="0" dirty="0">
                          <a:solidFill>
                            <a:srgbClr val="FFFFFF"/>
                          </a:solidFill>
                          <a:latin typeface="Calibri" pitchFamily="34" charset="0"/>
                          <a:ea typeface="Calibri" pitchFamily="34" charset="-122"/>
                          <a:cs typeface="Calibri" pitchFamily="34" charset="-120"/>
                        </a:rPr>
                        <a:t>Ciclo 1</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1B2A52"/>
                    </a:solidFill>
                  </a:tcPr>
                </a:tc>
                <a:tc>
                  <a:txBody>
                    <a:bodyPr/>
                    <a:lstStyle/>
                    <a:p>
                      <a:pPr marL="0" indent="0">
                        <a:buNone/>
                      </a:pPr>
                      <a:r>
                        <a:rPr lang="es-CO" sz="1600" b="1" noProof="0" dirty="0">
                          <a:solidFill>
                            <a:srgbClr val="FFFFFF"/>
                          </a:solidFill>
                          <a:latin typeface="Calibri" pitchFamily="34" charset="0"/>
                          <a:ea typeface="Calibri" pitchFamily="34" charset="-122"/>
                          <a:cs typeface="Calibri" pitchFamily="34" charset="-120"/>
                        </a:rPr>
                        <a:t>Ciclo 2</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1B2A52"/>
                    </a:solidFill>
                  </a:tcPr>
                </a:tc>
                <a:tc>
                  <a:txBody>
                    <a:bodyPr/>
                    <a:lstStyle/>
                    <a:p>
                      <a:pPr marL="0" indent="0">
                        <a:buNone/>
                      </a:pPr>
                      <a:r>
                        <a:rPr lang="es-CO" sz="1600" b="1" noProof="0" dirty="0">
                          <a:solidFill>
                            <a:srgbClr val="FFFFFF"/>
                          </a:solidFill>
                          <a:latin typeface="Calibri" pitchFamily="34" charset="0"/>
                          <a:ea typeface="Calibri" pitchFamily="34" charset="-122"/>
                          <a:cs typeface="Calibri" pitchFamily="34" charset="-120"/>
                        </a:rPr>
                        <a:t>Tendencia</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1B2A52"/>
                    </a:solidFill>
                  </a:tcPr>
                </a:tc>
                <a:extLst>
                  <a:ext uri="{0D108BD9-81ED-4DB2-BD59-A6C34878D82A}">
                    <a16:rowId xmlns:a16="http://schemas.microsoft.com/office/drawing/2014/main" val="10000"/>
                  </a:ext>
                </a:extLst>
              </a:tr>
              <a:tr h="447040">
                <a:tc>
                  <a:txBody>
                    <a:bodyPr/>
                    <a:lstStyle/>
                    <a:p>
                      <a:pPr marL="0" indent="0">
                        <a:buNone/>
                      </a:pPr>
                      <a:r>
                        <a:rPr lang="es-CO" sz="1600" noProof="0" dirty="0">
                          <a:solidFill>
                            <a:srgbClr val="222222"/>
                          </a:solidFill>
                          <a:latin typeface="Calibri" pitchFamily="34" charset="0"/>
                          <a:ea typeface="Calibri" pitchFamily="34" charset="-122"/>
                          <a:cs typeface="Calibri" pitchFamily="34" charset="-120"/>
                        </a:rPr>
                        <a:t>Funcionalidades</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lgn="ctr">
                        <a:buNone/>
                      </a:pPr>
                      <a:r>
                        <a:rPr lang="es-CO" sz="1600" noProof="0" dirty="0">
                          <a:solidFill>
                            <a:srgbClr val="222222"/>
                          </a:solidFill>
                          <a:latin typeface="Calibri" pitchFamily="34" charset="0"/>
                          <a:ea typeface="Calibri" pitchFamily="34" charset="-122"/>
                          <a:cs typeface="Calibri" pitchFamily="34" charset="-120"/>
                        </a:rPr>
                        <a:t>20</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lgn="ctr">
                        <a:buNone/>
                      </a:pPr>
                      <a:r>
                        <a:rPr lang="es-CO" sz="1600" noProof="0" dirty="0">
                          <a:solidFill>
                            <a:srgbClr val="222222"/>
                          </a:solidFill>
                          <a:latin typeface="Calibri" pitchFamily="34" charset="0"/>
                          <a:ea typeface="Calibri" pitchFamily="34" charset="-122"/>
                          <a:cs typeface="Calibri" pitchFamily="34" charset="-120"/>
                        </a:rPr>
                        <a:t>8</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lgn="ctr">
                        <a:buNone/>
                      </a:pPr>
                      <a:r>
                        <a:rPr lang="es-CO" sz="1600" noProof="0" dirty="0">
                          <a:solidFill>
                            <a:srgbClr val="222222"/>
                          </a:solidFill>
                          <a:latin typeface="Calibri" pitchFamily="34" charset="0"/>
                          <a:ea typeface="Calibri" pitchFamily="34" charset="-122"/>
                          <a:cs typeface="Calibri" pitchFamily="34" charset="-120"/>
                        </a:rPr>
                        <a:t>—</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extLst>
                  <a:ext uri="{0D108BD9-81ED-4DB2-BD59-A6C34878D82A}">
                    <a16:rowId xmlns:a16="http://schemas.microsoft.com/office/drawing/2014/main" val="10001"/>
                  </a:ext>
                </a:extLst>
              </a:tr>
              <a:tr h="447040">
                <a:tc>
                  <a:txBody>
                    <a:bodyPr/>
                    <a:lstStyle/>
                    <a:p>
                      <a:pPr marL="0" indent="0">
                        <a:buNone/>
                      </a:pPr>
                      <a:r>
                        <a:rPr lang="es-CO" sz="1600" noProof="0" dirty="0">
                          <a:solidFill>
                            <a:srgbClr val="222222"/>
                          </a:solidFill>
                          <a:latin typeface="Calibri" pitchFamily="34" charset="0"/>
                          <a:ea typeface="Calibri" pitchFamily="34" charset="-122"/>
                          <a:cs typeface="Calibri" pitchFamily="34" charset="-120"/>
                        </a:rPr>
                        <a:t>Casos ejecutados</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lgn="ctr">
                        <a:buNone/>
                      </a:pPr>
                      <a:r>
                        <a:rPr lang="es-CO" sz="1600" noProof="0" dirty="0">
                          <a:solidFill>
                            <a:srgbClr val="222222"/>
                          </a:solidFill>
                          <a:latin typeface="Calibri" pitchFamily="34" charset="0"/>
                          <a:ea typeface="Calibri" pitchFamily="34" charset="-122"/>
                          <a:cs typeface="Calibri" pitchFamily="34" charset="-120"/>
                        </a:rPr>
                        <a:t>134</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lgn="ctr">
                        <a:buNone/>
                      </a:pPr>
                      <a:r>
                        <a:rPr lang="es-CO" sz="1600" noProof="0" dirty="0">
                          <a:solidFill>
                            <a:srgbClr val="222222"/>
                          </a:solidFill>
                          <a:latin typeface="Calibri" pitchFamily="34" charset="0"/>
                          <a:ea typeface="Calibri" pitchFamily="34" charset="-122"/>
                          <a:cs typeface="Calibri" pitchFamily="34" charset="-120"/>
                        </a:rPr>
                        <a:t>51</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lgn="ctr">
                        <a:buNone/>
                      </a:pPr>
                      <a:r>
                        <a:rPr lang="es-CO" sz="1600" noProof="0" dirty="0">
                          <a:solidFill>
                            <a:srgbClr val="222222"/>
                          </a:solidFill>
                          <a:latin typeface="Calibri" pitchFamily="34" charset="0"/>
                          <a:ea typeface="Calibri" pitchFamily="34" charset="-122"/>
                          <a:cs typeface="Calibri" pitchFamily="34" charset="-120"/>
                        </a:rPr>
                        <a:t>—</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7040">
                <a:tc>
                  <a:txBody>
                    <a:bodyPr/>
                    <a:lstStyle/>
                    <a:p>
                      <a:pPr marL="0" indent="0">
                        <a:buNone/>
                      </a:pPr>
                      <a:r>
                        <a:rPr lang="es-CO" sz="1600" noProof="0" dirty="0">
                          <a:solidFill>
                            <a:srgbClr val="222222"/>
                          </a:solidFill>
                          <a:latin typeface="Calibri" pitchFamily="34" charset="0"/>
                          <a:ea typeface="Calibri" pitchFamily="34" charset="-122"/>
                          <a:cs typeface="Calibri" pitchFamily="34" charset="-120"/>
                        </a:rPr>
                        <a:t>Incidentes</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lgn="ctr">
                        <a:buNone/>
                      </a:pPr>
                      <a:r>
                        <a:rPr lang="es-CO" sz="1600" noProof="0" dirty="0">
                          <a:solidFill>
                            <a:srgbClr val="222222"/>
                          </a:solidFill>
                          <a:latin typeface="Calibri" pitchFamily="34" charset="0"/>
                          <a:ea typeface="Calibri" pitchFamily="34" charset="-122"/>
                          <a:cs typeface="Calibri" pitchFamily="34" charset="-120"/>
                        </a:rPr>
                        <a:t>59</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lgn="ctr">
                        <a:buNone/>
                      </a:pPr>
                      <a:r>
                        <a:rPr lang="es-CO" sz="1600" noProof="0" dirty="0">
                          <a:solidFill>
                            <a:srgbClr val="222222"/>
                          </a:solidFill>
                          <a:latin typeface="Calibri" pitchFamily="34" charset="0"/>
                          <a:ea typeface="Calibri" pitchFamily="34" charset="-122"/>
                          <a:cs typeface="Calibri" pitchFamily="34" charset="-120"/>
                        </a:rPr>
                        <a:t>21</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lgn="ctr">
                        <a:buNone/>
                      </a:pPr>
                      <a:r>
                        <a:rPr lang="es-CO" sz="1600" b="1" noProof="0" dirty="0">
                          <a:solidFill>
                            <a:srgbClr val="1A6B3A"/>
                          </a:solidFill>
                          <a:latin typeface="Calibri" pitchFamily="34" charset="0"/>
                          <a:ea typeface="Calibri" pitchFamily="34" charset="-122"/>
                          <a:cs typeface="Calibri" pitchFamily="34" charset="-120"/>
                        </a:rPr>
                        <a:t>↓ 64%</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extLst>
                  <a:ext uri="{0D108BD9-81ED-4DB2-BD59-A6C34878D82A}">
                    <a16:rowId xmlns:a16="http://schemas.microsoft.com/office/drawing/2014/main" val="10003"/>
                  </a:ext>
                </a:extLst>
              </a:tr>
              <a:tr h="447040">
                <a:tc>
                  <a:txBody>
                    <a:bodyPr/>
                    <a:lstStyle/>
                    <a:p>
                      <a:pPr marL="0" indent="0">
                        <a:buNone/>
                      </a:pPr>
                      <a:r>
                        <a:rPr lang="es-CO" sz="1600" b="1" noProof="0" dirty="0">
                          <a:solidFill>
                            <a:srgbClr val="222222"/>
                          </a:solidFill>
                          <a:latin typeface="Calibri" pitchFamily="34" charset="0"/>
                          <a:ea typeface="Calibri" pitchFamily="34" charset="-122"/>
                          <a:cs typeface="Calibri" pitchFamily="34" charset="-120"/>
                        </a:rPr>
                        <a:t>Densidad (</a:t>
                      </a:r>
                      <a:r>
                        <a:rPr lang="es-CO" sz="1600" b="1" noProof="0" dirty="0" err="1">
                          <a:solidFill>
                            <a:srgbClr val="222222"/>
                          </a:solidFill>
                          <a:latin typeface="Calibri" pitchFamily="34" charset="0"/>
                          <a:ea typeface="Calibri" pitchFamily="34" charset="-122"/>
                          <a:cs typeface="Calibri" pitchFamily="34" charset="-120"/>
                        </a:rPr>
                        <a:t>def</a:t>
                      </a:r>
                      <a:r>
                        <a:rPr lang="es-CO" sz="1600" b="1" noProof="0" dirty="0">
                          <a:solidFill>
                            <a:srgbClr val="222222"/>
                          </a:solidFill>
                          <a:latin typeface="Calibri" pitchFamily="34" charset="0"/>
                          <a:ea typeface="Calibri" pitchFamily="34" charset="-122"/>
                          <a:cs typeface="Calibri" pitchFamily="34" charset="-120"/>
                        </a:rPr>
                        <a:t>/</a:t>
                      </a:r>
                      <a:r>
                        <a:rPr lang="es-CO" sz="1600" b="1" noProof="0" dirty="0" err="1">
                          <a:solidFill>
                            <a:srgbClr val="222222"/>
                          </a:solidFill>
                          <a:latin typeface="Calibri" pitchFamily="34" charset="0"/>
                          <a:ea typeface="Calibri" pitchFamily="34" charset="-122"/>
                          <a:cs typeface="Calibri" pitchFamily="34" charset="-120"/>
                        </a:rPr>
                        <a:t>func</a:t>
                      </a:r>
                      <a:r>
                        <a:rPr lang="es-CO" sz="1600" b="1" noProof="0" dirty="0">
                          <a:solidFill>
                            <a:srgbClr val="222222"/>
                          </a:solidFill>
                          <a:latin typeface="Calibri" pitchFamily="34" charset="0"/>
                          <a:ea typeface="Calibri" pitchFamily="34" charset="-122"/>
                          <a:cs typeface="Calibri" pitchFamily="34" charset="-120"/>
                        </a:rPr>
                        <a:t>)</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lgn="ctr">
                        <a:buNone/>
                      </a:pPr>
                      <a:r>
                        <a:rPr lang="es-CO" sz="1600" noProof="0" dirty="0">
                          <a:solidFill>
                            <a:srgbClr val="222222"/>
                          </a:solidFill>
                          <a:latin typeface="Calibri" pitchFamily="34" charset="0"/>
                          <a:ea typeface="Calibri" pitchFamily="34" charset="-122"/>
                          <a:cs typeface="Calibri" pitchFamily="34" charset="-120"/>
                        </a:rPr>
                        <a:t>2.95</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lgn="ctr">
                        <a:buNone/>
                      </a:pPr>
                      <a:r>
                        <a:rPr lang="es-CO" sz="1600" noProof="0" dirty="0">
                          <a:solidFill>
                            <a:srgbClr val="222222"/>
                          </a:solidFill>
                          <a:latin typeface="Calibri" pitchFamily="34" charset="0"/>
                          <a:ea typeface="Calibri" pitchFamily="34" charset="-122"/>
                          <a:cs typeface="Calibri" pitchFamily="34" charset="-120"/>
                        </a:rPr>
                        <a:t>2.63</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lgn="ctr">
                        <a:buNone/>
                      </a:pPr>
                      <a:r>
                        <a:rPr lang="es-CO" sz="1600" b="1" noProof="0" dirty="0">
                          <a:solidFill>
                            <a:srgbClr val="1A6B3A"/>
                          </a:solidFill>
                          <a:latin typeface="Calibri" pitchFamily="34" charset="0"/>
                          <a:ea typeface="Calibri" pitchFamily="34" charset="-122"/>
                          <a:cs typeface="Calibri" pitchFamily="34" charset="-120"/>
                        </a:rPr>
                        <a:t>↓ Mejora</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47040">
                <a:tc>
                  <a:txBody>
                    <a:bodyPr/>
                    <a:lstStyle/>
                    <a:p>
                      <a:pPr marL="0" indent="0">
                        <a:buNone/>
                      </a:pPr>
                      <a:r>
                        <a:rPr lang="es-CO" sz="1600" b="1" noProof="0" dirty="0">
                          <a:solidFill>
                            <a:srgbClr val="222222"/>
                          </a:solidFill>
                          <a:latin typeface="Calibri" pitchFamily="34" charset="0"/>
                          <a:ea typeface="Calibri" pitchFamily="34" charset="-122"/>
                          <a:cs typeface="Calibri" pitchFamily="34" charset="-120"/>
                        </a:rPr>
                        <a:t>Tasa detección (</a:t>
                      </a:r>
                      <a:r>
                        <a:rPr lang="es-CO" sz="1600" b="1" noProof="0" dirty="0" err="1">
                          <a:solidFill>
                            <a:srgbClr val="222222"/>
                          </a:solidFill>
                          <a:latin typeface="Calibri" pitchFamily="34" charset="0"/>
                          <a:ea typeface="Calibri" pitchFamily="34" charset="-122"/>
                          <a:cs typeface="Calibri" pitchFamily="34" charset="-120"/>
                        </a:rPr>
                        <a:t>def</a:t>
                      </a:r>
                      <a:r>
                        <a:rPr lang="es-CO" sz="1600" b="1" noProof="0" dirty="0">
                          <a:solidFill>
                            <a:srgbClr val="222222"/>
                          </a:solidFill>
                          <a:latin typeface="Calibri" pitchFamily="34" charset="0"/>
                          <a:ea typeface="Calibri" pitchFamily="34" charset="-122"/>
                          <a:cs typeface="Calibri" pitchFamily="34" charset="-120"/>
                        </a:rPr>
                        <a:t>/caso)</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lgn="ctr">
                        <a:buNone/>
                      </a:pPr>
                      <a:r>
                        <a:rPr lang="es-CO" sz="1600" noProof="0" dirty="0">
                          <a:solidFill>
                            <a:srgbClr val="222222"/>
                          </a:solidFill>
                          <a:latin typeface="Calibri" pitchFamily="34" charset="0"/>
                          <a:ea typeface="Calibri" pitchFamily="34" charset="-122"/>
                          <a:cs typeface="Calibri" pitchFamily="34" charset="-120"/>
                        </a:rPr>
                        <a:t>0.44</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lgn="ctr">
                        <a:buNone/>
                      </a:pPr>
                      <a:r>
                        <a:rPr lang="es-CO" sz="1600" noProof="0" dirty="0">
                          <a:solidFill>
                            <a:srgbClr val="222222"/>
                          </a:solidFill>
                          <a:latin typeface="Calibri" pitchFamily="34" charset="0"/>
                          <a:ea typeface="Calibri" pitchFamily="34" charset="-122"/>
                          <a:cs typeface="Calibri" pitchFamily="34" charset="-120"/>
                        </a:rPr>
                        <a:t>0.41</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lgn="ctr">
                        <a:buNone/>
                      </a:pPr>
                      <a:r>
                        <a:rPr lang="es-CO" sz="1600" b="1" noProof="0" dirty="0">
                          <a:solidFill>
                            <a:srgbClr val="1A6B3A"/>
                          </a:solidFill>
                          <a:latin typeface="Calibri" pitchFamily="34" charset="0"/>
                          <a:ea typeface="Calibri" pitchFamily="34" charset="-122"/>
                          <a:cs typeface="Calibri" pitchFamily="34" charset="-120"/>
                        </a:rPr>
                        <a:t>↓ Mejora</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extLst>
                  <a:ext uri="{0D108BD9-81ED-4DB2-BD59-A6C34878D82A}">
                    <a16:rowId xmlns:a16="http://schemas.microsoft.com/office/drawing/2014/main" val="10005"/>
                  </a:ext>
                </a:extLst>
              </a:tr>
            </a:tbl>
          </a:graphicData>
        </a:graphic>
      </p:graphicFrame>
      <p:sp>
        <p:nvSpPr>
          <p:cNvPr id="8" name="Text 3"/>
          <p:cNvSpPr/>
          <p:nvPr/>
        </p:nvSpPr>
        <p:spPr>
          <a:xfrm>
            <a:off x="487680" y="4632960"/>
            <a:ext cx="7315200" cy="341376"/>
          </a:xfrm>
          <a:prstGeom prst="rect">
            <a:avLst/>
          </a:prstGeom>
          <a:noFill/>
          <a:ln/>
        </p:spPr>
        <p:txBody>
          <a:bodyPr wrap="square" rtlCol="0" anchor="ctr"/>
          <a:lstStyle/>
          <a:p>
            <a:r>
              <a:rPr lang="es-CO" sz="1600" b="1" noProof="0" dirty="0">
                <a:solidFill>
                  <a:srgbClr val="1B2A52"/>
                </a:solidFill>
                <a:latin typeface="Calibri" pitchFamily="34" charset="0"/>
                <a:ea typeface="Calibri" pitchFamily="34" charset="-122"/>
                <a:cs typeface="Calibri" pitchFamily="34" charset="-120"/>
              </a:rPr>
              <a:t>Ð Plan de acción sugerido para Ciclo 3:</a:t>
            </a:r>
            <a:endParaRPr lang="es-CO" sz="1600" noProof="0" dirty="0"/>
          </a:p>
        </p:txBody>
      </p:sp>
      <p:sp>
        <p:nvSpPr>
          <p:cNvPr id="9" name="Text 4"/>
          <p:cNvSpPr/>
          <p:nvPr/>
        </p:nvSpPr>
        <p:spPr>
          <a:xfrm>
            <a:off x="487680" y="4998720"/>
            <a:ext cx="11265408" cy="316992"/>
          </a:xfrm>
          <a:prstGeom prst="rect">
            <a:avLst/>
          </a:prstGeom>
          <a:noFill/>
          <a:ln/>
        </p:spPr>
        <p:txBody>
          <a:bodyPr wrap="square" rtlCol="0" anchor="ctr"/>
          <a:lstStyle/>
          <a:p>
            <a:r>
              <a:rPr lang="es-CO" sz="1467" noProof="0" dirty="0">
                <a:solidFill>
                  <a:srgbClr val="222222"/>
                </a:solidFill>
                <a:latin typeface="Calibri" pitchFamily="34" charset="0"/>
                <a:ea typeface="Calibri" pitchFamily="34" charset="-122"/>
                <a:cs typeface="Calibri" pitchFamily="34" charset="-120"/>
              </a:rPr>
              <a:t>1. Realizar revisión de código (</a:t>
            </a:r>
            <a:r>
              <a:rPr lang="es-CO" sz="1467" noProof="0" dirty="0" err="1">
                <a:solidFill>
                  <a:srgbClr val="222222"/>
                </a:solidFill>
                <a:latin typeface="Calibri" pitchFamily="34" charset="0"/>
                <a:ea typeface="Calibri" pitchFamily="34" charset="-122"/>
                <a:cs typeface="Calibri" pitchFamily="34" charset="-120"/>
              </a:rPr>
              <a:t>code</a:t>
            </a:r>
            <a:r>
              <a:rPr lang="es-CO" sz="1467" noProof="0" dirty="0">
                <a:solidFill>
                  <a:srgbClr val="222222"/>
                </a:solidFill>
                <a:latin typeface="Calibri" pitchFamily="34" charset="0"/>
                <a:ea typeface="Calibri" pitchFamily="34" charset="-122"/>
                <a:cs typeface="Calibri" pitchFamily="34" charset="-120"/>
              </a:rPr>
              <a:t> </a:t>
            </a:r>
            <a:r>
              <a:rPr lang="es-CO" sz="1467" noProof="0" dirty="0" err="1">
                <a:solidFill>
                  <a:srgbClr val="222222"/>
                </a:solidFill>
                <a:latin typeface="Calibri" pitchFamily="34" charset="0"/>
                <a:ea typeface="Calibri" pitchFamily="34" charset="-122"/>
                <a:cs typeface="Calibri" pitchFamily="34" charset="-120"/>
              </a:rPr>
              <a:t>review</a:t>
            </a:r>
            <a:r>
              <a:rPr lang="es-CO" sz="1467" noProof="0" dirty="0">
                <a:solidFill>
                  <a:srgbClr val="222222"/>
                </a:solidFill>
                <a:latin typeface="Calibri" pitchFamily="34" charset="0"/>
                <a:ea typeface="Calibri" pitchFamily="34" charset="-122"/>
                <a:cs typeface="Calibri" pitchFamily="34" charset="-120"/>
              </a:rPr>
              <a:t>) antes de ejecutar pruebas, enfocada en lógica de negocio.</a:t>
            </a:r>
            <a:endParaRPr lang="es-CO" sz="1467" noProof="0" dirty="0"/>
          </a:p>
        </p:txBody>
      </p:sp>
      <p:sp>
        <p:nvSpPr>
          <p:cNvPr id="10" name="Text 5"/>
          <p:cNvSpPr/>
          <p:nvPr/>
        </p:nvSpPr>
        <p:spPr>
          <a:xfrm>
            <a:off x="487680" y="5340096"/>
            <a:ext cx="11265408" cy="316992"/>
          </a:xfrm>
          <a:prstGeom prst="rect">
            <a:avLst/>
          </a:prstGeom>
          <a:noFill/>
          <a:ln/>
        </p:spPr>
        <p:txBody>
          <a:bodyPr wrap="square" rtlCol="0" anchor="ctr"/>
          <a:lstStyle/>
          <a:p>
            <a:r>
              <a:rPr lang="es-CO" sz="1467" noProof="0" dirty="0">
                <a:solidFill>
                  <a:srgbClr val="222222"/>
                </a:solidFill>
                <a:latin typeface="Calibri" pitchFamily="34" charset="0"/>
                <a:ea typeface="Calibri" pitchFamily="34" charset="-122"/>
                <a:cs typeface="Calibri" pitchFamily="34" charset="-120"/>
              </a:rPr>
              <a:t>2. Automatizar pruebas de regresión con casos críticos del Ciclo 1 y 2 para detectar recurrencias.</a:t>
            </a:r>
            <a:endParaRPr lang="es-CO" sz="1467" noProof="0" dirty="0"/>
          </a:p>
        </p:txBody>
      </p:sp>
      <p:sp>
        <p:nvSpPr>
          <p:cNvPr id="11" name="Text 6"/>
          <p:cNvSpPr/>
          <p:nvPr/>
        </p:nvSpPr>
        <p:spPr>
          <a:xfrm>
            <a:off x="487680" y="5681472"/>
            <a:ext cx="11265408" cy="316992"/>
          </a:xfrm>
          <a:prstGeom prst="rect">
            <a:avLst/>
          </a:prstGeom>
          <a:noFill/>
          <a:ln/>
        </p:spPr>
        <p:txBody>
          <a:bodyPr wrap="square" rtlCol="0" anchor="ctr"/>
          <a:lstStyle/>
          <a:p>
            <a:r>
              <a:rPr lang="es-CO" sz="1467" noProof="0" dirty="0">
                <a:solidFill>
                  <a:srgbClr val="222222"/>
                </a:solidFill>
                <a:latin typeface="Calibri" pitchFamily="34" charset="0"/>
                <a:ea typeface="Calibri" pitchFamily="34" charset="-122"/>
                <a:cs typeface="Calibri" pitchFamily="34" charset="-120"/>
              </a:rPr>
              <a:t>3. Aplicar técnica de partición de equivalencia en validaciones de entrada para reducir mensajes erróneos.</a:t>
            </a:r>
            <a:endParaRPr lang="es-CO" sz="1467" noProof="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1000000"/>
            <a:ext cx="11500000" cy="600000"/>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Conclusiones</a:t>
            </a:r>
          </a:p>
        </p:txBody>
      </p:sp>
      <p:sp>
        <p:nvSpPr>
          <p:cNvPr id="7" name="Content"/>
          <p:cNvSpPr/>
          <p:nvPr/>
        </p:nvSpPr>
        <p:spPr>
          <a:xfrm>
            <a:off x="421004" y="1700000"/>
            <a:ext cx="11350000" cy="3987367"/>
          </a:xfrm>
          <a:prstGeom prst="rect">
            <a:avLst/>
          </a:prstGeom>
        </p:spPr>
        <p:txBody>
          <a:bodyPr wrap="square" anchor="ctr"/>
          <a:lstStyle/>
          <a:p>
            <a:pPr marL="342900" lvl="0" indent="-342900">
              <a:lnSpc>
                <a:spcPct val="107000"/>
              </a:lnSpc>
              <a:spcAft>
                <a:spcPts val="200"/>
              </a:spcAft>
              <a:buAutoNum type="arabicPeriod"/>
            </a:pPr>
            <a:r>
              <a:rPr lang="es-CO" sz="1800" noProof="0" dirty="0">
                <a:latin typeface="Calibri"/>
              </a:rPr>
              <a:t>Caracterizar defectos es fundamental para el aseguramiento de la calidad.</a:t>
            </a:r>
          </a:p>
          <a:p>
            <a:pPr marL="342900" lvl="0" indent="-342900">
              <a:lnSpc>
                <a:spcPct val="107000"/>
              </a:lnSpc>
              <a:spcAft>
                <a:spcPts val="200"/>
              </a:spcAft>
              <a:buAutoNum type="arabicPeriod"/>
            </a:pPr>
            <a:r>
              <a:rPr lang="es-CO" sz="1800" noProof="0" dirty="0">
                <a:latin typeface="Calibri"/>
              </a:rPr>
              <a:t>Permite medir, controlar y mejorar el proceso de desarrollo.</a:t>
            </a:r>
          </a:p>
          <a:p>
            <a:pPr marL="342900" lvl="0" indent="-342900">
              <a:lnSpc>
                <a:spcPct val="107000"/>
              </a:lnSpc>
              <a:spcAft>
                <a:spcPts val="200"/>
              </a:spcAft>
              <a:buAutoNum type="arabicPeriod"/>
            </a:pPr>
            <a:r>
              <a:rPr lang="es-CO" sz="1800" noProof="0" dirty="0">
                <a:latin typeface="Calibri"/>
              </a:rPr>
              <a:t>Se integra naturalmente con </a:t>
            </a:r>
            <a:r>
              <a:rPr lang="es-CO" sz="1800" noProof="0" dirty="0" err="1">
                <a:latin typeface="Calibri"/>
              </a:rPr>
              <a:t>TMMi</a:t>
            </a:r>
            <a:r>
              <a:rPr lang="es-CO" sz="1800" noProof="0" dirty="0">
                <a:latin typeface="Calibri"/>
              </a:rPr>
              <a:t> Nivel 2 y con ISO/IEC 29110.</a:t>
            </a:r>
          </a:p>
          <a:p>
            <a:pPr marL="342900" lvl="0" indent="-342900">
              <a:lnSpc>
                <a:spcPct val="107000"/>
              </a:lnSpc>
              <a:spcAft>
                <a:spcPts val="200"/>
              </a:spcAft>
              <a:buAutoNum type="arabicPeriod"/>
            </a:pPr>
            <a:r>
              <a:rPr lang="es-CO" sz="1800" noProof="0" dirty="0">
                <a:latin typeface="Calibri"/>
              </a:rPr>
              <a:t>La integración continua reduce defectos y mejora la estabilidad del producto.</a:t>
            </a:r>
          </a:p>
          <a:p>
            <a:pPr marL="342900" lvl="0" indent="-342900">
              <a:lnSpc>
                <a:spcPct val="107000"/>
              </a:lnSpc>
              <a:spcAft>
                <a:spcPts val="200"/>
              </a:spcAft>
              <a:buAutoNum type="arabicPeriod"/>
            </a:pPr>
            <a:r>
              <a:rPr lang="es-CO" sz="1800" noProof="0" dirty="0">
                <a:latin typeface="Calibri"/>
              </a:rPr>
              <a:t>La evidencia empírica muestra que la caracterización permite: </a:t>
            </a:r>
          </a:p>
          <a:p>
            <a:pPr marL="800100" lvl="1" indent="-342900">
              <a:lnSpc>
                <a:spcPct val="107000"/>
              </a:lnSpc>
              <a:spcAft>
                <a:spcPts val="200"/>
              </a:spcAft>
              <a:buFont typeface="Wingdings" panose="05000000000000000000" pitchFamily="2" charset="2"/>
              <a:buChar char="ü"/>
            </a:pPr>
            <a:r>
              <a:rPr lang="es-CO" noProof="0" dirty="0">
                <a:latin typeface="Calibri"/>
              </a:rPr>
              <a:t>reduce incidentes, </a:t>
            </a:r>
          </a:p>
          <a:p>
            <a:pPr marL="800100" lvl="1" indent="-342900">
              <a:lnSpc>
                <a:spcPct val="107000"/>
              </a:lnSpc>
              <a:spcAft>
                <a:spcPts val="200"/>
              </a:spcAft>
              <a:buFont typeface="Wingdings" panose="05000000000000000000" pitchFamily="2" charset="2"/>
              <a:buChar char="ü"/>
            </a:pPr>
            <a:r>
              <a:rPr lang="es-CO" noProof="0" dirty="0">
                <a:latin typeface="Calibri"/>
              </a:rPr>
              <a:t>prioriza esfuerzos y </a:t>
            </a:r>
          </a:p>
          <a:p>
            <a:pPr marL="800100" lvl="1" indent="-342900">
              <a:lnSpc>
                <a:spcPct val="107000"/>
              </a:lnSpc>
              <a:spcAft>
                <a:spcPts val="200"/>
              </a:spcAft>
              <a:buFont typeface="Wingdings" panose="05000000000000000000" pitchFamily="2" charset="2"/>
              <a:buChar char="ü"/>
            </a:pPr>
            <a:r>
              <a:rPr lang="es-CO" noProof="0" dirty="0">
                <a:latin typeface="Calibri"/>
              </a:rPr>
              <a:t>aumenta satisfacción del cliente.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DD72862-1FC3-85DE-E7F9-11D463592D43}"/>
              </a:ext>
            </a:extLst>
          </p:cNvPr>
          <p:cNvSpPr txBox="1"/>
          <p:nvPr/>
        </p:nvSpPr>
        <p:spPr>
          <a:xfrm>
            <a:off x="218734" y="3166762"/>
            <a:ext cx="10967131" cy="1508105"/>
          </a:xfrm>
          <a:prstGeom prst="rect">
            <a:avLst/>
          </a:prstGeom>
          <a:noFill/>
        </p:spPr>
        <p:txBody>
          <a:bodyPr wrap="square">
            <a:spAutoFit/>
          </a:bodyPr>
          <a:lstStyle/>
          <a:p>
            <a:r>
              <a:rPr lang="es-CO" sz="3200" noProof="0" dirty="0">
                <a:solidFill>
                  <a:schemeClr val="bg1"/>
                </a:solidFill>
                <a:latin typeface="Century Gothic" panose="020B0502020202020204" pitchFamily="34" charset="0"/>
              </a:rPr>
              <a:t>Aseguramiento de la Calidad del Software</a:t>
            </a:r>
          </a:p>
          <a:p>
            <a:r>
              <a:rPr lang="es-CO" sz="2800" b="1" noProof="0" dirty="0">
                <a:solidFill>
                  <a:srgbClr val="7BEEFD"/>
                </a:solidFill>
                <a:latin typeface="Century Gothic" panose="020B0502020202020204" pitchFamily="34" charset="0"/>
              </a:rPr>
              <a:t>Caracterización de Defectos</a:t>
            </a:r>
          </a:p>
          <a:p>
            <a:endParaRPr lang="es-CO" sz="3200" noProof="0"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128420452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667</TotalTime>
  <Words>2355</Words>
  <Application>Microsoft Office PowerPoint</Application>
  <PresentationFormat>Panorámica</PresentationFormat>
  <Paragraphs>352</Paragraphs>
  <Slides>27</Slides>
  <Notes>19</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27</vt:i4>
      </vt:variant>
    </vt:vector>
  </HeadingPairs>
  <TitlesOfParts>
    <vt:vector size="33" baseType="lpstr">
      <vt:lpstr>Arial</vt:lpstr>
      <vt:lpstr>Calibri</vt:lpstr>
      <vt:lpstr>Calibri Light</vt:lpstr>
      <vt:lpstr>Century Gothic</vt:lpstr>
      <vt:lpstr>Wingdings</vt:lpstr>
      <vt:lpstr>Tema de Office</vt:lpstr>
      <vt:lpstr>Presentación de PowerPoint</vt:lpstr>
      <vt:lpstr>Contenido</vt:lpstr>
      <vt:lpstr>¿Por qué importa la calidad del software?</vt:lpstr>
      <vt:lpstr>Modelos y Estándares de Prueba de Software</vt:lpstr>
      <vt:lpstr>¿En qué consiste el estándar ISO/IEC 29110?</vt:lpstr>
      <vt:lpstr>Ventajas de la implementación del estándar ISO/IEC 29110</vt:lpstr>
      <vt:lpstr>¿Qué es un defecto en software?</vt:lpstr>
      <vt:lpstr>Modelo de Madurez de Pruebas Integrado (TMMi)</vt:lpstr>
      <vt:lpstr>Importancia de caracterizar defectos</vt:lpstr>
      <vt:lpstr>Clasificación por severidad</vt:lpstr>
      <vt:lpstr>Métricas asociadas a defectos (ISO/IEC 29110)</vt:lpstr>
      <vt:lpstr>Cómo ISO/IEC 29110 usa esta caracterización</vt:lpstr>
      <vt:lpstr>Flujo de Defectos en el Proceso de Aseguramiento de la Calidad</vt:lpstr>
      <vt:lpstr>Ciclo de vida de un defecto de software</vt:lpstr>
      <vt:lpstr>Defectos y su relación con Integración Continua</vt:lpstr>
      <vt:lpstr>Caso de estudio</vt:lpstr>
      <vt:lpstr>Ejemplo de funcionalidades:</vt:lpstr>
      <vt:lpstr>Caracterización de Defectos de Software</vt:lpstr>
      <vt:lpstr>Ejemplo real del documento</vt:lpstr>
      <vt:lpstr>Modelo formal de pruebas funcionales de software para alcanzar el nivel de madurez integrado 2</vt:lpstr>
      <vt:lpstr>Presentación de PowerPoint</vt:lpstr>
      <vt:lpstr>Presentación de PowerPoint</vt:lpstr>
      <vt:lpstr>Presentación de PowerPoint</vt:lpstr>
      <vt:lpstr>Presentación de PowerPoint</vt:lpstr>
      <vt:lpstr>Presentación de PowerPoint</vt:lpstr>
      <vt:lpstr>Conclusiones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LINA MARCELA NIETO ALBA</dc:creator>
  <cp:lastModifiedBy>CESAR ALFONSO BOLADO SILVA</cp:lastModifiedBy>
  <cp:revision>83</cp:revision>
  <dcterms:created xsi:type="dcterms:W3CDTF">2024-01-22T15:06:30Z</dcterms:created>
  <dcterms:modified xsi:type="dcterms:W3CDTF">2026-10-22T21:37:21Z</dcterms:modified>
</cp:coreProperties>
</file>